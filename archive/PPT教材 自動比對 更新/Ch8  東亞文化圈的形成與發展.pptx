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44" r:id="rId1"/>
  </p:sldMasterIdLst>
  <p:notesMasterIdLst>
    <p:notesMasterId r:id="rId98"/>
  </p:notesMasterIdLst>
  <p:sldIdLst>
    <p:sldId id="258" r:id="rId2"/>
    <p:sldId id="616" r:id="rId3"/>
    <p:sldId id="599" r:id="rId4"/>
    <p:sldId id="580" r:id="rId5"/>
    <p:sldId id="529" r:id="rId6"/>
    <p:sldId id="530" r:id="rId7"/>
    <p:sldId id="532" r:id="rId8"/>
    <p:sldId id="534" r:id="rId9"/>
    <p:sldId id="536" r:id="rId10"/>
    <p:sldId id="535" r:id="rId11"/>
    <p:sldId id="1133" r:id="rId12"/>
    <p:sldId id="588" r:id="rId13"/>
    <p:sldId id="617" r:id="rId14"/>
    <p:sldId id="1124" r:id="rId15"/>
    <p:sldId id="330" r:id="rId16"/>
    <p:sldId id="331" r:id="rId17"/>
    <p:sldId id="542" r:id="rId18"/>
    <p:sldId id="491" r:id="rId19"/>
    <p:sldId id="543" r:id="rId20"/>
    <p:sldId id="544" r:id="rId21"/>
    <p:sldId id="546" r:id="rId22"/>
    <p:sldId id="1134" r:id="rId23"/>
    <p:sldId id="1135" r:id="rId24"/>
    <p:sldId id="1130" r:id="rId25"/>
    <p:sldId id="1131" r:id="rId26"/>
    <p:sldId id="548" r:id="rId27"/>
    <p:sldId id="1132" r:id="rId28"/>
    <p:sldId id="552" r:id="rId29"/>
    <p:sldId id="554" r:id="rId30"/>
    <p:sldId id="513" r:id="rId31"/>
    <p:sldId id="1127" r:id="rId32"/>
    <p:sldId id="555" r:id="rId33"/>
    <p:sldId id="1128" r:id="rId34"/>
    <p:sldId id="557" r:id="rId35"/>
    <p:sldId id="1136" r:id="rId36"/>
    <p:sldId id="1137" r:id="rId37"/>
    <p:sldId id="559" r:id="rId38"/>
    <p:sldId id="1138" r:id="rId39"/>
    <p:sldId id="1139" r:id="rId40"/>
    <p:sldId id="500" r:id="rId41"/>
    <p:sldId id="563" r:id="rId42"/>
    <p:sldId id="1125" r:id="rId43"/>
    <p:sldId id="385" r:id="rId44"/>
    <p:sldId id="562" r:id="rId45"/>
    <p:sldId id="566" r:id="rId46"/>
    <p:sldId id="515" r:id="rId47"/>
    <p:sldId id="516" r:id="rId48"/>
    <p:sldId id="567" r:id="rId49"/>
    <p:sldId id="568" r:id="rId50"/>
    <p:sldId id="581" r:id="rId51"/>
    <p:sldId id="283" r:id="rId52"/>
    <p:sldId id="614" r:id="rId53"/>
    <p:sldId id="260" r:id="rId54"/>
    <p:sldId id="281" r:id="rId55"/>
    <p:sldId id="353" r:id="rId56"/>
    <p:sldId id="397" r:id="rId57"/>
    <p:sldId id="575" r:id="rId58"/>
    <p:sldId id="354" r:id="rId59"/>
    <p:sldId id="579" r:id="rId60"/>
    <p:sldId id="398" r:id="rId61"/>
    <p:sldId id="576" r:id="rId62"/>
    <p:sldId id="285" r:id="rId63"/>
    <p:sldId id="577" r:id="rId64"/>
    <p:sldId id="582" r:id="rId65"/>
    <p:sldId id="583" r:id="rId66"/>
    <p:sldId id="585" r:id="rId67"/>
    <p:sldId id="586" r:id="rId68"/>
    <p:sldId id="587" r:id="rId69"/>
    <p:sldId id="594" r:id="rId70"/>
    <p:sldId id="590" r:id="rId71"/>
    <p:sldId id="591" r:id="rId72"/>
    <p:sldId id="592" r:id="rId73"/>
    <p:sldId id="593" r:id="rId74"/>
    <p:sldId id="595" r:id="rId75"/>
    <p:sldId id="596" r:id="rId76"/>
    <p:sldId id="597" r:id="rId77"/>
    <p:sldId id="598" r:id="rId78"/>
    <p:sldId id="600" r:id="rId79"/>
    <p:sldId id="601" r:id="rId80"/>
    <p:sldId id="602" r:id="rId81"/>
    <p:sldId id="603" r:id="rId82"/>
    <p:sldId id="604" r:id="rId83"/>
    <p:sldId id="605" r:id="rId84"/>
    <p:sldId id="606" r:id="rId85"/>
    <p:sldId id="607" r:id="rId86"/>
    <p:sldId id="608" r:id="rId87"/>
    <p:sldId id="609" r:id="rId88"/>
    <p:sldId id="610" r:id="rId89"/>
    <p:sldId id="611" r:id="rId90"/>
    <p:sldId id="612" r:id="rId91"/>
    <p:sldId id="613" r:id="rId92"/>
    <p:sldId id="619" r:id="rId93"/>
    <p:sldId id="589" r:id="rId94"/>
    <p:sldId id="620" r:id="rId95"/>
    <p:sldId id="615" r:id="rId96"/>
    <p:sldId id="1126" r:id="rId9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預設章節" id="{C0C7EA56-BA45-4F5E-A8EA-D5F8ADF55AB3}">
          <p14:sldIdLst>
            <p14:sldId id="258"/>
            <p14:sldId id="616"/>
            <p14:sldId id="599"/>
            <p14:sldId id="580"/>
            <p14:sldId id="529"/>
            <p14:sldId id="530"/>
            <p14:sldId id="532"/>
            <p14:sldId id="534"/>
            <p14:sldId id="536"/>
            <p14:sldId id="535"/>
            <p14:sldId id="1133"/>
            <p14:sldId id="588"/>
            <p14:sldId id="617"/>
            <p14:sldId id="1124"/>
            <p14:sldId id="330"/>
            <p14:sldId id="331"/>
            <p14:sldId id="542"/>
            <p14:sldId id="491"/>
            <p14:sldId id="543"/>
            <p14:sldId id="544"/>
            <p14:sldId id="546"/>
            <p14:sldId id="1134"/>
            <p14:sldId id="1135"/>
            <p14:sldId id="1130"/>
            <p14:sldId id="1131"/>
            <p14:sldId id="548"/>
            <p14:sldId id="1132"/>
            <p14:sldId id="552"/>
            <p14:sldId id="554"/>
            <p14:sldId id="513"/>
            <p14:sldId id="1127"/>
            <p14:sldId id="555"/>
            <p14:sldId id="1128"/>
            <p14:sldId id="557"/>
            <p14:sldId id="1136"/>
            <p14:sldId id="1137"/>
            <p14:sldId id="559"/>
            <p14:sldId id="1138"/>
            <p14:sldId id="1139"/>
            <p14:sldId id="500"/>
            <p14:sldId id="563"/>
            <p14:sldId id="1125"/>
            <p14:sldId id="385"/>
            <p14:sldId id="562"/>
            <p14:sldId id="566"/>
            <p14:sldId id="515"/>
            <p14:sldId id="516"/>
            <p14:sldId id="567"/>
            <p14:sldId id="568"/>
            <p14:sldId id="581"/>
            <p14:sldId id="283"/>
            <p14:sldId id="614"/>
            <p14:sldId id="260"/>
            <p14:sldId id="281"/>
            <p14:sldId id="353"/>
            <p14:sldId id="397"/>
            <p14:sldId id="575"/>
            <p14:sldId id="354"/>
            <p14:sldId id="579"/>
            <p14:sldId id="398"/>
            <p14:sldId id="576"/>
            <p14:sldId id="285"/>
            <p14:sldId id="577"/>
            <p14:sldId id="582"/>
            <p14:sldId id="583"/>
            <p14:sldId id="585"/>
            <p14:sldId id="586"/>
            <p14:sldId id="587"/>
            <p14:sldId id="594"/>
            <p14:sldId id="590"/>
            <p14:sldId id="591"/>
            <p14:sldId id="592"/>
            <p14:sldId id="593"/>
            <p14:sldId id="595"/>
            <p14:sldId id="596"/>
            <p14:sldId id="597"/>
            <p14:sldId id="598"/>
            <p14:sldId id="600"/>
            <p14:sldId id="601"/>
            <p14:sldId id="602"/>
            <p14:sldId id="603"/>
            <p14:sldId id="604"/>
            <p14:sldId id="605"/>
            <p14:sldId id="606"/>
            <p14:sldId id="607"/>
            <p14:sldId id="608"/>
            <p14:sldId id="609"/>
            <p14:sldId id="610"/>
            <p14:sldId id="611"/>
            <p14:sldId id="612"/>
            <p14:sldId id="613"/>
            <p14:sldId id="619"/>
            <p14:sldId id="589"/>
            <p14:sldId id="620"/>
            <p14:sldId id="615"/>
            <p14:sldId id="112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a:srgbClr val="63A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C3DFFD-EF93-4572-AD92-7E83F6A23CAC}">
  <a:tblStyle styleId="{2EC3DFFD-EF93-4572-AD92-7E83F6A23CA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460" autoAdjust="0"/>
  </p:normalViewPr>
  <p:slideViewPr>
    <p:cSldViewPr>
      <p:cViewPr varScale="1">
        <p:scale>
          <a:sx n="77" d="100"/>
          <a:sy n="77" d="100"/>
        </p:scale>
        <p:origin x="2046"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3" y="0"/>
            <a:ext cx="2971800" cy="457200"/>
          </a:xfrm>
          <a:prstGeom prst="rect">
            <a:avLst/>
          </a:prstGeom>
          <a:noFill/>
          <a:ln>
            <a:noFill/>
          </a:ln>
        </p:spPr>
        <p:txBody>
          <a:bodyPr wrap="square" lIns="91425" tIns="91425" rIns="91425" bIns="91425" anchor="t" anchorCtr="0"/>
          <a:lstStyle>
            <a:lvl1pPr marL="0" marR="0" lvl="0" indent="0" algn="r" rtl="0">
              <a:spcBef>
                <a:spcPts val="0"/>
              </a:spcBef>
              <a:spcAft>
                <a:spcPts val="0"/>
              </a:spcAft>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med" len="med"/>
            <a:tailEnd type="none" w="med" len="med"/>
          </a:ln>
        </p:spPr>
      </p:sp>
      <p:sp>
        <p:nvSpPr>
          <p:cNvPr id="6" name="Shape 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marL="0" marR="0" lvl="0" indent="0" algn="l" rtl="0">
              <a:spcBef>
                <a:spcPts val="360"/>
              </a:spcBef>
              <a:spcAft>
                <a:spcPts val="0"/>
              </a:spcAft>
              <a:buChar char="●"/>
              <a:defRPr sz="1200" b="0" i="0" u="none" strike="noStrike" cap="none">
                <a:solidFill>
                  <a:schemeClr val="dk1"/>
                </a:solidFill>
                <a:latin typeface="Calibri"/>
                <a:ea typeface="Calibri"/>
                <a:cs typeface="Calibri"/>
                <a:sym typeface="Calibri"/>
              </a:defRPr>
            </a:lvl1pPr>
            <a:lvl2pPr marL="457200" marR="0" lvl="1" indent="0" algn="l" rtl="0">
              <a:spcBef>
                <a:spcPts val="360"/>
              </a:spcBef>
              <a:spcAft>
                <a:spcPts val="0"/>
              </a:spcAft>
              <a:buChar char="○"/>
              <a:defRPr sz="1200" b="0" i="0" u="none" strike="noStrike" cap="none">
                <a:solidFill>
                  <a:schemeClr val="dk1"/>
                </a:solidFill>
                <a:latin typeface="Calibri"/>
                <a:ea typeface="Calibri"/>
                <a:cs typeface="Calibri"/>
                <a:sym typeface="Calibri"/>
              </a:defRPr>
            </a:lvl2pPr>
            <a:lvl3pPr marL="914400" marR="0" lvl="2" indent="0" algn="l" rtl="0">
              <a:spcBef>
                <a:spcPts val="360"/>
              </a:spcBef>
              <a:spcAft>
                <a:spcPts val="0"/>
              </a:spcAft>
              <a:buChar char="■"/>
              <a:defRPr sz="1200" b="0" i="0" u="none" strike="noStrike" cap="none">
                <a:solidFill>
                  <a:schemeClr val="dk1"/>
                </a:solidFill>
                <a:latin typeface="Calibri"/>
                <a:ea typeface="Calibri"/>
                <a:cs typeface="Calibri"/>
                <a:sym typeface="Calibri"/>
              </a:defRPr>
            </a:lvl3pPr>
            <a:lvl4pPr marL="1371600" marR="0" lvl="3" indent="0" algn="l" rtl="0">
              <a:spcBef>
                <a:spcPts val="360"/>
              </a:spcBef>
              <a:spcAft>
                <a:spcPts val="0"/>
              </a:spcAft>
              <a:buChar char="●"/>
              <a:defRPr sz="1200" b="0" i="0" u="none" strike="noStrike" cap="none">
                <a:solidFill>
                  <a:schemeClr val="dk1"/>
                </a:solidFill>
                <a:latin typeface="Calibri"/>
                <a:ea typeface="Calibri"/>
                <a:cs typeface="Calibri"/>
                <a:sym typeface="Calibri"/>
              </a:defRPr>
            </a:lvl4pPr>
            <a:lvl5pPr marL="1828800" marR="0" lvl="4" indent="0" algn="l" rtl="0">
              <a:spcBef>
                <a:spcPts val="360"/>
              </a:spcBef>
              <a:spcAft>
                <a:spcPts val="0"/>
              </a:spcAft>
              <a:buChar char="○"/>
              <a:defRPr sz="1200" b="0" i="0" u="none" strike="noStrike" cap="none">
                <a:solidFill>
                  <a:schemeClr val="dk1"/>
                </a:solidFill>
                <a:latin typeface="Calibri"/>
                <a:ea typeface="Calibri"/>
                <a:cs typeface="Calibri"/>
                <a:sym typeface="Calibri"/>
              </a:defRPr>
            </a:lvl5pPr>
            <a:lvl6pPr marL="2286000" marR="0" lvl="5" indent="0" algn="l" rtl="0">
              <a:spcBef>
                <a:spcPts val="0"/>
              </a:spcBef>
              <a:buChar char="■"/>
              <a:defRPr sz="1200" b="0" i="0" u="none" strike="noStrike" cap="none">
                <a:solidFill>
                  <a:schemeClr val="dk1"/>
                </a:solidFill>
                <a:latin typeface="Calibri"/>
                <a:ea typeface="Calibri"/>
                <a:cs typeface="Calibri"/>
                <a:sym typeface="Calibri"/>
              </a:defRPr>
            </a:lvl6pPr>
            <a:lvl7pPr marL="2743200" marR="0" lvl="6" indent="0" algn="l" rtl="0">
              <a:spcBef>
                <a:spcPts val="0"/>
              </a:spcBef>
              <a:buChar char="●"/>
              <a:defRPr sz="1200" b="0" i="0" u="none" strike="noStrike" cap="none">
                <a:solidFill>
                  <a:schemeClr val="dk1"/>
                </a:solidFill>
                <a:latin typeface="Calibri"/>
                <a:ea typeface="Calibri"/>
                <a:cs typeface="Calibri"/>
                <a:sym typeface="Calibri"/>
              </a:defRPr>
            </a:lvl7pPr>
            <a:lvl8pPr marL="3200400" marR="0" lvl="7" indent="0" algn="l" rtl="0">
              <a:spcBef>
                <a:spcPts val="0"/>
              </a:spcBef>
              <a:buChar char="○"/>
              <a:defRPr sz="1200" b="0" i="0" u="none" strike="noStrike" cap="none">
                <a:solidFill>
                  <a:schemeClr val="dk1"/>
                </a:solidFill>
                <a:latin typeface="Calibri"/>
                <a:ea typeface="Calibri"/>
                <a:cs typeface="Calibri"/>
                <a:sym typeface="Calibri"/>
              </a:defRPr>
            </a:lvl8pPr>
            <a:lvl9pPr marL="3657600" marR="0" lvl="8" indent="0" algn="l" rtl="0">
              <a:spcBef>
                <a:spcPts val="0"/>
              </a:spcBef>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800" cy="457200"/>
          </a:xfrm>
          <a:prstGeom prst="rect">
            <a:avLst/>
          </a:prstGeom>
          <a:noFill/>
          <a:ln>
            <a:noFill/>
          </a:ln>
        </p:spPr>
        <p:txBody>
          <a:bodyPr wrap="square" lIns="91425" tIns="91425" rIns="91425" bIns="91425" anchor="b" anchorCtr="0"/>
          <a:lstStyle>
            <a:lvl1pPr marL="0" marR="0" lvl="0" indent="0" algn="l" rtl="0">
              <a:spcBef>
                <a:spcPts val="0"/>
              </a:spcBef>
              <a:spcAft>
                <a:spcPts val="0"/>
              </a:spcAft>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3" y="8685213"/>
            <a:ext cx="2971800" cy="457200"/>
          </a:xfrm>
          <a:prstGeom prst="rect">
            <a:avLst/>
          </a:prstGeom>
          <a:noFill/>
          <a:ln>
            <a:noFill/>
          </a:ln>
        </p:spPr>
        <p:txBody>
          <a:bodyPr wrap="square" lIns="91425" tIns="45700" rIns="91425" bIns="45700" anchor="b" anchorCtr="0">
            <a:noAutofit/>
          </a:bodyPr>
          <a:lstStyle/>
          <a:p>
            <a:pPr marL="0" marR="0" lvl="0" indent="0" algn="r" rtl="0">
              <a:spcBef>
                <a:spcPts val="0"/>
              </a:spcBef>
              <a:spcAft>
                <a:spcPts val="0"/>
              </a:spcAft>
              <a:buSzPct val="25000"/>
              <a:buNone/>
            </a:pPr>
            <a:fld id="{00000000-1234-1234-1234-123412341234}" type="slidenum">
              <a:rPr lang="zh-TW" sz="1200" b="0" i="0" u="none" strike="noStrike" cap="none">
                <a:solidFill>
                  <a:schemeClr val="dk1"/>
                </a:solidFill>
                <a:latin typeface="Arial"/>
                <a:ea typeface="Arial"/>
                <a:cs typeface="Arial"/>
                <a:sym typeface="Arial"/>
              </a:rPr>
              <a:t>‹#›</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814391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kknews.cc/finance/6a6qv3l.htm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kknews.cc/finance/6a6qv3l.html"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zh.wikipedia.org/wiki/%E7%A4%BE%E4%BC%9A%E7%A6%8F%E5%88%A9" TargetMode="External"/><Relationship Id="rId13" Type="http://schemas.openxmlformats.org/officeDocument/2006/relationships/hyperlink" Target="https://zh.wikipedia.org/wiki/%E5%9F%8E%E5%B8%82%E8%A7%84%E6%A8%A1" TargetMode="External"/><Relationship Id="rId3" Type="http://schemas.openxmlformats.org/officeDocument/2006/relationships/hyperlink" Target="https://zh.wikipedia.org/wiki/%E4%BD%BF%E7%94%A8%E6%AC%8A" TargetMode="External"/><Relationship Id="rId7" Type="http://schemas.openxmlformats.org/officeDocument/2006/relationships/hyperlink" Target="https://zh.wikipedia.org/wiki/%E5%BC%BA%E5%9B%BD%E8%AE%BA%E5%9D%9B" TargetMode="External"/><Relationship Id="rId12" Type="http://schemas.openxmlformats.org/officeDocument/2006/relationships/hyperlink" Target="https://zh.wikipedia.org/wiki/%E4%B8%AD%E5%8D%8E%E4%BA%BA%E6%B0%91%E5%85%B1%E5%92%8C%E5%9B%BD%E5%9B%BD%E6%B0%91%E7%BB%8F%E6%B5%8E%E5%92%8C%E7%A4%BE%E4%BC%9A%E5%8F%91%E5%B1%95%E7%AC%AC%E5%8D%81%E5%9B%9B%E4%B8%AA%E4%BA%94%E5%B9%B4%E8%A7%84%E5%88%92%E7%BA%B2%E8%A6%81"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zh.wikipedia.org/wiki/%E4%BA%BA%E6%B0%91%E7%BD%91" TargetMode="External"/><Relationship Id="rId11" Type="http://schemas.openxmlformats.org/officeDocument/2006/relationships/hyperlink" Target="https://zh.wikipedia.org/wiki/%E4%B8%AD%E5%8D%8E%E4%BA%BA%E6%B0%91%E5%85%B1%E5%92%8C%E5%9B%BD%E6%88%B7%E7%B1%8D%E5%88%B6%E5%BA%A6#cite_note-2" TargetMode="External"/><Relationship Id="rId5" Type="http://schemas.openxmlformats.org/officeDocument/2006/relationships/hyperlink" Target="https://zh.wikipedia.org/wiki/%E8%BE%9C%E8%83%9C%E9%98%BB" TargetMode="External"/><Relationship Id="rId10" Type="http://schemas.openxmlformats.org/officeDocument/2006/relationships/hyperlink" Target="https://zh.wikipedia.org/wiki/%E4%B8%AD%E5%8D%8E%E4%BA%BA%E6%B0%91%E5%85%B1%E5%92%8C%E5%9B%BD%E5%9B%BD%E5%8A%A1%E9%99%A2" TargetMode="External"/><Relationship Id="rId4" Type="http://schemas.openxmlformats.org/officeDocument/2006/relationships/hyperlink" Target="https://zh.wikipedia.org/wiki/%E5%85%A8%E5%9B%BD%E4%BA%BA%E6%B0%91%E4%BB%A3%E8%A1%A8%E5%A4%A7%E4%BC%9A%E5%B8%B8%E5%8A%A1%E5%A7%94%E5%91%98%E4%BC%9A" TargetMode="External"/><Relationship Id="rId9" Type="http://schemas.openxmlformats.org/officeDocument/2006/relationships/hyperlink" Target="https://zh.wikipedia.org/wiki/%E4%B8%AD%E5%8D%8E%E4%BA%BA%E6%B0%91%E5%85%B1%E5%92%8C%E5%9B%BD%E6%88%B7%E7%B1%8D%E5%88%B6%E5%BA%A6#cite_note-1"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04144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33.</a:t>
            </a:r>
            <a:r>
              <a:rPr lang="zh-TW" altLang="zh-TW" sz="1200" b="0" i="0" u="none" strike="noStrike" kern="1200" cap="none" dirty="0">
                <a:solidFill>
                  <a:schemeClr val="dk1"/>
                </a:solidFill>
                <a:effectLst/>
                <a:latin typeface="Calibri"/>
                <a:ea typeface="Calibri"/>
                <a:cs typeface="Calibri"/>
                <a:sym typeface="Calibri"/>
              </a:rPr>
              <a:t>南韓最大城</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首爾都會區，居住人口已超過二千萬，亦為二三級產業發達區，這與該區的優越地形條 件</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「地勢平坦、海岸曲折」有關，請問：首爾都會區位於附圖哪一區塊？</a:t>
            </a:r>
            <a:r>
              <a:rPr lang="en-US" altLang="zh-TW" sz="1200" b="1" i="0" u="none" strike="noStrike" kern="1200" cap="none" dirty="0">
                <a:solidFill>
                  <a:schemeClr val="dk1"/>
                </a:solidFill>
                <a:effectLst/>
                <a:latin typeface="Calibri"/>
                <a:ea typeface="Calibri"/>
                <a:cs typeface="Calibri"/>
                <a:sym typeface="Calibri"/>
              </a:rPr>
              <a:t>(A)A (B)B (C)C (D)D </a:t>
            </a: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79751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6</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32366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13.</a:t>
            </a:r>
            <a:r>
              <a:rPr lang="zh-TW" altLang="zh-TW" sz="1200" b="0" i="0" u="none" strike="noStrike" kern="1200" cap="none" dirty="0">
                <a:solidFill>
                  <a:schemeClr val="dk1"/>
                </a:solidFill>
                <a:effectLst/>
                <a:latin typeface="Calibri"/>
                <a:ea typeface="Calibri"/>
                <a:cs typeface="Calibri"/>
                <a:sym typeface="Calibri"/>
              </a:rPr>
              <a:t>貓空地區的「包種茶和鐵觀音」聞名全台，這兩種茶苗和製茶技術皆為早期移民從「東南丘陵」帶 入此區，請問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東南丘陵位於中國地形的哪一階梯</a:t>
            </a:r>
            <a:r>
              <a:rPr lang="en-US" altLang="zh-TW" sz="1200" b="1" i="0" u="none" strike="noStrike" kern="1200" cap="none" dirty="0">
                <a:solidFill>
                  <a:schemeClr val="dk1"/>
                </a:solidFill>
                <a:effectLst/>
                <a:latin typeface="Calibri"/>
                <a:ea typeface="Calibri"/>
                <a:cs typeface="Calibri"/>
                <a:sym typeface="Calibri"/>
              </a:rPr>
              <a:t>?</a:t>
            </a: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 (A)</a:t>
            </a:r>
            <a:r>
              <a:rPr lang="zh-TW" altLang="zh-TW" sz="1200" b="0" i="0" u="none" strike="noStrike" kern="1200" cap="none" dirty="0">
                <a:solidFill>
                  <a:schemeClr val="dk1"/>
                </a:solidFill>
                <a:effectLst/>
                <a:latin typeface="Calibri"/>
                <a:ea typeface="Calibri"/>
                <a:cs typeface="Calibri"/>
                <a:sym typeface="Calibri"/>
              </a:rPr>
              <a:t>第一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第二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第三 </a:t>
            </a:r>
            <a:endParaRPr lang="en-US" altLang="zh-TW" sz="1200" b="0" i="0" u="none" strike="noStrike" kern="1200" cap="none" dirty="0">
              <a:solidFill>
                <a:schemeClr val="dk1"/>
              </a:solidFill>
              <a:effectLst/>
              <a:latin typeface="Calibri"/>
              <a:ea typeface="Calibri"/>
              <a:cs typeface="Calibri"/>
              <a:sym typeface="Calibri"/>
            </a:endParaRP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35. </a:t>
            </a:r>
            <a:r>
              <a:rPr lang="zh-TW" altLang="zh-TW" sz="1200" b="0" i="0" u="none" strike="noStrike" kern="1200" cap="none" dirty="0">
                <a:solidFill>
                  <a:schemeClr val="dk1"/>
                </a:solidFill>
                <a:effectLst/>
                <a:latin typeface="Calibri"/>
                <a:ea typeface="Calibri"/>
                <a:cs typeface="Calibri"/>
                <a:sym typeface="Calibri"/>
              </a:rPr>
              <a:t>中國幅員廣大、地形多樣，整體的地勢影響著各地的氣候與人類生活。請問：依據圖中資訊判斷， 下面哪一張是中國北緯 </a:t>
            </a:r>
            <a:r>
              <a:rPr lang="en-US" altLang="zh-TW" sz="1200" b="1" i="0" u="none" strike="noStrike" kern="1200" cap="none" dirty="0">
                <a:solidFill>
                  <a:schemeClr val="dk1"/>
                </a:solidFill>
                <a:effectLst/>
                <a:latin typeface="Calibri"/>
                <a:ea typeface="Calibri"/>
                <a:cs typeface="Calibri"/>
                <a:sym typeface="Calibri"/>
              </a:rPr>
              <a:t>32 </a:t>
            </a:r>
            <a:r>
              <a:rPr lang="zh-TW" altLang="zh-TW" sz="1200" b="0" i="0" u="none" strike="noStrike" kern="1200" cap="none" dirty="0">
                <a:solidFill>
                  <a:schemeClr val="dk1"/>
                </a:solidFill>
                <a:effectLst/>
                <a:latin typeface="Calibri"/>
                <a:ea typeface="Calibri"/>
                <a:cs typeface="Calibri"/>
                <a:sym typeface="Calibri"/>
              </a:rPr>
              <a:t>度東</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西向的地形剖面圖？</a:t>
            </a:r>
            <a:r>
              <a:rPr lang="en-US" altLang="zh-TW" sz="1200" b="1" i="0" u="none" strike="noStrike" kern="1200" cap="none" dirty="0">
                <a:solidFill>
                  <a:schemeClr val="dk1"/>
                </a:solidFill>
                <a:effectLst/>
                <a:latin typeface="Calibri"/>
                <a:ea typeface="Calibri"/>
                <a:cs typeface="Calibri"/>
                <a:sym typeface="Calibri"/>
              </a:rPr>
              <a:t>(A)A (B)B (C)C (D)D</a:t>
            </a:r>
            <a:endParaRPr lang="zh-TW" altLang="zh-TW" sz="1200" b="0" i="0" u="none" strike="noStrike" kern="1200" cap="none" dirty="0">
              <a:solidFill>
                <a:schemeClr val="dk1"/>
              </a:solidFill>
              <a:effectLst/>
              <a:latin typeface="Calibri"/>
              <a:ea typeface="Calibri"/>
              <a:cs typeface="Calibri"/>
              <a:sym typeface="Calibri"/>
            </a:endParaRPr>
          </a:p>
          <a:p>
            <a:pPr marL="0" marR="0" indent="0" algn="l" defTabSz="914400" rtl="0" eaLnBrk="1" fontAlgn="auto" latinLnBrk="0" hangingPunct="1">
              <a:lnSpc>
                <a:spcPct val="100000"/>
              </a:lnSpc>
              <a:spcBef>
                <a:spcPts val="360"/>
              </a:spcBef>
              <a:spcAft>
                <a:spcPts val="0"/>
              </a:spcAft>
              <a:buClrTx/>
              <a:buSzTx/>
              <a:buFontTx/>
              <a:buChar char="●"/>
              <a:tabLst/>
              <a:defRPr/>
            </a:pP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9</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1541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zh-TW" altLang="en-US" sz="1200" kern="1200" dirty="0">
                <a:solidFill>
                  <a:srgbClr val="FF0000"/>
                </a:solidFill>
                <a:latin typeface="標楷體" pitchFamily="65" charset="-120"/>
                <a:ea typeface="標楷體" pitchFamily="65" charset="-120"/>
                <a:cs typeface="Times New Roman" pitchFamily="18" charset="0"/>
              </a:rPr>
              <a:t>大韓</a:t>
            </a:r>
            <a:r>
              <a:rPr lang="zh-TW" altLang="en-US" sz="1200" dirty="0">
                <a:solidFill>
                  <a:srgbClr val="FF0000"/>
                </a:solidFill>
                <a:latin typeface="標楷體" pitchFamily="65" charset="-120"/>
                <a:ea typeface="標楷體" pitchFamily="65" charset="-120"/>
              </a:rPr>
              <a:t>海峽</a:t>
            </a:r>
            <a:endParaRPr lang="zh-TW" altLang="en-US" sz="1200" kern="1200" dirty="0">
              <a:solidFill>
                <a:srgbClr val="FF0000"/>
              </a:solidFill>
              <a:latin typeface="標楷體" pitchFamily="65" charset="-120"/>
              <a:ea typeface="標楷體" pitchFamily="65" charset="-120"/>
              <a:cs typeface="Times New Roman" pitchFamily="18" charset="0"/>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10</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947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1.</a:t>
            </a:r>
            <a:r>
              <a:rPr lang="zh-TW" altLang="zh-TW" sz="1200" b="0" i="0" u="none" strike="noStrike" kern="1200" cap="none" dirty="0">
                <a:solidFill>
                  <a:schemeClr val="dk1"/>
                </a:solidFill>
                <a:effectLst/>
                <a:latin typeface="Calibri"/>
                <a:ea typeface="Calibri"/>
                <a:cs typeface="Calibri"/>
                <a:sym typeface="Calibri"/>
              </a:rPr>
              <a:t>中國早期有「南船北馬、南稻北麥」等南北區域差異的說法，其南北區域的分界，有一些跟氣溫和降 水有關，如：秦嶺</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淮河線，請問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秦嶺</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淮河線是下列哪兩項指標的分界線？</a:t>
            </a:r>
            <a:r>
              <a:rPr lang="en-US" altLang="zh-TW" sz="1200" b="1" i="0" u="none" strike="noStrike" kern="1200" cap="none" dirty="0">
                <a:solidFill>
                  <a:schemeClr val="dk1"/>
                </a:solidFill>
                <a:effectLst/>
                <a:latin typeface="Calibri"/>
                <a:ea typeface="Calibri"/>
                <a:cs typeface="Calibri"/>
                <a:sym typeface="Calibri"/>
              </a:rPr>
              <a:t>(A) </a:t>
            </a:r>
            <a:r>
              <a:rPr lang="zh-TW" altLang="zh-TW" sz="1200" b="0" i="0" u="none" strike="noStrike" kern="1200" cap="none" dirty="0">
                <a:solidFill>
                  <a:schemeClr val="dk1"/>
                </a:solidFill>
                <a:effectLst/>
                <a:latin typeface="Calibri"/>
                <a:ea typeface="Calibri"/>
                <a:cs typeface="Calibri"/>
                <a:sym typeface="Calibri"/>
              </a:rPr>
              <a:t>七月均溫 </a:t>
            </a:r>
            <a:r>
              <a:rPr lang="en-US" altLang="zh-TW" sz="1200" b="1" i="0" u="none" strike="noStrike" kern="1200" cap="none" dirty="0">
                <a:solidFill>
                  <a:schemeClr val="dk1"/>
                </a:solidFill>
                <a:effectLst/>
                <a:latin typeface="Calibri"/>
                <a:ea typeface="Calibri"/>
                <a:cs typeface="Calibri"/>
                <a:sym typeface="Calibri"/>
              </a:rPr>
              <a:t>18 </a:t>
            </a:r>
            <a:r>
              <a:rPr lang="zh-TW" altLang="zh-TW" sz="1200" b="0" i="0" u="none" strike="noStrike" kern="1200" cap="none" dirty="0">
                <a:solidFill>
                  <a:schemeClr val="dk1"/>
                </a:solidFill>
                <a:effectLst/>
                <a:latin typeface="Calibri"/>
                <a:ea typeface="Calibri"/>
                <a:cs typeface="Calibri"/>
                <a:sym typeface="Calibri"/>
              </a:rPr>
              <a:t>度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 平 均年降水量 </a:t>
            </a:r>
            <a:r>
              <a:rPr lang="en-US" altLang="zh-TW" sz="1200" b="1" i="0" u="none" strike="noStrike" kern="1200" cap="none" dirty="0" err="1">
                <a:solidFill>
                  <a:schemeClr val="dk1"/>
                </a:solidFill>
                <a:effectLst/>
                <a:latin typeface="Calibri"/>
                <a:ea typeface="Calibri"/>
                <a:cs typeface="Calibri"/>
                <a:sym typeface="Calibri"/>
              </a:rPr>
              <a:t>500mm</a:t>
            </a:r>
            <a:r>
              <a:rPr lang="en-US" altLang="zh-TW" sz="1200" b="1" i="0" u="none" strike="noStrike" kern="1200" cap="none" dirty="0">
                <a:solidFill>
                  <a:schemeClr val="dk1"/>
                </a:solidFill>
                <a:effectLst/>
                <a:latin typeface="Calibri"/>
                <a:ea typeface="Calibri"/>
                <a:cs typeface="Calibri"/>
                <a:sym typeface="Calibri"/>
              </a:rPr>
              <a:t> (B) </a:t>
            </a:r>
            <a:r>
              <a:rPr lang="zh-TW" altLang="zh-TW" sz="1200" b="0" i="0" u="none" strike="noStrike" kern="1200" cap="none" dirty="0">
                <a:solidFill>
                  <a:schemeClr val="dk1"/>
                </a:solidFill>
                <a:effectLst/>
                <a:latin typeface="Calibri"/>
                <a:ea typeface="Calibri"/>
                <a:cs typeface="Calibri"/>
                <a:sym typeface="Calibri"/>
              </a:rPr>
              <a:t>七月均溫 </a:t>
            </a:r>
            <a:r>
              <a:rPr lang="en-US" altLang="zh-TW" sz="1200" b="1" i="0" u="none" strike="noStrike" kern="1200" cap="none" dirty="0">
                <a:solidFill>
                  <a:schemeClr val="dk1"/>
                </a:solidFill>
                <a:effectLst/>
                <a:latin typeface="Calibri"/>
                <a:ea typeface="Calibri"/>
                <a:cs typeface="Calibri"/>
                <a:sym typeface="Calibri"/>
              </a:rPr>
              <a:t>18 </a:t>
            </a:r>
            <a:r>
              <a:rPr lang="zh-TW" altLang="zh-TW" sz="1200" b="0" i="0" u="none" strike="noStrike" kern="1200" cap="none" dirty="0">
                <a:solidFill>
                  <a:schemeClr val="dk1"/>
                </a:solidFill>
                <a:effectLst/>
                <a:latin typeface="Calibri"/>
                <a:ea typeface="Calibri"/>
                <a:cs typeface="Calibri"/>
                <a:sym typeface="Calibri"/>
              </a:rPr>
              <a:t>度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 平均年降水量 </a:t>
            </a:r>
            <a:r>
              <a:rPr lang="en-US" altLang="zh-TW" sz="1200" b="1" i="0" u="none" strike="noStrike" kern="1200" cap="none" dirty="0" err="1">
                <a:solidFill>
                  <a:schemeClr val="dk1"/>
                </a:solidFill>
                <a:effectLst/>
                <a:latin typeface="Calibri"/>
                <a:ea typeface="Calibri"/>
                <a:cs typeface="Calibri"/>
                <a:sym typeface="Calibri"/>
              </a:rPr>
              <a:t>750mm</a:t>
            </a:r>
            <a:r>
              <a:rPr lang="en-US" altLang="zh-TW" sz="1200" b="1" i="0" u="none" strike="noStrike" kern="1200" cap="none" dirty="0">
                <a:solidFill>
                  <a:schemeClr val="dk1"/>
                </a:solidFill>
                <a:effectLst/>
                <a:latin typeface="Calibri"/>
                <a:ea typeface="Calibri"/>
                <a:cs typeface="Calibri"/>
                <a:sym typeface="Calibri"/>
              </a:rPr>
              <a:t> (C) </a:t>
            </a:r>
            <a:r>
              <a:rPr lang="zh-TW" altLang="zh-TW" sz="1200" b="0" i="0" u="none" strike="noStrike" kern="1200" cap="none" dirty="0">
                <a:solidFill>
                  <a:schemeClr val="dk1"/>
                </a:solidFill>
                <a:effectLst/>
                <a:latin typeface="Calibri"/>
                <a:ea typeface="Calibri"/>
                <a:cs typeface="Calibri"/>
                <a:sym typeface="Calibri"/>
              </a:rPr>
              <a:t>一月均溫 </a:t>
            </a:r>
            <a:r>
              <a:rPr lang="en-US" altLang="zh-TW" sz="1200" b="1" i="0" u="none" strike="noStrike" kern="1200" cap="none" dirty="0">
                <a:solidFill>
                  <a:schemeClr val="dk1"/>
                </a:solidFill>
                <a:effectLst/>
                <a:latin typeface="Calibri"/>
                <a:ea typeface="Calibri"/>
                <a:cs typeface="Calibri"/>
                <a:sym typeface="Calibri"/>
              </a:rPr>
              <a:t>0 </a:t>
            </a:r>
            <a:r>
              <a:rPr lang="zh-TW" altLang="zh-TW" sz="1200" b="0" i="0" u="none" strike="noStrike" kern="1200" cap="none" dirty="0">
                <a:solidFill>
                  <a:schemeClr val="dk1"/>
                </a:solidFill>
                <a:effectLst/>
                <a:latin typeface="Calibri"/>
                <a:ea typeface="Calibri"/>
                <a:cs typeface="Calibri"/>
                <a:sym typeface="Calibri"/>
              </a:rPr>
              <a:t>度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 平均年 降水 </a:t>
            </a:r>
            <a:r>
              <a:rPr lang="en-US" altLang="zh-TW" sz="1200" b="1" i="0" u="none" strike="noStrike" kern="1200" cap="none" dirty="0" err="1">
                <a:solidFill>
                  <a:schemeClr val="dk1"/>
                </a:solidFill>
                <a:effectLst/>
                <a:latin typeface="Calibri"/>
                <a:ea typeface="Calibri"/>
                <a:cs typeface="Calibri"/>
                <a:sym typeface="Calibri"/>
              </a:rPr>
              <a:t>500mm</a:t>
            </a:r>
            <a:r>
              <a:rPr lang="en-US" altLang="zh-TW" sz="1200" b="1" i="0" u="none" strike="noStrike" kern="1200" cap="none" dirty="0">
                <a:solidFill>
                  <a:schemeClr val="dk1"/>
                </a:solidFill>
                <a:effectLst/>
                <a:latin typeface="Calibri"/>
                <a:ea typeface="Calibri"/>
                <a:cs typeface="Calibri"/>
                <a:sym typeface="Calibri"/>
              </a:rPr>
              <a:t> (D) </a:t>
            </a:r>
            <a:r>
              <a:rPr lang="zh-TW" altLang="zh-TW" sz="1200" b="0" i="0" u="none" strike="noStrike" kern="1200" cap="none" dirty="0">
                <a:solidFill>
                  <a:schemeClr val="dk1"/>
                </a:solidFill>
                <a:effectLst/>
                <a:latin typeface="Calibri"/>
                <a:ea typeface="Calibri"/>
                <a:cs typeface="Calibri"/>
                <a:sym typeface="Calibri"/>
              </a:rPr>
              <a:t>一月均溫 </a:t>
            </a:r>
            <a:r>
              <a:rPr lang="en-US" altLang="zh-TW" sz="1200" b="1" i="0" u="none" strike="noStrike" kern="1200" cap="none" dirty="0">
                <a:solidFill>
                  <a:schemeClr val="dk1"/>
                </a:solidFill>
                <a:effectLst/>
                <a:latin typeface="Calibri"/>
                <a:ea typeface="Calibri"/>
                <a:cs typeface="Calibri"/>
                <a:sym typeface="Calibri"/>
              </a:rPr>
              <a:t>0 </a:t>
            </a:r>
            <a:r>
              <a:rPr lang="zh-TW" altLang="zh-TW" sz="1200" b="0" i="0" u="none" strike="noStrike" kern="1200" cap="none" dirty="0">
                <a:solidFill>
                  <a:schemeClr val="dk1"/>
                </a:solidFill>
                <a:effectLst/>
                <a:latin typeface="Calibri"/>
                <a:ea typeface="Calibri"/>
                <a:cs typeface="Calibri"/>
                <a:sym typeface="Calibri"/>
              </a:rPr>
              <a:t>度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 平均年降水量 </a:t>
            </a:r>
            <a:r>
              <a:rPr lang="en-US" altLang="zh-TW" sz="1200" b="1" i="0" u="none" strike="noStrike" kern="1200" cap="none" dirty="0" err="1">
                <a:solidFill>
                  <a:schemeClr val="dk1"/>
                </a:solidFill>
                <a:effectLst/>
                <a:latin typeface="Calibri"/>
                <a:ea typeface="Calibri"/>
                <a:cs typeface="Calibri"/>
                <a:sym typeface="Calibri"/>
              </a:rPr>
              <a:t>750mm</a:t>
            </a:r>
            <a:endParaRPr lang="en-US" altLang="zh-TW" sz="1200" b="1" i="0" u="none" strike="noStrike" kern="1200" cap="none" dirty="0">
              <a:solidFill>
                <a:schemeClr val="dk1"/>
              </a:solidFill>
              <a:effectLst/>
              <a:latin typeface="Calibri"/>
              <a:ea typeface="Calibri"/>
              <a:cs typeface="Calibri"/>
              <a:sym typeface="Calibri"/>
            </a:endParaRP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3.</a:t>
            </a:r>
            <a:r>
              <a:rPr lang="zh-TW" altLang="zh-TW" sz="1200" b="0" i="0" u="none" strike="noStrike" kern="1200" cap="none" dirty="0">
                <a:solidFill>
                  <a:schemeClr val="dk1"/>
                </a:solidFill>
                <a:effectLst/>
                <a:latin typeface="Calibri"/>
                <a:ea typeface="Calibri"/>
                <a:cs typeface="Calibri"/>
                <a:sym typeface="Calibri"/>
              </a:rPr>
              <a:t>日本</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東京</a:t>
            </a:r>
            <a:r>
              <a:rPr lang="en-US" altLang="zh-TW" sz="1200" b="1" i="0" u="none" strike="noStrike" kern="1200" cap="none" dirty="0">
                <a:solidFill>
                  <a:schemeClr val="dk1"/>
                </a:solidFill>
                <a:effectLst/>
                <a:latin typeface="Calibri"/>
                <a:ea typeface="Calibri"/>
                <a:cs typeface="Calibri"/>
                <a:sym typeface="Calibri"/>
              </a:rPr>
              <a:t>(</a:t>
            </a:r>
            <a:r>
              <a:rPr lang="en-US" altLang="zh-TW" sz="1200" b="1" i="0" u="none" strike="noStrike" kern="1200" cap="none" dirty="0" err="1">
                <a:solidFill>
                  <a:schemeClr val="dk1"/>
                </a:solidFill>
                <a:effectLst/>
                <a:latin typeface="Calibri"/>
                <a:ea typeface="Calibri"/>
                <a:cs typeface="Calibri"/>
                <a:sym typeface="Calibri"/>
              </a:rPr>
              <a:t>35°41′N</a:t>
            </a:r>
            <a:r>
              <a:rPr lang="zh-TW" altLang="zh-TW" sz="1200" b="0" i="0" u="none" strike="noStrike" kern="1200" cap="none" dirty="0">
                <a:solidFill>
                  <a:schemeClr val="dk1"/>
                </a:solidFill>
                <a:effectLst/>
                <a:latin typeface="Calibri"/>
                <a:ea typeface="Calibri"/>
                <a:cs typeface="Calibri"/>
                <a:sym typeface="Calibri"/>
              </a:rPr>
              <a:t>，</a:t>
            </a:r>
            <a:r>
              <a:rPr lang="en-US" altLang="zh-TW" sz="1200" b="1" i="0" u="none" strike="noStrike" kern="1200" cap="none" dirty="0" err="1">
                <a:solidFill>
                  <a:schemeClr val="dk1"/>
                </a:solidFill>
                <a:effectLst/>
                <a:latin typeface="Calibri"/>
                <a:ea typeface="Calibri"/>
                <a:cs typeface="Calibri"/>
                <a:sym typeface="Calibri"/>
              </a:rPr>
              <a:t>40m</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的緯度和高度比中國</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南京</a:t>
            </a:r>
            <a:r>
              <a:rPr lang="en-US" altLang="zh-TW" sz="1200" b="1" i="0" u="none" strike="noStrike" kern="1200" cap="none" dirty="0">
                <a:solidFill>
                  <a:schemeClr val="dk1"/>
                </a:solidFill>
                <a:effectLst/>
                <a:latin typeface="Calibri"/>
                <a:ea typeface="Calibri"/>
                <a:cs typeface="Calibri"/>
                <a:sym typeface="Calibri"/>
              </a:rPr>
              <a:t>(</a:t>
            </a:r>
            <a:r>
              <a:rPr lang="en-US" altLang="zh-TW" sz="1200" b="1" i="0" u="none" strike="noStrike" kern="1200" cap="none" dirty="0" err="1">
                <a:solidFill>
                  <a:schemeClr val="dk1"/>
                </a:solidFill>
                <a:effectLst/>
                <a:latin typeface="Calibri"/>
                <a:ea typeface="Calibri"/>
                <a:cs typeface="Calibri"/>
                <a:sym typeface="Calibri"/>
              </a:rPr>
              <a:t>32°02′N</a:t>
            </a:r>
            <a:r>
              <a:rPr lang="zh-TW" altLang="zh-TW" sz="1200" b="0" i="0" u="none" strike="noStrike" kern="1200" cap="none" dirty="0">
                <a:solidFill>
                  <a:schemeClr val="dk1"/>
                </a:solidFill>
                <a:effectLst/>
                <a:latin typeface="Calibri"/>
                <a:ea typeface="Calibri"/>
                <a:cs typeface="Calibri"/>
                <a:sym typeface="Calibri"/>
              </a:rPr>
              <a:t>，</a:t>
            </a:r>
            <a:r>
              <a:rPr lang="en-US" altLang="zh-TW" sz="1200" b="1" i="0" u="none" strike="noStrike" kern="1200" cap="none" dirty="0" err="1">
                <a:solidFill>
                  <a:schemeClr val="dk1"/>
                </a:solidFill>
                <a:effectLst/>
                <a:latin typeface="Calibri"/>
                <a:ea typeface="Calibri"/>
                <a:cs typeface="Calibri"/>
                <a:sym typeface="Calibri"/>
              </a:rPr>
              <a:t>20m</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高，可是東京的一月均溫卻比南京 高出攝氏 </a:t>
            </a:r>
            <a:r>
              <a:rPr lang="en-US" altLang="zh-TW" sz="1200" b="1" i="0" u="none" strike="noStrike" kern="1200" cap="none" dirty="0">
                <a:solidFill>
                  <a:schemeClr val="dk1"/>
                </a:solidFill>
                <a:effectLst/>
                <a:latin typeface="Calibri"/>
                <a:ea typeface="Calibri"/>
                <a:cs typeface="Calibri"/>
                <a:sym typeface="Calibri"/>
              </a:rPr>
              <a:t>2 </a:t>
            </a:r>
            <a:r>
              <a:rPr lang="zh-TW" altLang="zh-TW" sz="1200" b="0" i="0" u="none" strike="noStrike" kern="1200" cap="none" dirty="0">
                <a:solidFill>
                  <a:schemeClr val="dk1"/>
                </a:solidFill>
                <a:effectLst/>
                <a:latin typeface="Calibri"/>
                <a:ea typeface="Calibri"/>
                <a:cs typeface="Calibri"/>
                <a:sym typeface="Calibri"/>
              </a:rPr>
              <a:t>度，其背後的主因最有可能是？</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洋流性質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海陸性質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地勢高度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季風風向</a:t>
            </a:r>
          </a:p>
          <a:p>
            <a:pPr marL="0" marR="0" indent="0" algn="l" defTabSz="914400" rtl="0" eaLnBrk="1" fontAlgn="auto" latinLnBrk="0" hangingPunct="1">
              <a:lnSpc>
                <a:spcPct val="100000"/>
              </a:lnSpc>
              <a:spcBef>
                <a:spcPts val="360"/>
              </a:spcBef>
              <a:spcAft>
                <a:spcPts val="0"/>
              </a:spcAft>
              <a:buClrTx/>
              <a:buSzTx/>
              <a:buFontTx/>
              <a:buChar char="●"/>
              <a:tabLst/>
              <a:defRPr/>
            </a:pP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5731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zh-TW" altLang="zh-TW" sz="1200" b="0" i="0" u="none" strike="noStrike" kern="1200" cap="none" dirty="0">
                <a:solidFill>
                  <a:schemeClr val="dk1"/>
                </a:solidFill>
                <a:effectLst/>
                <a:latin typeface="Calibri"/>
                <a:ea typeface="Calibri"/>
                <a:cs typeface="Calibri"/>
                <a:sym typeface="Calibri"/>
              </a:rPr>
              <a:t>2</a:t>
            </a:r>
            <a:r>
              <a:rPr lang="en-US" altLang="zh-TW" sz="1200" b="0" i="0" u="none" strike="noStrike" kern="1200" cap="none" dirty="0">
                <a:solidFill>
                  <a:schemeClr val="dk1"/>
                </a:solidFill>
                <a:effectLst/>
                <a:latin typeface="Calibri"/>
                <a:ea typeface="Calibri"/>
                <a:cs typeface="Calibri"/>
                <a:sym typeface="Calibri"/>
              </a:rPr>
              <a:t>7</a:t>
            </a:r>
            <a:r>
              <a:rPr lang="zh-TW" altLang="zh-TW" sz="1200" b="0" i="0" u="none" strike="noStrike" kern="1200" cap="none" dirty="0">
                <a:solidFill>
                  <a:schemeClr val="dk1"/>
                </a:solidFill>
                <a:effectLst/>
                <a:latin typeface="Calibri"/>
                <a:ea typeface="Calibri"/>
                <a:cs typeface="Calibri"/>
                <a:sym typeface="Calibri"/>
              </a:rPr>
              <a:t>. 2006 年</a:t>
            </a:r>
            <a:r>
              <a:rPr lang="en-US" altLang="zh-TW" sz="1200" b="0" i="0" u="none" strike="noStrike" kern="1200" cap="none" dirty="0">
                <a:solidFill>
                  <a:schemeClr val="dk1"/>
                </a:solidFill>
                <a:effectLst/>
                <a:latin typeface="Calibri"/>
                <a:ea typeface="Calibri"/>
                <a:cs typeface="Calibri"/>
                <a:sym typeface="Calibri"/>
              </a:rPr>
              <a:t> 7 </a:t>
            </a:r>
            <a:r>
              <a:rPr lang="en-US" altLang="zh-TW" sz="1200" b="0" i="0" u="none" strike="noStrike" kern="1200" cap="none" dirty="0" err="1">
                <a:solidFill>
                  <a:schemeClr val="dk1"/>
                </a:solidFill>
                <a:effectLst/>
                <a:latin typeface="Calibri"/>
                <a:ea typeface="Calibri"/>
                <a:cs typeface="Calibri"/>
                <a:sym typeface="Calibri"/>
              </a:rPr>
              <a:t>月，青藏鐵路正式通車，北起西寧，南至拉薩，全長</a:t>
            </a:r>
            <a:r>
              <a:rPr lang="en-US" altLang="zh-TW" sz="1200" b="0" i="0" u="none" strike="noStrike" kern="1200" cap="none" dirty="0">
                <a:solidFill>
                  <a:schemeClr val="dk1"/>
                </a:solidFill>
                <a:effectLst/>
                <a:latin typeface="Calibri"/>
                <a:ea typeface="Calibri"/>
                <a:cs typeface="Calibri"/>
                <a:sym typeface="Calibri"/>
              </a:rPr>
              <a:t> 1956 </a:t>
            </a:r>
            <a:r>
              <a:rPr lang="en-US" altLang="zh-TW" sz="1200" b="0" i="0" u="none" strike="noStrike" kern="1200" cap="none" dirty="0" err="1">
                <a:solidFill>
                  <a:schemeClr val="dk1"/>
                </a:solidFill>
                <a:effectLst/>
                <a:latin typeface="Calibri"/>
                <a:ea typeface="Calibri"/>
                <a:cs typeface="Calibri"/>
                <a:sym typeface="Calibri"/>
              </a:rPr>
              <a:t>公里，為西部大開發的建設之</a:t>
            </a:r>
            <a:r>
              <a:rPr lang="en-US"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err="1">
                <a:solidFill>
                  <a:schemeClr val="dk1"/>
                </a:solidFill>
                <a:effectLst/>
                <a:latin typeface="Calibri"/>
                <a:ea typeface="Calibri"/>
                <a:cs typeface="Calibri"/>
                <a:sym typeface="Calibri"/>
              </a:rPr>
              <a:t>一。某人想搭乘青藏鐵路列車到拉薩，去目前全球海拔最高的</a:t>
            </a:r>
            <a:r>
              <a:rPr lang="en-US" altLang="zh-TW" sz="1200" b="0" i="0" u="none" strike="noStrike" kern="1200" cap="none" dirty="0">
                <a:solidFill>
                  <a:schemeClr val="dk1"/>
                </a:solidFill>
                <a:effectLst/>
                <a:latin typeface="Calibri"/>
                <a:ea typeface="Calibri"/>
                <a:cs typeface="Calibri"/>
                <a:sym typeface="Calibri"/>
              </a:rPr>
              <a:t> KFC </a:t>
            </a:r>
            <a:r>
              <a:rPr lang="en-US" altLang="zh-TW" sz="1200" b="0" i="0" u="none" strike="noStrike" kern="1200" cap="none" dirty="0" err="1">
                <a:solidFill>
                  <a:schemeClr val="dk1"/>
                </a:solidFill>
                <a:effectLst/>
                <a:latin typeface="Calibri"/>
                <a:ea typeface="Calibri"/>
                <a:cs typeface="Calibri"/>
                <a:sym typeface="Calibri"/>
              </a:rPr>
              <a:t>用餐</a:t>
            </a:r>
            <a:r>
              <a:rPr lang="en-US" altLang="zh-TW" sz="1200" b="0" i="0" u="none" strike="noStrike" kern="1200" cap="none" dirty="0">
                <a:solidFill>
                  <a:schemeClr val="dk1"/>
                </a:solidFill>
                <a:effectLst/>
                <a:latin typeface="Calibri"/>
                <a:ea typeface="Calibri"/>
                <a:cs typeface="Calibri"/>
                <a:sym typeface="Calibri"/>
              </a:rPr>
              <a:t> (約 </a:t>
            </a:r>
            <a:r>
              <a:rPr lang="en-US" altLang="zh-TW" sz="1200" b="0" i="0" u="none" strike="noStrike" kern="1200" cap="none" dirty="0" err="1">
                <a:solidFill>
                  <a:schemeClr val="dk1"/>
                </a:solidFill>
                <a:effectLst/>
                <a:latin typeface="Calibri"/>
                <a:ea typeface="Calibri"/>
                <a:cs typeface="Calibri"/>
                <a:sym typeface="Calibri"/>
              </a:rPr>
              <a:t>3600m</a:t>
            </a:r>
            <a:r>
              <a:rPr lang="en-US" altLang="zh-TW" sz="1200" b="0"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err="1">
                <a:solidFill>
                  <a:schemeClr val="dk1"/>
                </a:solidFill>
                <a:effectLst/>
                <a:latin typeface="Calibri"/>
                <a:ea typeface="Calibri"/>
                <a:cs typeface="Calibri"/>
                <a:sym typeface="Calibri"/>
              </a:rPr>
              <a:t>出發前，他</a:t>
            </a:r>
            <a:r>
              <a:rPr lang="en-US"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err="1">
                <a:solidFill>
                  <a:schemeClr val="dk1"/>
                </a:solidFill>
                <a:effectLst/>
                <a:latin typeface="Calibri"/>
                <a:ea typeface="Calibri"/>
                <a:cs typeface="Calibri"/>
                <a:sym typeface="Calibri"/>
              </a:rPr>
              <a:t>依據當地氣候特性準備行李，請問：下列何者敘述「有錯</a:t>
            </a:r>
            <a:r>
              <a:rPr lang="en-US" altLang="zh-TW" sz="1200" b="0" i="0" u="none" strike="noStrike" kern="1200" cap="none" dirty="0">
                <a:solidFill>
                  <a:schemeClr val="dk1"/>
                </a:solidFill>
                <a:effectLst/>
                <a:latin typeface="Calibri"/>
                <a:ea typeface="Calibri"/>
                <a:cs typeface="Calibri"/>
                <a:sym typeface="Calibri"/>
              </a:rPr>
              <a:t>」？(A)</a:t>
            </a:r>
            <a:r>
              <a:rPr lang="en-US" altLang="zh-TW" sz="1200" b="0" i="0" u="none" strike="noStrike" kern="1200" cap="none" dirty="0" err="1">
                <a:solidFill>
                  <a:schemeClr val="dk1"/>
                </a:solidFill>
                <a:effectLst/>
                <a:latin typeface="Calibri"/>
                <a:ea typeface="Calibri"/>
                <a:cs typeface="Calibri"/>
                <a:sym typeface="Calibri"/>
              </a:rPr>
              <a:t>地勢高、氣壓低</a:t>
            </a:r>
            <a:r>
              <a:rPr lang="" altLang="zh-TW" sz="1200" b="0" i="0" u="none" strike="noStrike" kern="1200" cap="none" dirty="0">
                <a:solidFill>
                  <a:schemeClr val="dk1"/>
                </a:solidFill>
                <a:effectLst/>
                <a:latin typeface="Calibri"/>
                <a:ea typeface="Calibri"/>
                <a:cs typeface="Calibri"/>
                <a:sym typeface="Calibri"/>
              </a:rPr>
              <a:t>→氧氣瓶 </a:t>
            </a:r>
            <a:r>
              <a:rPr lang="zh-TW" altLang="zh-TW" sz="1200" b="0" i="0" u="none" strike="noStrike" kern="1200" cap="none" dirty="0">
                <a:solidFill>
                  <a:schemeClr val="dk1"/>
                </a:solidFill>
                <a:effectLst/>
                <a:latin typeface="Calibri"/>
                <a:ea typeface="Calibri"/>
                <a:cs typeface="Calibri"/>
                <a:sym typeface="Calibri"/>
              </a:rPr>
              <a:t>(B)空氣稀薄、紫外線強→墨鏡、帽子</a:t>
            </a:r>
            <a:r>
              <a:rPr lang="en-US" altLang="zh-TW" sz="1200" b="0" i="0" u="none" strike="noStrike" kern="1200" cap="none" dirty="0">
                <a:solidFill>
                  <a:schemeClr val="dk1"/>
                </a:solidFill>
                <a:effectLst/>
                <a:latin typeface="Calibri"/>
                <a:ea typeface="Calibri"/>
                <a:cs typeface="Calibri"/>
                <a:sym typeface="Calibri"/>
              </a:rPr>
              <a:t> (C)</a:t>
            </a:r>
            <a:r>
              <a:rPr lang="en-US" altLang="zh-TW" sz="1200" b="0" i="0" u="none" strike="noStrike" kern="1200" cap="none" dirty="0" err="1">
                <a:solidFill>
                  <a:schemeClr val="dk1"/>
                </a:solidFill>
                <a:effectLst/>
                <a:latin typeface="Calibri"/>
                <a:ea typeface="Calibri"/>
                <a:cs typeface="Calibri"/>
                <a:sym typeface="Calibri"/>
              </a:rPr>
              <a:t>降雨機會高</a:t>
            </a:r>
            <a:r>
              <a:rPr lang="" altLang="zh-TW" sz="1200" b="0" i="0" u="none" strike="noStrike" kern="1200" cap="none" dirty="0">
                <a:solidFill>
                  <a:schemeClr val="dk1"/>
                </a:solidFill>
                <a:effectLst/>
                <a:latin typeface="Calibri"/>
                <a:ea typeface="Calibri"/>
                <a:cs typeface="Calibri"/>
                <a:sym typeface="Calibri"/>
              </a:rPr>
              <a:t>→雨傘 (D)風大→防風外套</a:t>
            </a: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36.</a:t>
            </a:r>
            <a:r>
              <a:rPr lang="zh-TW" altLang="zh-TW" sz="1200" b="0" i="0" u="none" strike="noStrike" kern="1200" cap="none" dirty="0">
                <a:solidFill>
                  <a:schemeClr val="dk1"/>
                </a:solidFill>
                <a:effectLst/>
                <a:latin typeface="Calibri"/>
                <a:ea typeface="Calibri"/>
                <a:cs typeface="Calibri"/>
                <a:sym typeface="Calibri"/>
              </a:rPr>
              <a:t>相傳清朝康熙年間，哈密王把鄯善東湖的甜瓜送給康熙。康熙問其名，伺使們皆不知，康熙便起名 為「哈密瓜」。香甜多汁的哈密瓜喜歡生長在「日夜溫差大、陽光充足」的地區，以利行光合作用和 糖分的製造與儲存。請問</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某人想到哈密瓜的盛產區，去吃道地的哈密瓜，請問：她要到附圖中，甲、 乙、丙、丁哪一個地區？ </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甲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乙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丙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丁 </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4.</a:t>
            </a:r>
            <a:r>
              <a:rPr lang="zh-TW" altLang="zh-TW" sz="1200" b="0" i="0" u="none" strike="noStrike" kern="1200" cap="none" dirty="0">
                <a:solidFill>
                  <a:schemeClr val="dk1"/>
                </a:solidFill>
                <a:effectLst/>
                <a:latin typeface="Calibri"/>
                <a:ea typeface="Calibri"/>
                <a:cs typeface="Calibri"/>
                <a:sym typeface="Calibri"/>
              </a:rPr>
              <a:t>泡菜是朝鮮半島居民幾乎每餐必備的小菜，主因是</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早期科技不發達，加上當地「甲」氣候特性，所 以會先將白菜先醃製好，延長蔬菜的保存期限，請問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「甲」氣候特性最有可能是？</a:t>
            </a:r>
            <a:r>
              <a:rPr lang="en-US" altLang="zh-TW" sz="1200" b="1" i="0" u="none" strike="noStrike" kern="1200" cap="none" dirty="0">
                <a:solidFill>
                  <a:schemeClr val="dk1"/>
                </a:solidFill>
                <a:effectLst/>
                <a:latin typeface="Calibri"/>
                <a:ea typeface="Calibri"/>
                <a:cs typeface="Calibri"/>
                <a:sym typeface="Calibri"/>
              </a:rPr>
              <a:t>(A) </a:t>
            </a:r>
            <a:r>
              <a:rPr lang="zh-TW" altLang="zh-TW" sz="1200" b="0" i="0" u="none" strike="noStrike" kern="1200" cap="none" dirty="0">
                <a:solidFill>
                  <a:schemeClr val="dk1"/>
                </a:solidFill>
                <a:effectLst/>
                <a:latin typeface="Calibri"/>
                <a:ea typeface="Calibri"/>
                <a:cs typeface="Calibri"/>
                <a:sym typeface="Calibri"/>
              </a:rPr>
              <a:t>降水強度大</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冬季完全無雨 </a:t>
            </a:r>
            <a:r>
              <a:rPr lang="en-US" altLang="zh-TW" sz="1200" b="1" i="0" u="none" strike="noStrike" kern="1200" cap="none" dirty="0">
                <a:solidFill>
                  <a:schemeClr val="dk1"/>
                </a:solidFill>
                <a:effectLst/>
                <a:latin typeface="Calibri"/>
                <a:ea typeface="Calibri"/>
                <a:cs typeface="Calibri"/>
                <a:sym typeface="Calibri"/>
              </a:rPr>
              <a:t>(C) </a:t>
            </a:r>
            <a:r>
              <a:rPr lang="zh-TW" altLang="zh-TW" sz="1200" b="0" i="0" u="none" strike="noStrike" kern="1200" cap="none" dirty="0">
                <a:solidFill>
                  <a:schemeClr val="dk1"/>
                </a:solidFill>
                <a:effectLst/>
                <a:latin typeface="Calibri"/>
                <a:ea typeface="Calibri"/>
                <a:cs typeface="Calibri"/>
                <a:sym typeface="Calibri"/>
              </a:rPr>
              <a:t>最冷月均溫</a:t>
            </a:r>
            <a:r>
              <a:rPr lang="en-US" altLang="zh-TW" sz="1200" b="1" i="0" u="none" strike="noStrike" kern="1200" cap="none" dirty="0">
                <a:solidFill>
                  <a:schemeClr val="dk1"/>
                </a:solidFill>
                <a:effectLst/>
                <a:latin typeface="Calibri"/>
                <a:ea typeface="Calibri"/>
                <a:cs typeface="Calibri"/>
                <a:sym typeface="Calibri"/>
              </a:rPr>
              <a:t>&lt;0 </a:t>
            </a:r>
            <a:r>
              <a:rPr lang="zh-TW" altLang="zh-TW" sz="1200" b="0" i="0" u="none" strike="noStrike" kern="1200" cap="none" dirty="0">
                <a:solidFill>
                  <a:schemeClr val="dk1"/>
                </a:solidFill>
                <a:effectLst/>
                <a:latin typeface="Calibri"/>
                <a:ea typeface="Calibri"/>
                <a:cs typeface="Calibri"/>
                <a:sym typeface="Calibri"/>
              </a:rPr>
              <a:t>度 </a:t>
            </a:r>
            <a:r>
              <a:rPr lang="en-US" altLang="zh-TW" sz="1200" b="1" i="0" u="none" strike="noStrike" kern="1200" cap="none" dirty="0">
                <a:solidFill>
                  <a:schemeClr val="dk1"/>
                </a:solidFill>
                <a:effectLst/>
                <a:latin typeface="Calibri"/>
                <a:ea typeface="Calibri"/>
                <a:cs typeface="Calibri"/>
                <a:sym typeface="Calibri"/>
              </a:rPr>
              <a:t>C  (D) </a:t>
            </a:r>
            <a:r>
              <a:rPr lang="zh-TW" altLang="zh-TW" sz="1200" b="0" i="0" u="none" strike="noStrike" kern="1200" cap="none" dirty="0">
                <a:solidFill>
                  <a:schemeClr val="dk1"/>
                </a:solidFill>
                <a:effectLst/>
                <a:latin typeface="Calibri"/>
                <a:ea typeface="Calibri"/>
                <a:cs typeface="Calibri"/>
                <a:sym typeface="Calibri"/>
              </a:rPr>
              <a:t>最暖月均溫</a:t>
            </a:r>
            <a:r>
              <a:rPr lang="en-US" altLang="zh-TW" sz="1200" b="1" i="0" u="none" strike="noStrike" kern="1200" cap="none" dirty="0">
                <a:solidFill>
                  <a:schemeClr val="dk1"/>
                </a:solidFill>
                <a:effectLst/>
                <a:latin typeface="Calibri"/>
                <a:ea typeface="Calibri"/>
                <a:cs typeface="Calibri"/>
                <a:sym typeface="Calibri"/>
              </a:rPr>
              <a:t>&lt;20 </a:t>
            </a:r>
            <a:r>
              <a:rPr lang="zh-TW" altLang="zh-TW" sz="1200" b="0" i="0" u="none" strike="noStrike" kern="1200" cap="none" dirty="0">
                <a:solidFill>
                  <a:schemeClr val="dk1"/>
                </a:solidFill>
                <a:effectLst/>
                <a:latin typeface="Calibri"/>
                <a:ea typeface="Calibri"/>
                <a:cs typeface="Calibri"/>
                <a:sym typeface="Calibri"/>
              </a:rPr>
              <a:t>度</a:t>
            </a:r>
            <a:r>
              <a:rPr lang="en-US" altLang="zh-TW" sz="1200" b="1" i="0" u="none" strike="noStrike" kern="1200" cap="none" dirty="0">
                <a:solidFill>
                  <a:schemeClr val="dk1"/>
                </a:solidFill>
                <a:effectLst/>
                <a:latin typeface="Calibri"/>
                <a:ea typeface="Calibri"/>
                <a:cs typeface="Calibri"/>
                <a:sym typeface="Calibri"/>
              </a:rPr>
              <a:t> C</a:t>
            </a:r>
            <a:endParaRPr lang="zh-TW" altLang="zh-TW" sz="1200" b="0" i="0" u="none" strike="noStrike" kern="1200" cap="none" dirty="0">
              <a:solidFill>
                <a:schemeClr val="dk1"/>
              </a:solidFill>
              <a:effectLst/>
              <a:latin typeface="Calibri"/>
              <a:ea typeface="Calibri"/>
              <a:cs typeface="Calibri"/>
              <a:sym typeface="Calibri"/>
            </a:endParaRPr>
          </a:p>
          <a:p>
            <a:pPr marL="0" marR="0" indent="0" algn="l" defTabSz="914400" rtl="0" eaLnBrk="1" fontAlgn="auto" latinLnBrk="0" hangingPunct="1">
              <a:lnSpc>
                <a:spcPct val="100000"/>
              </a:lnSpc>
              <a:spcBef>
                <a:spcPts val="360"/>
              </a:spcBef>
              <a:spcAft>
                <a:spcPts val="0"/>
              </a:spcAft>
              <a:buClrTx/>
              <a:buSzTx/>
              <a:buFontTx/>
              <a:buChar char="●"/>
              <a:tabLst/>
              <a:defRPr/>
            </a:pPr>
            <a:endParaRPr lang="zh-TW" altLang="zh-TW" sz="1200" b="0" i="0" u="none" strike="noStrike" kern="1200" cap="none" dirty="0">
              <a:solidFill>
                <a:schemeClr val="dk1"/>
              </a:solidFill>
              <a:effectLst/>
              <a:latin typeface="Calibri"/>
              <a:ea typeface="Calibri"/>
              <a:cs typeface="Calibri"/>
              <a:sym typeface="Calibri"/>
            </a:endParaRPr>
          </a:p>
          <a:p>
            <a:pPr eaLnBrk="1" hangingPunct="1"/>
            <a:endParaRPr lang="zh-TW" altLang="en-US" dirty="0"/>
          </a:p>
        </p:txBody>
      </p:sp>
    </p:spTree>
    <p:extLst>
      <p:ext uri="{BB962C8B-B14F-4D97-AF65-F5344CB8AC3E}">
        <p14:creationId xmlns:p14="http://schemas.microsoft.com/office/powerpoint/2010/main" val="1009478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200" b="1" i="0" u="none" strike="noStrike" kern="1200" cap="none" dirty="0">
                <a:solidFill>
                  <a:schemeClr val="dk1"/>
                </a:solidFill>
                <a:effectLst/>
                <a:latin typeface="Calibri"/>
                <a:ea typeface="Calibri"/>
                <a:cs typeface="Calibri"/>
                <a:sym typeface="Calibri"/>
              </a:rPr>
              <a:t>34. </a:t>
            </a:r>
            <a:r>
              <a:rPr lang="zh-TW" altLang="zh-TW" sz="1200" b="0" i="0" u="none" strike="noStrike" kern="1200" cap="none" dirty="0">
                <a:solidFill>
                  <a:schemeClr val="dk1"/>
                </a:solidFill>
                <a:effectLst/>
                <a:latin typeface="Calibri"/>
                <a:ea typeface="Calibri"/>
                <a:cs typeface="Calibri"/>
                <a:sym typeface="Calibri"/>
              </a:rPr>
              <a:t>某人想在明年</a:t>
            </a:r>
            <a:r>
              <a:rPr lang="en-US" altLang="zh-TW" sz="1200" b="1" i="0" u="none" strike="noStrike" kern="1200" cap="none" dirty="0">
                <a:solidFill>
                  <a:schemeClr val="dk1"/>
                </a:solidFill>
                <a:effectLst/>
                <a:latin typeface="Calibri"/>
                <a:ea typeface="Calibri"/>
                <a:cs typeface="Calibri"/>
                <a:sym typeface="Calibri"/>
              </a:rPr>
              <a:t> 1 </a:t>
            </a:r>
            <a:r>
              <a:rPr lang="zh-TW" altLang="zh-TW" sz="1200" b="0" i="0" u="none" strike="noStrike" kern="1200" cap="none" dirty="0">
                <a:solidFill>
                  <a:schemeClr val="dk1"/>
                </a:solidFill>
                <a:effectLst/>
                <a:latin typeface="Calibri"/>
                <a:ea typeface="Calibri"/>
                <a:cs typeface="Calibri"/>
                <a:sym typeface="Calibri"/>
              </a:rPr>
              <a:t>月份到日本賞雪，從「鄰近海洋、盛行風向和緯度」等面向判斷，請問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下列何地 降雪機會最高？</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(A)A (B)B (C)C (D)D</a:t>
            </a:r>
            <a:endParaRPr lang="zh-TW" altLang="zh-TW" sz="1200" b="0" i="0" u="none" strike="noStrike" kern="1200" cap="none" dirty="0">
              <a:solidFill>
                <a:schemeClr val="dk1"/>
              </a:solidFill>
              <a:effectLst/>
              <a:latin typeface="Calibri"/>
              <a:ea typeface="Calibri"/>
              <a:cs typeface="Calibri"/>
              <a:sym typeface="Calibri"/>
            </a:endParaRPr>
          </a:p>
          <a:p>
            <a:pPr eaLnBrk="1" hangingPunct="1"/>
            <a:endParaRPr lang="zh-TW" altLang="en-US" dirty="0"/>
          </a:p>
        </p:txBody>
      </p:sp>
    </p:spTree>
    <p:extLst>
      <p:ext uri="{BB962C8B-B14F-4D97-AF65-F5344CB8AC3E}">
        <p14:creationId xmlns:p14="http://schemas.microsoft.com/office/powerpoint/2010/main" val="1573454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360"/>
              </a:spcBef>
              <a:spcAft>
                <a:spcPts val="0"/>
              </a:spcAft>
              <a:buClrTx/>
              <a:buSzTx/>
              <a:buFontTx/>
              <a:buChar char="●"/>
              <a:tabLst/>
              <a:defRPr/>
            </a:pPr>
            <a:r>
              <a:rPr lang="zh-TW" altLang="en-US" sz="1200" dirty="0">
                <a:latin typeface="微軟正黑體" panose="020B0604030504040204" pitchFamily="34" charset="-120"/>
                <a:ea typeface="微軟正黑體" panose="020B0604030504040204" pitchFamily="34" charset="-120"/>
              </a:rPr>
              <a:t>稻米為世界排名第三的糧食作物，僅次小麥和玉米</a:t>
            </a:r>
            <a:endParaRPr lang="en-US" altLang="zh-TW" sz="1200" dirty="0">
              <a:latin typeface="微軟正黑體" panose="020B0604030504040204" pitchFamily="34" charset="-120"/>
              <a:ea typeface="微軟正黑體" panose="020B0604030504040204" pitchFamily="34" charset="-120"/>
            </a:endParaRPr>
          </a:p>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14</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99654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cap="none" dirty="0">
                <a:solidFill>
                  <a:srgbClr val="FF0000"/>
                </a:solidFill>
                <a:latin typeface="標楷體" pitchFamily="65" charset="-120"/>
                <a:ea typeface="標楷體" pitchFamily="65" charset="-120"/>
                <a:cs typeface="Arial"/>
                <a:sym typeface="Arial"/>
              </a:rPr>
              <a:t>秈 </a:t>
            </a:r>
            <a:r>
              <a:rPr lang="zh-CN" altLang="en-US" sz="1200" b="0" i="0" u="none" strike="noStrike" kern="1200" cap="none" dirty="0">
                <a:solidFill>
                  <a:schemeClr val="dk1"/>
                </a:solidFill>
                <a:effectLst/>
                <a:latin typeface="Calibri"/>
                <a:ea typeface="Calibri"/>
                <a:cs typeface="Calibri"/>
                <a:sym typeface="Calibri"/>
              </a:rPr>
              <a:t>ㄒㄧㄢ</a:t>
            </a:r>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16</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93813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99066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97409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E65E88-08EE-4A18-BD49-7276F98DBB3F}"/>
              </a:ext>
            </a:extLst>
          </p:cNvPr>
          <p:cNvSpPr>
            <a:spLocks noGrp="1" noChangeArrowheads="1"/>
          </p:cNvSpPr>
          <p:nvPr>
            <p:ph type="sldNum" sz="quarter" idx="5"/>
          </p:nvPr>
        </p:nvSpPr>
        <p:spPr>
          <a:ln/>
        </p:spPr>
        <p:txBody>
          <a:bodyPr/>
          <a:lstStyle/>
          <a:p>
            <a:fld id="{02A6C368-DBAF-459B-98F9-98B4CADFDDE9}" type="slidenum">
              <a:rPr lang="en-US" altLang="zh-TW"/>
              <a:pPr/>
              <a:t>24</a:t>
            </a:fld>
            <a:endParaRPr lang="en-US" altLang="zh-TW"/>
          </a:p>
        </p:txBody>
      </p:sp>
      <p:sp>
        <p:nvSpPr>
          <p:cNvPr id="500738" name="Rectangle 2">
            <a:extLst>
              <a:ext uri="{FF2B5EF4-FFF2-40B4-BE49-F238E27FC236}">
                <a16:creationId xmlns:a16="http://schemas.microsoft.com/office/drawing/2014/main" id="{0C39D711-49AC-457F-85AB-789E963124FE}"/>
              </a:ext>
            </a:extLst>
          </p:cNvPr>
          <p:cNvSpPr>
            <a:spLocks noGrp="1" noRot="1" noChangeAspect="1" noChangeArrowheads="1" noTextEdit="1"/>
          </p:cNvSpPr>
          <p:nvPr>
            <p:ph type="sldImg"/>
          </p:nvPr>
        </p:nvSpPr>
        <p:spPr>
          <a:ln/>
        </p:spPr>
      </p:sp>
      <p:sp>
        <p:nvSpPr>
          <p:cNvPr id="500739" name="Rectangle 3">
            <a:extLst>
              <a:ext uri="{FF2B5EF4-FFF2-40B4-BE49-F238E27FC236}">
                <a16:creationId xmlns:a16="http://schemas.microsoft.com/office/drawing/2014/main" id="{1ED6498B-AD0C-4C62-B761-BDCC6DBC3739}"/>
              </a:ext>
            </a:extLst>
          </p:cNvPr>
          <p:cNvSpPr>
            <a:spLocks noGrp="1" noChangeArrowheads="1"/>
          </p:cNvSpPr>
          <p:nvPr>
            <p:ph type="body" idx="1"/>
          </p:nvPr>
        </p:nvSpPr>
        <p:spPr>
          <a:xfrm>
            <a:off x="914400" y="4343400"/>
            <a:ext cx="5029200" cy="4114800"/>
          </a:xfrm>
        </p:spPr>
        <p:txBody>
          <a:bodyPr/>
          <a:lstStyle/>
          <a:p>
            <a:endParaRPr lang="zh-TW"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25</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21790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9. 1985 </a:t>
            </a:r>
            <a:r>
              <a:rPr lang="zh-TW" altLang="zh-TW" sz="1200" b="0" i="0" u="none" strike="noStrike" kern="1200" cap="none" dirty="0">
                <a:solidFill>
                  <a:schemeClr val="dk1"/>
                </a:solidFill>
                <a:effectLst/>
                <a:latin typeface="Calibri"/>
                <a:ea typeface="Calibri"/>
                <a:cs typeface="Calibri"/>
                <a:sym typeface="Calibri"/>
              </a:rPr>
              <a:t>年前後，日本人民普遍認為「土地不會貶值」，只要土地需求依舊，經濟就不會衰退，因而掀起 一波波買賣股票與土地的熱潮，但在 </a:t>
            </a:r>
            <a:r>
              <a:rPr lang="en-US" altLang="zh-TW" sz="1200" b="1" i="0" u="none" strike="noStrike" kern="1200" cap="none" dirty="0">
                <a:solidFill>
                  <a:schemeClr val="dk1"/>
                </a:solidFill>
                <a:effectLst/>
                <a:latin typeface="Calibri"/>
                <a:ea typeface="Calibri"/>
                <a:cs typeface="Calibri"/>
                <a:sym typeface="Calibri"/>
              </a:rPr>
              <a:t>1990 </a:t>
            </a:r>
            <a:r>
              <a:rPr lang="zh-TW" altLang="zh-TW" sz="1200" b="0" i="0" u="none" strike="noStrike" kern="1200" cap="none" dirty="0">
                <a:solidFill>
                  <a:schemeClr val="dk1"/>
                </a:solidFill>
                <a:effectLst/>
                <a:latin typeface="Calibri"/>
                <a:ea typeface="Calibri"/>
                <a:cs typeface="Calibri"/>
                <a:sym typeface="Calibri"/>
              </a:rPr>
              <a:t>年代， 日本卻因政府介入、地價高昂，土地買賣有行無市， 股票也一落千丈，進入蕭條時期。請問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上述現象可用下列何者來解釋？ </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產業轉型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空間移轉</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工業慣性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泡沫經濟</a:t>
            </a: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26</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2632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27</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14580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8.</a:t>
            </a:r>
            <a:r>
              <a:rPr lang="zh-TW" altLang="zh-TW" sz="1200" b="0" i="0" u="none" strike="noStrike" kern="1200" cap="none" dirty="0">
                <a:solidFill>
                  <a:schemeClr val="dk1"/>
                </a:solidFill>
                <a:effectLst/>
                <a:latin typeface="Calibri"/>
                <a:ea typeface="Calibri"/>
                <a:cs typeface="Calibri"/>
                <a:sym typeface="Calibri"/>
              </a:rPr>
              <a:t>大型財閥企業，在南韓國經濟發展史上，扮演不可或缺的角色，如</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三星、現代，</a:t>
            </a:r>
            <a:r>
              <a:rPr lang="en-US" altLang="zh-TW" sz="1200" b="1" i="0" u="none" strike="noStrike" kern="1200" cap="none" dirty="0">
                <a:solidFill>
                  <a:schemeClr val="dk1"/>
                </a:solidFill>
                <a:effectLst/>
                <a:latin typeface="Calibri"/>
                <a:ea typeface="Calibri"/>
                <a:cs typeface="Calibri"/>
                <a:sym typeface="Calibri"/>
              </a:rPr>
              <a:t> 2015 </a:t>
            </a:r>
            <a:r>
              <a:rPr lang="zh-TW" altLang="zh-TW" sz="1200" b="0" i="0" u="none" strike="noStrike" kern="1200" cap="none" dirty="0">
                <a:solidFill>
                  <a:schemeClr val="dk1"/>
                </a:solidFill>
                <a:effectLst/>
                <a:latin typeface="Calibri"/>
                <a:ea typeface="Calibri"/>
                <a:cs typeface="Calibri"/>
                <a:sym typeface="Calibri"/>
              </a:rPr>
              <a:t>年，前十大 企業營業額之總和，更佔全國 </a:t>
            </a:r>
            <a:r>
              <a:rPr lang="en-US" altLang="zh-TW" sz="1200" b="1" i="0" u="none" strike="noStrike" kern="1200" cap="none" dirty="0">
                <a:solidFill>
                  <a:schemeClr val="dk1"/>
                </a:solidFill>
                <a:effectLst/>
                <a:latin typeface="Calibri"/>
                <a:ea typeface="Calibri"/>
                <a:cs typeface="Calibri"/>
                <a:sym typeface="Calibri"/>
              </a:rPr>
              <a:t>GDP </a:t>
            </a:r>
            <a:r>
              <a:rPr lang="zh-TW" altLang="zh-TW" sz="1200" b="0" i="0" u="none" strike="noStrike" kern="1200" cap="none" dirty="0">
                <a:solidFill>
                  <a:schemeClr val="dk1"/>
                </a:solidFill>
                <a:effectLst/>
                <a:latin typeface="Calibri"/>
                <a:ea typeface="Calibri"/>
                <a:cs typeface="Calibri"/>
                <a:sym typeface="Calibri"/>
              </a:rPr>
              <a:t>的 </a:t>
            </a:r>
            <a:r>
              <a:rPr lang="en-US" altLang="zh-TW" sz="1200" b="1" i="0" u="none" strike="noStrike" kern="1200" cap="none" dirty="0">
                <a:solidFill>
                  <a:schemeClr val="dk1"/>
                </a:solidFill>
                <a:effectLst/>
                <a:latin typeface="Calibri"/>
                <a:ea typeface="Calibri"/>
                <a:cs typeface="Calibri"/>
                <a:sym typeface="Calibri"/>
              </a:rPr>
              <a:t>80%</a:t>
            </a:r>
            <a:r>
              <a:rPr lang="zh-TW" altLang="zh-TW" sz="1200" b="0" i="0" u="none" strike="noStrike" kern="1200" cap="none" dirty="0">
                <a:solidFill>
                  <a:schemeClr val="dk1"/>
                </a:solidFill>
                <a:effectLst/>
                <a:latin typeface="Calibri"/>
                <a:ea typeface="Calibri"/>
                <a:cs typeface="Calibri"/>
                <a:sym typeface="Calibri"/>
              </a:rPr>
              <a:t>，掌控了韓國經濟和日常生活。關於韓國財閥的敘述，「不 包含」下列何者？</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國家經濟容易受企業營收有較大的起伏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高度仰賴國內內需市場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具獨 占性，壓縮中小企業生存空間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財富和資源過度集中，社會貧富差距懸殊</a:t>
            </a: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29</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1310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1" i="0" u="none" strike="noStrike" kern="1200" cap="none" dirty="0">
                <a:solidFill>
                  <a:schemeClr val="dk1"/>
                </a:solidFill>
                <a:effectLst/>
                <a:latin typeface="Calibri"/>
                <a:ea typeface="Calibri"/>
                <a:cs typeface="Calibri"/>
                <a:sym typeface="Calibri"/>
              </a:rPr>
              <a:t>5. 20 </a:t>
            </a:r>
            <a:r>
              <a:rPr lang="zh-TW" altLang="zh-TW" sz="1200" b="0" i="0" u="none" strike="noStrike" kern="1200" cap="none" dirty="0">
                <a:solidFill>
                  <a:schemeClr val="dk1"/>
                </a:solidFill>
                <a:effectLst/>
                <a:latin typeface="Calibri"/>
                <a:ea typeface="Calibri"/>
                <a:cs typeface="Calibri"/>
                <a:sym typeface="Calibri"/>
              </a:rPr>
              <a:t>世紀後半，臺灣經濟成長快速，曾創下經濟奇蹟的紀錄、躍身成為亞洲四小龍，這與</a:t>
            </a:r>
            <a:r>
              <a:rPr lang="en-US" altLang="zh-TW" sz="1200" b="1" i="0" u="none" strike="noStrike" kern="1200" cap="none" dirty="0">
                <a:solidFill>
                  <a:schemeClr val="dk1"/>
                </a:solidFill>
                <a:effectLst/>
                <a:latin typeface="Calibri"/>
                <a:ea typeface="Calibri"/>
                <a:cs typeface="Calibri"/>
                <a:sym typeface="Calibri"/>
              </a:rPr>
              <a:t> 1960 </a:t>
            </a:r>
            <a:r>
              <a:rPr lang="zh-TW" altLang="zh-TW" sz="1200" b="0" i="0" u="none" strike="noStrike" kern="1200" cap="none" dirty="0">
                <a:solidFill>
                  <a:schemeClr val="dk1"/>
                </a:solidFill>
                <a:effectLst/>
                <a:latin typeface="Calibri"/>
                <a:ea typeface="Calibri"/>
                <a:cs typeface="Calibri"/>
                <a:sym typeface="Calibri"/>
              </a:rPr>
              <a:t>年代出口導向時期奠定的基礎密切相關，請問</a:t>
            </a:r>
            <a:r>
              <a:rPr lang="en-US" altLang="zh-TW" sz="1200" b="1"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臺灣在出口導向時期，是以下列何者作為發展優勢條件？</a:t>
            </a:r>
            <a:r>
              <a:rPr lang="en-US" altLang="zh-TW" sz="1200" b="0" i="0" u="none" strike="noStrike" kern="1200" cap="none" dirty="0">
                <a:solidFill>
                  <a:schemeClr val="dk1"/>
                </a:solidFill>
                <a:effectLst/>
                <a:latin typeface="Calibri"/>
                <a:ea typeface="Calibri"/>
                <a:cs typeface="Calibri"/>
                <a:sym typeface="Calibri"/>
              </a:rPr>
              <a:t> </a:t>
            </a:r>
            <a:endParaRPr lang="zh-TW"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豐富而便宜的農產品</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廉價而高素質的勞力資源</a:t>
            </a:r>
            <a:r>
              <a:rPr lang="en-US" altLang="zh-TW" sz="1200" b="1" i="0" u="none" strike="noStrike" kern="1200" cap="none" dirty="0">
                <a:solidFill>
                  <a:schemeClr val="dk1"/>
                </a:solidFill>
                <a:effectLst/>
                <a:latin typeface="Calibri"/>
                <a:ea typeface="Calibri"/>
                <a:cs typeface="Calibri"/>
                <a:sym typeface="Calibri"/>
              </a:rPr>
              <a:t> (C)</a:t>
            </a:r>
            <a:r>
              <a:rPr lang="zh-TW" altLang="zh-TW" sz="1200" b="0" i="0" u="none" strike="noStrike" kern="1200" cap="none" dirty="0">
                <a:solidFill>
                  <a:schemeClr val="dk1"/>
                </a:solidFill>
                <a:effectLst/>
                <a:latin typeface="Calibri"/>
                <a:ea typeface="Calibri"/>
                <a:cs typeface="Calibri"/>
                <a:sym typeface="Calibri"/>
              </a:rPr>
              <a:t>具經濟規模的量產能力</a:t>
            </a:r>
            <a:r>
              <a:rPr lang="en-US" altLang="zh-TW" sz="1200" b="1" i="0" u="none" strike="noStrike" kern="1200" cap="none" dirty="0">
                <a:solidFill>
                  <a:schemeClr val="dk1"/>
                </a:solidFill>
                <a:effectLst/>
                <a:latin typeface="Calibri"/>
                <a:ea typeface="Calibri"/>
                <a:cs typeface="Calibri"/>
                <a:sym typeface="Calibri"/>
              </a:rPr>
              <a:t> (D)</a:t>
            </a:r>
            <a:r>
              <a:rPr lang="zh-TW" altLang="zh-TW" sz="1200" b="0" i="0" u="none" strike="noStrike" kern="1200" cap="none" dirty="0">
                <a:solidFill>
                  <a:schemeClr val="dk1"/>
                </a:solidFill>
                <a:effectLst/>
                <a:latin typeface="Calibri"/>
                <a:ea typeface="Calibri"/>
                <a:cs typeface="Calibri"/>
                <a:sym typeface="Calibri"/>
              </a:rPr>
              <a:t>多樣而新穎的</a:t>
            </a:r>
            <a:r>
              <a:rPr lang="zh-TW"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設計能力。</a:t>
            </a:r>
          </a:p>
          <a:p>
            <a:r>
              <a:rPr lang="zh-TW"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a:solidFill>
                  <a:schemeClr val="dk1"/>
                </a:solidFill>
                <a:effectLst/>
                <a:latin typeface="Calibri"/>
                <a:ea typeface="Calibri"/>
                <a:cs typeface="Calibri"/>
                <a:sym typeface="Calibri"/>
              </a:rPr>
              <a:t>B</a:t>
            </a:r>
            <a:endParaRPr lang="zh-TW"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6.</a:t>
            </a:r>
            <a:r>
              <a:rPr lang="zh-TW" altLang="zh-TW" sz="1200" b="0" i="0" u="none" strike="noStrike" kern="1200" cap="none" dirty="0">
                <a:solidFill>
                  <a:schemeClr val="dk1"/>
                </a:solidFill>
                <a:effectLst/>
                <a:latin typeface="Calibri"/>
                <a:ea typeface="Calibri"/>
                <a:cs typeface="Calibri"/>
                <a:sym typeface="Calibri"/>
              </a:rPr>
              <a:t>國際情勢常迫使政府採取相關具體行動來因應，進而塑造不同的地理景觀，</a:t>
            </a:r>
            <a:r>
              <a:rPr lang="en-US" altLang="zh-TW" sz="1200" b="1" i="0" u="none" strike="noStrike" kern="1200" cap="none" dirty="0">
                <a:solidFill>
                  <a:schemeClr val="dk1"/>
                </a:solidFill>
                <a:effectLst/>
                <a:latin typeface="Calibri"/>
                <a:ea typeface="Calibri"/>
                <a:cs typeface="Calibri"/>
                <a:sym typeface="Calibri"/>
              </a:rPr>
              <a:t>1970 </a:t>
            </a:r>
            <a:r>
              <a:rPr lang="zh-TW" altLang="zh-TW" sz="1200" b="0" i="0" u="none" strike="noStrike" kern="1200" cap="none" dirty="0">
                <a:solidFill>
                  <a:schemeClr val="dk1"/>
                </a:solidFill>
                <a:effectLst/>
                <a:latin typeface="Calibri"/>
                <a:ea typeface="Calibri"/>
                <a:cs typeface="Calibri"/>
                <a:sym typeface="Calibri"/>
              </a:rPr>
              <a:t>年代，臺灣面臨石油</a:t>
            </a:r>
            <a:r>
              <a:rPr lang="zh-TW"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危機的衝擊，為了減輕工業原料進口成本高漲的壓力，便發展何種產業以改善此問題？ </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農產品加工業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重化工業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電子資訊工業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勞力密集性工業。</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0" i="0" u="none" strike="noStrike" kern="1200" cap="none" dirty="0">
                <a:solidFill>
                  <a:schemeClr val="dk1"/>
                </a:solidFill>
                <a:effectLst/>
                <a:latin typeface="Calibri"/>
                <a:ea typeface="Calibri"/>
                <a:cs typeface="Calibri"/>
                <a:sym typeface="Calibri"/>
              </a:rPr>
              <a:t>B</a:t>
            </a: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30</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06541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cap="none" dirty="0">
                <a:solidFill>
                  <a:schemeClr val="dk1"/>
                </a:solidFill>
                <a:effectLst/>
                <a:latin typeface="Calibri"/>
                <a:ea typeface="Calibri"/>
                <a:cs typeface="Calibri"/>
                <a:sym typeface="Calibri"/>
              </a:rPr>
              <a:t>日本人三大支柱產業：</a:t>
            </a:r>
            <a:endParaRPr lang="en-US" altLang="zh-TW" sz="1200" b="0" i="0" u="none" strike="noStrike" kern="1200" cap="none" dirty="0">
              <a:solidFill>
                <a:schemeClr val="dk1"/>
              </a:solidFill>
              <a:effectLst/>
              <a:latin typeface="Calibri"/>
              <a:ea typeface="Calibri"/>
              <a:cs typeface="Calibri"/>
              <a:sym typeface="Calibri"/>
            </a:endParaRPr>
          </a:p>
          <a:p>
            <a:r>
              <a:rPr lang="zh-TW" altLang="en-US" sz="1200" b="0" i="0" u="none" strike="noStrike" kern="1200" cap="none" dirty="0">
                <a:solidFill>
                  <a:schemeClr val="dk1"/>
                </a:solidFill>
                <a:effectLst/>
                <a:latin typeface="Calibri"/>
                <a:ea typeface="Calibri"/>
                <a:cs typeface="Calibri"/>
                <a:sym typeface="Calibri"/>
              </a:rPr>
              <a:t>汽車產業，動漫產業，新材料產業</a:t>
            </a:r>
            <a:br>
              <a:rPr lang="zh-TW" altLang="en-US" dirty="0"/>
            </a:br>
            <a:br>
              <a:rPr lang="zh-TW" altLang="en-US" dirty="0"/>
            </a:br>
            <a:r>
              <a:rPr lang="zh-TW" altLang="en-US" sz="1200" b="0" i="0" u="none" strike="noStrike" kern="1200" cap="none" dirty="0">
                <a:solidFill>
                  <a:schemeClr val="dk1"/>
                </a:solidFill>
                <a:effectLst/>
                <a:latin typeface="Calibri"/>
                <a:ea typeface="Calibri"/>
                <a:cs typeface="Calibri"/>
                <a:sym typeface="Calibri"/>
              </a:rPr>
              <a:t>原文網址：</a:t>
            </a:r>
            <a:r>
              <a:rPr lang="en-US" altLang="zh-TW" sz="1200" b="0" i="0" u="none" strike="noStrike" kern="1200" cap="none" dirty="0">
                <a:solidFill>
                  <a:schemeClr val="dk1"/>
                </a:solidFill>
                <a:effectLst/>
                <a:latin typeface="Calibri"/>
                <a:ea typeface="Calibri"/>
                <a:cs typeface="Calibri"/>
                <a:sym typeface="Calibri"/>
                <a:hlinkClick r:id="rId3"/>
              </a:rPr>
              <a:t>https://</a:t>
            </a:r>
            <a:r>
              <a:rPr lang="en-US" altLang="zh-TW" sz="1200" b="0" i="0" u="none" strike="noStrike" kern="1200" cap="none" dirty="0" err="1">
                <a:solidFill>
                  <a:schemeClr val="dk1"/>
                </a:solidFill>
                <a:effectLst/>
                <a:latin typeface="Calibri"/>
                <a:ea typeface="Calibri"/>
                <a:cs typeface="Calibri"/>
                <a:sym typeface="Calibri"/>
                <a:hlinkClick r:id="rId3"/>
              </a:rPr>
              <a:t>kknews.cc</a:t>
            </a:r>
            <a:r>
              <a:rPr lang="en-US" altLang="zh-TW" sz="1200" b="0" i="0" u="none" strike="noStrike" kern="1200" cap="none" dirty="0">
                <a:solidFill>
                  <a:schemeClr val="dk1"/>
                </a:solidFill>
                <a:effectLst/>
                <a:latin typeface="Calibri"/>
                <a:ea typeface="Calibri"/>
                <a:cs typeface="Calibri"/>
                <a:sym typeface="Calibri"/>
                <a:hlinkClick r:id="rId3"/>
              </a:rPr>
              <a:t>/finance/</a:t>
            </a:r>
            <a:r>
              <a:rPr lang="en-US" altLang="zh-TW" sz="1200" b="0" i="0" u="none" strike="noStrike" kern="1200" cap="none" dirty="0" err="1">
                <a:solidFill>
                  <a:schemeClr val="dk1"/>
                </a:solidFill>
                <a:effectLst/>
                <a:latin typeface="Calibri"/>
                <a:ea typeface="Calibri"/>
                <a:cs typeface="Calibri"/>
                <a:sym typeface="Calibri"/>
                <a:hlinkClick r:id="rId3"/>
              </a:rPr>
              <a:t>6a6qv3l.html</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34</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909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cap="none" dirty="0">
                <a:solidFill>
                  <a:schemeClr val="dk1"/>
                </a:solidFill>
                <a:effectLst/>
                <a:latin typeface="Calibri"/>
                <a:ea typeface="Calibri"/>
                <a:cs typeface="Calibri"/>
                <a:sym typeface="Calibri"/>
              </a:rPr>
              <a:t>日本人三大支柱產業：</a:t>
            </a:r>
            <a:endParaRPr lang="en-US" altLang="zh-TW" sz="1200" b="0" i="0" u="none" strike="noStrike" kern="1200" cap="none" dirty="0">
              <a:solidFill>
                <a:schemeClr val="dk1"/>
              </a:solidFill>
              <a:effectLst/>
              <a:latin typeface="Calibri"/>
              <a:ea typeface="Calibri"/>
              <a:cs typeface="Calibri"/>
              <a:sym typeface="Calibri"/>
            </a:endParaRPr>
          </a:p>
          <a:p>
            <a:r>
              <a:rPr lang="zh-TW" altLang="en-US" sz="1200" b="0" i="0" u="none" strike="noStrike" kern="1200" cap="none" dirty="0">
                <a:solidFill>
                  <a:schemeClr val="dk1"/>
                </a:solidFill>
                <a:effectLst/>
                <a:latin typeface="Calibri"/>
                <a:ea typeface="Calibri"/>
                <a:cs typeface="Calibri"/>
                <a:sym typeface="Calibri"/>
              </a:rPr>
              <a:t>汽車產業，動漫產業，新材料產業</a:t>
            </a:r>
            <a:br>
              <a:rPr lang="zh-TW" altLang="en-US" dirty="0"/>
            </a:br>
            <a:br>
              <a:rPr lang="zh-TW" altLang="en-US" dirty="0"/>
            </a:br>
            <a:r>
              <a:rPr lang="zh-TW" altLang="en-US" sz="1200" b="0" i="0" u="none" strike="noStrike" kern="1200" cap="none" dirty="0">
                <a:solidFill>
                  <a:schemeClr val="dk1"/>
                </a:solidFill>
                <a:effectLst/>
                <a:latin typeface="Calibri"/>
                <a:ea typeface="Calibri"/>
                <a:cs typeface="Calibri"/>
                <a:sym typeface="Calibri"/>
              </a:rPr>
              <a:t>原文網址：</a:t>
            </a:r>
            <a:r>
              <a:rPr lang="en-US" altLang="zh-TW" sz="1200" b="0" i="0" u="none" strike="noStrike" kern="1200" cap="none" dirty="0">
                <a:solidFill>
                  <a:schemeClr val="dk1"/>
                </a:solidFill>
                <a:effectLst/>
                <a:latin typeface="Calibri"/>
                <a:ea typeface="Calibri"/>
                <a:cs typeface="Calibri"/>
                <a:sym typeface="Calibri"/>
                <a:hlinkClick r:id="rId3"/>
              </a:rPr>
              <a:t>https://</a:t>
            </a:r>
            <a:r>
              <a:rPr lang="en-US" altLang="zh-TW" sz="1200" b="0" i="0" u="none" strike="noStrike" kern="1200" cap="none" dirty="0" err="1">
                <a:solidFill>
                  <a:schemeClr val="dk1"/>
                </a:solidFill>
                <a:effectLst/>
                <a:latin typeface="Calibri"/>
                <a:ea typeface="Calibri"/>
                <a:cs typeface="Calibri"/>
                <a:sym typeface="Calibri"/>
                <a:hlinkClick r:id="rId3"/>
              </a:rPr>
              <a:t>kknews.cc</a:t>
            </a:r>
            <a:r>
              <a:rPr lang="en-US" altLang="zh-TW" sz="1200" b="0" i="0" u="none" strike="noStrike" kern="1200" cap="none" dirty="0">
                <a:solidFill>
                  <a:schemeClr val="dk1"/>
                </a:solidFill>
                <a:effectLst/>
                <a:latin typeface="Calibri"/>
                <a:ea typeface="Calibri"/>
                <a:cs typeface="Calibri"/>
                <a:sym typeface="Calibri"/>
                <a:hlinkClick r:id="rId3"/>
              </a:rPr>
              <a:t>/finance/</a:t>
            </a:r>
            <a:r>
              <a:rPr lang="en-US" altLang="zh-TW" sz="1200" b="0" i="0" u="none" strike="noStrike" kern="1200" cap="none" dirty="0" err="1">
                <a:solidFill>
                  <a:schemeClr val="dk1"/>
                </a:solidFill>
                <a:effectLst/>
                <a:latin typeface="Calibri"/>
                <a:ea typeface="Calibri"/>
                <a:cs typeface="Calibri"/>
                <a:sym typeface="Calibri"/>
                <a:hlinkClick r:id="rId3"/>
              </a:rPr>
              <a:t>6a6qv3l.html</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36</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76150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38</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98196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 31.</a:t>
            </a:r>
            <a:r>
              <a:rPr lang="zh-TW" altLang="zh-TW" sz="1200" b="0" i="0" u="none" strike="noStrike" kern="1200" cap="none" dirty="0">
                <a:solidFill>
                  <a:schemeClr val="dk1"/>
                </a:solidFill>
                <a:effectLst/>
                <a:latin typeface="Calibri"/>
                <a:ea typeface="Calibri"/>
                <a:cs typeface="Calibri"/>
                <a:sym typeface="Calibri"/>
              </a:rPr>
              <a:t>過去有研究指出，日本的「甲特性」會提高都市居民罹患心理疾病的風險，對此，政府便將會匯聚人口 的大型設施 </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如</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機場</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，移至郊區或海上，來減少居民的心理負擔，請問：甲特性最有可能是</a:t>
            </a:r>
            <a:r>
              <a:rPr lang="en-US" altLang="zh-TW" sz="1200" b="1" i="0" u="none" strike="noStrike" kern="1200" cap="none" dirty="0">
                <a:solidFill>
                  <a:schemeClr val="dk1"/>
                </a:solidFill>
                <a:effectLst/>
                <a:latin typeface="Calibri"/>
                <a:ea typeface="Calibri"/>
                <a:cs typeface="Calibri"/>
                <a:sym typeface="Calibri"/>
              </a:rPr>
              <a:t>? (A)</a:t>
            </a:r>
            <a:r>
              <a:rPr lang="zh-TW" altLang="zh-TW" sz="1200" b="0" i="0" u="none" strike="noStrike" kern="1200" cap="none" dirty="0">
                <a:solidFill>
                  <a:schemeClr val="dk1"/>
                </a:solidFill>
                <a:effectLst/>
                <a:latin typeface="Calibri"/>
                <a:ea typeface="Calibri"/>
                <a:cs typeface="Calibri"/>
                <a:sym typeface="Calibri"/>
              </a:rPr>
              <a:t>河短流急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地狹人稠</a:t>
            </a:r>
            <a:r>
              <a:rPr lang="en-US" altLang="zh-TW" sz="1200" b="1" i="0" u="none" strike="noStrike" kern="1200" cap="none" dirty="0">
                <a:solidFill>
                  <a:schemeClr val="dk1"/>
                </a:solidFill>
                <a:effectLst/>
                <a:latin typeface="Calibri"/>
                <a:ea typeface="Calibri"/>
                <a:cs typeface="Calibri"/>
                <a:sym typeface="Calibri"/>
              </a:rPr>
              <a:t> (C)</a:t>
            </a:r>
            <a:r>
              <a:rPr lang="zh-TW" altLang="zh-TW" sz="1200" b="0" i="0" u="none" strike="noStrike" kern="1200" cap="none" dirty="0">
                <a:solidFill>
                  <a:schemeClr val="dk1"/>
                </a:solidFill>
                <a:effectLst/>
                <a:latin typeface="Calibri"/>
                <a:ea typeface="Calibri"/>
                <a:cs typeface="Calibri"/>
                <a:sym typeface="Calibri"/>
              </a:rPr>
              <a:t>海岸曲折</a:t>
            </a:r>
            <a:r>
              <a:rPr lang="en-US" altLang="zh-TW" sz="1200" b="1" i="0" u="none" strike="noStrike" kern="1200" cap="none" dirty="0">
                <a:solidFill>
                  <a:schemeClr val="dk1"/>
                </a:solidFill>
                <a:effectLst/>
                <a:latin typeface="Calibri"/>
                <a:ea typeface="Calibri"/>
                <a:cs typeface="Calibri"/>
                <a:sym typeface="Calibri"/>
              </a:rPr>
              <a:t> (D)</a:t>
            </a:r>
            <a:r>
              <a:rPr lang="zh-TW" altLang="zh-TW" sz="1200" b="0" i="0" u="none" strike="noStrike" kern="1200" cap="none" dirty="0">
                <a:solidFill>
                  <a:schemeClr val="dk1"/>
                </a:solidFill>
                <a:effectLst/>
                <a:latin typeface="Calibri"/>
                <a:ea typeface="Calibri"/>
                <a:cs typeface="Calibri"/>
                <a:sym typeface="Calibri"/>
              </a:rPr>
              <a:t>火山地震多 </a:t>
            </a:r>
            <a:endParaRPr lang="en-US"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rgbClr val="FF0000"/>
                </a:solidFill>
                <a:latin typeface="標楷體" pitchFamily="65" charset="-120"/>
                <a:ea typeface="標楷體" pitchFamily="65" charset="-120"/>
                <a:cs typeface="Times New Roman" pitchFamily="18" charset="0"/>
              </a:rPr>
              <a:t>城鄉分隔戶籍制度</a:t>
            </a:r>
          </a:p>
          <a:p>
            <a:r>
              <a:rPr lang="zh-TW" altLang="en-US" sz="1200" b="0" i="0" u="none" strike="noStrike" kern="1200" cap="none" dirty="0">
                <a:solidFill>
                  <a:schemeClr val="dk1"/>
                </a:solidFill>
                <a:effectLst/>
                <a:latin typeface="Calibri"/>
                <a:ea typeface="Calibri"/>
                <a:cs typeface="Calibri"/>
                <a:sym typeface="Calibri"/>
              </a:rPr>
              <a:t>將戶籍屬性劃分為「農業戶口」和「非農業戶口」；農業戶口可以在所在農村獲得土地</a:t>
            </a:r>
            <a:r>
              <a:rPr lang="zh-TW" altLang="en-US" sz="1200" b="0" i="0" u="none" strike="noStrike" kern="1200" cap="none" dirty="0">
                <a:solidFill>
                  <a:schemeClr val="dk1"/>
                </a:solidFill>
                <a:effectLst/>
                <a:latin typeface="Calibri"/>
                <a:ea typeface="Calibri"/>
                <a:cs typeface="Calibri"/>
                <a:sym typeface="Calibri"/>
                <a:hlinkClick r:id="rId3" tooltip="使用權"/>
              </a:rPr>
              <a:t>使用權</a:t>
            </a:r>
            <a:r>
              <a:rPr lang="zh-TW" altLang="en-US" sz="1200" b="0" i="0" u="none" strike="noStrike" kern="1200" cap="none" dirty="0">
                <a:solidFill>
                  <a:schemeClr val="dk1"/>
                </a:solidFill>
                <a:effectLst/>
                <a:latin typeface="Calibri"/>
                <a:ea typeface="Calibri"/>
                <a:cs typeface="Calibri"/>
                <a:sym typeface="Calibri"/>
              </a:rPr>
              <a:t>，但不能在城市享受若干政策。隨著城鄉交流的日益廣泛，該制度已引起愈來愈廣泛的爭議與指責。</a:t>
            </a:r>
            <a:r>
              <a:rPr lang="en-US" altLang="zh-TW" sz="1200" b="0" i="0" u="none" strike="noStrike" kern="1200" cap="none" dirty="0">
                <a:solidFill>
                  <a:schemeClr val="dk1"/>
                </a:solidFill>
                <a:effectLst/>
                <a:latin typeface="Calibri"/>
                <a:ea typeface="Calibri"/>
                <a:cs typeface="Calibri"/>
                <a:sym typeface="Calibri"/>
              </a:rPr>
              <a:t>2013</a:t>
            </a:r>
            <a:r>
              <a:rPr lang="zh-TW" altLang="en-US" sz="1200" b="0" i="0" u="none" strike="noStrike" kern="1200" cap="none" dirty="0">
                <a:solidFill>
                  <a:schemeClr val="dk1"/>
                </a:solidFill>
                <a:effectLst/>
                <a:latin typeface="Calibri"/>
                <a:ea typeface="Calibri"/>
                <a:cs typeface="Calibri"/>
                <a:sym typeface="Calibri"/>
              </a:rPr>
              <a:t>年</a:t>
            </a:r>
            <a:r>
              <a:rPr lang="en-US" altLang="zh-TW" sz="1200" b="0" i="0" u="none" strike="noStrike" kern="1200" cap="none" dirty="0">
                <a:solidFill>
                  <a:schemeClr val="dk1"/>
                </a:solidFill>
                <a:effectLst/>
                <a:latin typeface="Calibri"/>
                <a:ea typeface="Calibri"/>
                <a:cs typeface="Calibri"/>
                <a:sym typeface="Calibri"/>
              </a:rPr>
              <a:t>2</a:t>
            </a:r>
            <a:r>
              <a:rPr lang="zh-TW" altLang="en-US" sz="1200" b="0" i="0" u="none" strike="noStrike" kern="1200" cap="none" dirty="0">
                <a:solidFill>
                  <a:schemeClr val="dk1"/>
                </a:solidFill>
                <a:effectLst/>
                <a:latin typeface="Calibri"/>
                <a:ea typeface="Calibri"/>
                <a:cs typeface="Calibri"/>
                <a:sym typeface="Calibri"/>
              </a:rPr>
              <a:t>月，</a:t>
            </a:r>
            <a:r>
              <a:rPr lang="zh-TW" altLang="en-US" sz="1200" b="0" i="0" u="none" strike="noStrike" kern="1200" cap="none" dirty="0">
                <a:solidFill>
                  <a:schemeClr val="dk1"/>
                </a:solidFill>
                <a:effectLst/>
                <a:latin typeface="Calibri"/>
                <a:ea typeface="Calibri"/>
                <a:cs typeface="Calibri"/>
                <a:sym typeface="Calibri"/>
                <a:hlinkClick r:id="rId4" tooltip="全國人民代表大會常務委員會"/>
              </a:rPr>
              <a:t>全國人民代表大會常務委員會</a:t>
            </a:r>
            <a:r>
              <a:rPr lang="zh-TW" altLang="en-US" sz="1200" b="0" i="0" u="none" strike="noStrike" kern="1200" cap="none" dirty="0">
                <a:solidFill>
                  <a:schemeClr val="dk1"/>
                </a:solidFill>
                <a:effectLst/>
                <a:latin typeface="Calibri"/>
                <a:ea typeface="Calibri"/>
                <a:cs typeface="Calibri"/>
                <a:sym typeface="Calibri"/>
              </a:rPr>
              <a:t>委員</a:t>
            </a:r>
            <a:r>
              <a:rPr lang="zh-TW" altLang="en-US" sz="1200" b="0" i="0" u="none" strike="noStrike" kern="1200" cap="none" dirty="0">
                <a:solidFill>
                  <a:schemeClr val="dk1"/>
                </a:solidFill>
                <a:effectLst/>
                <a:latin typeface="Calibri"/>
                <a:ea typeface="Calibri"/>
                <a:cs typeface="Calibri"/>
                <a:sym typeface="Calibri"/>
                <a:hlinkClick r:id="rId5" tooltip="辜勝阻"/>
              </a:rPr>
              <a:t>辜勝阻</a:t>
            </a:r>
            <a:r>
              <a:rPr lang="zh-TW" altLang="en-US" sz="1200" b="0" i="0" u="none" strike="noStrike" kern="1200" cap="none" dirty="0">
                <a:solidFill>
                  <a:schemeClr val="dk1"/>
                </a:solidFill>
                <a:effectLst/>
                <a:latin typeface="Calibri"/>
                <a:ea typeface="Calibri"/>
                <a:cs typeface="Calibri"/>
                <a:sym typeface="Calibri"/>
              </a:rPr>
              <a:t>在</a:t>
            </a:r>
            <a:r>
              <a:rPr lang="en-US" altLang="zh-TW" sz="1200" b="0" i="0" u="none" strike="noStrike" kern="1200" cap="none" dirty="0">
                <a:solidFill>
                  <a:schemeClr val="dk1"/>
                </a:solidFill>
                <a:effectLst/>
                <a:latin typeface="Calibri"/>
                <a:ea typeface="Calibri"/>
                <a:cs typeface="Calibri"/>
                <a:sym typeface="Calibri"/>
              </a:rPr>
              <a:t>《</a:t>
            </a:r>
            <a:r>
              <a:rPr lang="zh-TW" altLang="en-US" sz="1200" b="0" i="0" u="none" strike="noStrike" kern="1200" cap="none" dirty="0">
                <a:solidFill>
                  <a:schemeClr val="dk1"/>
                </a:solidFill>
                <a:effectLst/>
                <a:latin typeface="Calibri"/>
                <a:ea typeface="Calibri"/>
                <a:cs typeface="Calibri"/>
                <a:sym typeface="Calibri"/>
                <a:hlinkClick r:id="rId6" tooltip="人民網"/>
              </a:rPr>
              <a:t>人民網</a:t>
            </a:r>
            <a:r>
              <a:rPr lang="en-US" altLang="zh-TW" sz="1200" b="0" i="0" u="none" strike="noStrike" kern="1200" cap="none" dirty="0">
                <a:solidFill>
                  <a:schemeClr val="dk1"/>
                </a:solidFill>
                <a:effectLst/>
                <a:latin typeface="Calibri"/>
                <a:ea typeface="Calibri"/>
                <a:cs typeface="Calibri"/>
                <a:sym typeface="Calibri"/>
              </a:rPr>
              <a:t>》</a:t>
            </a:r>
            <a:r>
              <a:rPr lang="zh-TW" altLang="en-US" sz="1200" b="0" i="0" u="none" strike="noStrike" kern="1200" cap="none" dirty="0">
                <a:solidFill>
                  <a:schemeClr val="dk1"/>
                </a:solidFill>
                <a:effectLst/>
                <a:latin typeface="Calibri"/>
                <a:ea typeface="Calibri"/>
                <a:cs typeface="Calibri"/>
                <a:sym typeface="Calibri"/>
                <a:hlinkClick r:id="rId7" tooltip="強國論壇"/>
              </a:rPr>
              <a:t>強國論壇</a:t>
            </a:r>
            <a:r>
              <a:rPr lang="zh-TW" altLang="en-US" sz="1200" b="0" i="0" u="none" strike="noStrike" kern="1200" cap="none" dirty="0">
                <a:solidFill>
                  <a:schemeClr val="dk1"/>
                </a:solidFill>
                <a:effectLst/>
                <a:latin typeface="Calibri"/>
                <a:ea typeface="Calibri"/>
                <a:cs typeface="Calibri"/>
                <a:sym typeface="Calibri"/>
              </a:rPr>
              <a:t>和網友交流時也承認，城鄉戶籍的差異存在超過</a:t>
            </a:r>
            <a:r>
              <a:rPr lang="en-US" altLang="zh-TW" sz="1200" b="0" i="0" u="none" strike="noStrike" kern="1200" cap="none" dirty="0">
                <a:solidFill>
                  <a:schemeClr val="dk1"/>
                </a:solidFill>
                <a:effectLst/>
                <a:latin typeface="Calibri"/>
                <a:ea typeface="Calibri"/>
                <a:cs typeface="Calibri"/>
                <a:sym typeface="Calibri"/>
              </a:rPr>
              <a:t>60</a:t>
            </a:r>
            <a:r>
              <a:rPr lang="zh-TW" altLang="en-US" sz="1200" b="0" i="0" u="none" strike="noStrike" kern="1200" cap="none" dirty="0">
                <a:solidFill>
                  <a:schemeClr val="dk1"/>
                </a:solidFill>
                <a:effectLst/>
                <a:latin typeface="Calibri"/>
                <a:ea typeface="Calibri"/>
                <a:cs typeface="Calibri"/>
                <a:sym typeface="Calibri"/>
              </a:rPr>
              <a:t>種的</a:t>
            </a:r>
            <a:r>
              <a:rPr lang="zh-TW" altLang="en-US" sz="1200" b="0" i="0" u="none" strike="noStrike" kern="1200" cap="none" dirty="0">
                <a:solidFill>
                  <a:schemeClr val="dk1"/>
                </a:solidFill>
                <a:effectLst/>
                <a:latin typeface="Calibri"/>
                <a:ea typeface="Calibri"/>
                <a:cs typeface="Calibri"/>
                <a:sym typeface="Calibri"/>
                <a:hlinkClick r:id="rId8" tooltip="社會福利"/>
              </a:rPr>
              <a:t>社會福利</a:t>
            </a:r>
            <a:r>
              <a:rPr lang="en-US" altLang="zh-TW" sz="1200" b="0" i="0" u="none" strike="noStrike" kern="1200" cap="none" baseline="30000" dirty="0">
                <a:solidFill>
                  <a:schemeClr val="dk1"/>
                </a:solidFill>
                <a:effectLst/>
                <a:latin typeface="Calibri"/>
                <a:ea typeface="Calibri"/>
                <a:cs typeface="Calibri"/>
                <a:sym typeface="Calibri"/>
                <a:hlinkClick r:id="rId9"/>
              </a:rPr>
              <a:t>[1]</a:t>
            </a:r>
            <a:r>
              <a:rPr lang="zh-TW" altLang="en-US" sz="1200" b="0" i="0" u="none" strike="noStrike" kern="1200" cap="none" dirty="0">
                <a:solidFill>
                  <a:schemeClr val="dk1"/>
                </a:solidFill>
                <a:effectLst/>
                <a:latin typeface="Calibri"/>
                <a:ea typeface="Calibri"/>
                <a:cs typeface="Calibri"/>
                <a:sym typeface="Calibri"/>
              </a:rPr>
              <a:t>。</a:t>
            </a:r>
          </a:p>
          <a:p>
            <a:r>
              <a:rPr lang="en-US" altLang="zh-TW" sz="1200" b="0" i="0" u="none" strike="noStrike" kern="1200" cap="none" dirty="0">
                <a:solidFill>
                  <a:schemeClr val="dk1"/>
                </a:solidFill>
                <a:effectLst/>
                <a:latin typeface="Calibri"/>
                <a:ea typeface="Calibri"/>
                <a:cs typeface="Calibri"/>
                <a:sym typeface="Calibri"/>
              </a:rPr>
              <a:t>2014</a:t>
            </a:r>
            <a:r>
              <a:rPr lang="zh-TW" altLang="en-US" sz="1200" b="0" i="0" u="none" strike="noStrike" kern="1200" cap="none" dirty="0">
                <a:solidFill>
                  <a:schemeClr val="dk1"/>
                </a:solidFill>
                <a:effectLst/>
                <a:latin typeface="Calibri"/>
                <a:ea typeface="Calibri"/>
                <a:cs typeface="Calibri"/>
                <a:sym typeface="Calibri"/>
              </a:rPr>
              <a:t>年</a:t>
            </a:r>
            <a:r>
              <a:rPr lang="en-US" altLang="zh-TW" sz="1200" b="0" i="0" u="none" strike="noStrike" kern="1200" cap="none" dirty="0">
                <a:solidFill>
                  <a:schemeClr val="dk1"/>
                </a:solidFill>
                <a:effectLst/>
                <a:latin typeface="Calibri"/>
                <a:ea typeface="Calibri"/>
                <a:cs typeface="Calibri"/>
                <a:sym typeface="Calibri"/>
              </a:rPr>
              <a:t>7</a:t>
            </a:r>
            <a:r>
              <a:rPr lang="zh-TW" altLang="en-US" sz="1200" b="0" i="0" u="none" strike="noStrike" kern="1200" cap="none" dirty="0">
                <a:solidFill>
                  <a:schemeClr val="dk1"/>
                </a:solidFill>
                <a:effectLst/>
                <a:latin typeface="Calibri"/>
                <a:ea typeface="Calibri"/>
                <a:cs typeface="Calibri"/>
                <a:sym typeface="Calibri"/>
              </a:rPr>
              <a:t>月</a:t>
            </a:r>
            <a:r>
              <a:rPr lang="en-US" altLang="zh-TW" sz="1200" b="0" i="0" u="none" strike="noStrike" kern="1200" cap="none" dirty="0">
                <a:solidFill>
                  <a:schemeClr val="dk1"/>
                </a:solidFill>
                <a:effectLst/>
                <a:latin typeface="Calibri"/>
                <a:ea typeface="Calibri"/>
                <a:cs typeface="Calibri"/>
                <a:sym typeface="Calibri"/>
              </a:rPr>
              <a:t>30</a:t>
            </a:r>
            <a:r>
              <a:rPr lang="zh-TW" altLang="en-US" sz="1200" b="0" i="0" u="none" strike="noStrike" kern="1200" cap="none" dirty="0">
                <a:solidFill>
                  <a:schemeClr val="dk1"/>
                </a:solidFill>
                <a:effectLst/>
                <a:latin typeface="Calibri"/>
                <a:ea typeface="Calibri"/>
                <a:cs typeface="Calibri"/>
                <a:sym typeface="Calibri"/>
              </a:rPr>
              <a:t>日，</a:t>
            </a:r>
            <a:r>
              <a:rPr lang="zh-TW" altLang="en-US" sz="1200" b="0" i="0" u="none" strike="noStrike" kern="1200" cap="none" dirty="0">
                <a:solidFill>
                  <a:schemeClr val="dk1"/>
                </a:solidFill>
                <a:effectLst/>
                <a:latin typeface="Calibri"/>
                <a:ea typeface="Calibri"/>
                <a:cs typeface="Calibri"/>
                <a:sym typeface="Calibri"/>
                <a:hlinkClick r:id="rId10" tooltip="中華人民共和國國務院"/>
              </a:rPr>
              <a:t>中華人民共和國國務院</a:t>
            </a:r>
            <a:r>
              <a:rPr lang="zh-TW" altLang="en-US" sz="1200" b="0" i="0" u="none" strike="noStrike" kern="1200" cap="none" dirty="0">
                <a:solidFill>
                  <a:schemeClr val="dk1"/>
                </a:solidFill>
                <a:effectLst/>
                <a:latin typeface="Calibri"/>
                <a:ea typeface="Calibri"/>
                <a:cs typeface="Calibri"/>
                <a:sym typeface="Calibri"/>
              </a:rPr>
              <a:t>公布</a:t>
            </a:r>
            <a:r>
              <a:rPr lang="en-US" altLang="zh-TW" sz="1200" b="0" i="0" u="none" strike="noStrike" kern="1200" cap="none" dirty="0">
                <a:solidFill>
                  <a:schemeClr val="dk1"/>
                </a:solidFill>
                <a:effectLst/>
                <a:latin typeface="Calibri"/>
                <a:ea typeface="Calibri"/>
                <a:cs typeface="Calibri"/>
                <a:sym typeface="Calibri"/>
              </a:rPr>
              <a:t>《</a:t>
            </a:r>
            <a:r>
              <a:rPr lang="zh-TW" altLang="en-US" sz="1200" b="0" i="0" u="none" strike="noStrike" kern="1200" cap="none" dirty="0">
                <a:solidFill>
                  <a:schemeClr val="dk1"/>
                </a:solidFill>
                <a:effectLst/>
                <a:latin typeface="Calibri"/>
                <a:ea typeface="Calibri"/>
                <a:cs typeface="Calibri"/>
                <a:sym typeface="Calibri"/>
              </a:rPr>
              <a:t>國務院關於進一步推進戶籍制度改革的意見</a:t>
            </a:r>
            <a:r>
              <a:rPr lang="en-US" altLang="zh-TW" sz="1200" b="0" i="0" u="none" strike="noStrike" kern="1200" cap="none" dirty="0">
                <a:solidFill>
                  <a:schemeClr val="dk1"/>
                </a:solidFill>
                <a:effectLst/>
                <a:latin typeface="Calibri"/>
                <a:ea typeface="Calibri"/>
                <a:cs typeface="Calibri"/>
                <a:sym typeface="Calibri"/>
              </a:rPr>
              <a:t>》</a:t>
            </a:r>
            <a:r>
              <a:rPr lang="zh-TW" altLang="en-US" sz="1200" b="0" i="0" u="none" strike="noStrike" kern="1200" cap="none" dirty="0">
                <a:solidFill>
                  <a:schemeClr val="dk1"/>
                </a:solidFill>
                <a:effectLst/>
                <a:latin typeface="Calibri"/>
                <a:ea typeface="Calibri"/>
                <a:cs typeface="Calibri"/>
                <a:sym typeface="Calibri"/>
              </a:rPr>
              <a:t>，宣布停止劃分農業和非農業戶口</a:t>
            </a:r>
            <a:r>
              <a:rPr lang="en-US" altLang="zh-TW" sz="1200" b="0" i="0" u="none" strike="noStrike" kern="1200" cap="none" baseline="30000" dirty="0">
                <a:solidFill>
                  <a:schemeClr val="dk1"/>
                </a:solidFill>
                <a:effectLst/>
                <a:latin typeface="Calibri"/>
                <a:ea typeface="Calibri"/>
                <a:cs typeface="Calibri"/>
                <a:sym typeface="Calibri"/>
                <a:hlinkClick r:id="rId11"/>
              </a:rPr>
              <a:t>[2]</a:t>
            </a:r>
            <a:r>
              <a:rPr lang="zh-TW" altLang="en-US" sz="1200" b="0" i="0" u="none" strike="noStrike" kern="1200" cap="none" dirty="0">
                <a:solidFill>
                  <a:schemeClr val="dk1"/>
                </a:solidFill>
                <a:effectLst/>
                <a:latin typeface="Calibri"/>
                <a:ea typeface="Calibri"/>
                <a:cs typeface="Calibri"/>
                <a:sym typeface="Calibri"/>
              </a:rPr>
              <a:t>。</a:t>
            </a:r>
          </a:p>
          <a:p>
            <a:r>
              <a:rPr lang="zh-TW" altLang="en-US" sz="1200" b="0" i="0" u="none" strike="noStrike" kern="1200" cap="none" dirty="0">
                <a:solidFill>
                  <a:schemeClr val="dk1"/>
                </a:solidFill>
                <a:effectLst/>
                <a:latin typeface="Calibri"/>
                <a:ea typeface="Calibri"/>
                <a:cs typeface="Calibri"/>
                <a:sym typeface="Calibri"/>
              </a:rPr>
              <a:t>此外，國務院計劃在﻿</a:t>
            </a:r>
            <a:r>
              <a:rPr lang="zh-TW" altLang="en-US" sz="1200" b="0" i="0" u="none" strike="noStrike" kern="1200" cap="none" dirty="0">
                <a:solidFill>
                  <a:schemeClr val="dk1"/>
                </a:solidFill>
                <a:effectLst/>
                <a:latin typeface="Calibri"/>
                <a:ea typeface="Calibri"/>
                <a:cs typeface="Calibri"/>
                <a:sym typeface="Calibri"/>
                <a:hlinkClick r:id="rId12" tooltip="中華人民共和國國民經濟和社會發展第十四個五年規劃綱要"/>
              </a:rPr>
              <a:t>「十四五」規劃</a:t>
            </a:r>
            <a:r>
              <a:rPr lang="zh-TW" altLang="en-US" sz="1200" b="0" i="0" u="none" strike="noStrike" kern="1200" cap="none" dirty="0">
                <a:solidFill>
                  <a:schemeClr val="dk1"/>
                </a:solidFill>
                <a:effectLst/>
                <a:latin typeface="Calibri"/>
                <a:ea typeface="Calibri"/>
                <a:cs typeface="Calibri"/>
                <a:sym typeface="Calibri"/>
              </a:rPr>
              <a:t>期間，根據</a:t>
            </a:r>
            <a:r>
              <a:rPr lang="zh-TW" altLang="en-US" sz="1200" b="0" i="0" u="none" strike="noStrike" kern="1200" cap="none" dirty="0">
                <a:solidFill>
                  <a:schemeClr val="dk1"/>
                </a:solidFill>
                <a:effectLst/>
                <a:latin typeface="Calibri"/>
                <a:ea typeface="Calibri"/>
                <a:cs typeface="Calibri"/>
                <a:sym typeface="Calibri"/>
                <a:hlinkClick r:id="rId13" tooltip="城市規模"/>
              </a:rPr>
              <a:t>城市規模</a:t>
            </a:r>
            <a:r>
              <a:rPr lang="zh-TW" altLang="en-US" sz="1200" b="0" i="0" u="none" strike="noStrike" kern="1200" cap="none" dirty="0">
                <a:solidFill>
                  <a:schemeClr val="dk1"/>
                </a:solidFill>
                <a:effectLst/>
                <a:latin typeface="Calibri"/>
                <a:ea typeface="Calibri"/>
                <a:cs typeface="Calibri"/>
                <a:sym typeface="Calibri"/>
              </a:rPr>
              <a:t>，放開放寬除個別超大城市外的落戶限制，試行以經常居住地登記戶口制度。</a:t>
            </a: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https://</a:t>
            </a:r>
            <a:r>
              <a:rPr lang="en-US" altLang="zh-TW" sz="1200" b="0" i="0" u="none" strike="noStrike" kern="1200" cap="none" dirty="0" err="1">
                <a:solidFill>
                  <a:schemeClr val="dk1"/>
                </a:solidFill>
                <a:effectLst/>
                <a:latin typeface="Calibri"/>
                <a:ea typeface="Calibri"/>
                <a:cs typeface="Calibri"/>
                <a:sym typeface="Calibri"/>
              </a:rPr>
              <a:t>zh.wikipedia.org</a:t>
            </a:r>
            <a:r>
              <a:rPr lang="en-US" altLang="zh-TW" sz="1200" b="0" i="0" u="none" strike="noStrike" kern="1200" cap="none" dirty="0">
                <a:solidFill>
                  <a:schemeClr val="dk1"/>
                </a:solidFill>
                <a:effectLst/>
                <a:latin typeface="Calibri"/>
                <a:ea typeface="Calibri"/>
                <a:cs typeface="Calibri"/>
                <a:sym typeface="Calibri"/>
              </a:rPr>
              <a:t>/wiki/%E4%B8%AD%E5%8D%8E%E4%BA%BA%E6%B0%91%E5%85%B1%E5%92%8C%E5%9B%BD%E6%88%B7%E7%B1%8D%E5%88%B6%E5%BA%A6</a:t>
            </a: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42</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6486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i="0" dirty="0">
                <a:solidFill>
                  <a:srgbClr val="F1F1F1"/>
                </a:solidFill>
                <a:effectLst/>
                <a:latin typeface="Roboto" panose="02000000000000000000" pitchFamily="2" charset="0"/>
              </a:rPr>
              <a:t>黃明志 </a:t>
            </a:r>
            <a:r>
              <a:rPr lang="en-US" altLang="zh-TW" b="1" i="0" dirty="0">
                <a:solidFill>
                  <a:srgbClr val="F1F1F1"/>
                </a:solidFill>
                <a:effectLst/>
                <a:latin typeface="Roboto" panose="02000000000000000000" pitchFamily="2" charset="0"/>
              </a:rPr>
              <a:t>Ft. </a:t>
            </a:r>
            <a:r>
              <a:rPr lang="zh-TW" altLang="en-US" b="1" i="0" dirty="0">
                <a:solidFill>
                  <a:srgbClr val="F1F1F1"/>
                </a:solidFill>
                <a:effectLst/>
                <a:latin typeface="Roboto" panose="02000000000000000000" pitchFamily="2" charset="0"/>
              </a:rPr>
              <a:t>王力宏</a:t>
            </a:r>
            <a:r>
              <a:rPr lang="en-US" altLang="zh-TW" b="1" i="0" dirty="0">
                <a:solidFill>
                  <a:srgbClr val="F1F1F1"/>
                </a:solidFill>
                <a:effectLst/>
                <a:latin typeface="Roboto" panose="02000000000000000000" pitchFamily="2" charset="0"/>
              </a:rPr>
              <a:t>【</a:t>
            </a:r>
            <a:r>
              <a:rPr lang="zh-TW" altLang="en-US" b="1" i="0" dirty="0">
                <a:solidFill>
                  <a:srgbClr val="F1F1F1"/>
                </a:solidFill>
                <a:effectLst/>
                <a:latin typeface="Roboto" panose="02000000000000000000" pitchFamily="2" charset="0"/>
              </a:rPr>
              <a:t>漂向北方</a:t>
            </a:r>
            <a:r>
              <a:rPr lang="en-US" altLang="zh-TW" b="1" i="0" dirty="0">
                <a:solidFill>
                  <a:srgbClr val="F1F1F1"/>
                </a:solidFill>
                <a:effectLst/>
                <a:latin typeface="Roboto" panose="02000000000000000000" pitchFamily="2" charset="0"/>
              </a:rPr>
              <a:t>】@</a:t>
            </a:r>
            <a:r>
              <a:rPr lang="zh-TW" altLang="en-US" b="1" i="0" dirty="0">
                <a:solidFill>
                  <a:srgbClr val="F1F1F1"/>
                </a:solidFill>
                <a:effectLst/>
                <a:latin typeface="Roboto" panose="02000000000000000000" pitchFamily="2" charset="0"/>
              </a:rPr>
              <a:t>亞洲通車 </a:t>
            </a:r>
            <a:r>
              <a:rPr lang="en-US" altLang="zh-TW" b="1" i="0" dirty="0">
                <a:solidFill>
                  <a:srgbClr val="F1F1F1"/>
                </a:solidFill>
                <a:effectLst/>
                <a:latin typeface="Roboto" panose="02000000000000000000" pitchFamily="2" charset="0"/>
              </a:rPr>
              <a:t>2016 Crossover Asia</a:t>
            </a:r>
          </a:p>
          <a:p>
            <a:r>
              <a:rPr lang="en-US" altLang="zh-TW" dirty="0"/>
              <a:t>https://</a:t>
            </a:r>
            <a:r>
              <a:rPr lang="en-US" altLang="zh-TW" dirty="0" err="1"/>
              <a:t>www.youtube.com</a:t>
            </a:r>
            <a:r>
              <a:rPr lang="en-US" altLang="zh-TW" dirty="0"/>
              <a:t>/</a:t>
            </a:r>
            <a:r>
              <a:rPr lang="en-US" altLang="zh-TW" dirty="0" err="1"/>
              <a:t>watch?v</a:t>
            </a:r>
            <a:r>
              <a:rPr lang="en-US" altLang="zh-TW" dirty="0"/>
              <a:t>=</a:t>
            </a:r>
            <a:r>
              <a:rPr lang="en-US" altLang="zh-TW" dirty="0" err="1"/>
              <a:t>qIF8xvSA0Gw</a:t>
            </a:r>
            <a:endParaRPr lang="en-US" altLang="zh-TW" b="1" i="0" dirty="0">
              <a:solidFill>
                <a:srgbClr val="F1F1F1"/>
              </a:solidFill>
              <a:effectLst/>
              <a:latin typeface="Roboto" panose="02000000000000000000" pitchFamily="2" charset="0"/>
            </a:endParaRPr>
          </a:p>
          <a:p>
            <a:endParaRPr lang="en-US" altLang="zh-TW" dirty="0"/>
          </a:p>
          <a:p>
            <a:r>
              <a:rPr lang="en-US" altLang="zh-TW" dirty="0"/>
              <a:t>https://</a:t>
            </a:r>
            <a:r>
              <a:rPr lang="en-US" altLang="zh-TW" dirty="0" err="1"/>
              <a:t>zh.wikipedia.org</a:t>
            </a:r>
            <a:r>
              <a:rPr lang="en-US" altLang="zh-TW" dirty="0"/>
              <a:t>/</a:t>
            </a:r>
            <a:r>
              <a:rPr lang="en-US" altLang="zh-TW" dirty="0" err="1"/>
              <a:t>zh-tw</a:t>
            </a:r>
            <a:r>
              <a:rPr lang="en-US" altLang="zh-TW" dirty="0"/>
              <a:t>/%</a:t>
            </a:r>
            <a:r>
              <a:rPr lang="en-US" altLang="zh-TW" dirty="0" err="1"/>
              <a:t>E5%8C%97%E6%BC%82</a:t>
            </a:r>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7624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44</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32.</a:t>
            </a:r>
            <a:r>
              <a:rPr lang="zh-TW" altLang="zh-TW" sz="1200" b="0" i="0" u="none" strike="noStrike" kern="1200" cap="none" dirty="0">
                <a:solidFill>
                  <a:schemeClr val="dk1"/>
                </a:solidFill>
                <a:effectLst/>
                <a:latin typeface="Calibri"/>
                <a:ea typeface="Calibri"/>
                <a:cs typeface="Calibri"/>
                <a:sym typeface="Calibri"/>
              </a:rPr>
              <a:t>中國的黃河，給人的印象多是</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氣勢萬鈞、澎拜洶湧，可是在冬季，黃河下游竟然發生斷流，河床 幾乎無水</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附圖</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此現象背後的自然因素，跟下列何者最相關</a:t>
            </a:r>
            <a:r>
              <a:rPr lang="en-US" altLang="zh-TW" sz="1200" b="1" i="0" u="none" strike="noStrike" kern="1200" cap="none" dirty="0">
                <a:solidFill>
                  <a:schemeClr val="dk1"/>
                </a:solidFill>
                <a:effectLst/>
                <a:latin typeface="Calibri"/>
                <a:ea typeface="Calibri"/>
                <a:cs typeface="Calibri"/>
                <a:sym typeface="Calibri"/>
              </a:rPr>
              <a:t>? (A)</a:t>
            </a:r>
            <a:r>
              <a:rPr lang="zh-TW" altLang="zh-TW" sz="1200" b="0" i="0" u="none" strike="noStrike" kern="1200" cap="none" dirty="0">
                <a:solidFill>
                  <a:schemeClr val="dk1"/>
                </a:solidFill>
                <a:effectLst/>
                <a:latin typeface="Calibri"/>
                <a:ea typeface="Calibri"/>
                <a:cs typeface="Calibri"/>
                <a:sym typeface="Calibri"/>
              </a:rPr>
              <a:t>乾季明顯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蒸發旺盛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涼流通過沿岸</a:t>
            </a:r>
            <a:r>
              <a:rPr lang="en-US" altLang="zh-TW" sz="1200" b="1" i="0" u="none" strike="noStrike" kern="1200" cap="none" dirty="0">
                <a:solidFill>
                  <a:schemeClr val="dk1"/>
                </a:solidFill>
                <a:effectLst/>
                <a:latin typeface="Calibri"/>
                <a:ea typeface="Calibri"/>
                <a:cs typeface="Calibri"/>
                <a:sym typeface="Calibri"/>
              </a:rPr>
              <a:t> (D)</a:t>
            </a:r>
            <a:r>
              <a:rPr lang="zh-TW" altLang="zh-TW" sz="1200" b="0" i="0" u="none" strike="noStrike" kern="1200" cap="none" dirty="0">
                <a:solidFill>
                  <a:schemeClr val="dk1"/>
                </a:solidFill>
                <a:effectLst/>
                <a:latin typeface="Calibri"/>
                <a:ea typeface="Calibri"/>
                <a:cs typeface="Calibri"/>
                <a:sym typeface="Calibri"/>
              </a:rPr>
              <a:t>位於背風坡</a:t>
            </a:r>
            <a:r>
              <a:rPr lang="zh-TW" altLang="zh-TW" sz="1200" b="1" i="0" u="none" strike="noStrike" kern="1200" cap="none" dirty="0">
                <a:solidFill>
                  <a:schemeClr val="dk1"/>
                </a:solidFill>
                <a:effectLst/>
                <a:latin typeface="Calibri"/>
                <a:ea typeface="Calibri"/>
                <a:cs typeface="Calibri"/>
                <a:sym typeface="Calibri"/>
              </a:rPr>
              <a:t> </a:t>
            </a: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45</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200" b="0" i="0" u="none" strike="noStrike" kern="1200" cap="none" dirty="0">
                <a:solidFill>
                  <a:schemeClr val="dk1"/>
                </a:solidFill>
                <a:effectLst/>
                <a:latin typeface="Calibri"/>
                <a:ea typeface="Calibri"/>
                <a:cs typeface="Calibri"/>
                <a:sym typeface="Calibri"/>
              </a:rPr>
              <a:t>2</a:t>
            </a:r>
            <a:r>
              <a:rPr lang="en-US" altLang="zh-TW" sz="1200" b="0" i="0" u="none" strike="noStrike" kern="1200" cap="none" dirty="0">
                <a:solidFill>
                  <a:schemeClr val="dk1"/>
                </a:solidFill>
                <a:effectLst/>
                <a:latin typeface="Calibri"/>
                <a:ea typeface="Calibri"/>
                <a:cs typeface="Calibri"/>
                <a:sym typeface="Calibri"/>
              </a:rPr>
              <a:t>8</a:t>
            </a:r>
            <a:r>
              <a:rPr lang="zh-TW" altLang="zh-TW" sz="1200" b="0" i="0" u="none" strike="noStrike" kern="1200" cap="none" dirty="0">
                <a:solidFill>
                  <a:schemeClr val="dk1"/>
                </a:solidFill>
                <a:effectLst/>
                <a:latin typeface="Calibri"/>
                <a:ea typeface="Calibri"/>
                <a:cs typeface="Calibri"/>
                <a:sym typeface="Calibri"/>
              </a:rPr>
              <a:t>. 上海目前是中國境內第一級都市，除了經濟上的好處以外，也遇到一些社會問題，如</a:t>
            </a:r>
            <a:r>
              <a:rPr lang="en-US"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err="1">
                <a:solidFill>
                  <a:schemeClr val="dk1"/>
                </a:solidFill>
                <a:effectLst/>
                <a:latin typeface="Calibri"/>
                <a:ea typeface="Calibri"/>
                <a:cs typeface="Calibri"/>
                <a:sym typeface="Calibri"/>
              </a:rPr>
              <a:t>蝸居，請問</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「蝸居」指的是上海目前哪一種都市問題？</a:t>
            </a:r>
            <a:r>
              <a:rPr lang="en-US" altLang="zh-TW" sz="1200" b="0" i="0" u="none" strike="noStrike" kern="1200" cap="none" dirty="0">
                <a:solidFill>
                  <a:schemeClr val="dk1"/>
                </a:solidFill>
                <a:effectLst/>
                <a:latin typeface="Calibri"/>
                <a:ea typeface="Calibri"/>
                <a:cs typeface="Calibri"/>
                <a:sym typeface="Calibri"/>
              </a:rPr>
              <a:t>(A)</a:t>
            </a:r>
            <a:r>
              <a:rPr lang="en-US" altLang="zh-TW" sz="1200" b="0" i="0" u="none" strike="noStrike" kern="1200" cap="none" dirty="0" err="1">
                <a:solidFill>
                  <a:schemeClr val="dk1"/>
                </a:solidFill>
                <a:effectLst/>
                <a:latin typeface="Calibri"/>
                <a:ea typeface="Calibri"/>
                <a:cs typeface="Calibri"/>
                <a:sym typeface="Calibri"/>
              </a:rPr>
              <a:t>老化指數高</a:t>
            </a:r>
            <a:r>
              <a:rPr lang="en-US" altLang="zh-TW" sz="1200" b="0" i="0" u="none" strike="noStrike" kern="1200" cap="none" dirty="0">
                <a:solidFill>
                  <a:schemeClr val="dk1"/>
                </a:solidFill>
                <a:effectLst/>
                <a:latin typeface="Calibri"/>
                <a:ea typeface="Calibri"/>
                <a:cs typeface="Calibri"/>
                <a:sym typeface="Calibri"/>
              </a:rPr>
              <a:t> (B)</a:t>
            </a:r>
            <a:r>
              <a:rPr lang="en-US" altLang="zh-TW" sz="1200" b="0" i="0" u="none" strike="noStrike" kern="1200" cap="none" dirty="0" err="1">
                <a:solidFill>
                  <a:schemeClr val="dk1"/>
                </a:solidFill>
                <a:effectLst/>
                <a:latin typeface="Calibri"/>
                <a:ea typeface="Calibri"/>
                <a:cs typeface="Calibri"/>
                <a:sym typeface="Calibri"/>
              </a:rPr>
              <a:t>常住人口過多</a:t>
            </a:r>
            <a:r>
              <a:rPr lang="en-US" altLang="zh-TW" sz="1200" b="0" i="0" u="none" strike="noStrike" kern="1200" cap="none" dirty="0">
                <a:solidFill>
                  <a:schemeClr val="dk1"/>
                </a:solidFill>
                <a:effectLst/>
                <a:latin typeface="Calibri"/>
                <a:ea typeface="Calibri"/>
                <a:cs typeface="Calibri"/>
                <a:sym typeface="Calibri"/>
              </a:rPr>
              <a:t> (C)</a:t>
            </a:r>
            <a:r>
              <a:rPr lang="en-US" altLang="zh-TW" sz="1200" b="0" i="0" u="none" strike="noStrike" kern="1200" cap="none" dirty="0" err="1">
                <a:solidFill>
                  <a:schemeClr val="dk1"/>
                </a:solidFill>
                <a:effectLst/>
                <a:latin typeface="Calibri"/>
                <a:ea typeface="Calibri"/>
                <a:cs typeface="Calibri"/>
                <a:sym typeface="Calibri"/>
              </a:rPr>
              <a:t>地層下陷嚴重</a:t>
            </a:r>
            <a:r>
              <a:rPr lang="en-US" altLang="zh-TW" sz="1200" b="0" i="0" u="none" strike="noStrike" kern="1200" cap="none" dirty="0">
                <a:solidFill>
                  <a:schemeClr val="dk1"/>
                </a:solidFill>
                <a:effectLst/>
                <a:latin typeface="Calibri"/>
                <a:ea typeface="Calibri"/>
                <a:cs typeface="Calibri"/>
                <a:sym typeface="Calibri"/>
              </a:rPr>
              <a:t> (D) </a:t>
            </a:r>
            <a:r>
              <a:rPr lang="zh-TW" altLang="zh-TW" sz="1200" b="0" i="0" u="none" strike="noStrike" kern="1200" cap="none" dirty="0">
                <a:solidFill>
                  <a:schemeClr val="dk1"/>
                </a:solidFill>
                <a:effectLst/>
                <a:latin typeface="Calibri"/>
                <a:ea typeface="Calibri"/>
                <a:cs typeface="Calibri"/>
                <a:sym typeface="Calibri"/>
              </a:rPr>
              <a:t>衛生條件不佳</a:t>
            </a:r>
            <a:r>
              <a:rPr lang="en-US" altLang="zh-TW" sz="1200" b="0" i="0" u="none" strike="noStrike" kern="1200" cap="none" dirty="0">
                <a:solidFill>
                  <a:schemeClr val="dk1"/>
                </a:solidFill>
                <a:effectLst/>
                <a:latin typeface="Calibri"/>
                <a:ea typeface="Calibri"/>
                <a:cs typeface="Calibri"/>
                <a:sym typeface="Calibri"/>
              </a:rPr>
              <a:t> </a:t>
            </a:r>
            <a:endParaRPr lang="zh-TW" altLang="zh-TW" sz="1200" b="0" i="0" u="none" strike="noStrike" kern="1200" cap="none" dirty="0">
              <a:solidFill>
                <a:schemeClr val="dk1"/>
              </a:solidFill>
              <a:effectLst/>
              <a:latin typeface="Calibri"/>
              <a:ea typeface="Calibri"/>
              <a:cs typeface="Calibri"/>
              <a:sym typeface="Calibri"/>
            </a:endParaRPr>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48</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zh-TW" altLang="zh-TW" sz="1200" b="0" i="0" u="none" strike="noStrike" kern="1200" cap="none" dirty="0">
                <a:solidFill>
                  <a:schemeClr val="dk1"/>
                </a:solidFill>
                <a:effectLst/>
                <a:latin typeface="Calibri"/>
                <a:ea typeface="Calibri"/>
                <a:cs typeface="Calibri"/>
                <a:sym typeface="Calibri"/>
              </a:rPr>
              <a:t>2</a:t>
            </a:r>
            <a:r>
              <a:rPr lang="en-US" altLang="zh-TW" sz="1200" b="0" i="0" u="none" strike="noStrike" kern="1200" cap="none" dirty="0">
                <a:solidFill>
                  <a:schemeClr val="dk1"/>
                </a:solidFill>
                <a:effectLst/>
                <a:latin typeface="Calibri"/>
                <a:ea typeface="Calibri"/>
                <a:cs typeface="Calibri"/>
                <a:sym typeface="Calibri"/>
              </a:rPr>
              <a:t>9</a:t>
            </a:r>
            <a:r>
              <a:rPr lang="zh-TW" altLang="zh-TW" sz="1200" b="0" i="0" u="none" strike="noStrike" kern="1200" cap="none" dirty="0">
                <a:solidFill>
                  <a:schemeClr val="dk1"/>
                </a:solidFill>
                <a:effectLst/>
                <a:latin typeface="Calibri"/>
                <a:ea typeface="Calibri"/>
                <a:cs typeface="Calibri"/>
                <a:sym typeface="Calibri"/>
              </a:rPr>
              <a:t>. 2015 年</a:t>
            </a:r>
            <a:r>
              <a:rPr lang="en-US" altLang="zh-TW" sz="1200" b="0" i="0" u="none" strike="noStrike" kern="1200" cap="none" dirty="0">
                <a:solidFill>
                  <a:schemeClr val="dk1"/>
                </a:solidFill>
                <a:effectLst/>
                <a:latin typeface="Calibri"/>
                <a:ea typeface="Calibri"/>
                <a:cs typeface="Calibri"/>
                <a:sym typeface="Calibri"/>
              </a:rPr>
              <a:t> 9 月 3 </a:t>
            </a:r>
            <a:r>
              <a:rPr lang="en-US" altLang="zh-TW" sz="1200" b="0" i="0" u="none" strike="noStrike" kern="1200" cap="none" dirty="0" err="1">
                <a:solidFill>
                  <a:schemeClr val="dk1"/>
                </a:solidFill>
                <a:effectLst/>
                <a:latin typeface="Calibri"/>
                <a:ea typeface="Calibri"/>
                <a:cs typeface="Calibri"/>
                <a:sym typeface="Calibri"/>
              </a:rPr>
              <a:t>日，北京舉行</a:t>
            </a:r>
            <a:r>
              <a:rPr lang="en-US" altLang="zh-TW" sz="1200" b="0" i="0" u="none" strike="noStrike" kern="1200" cap="none" dirty="0">
                <a:solidFill>
                  <a:schemeClr val="dk1"/>
                </a:solidFill>
                <a:effectLst/>
                <a:latin typeface="Calibri"/>
                <a:ea typeface="Calibri"/>
                <a:cs typeface="Calibri"/>
                <a:sym typeface="Calibri"/>
              </a:rPr>
              <a:t> 70 </a:t>
            </a:r>
            <a:r>
              <a:rPr lang="en-US" altLang="zh-TW" sz="1200" b="0" i="0" u="none" strike="noStrike" kern="1200" cap="none" dirty="0" err="1">
                <a:solidFill>
                  <a:schemeClr val="dk1"/>
                </a:solidFill>
                <a:effectLst/>
                <a:latin typeface="Calibri"/>
                <a:ea typeface="Calibri"/>
                <a:cs typeface="Calibri"/>
                <a:sym typeface="Calibri"/>
              </a:rPr>
              <a:t>周年大閱兵，在此之前，中國政府上演「人定勝天」的戲碼，運用</a:t>
            </a:r>
            <a:r>
              <a:rPr lang="en-US"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err="1">
                <a:solidFill>
                  <a:schemeClr val="dk1"/>
                </a:solidFill>
                <a:effectLst/>
                <a:latin typeface="Calibri"/>
                <a:ea typeface="Calibri"/>
                <a:cs typeface="Calibri"/>
                <a:sym typeface="Calibri"/>
              </a:rPr>
              <a:t>各種方式，就是要讓大閱兵當天一切順利。閱兵當天，北京民眾戲稱</a:t>
            </a:r>
            <a:r>
              <a:rPr lang="en-US" altLang="zh-TW" sz="1200" b="0"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err="1">
                <a:solidFill>
                  <a:schemeClr val="dk1"/>
                </a:solidFill>
                <a:effectLst/>
                <a:latin typeface="Calibri"/>
                <a:ea typeface="Calibri"/>
                <a:cs typeface="Calibri"/>
                <a:sym typeface="Calibri"/>
              </a:rPr>
              <a:t>天氣真好，帶小孩出來玩兒</a:t>
            </a:r>
            <a:r>
              <a:rPr lang="en-US"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err="1">
                <a:solidFill>
                  <a:schemeClr val="dk1"/>
                </a:solidFill>
                <a:effectLst/>
                <a:latin typeface="Calibri"/>
                <a:ea typeface="Calibri"/>
                <a:cs typeface="Calibri"/>
                <a:sym typeface="Calibri"/>
              </a:rPr>
              <a:t>今天的這個是閱兵藍吧</a:t>
            </a:r>
            <a:r>
              <a:rPr lang="en-US" altLang="zh-TW" sz="1200" b="0"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err="1">
                <a:solidFill>
                  <a:schemeClr val="dk1"/>
                </a:solidFill>
                <a:effectLst/>
                <a:latin typeface="Calibri"/>
                <a:ea typeface="Calibri"/>
                <a:cs typeface="Calibri"/>
                <a:sym typeface="Calibri"/>
              </a:rPr>
              <a:t>請問：上文引號中的敘述，反映北京市長期存在的哪一項特色</a:t>
            </a:r>
            <a:r>
              <a:rPr lang="en-US" altLang="zh-TW" sz="1200" b="0" i="0" u="none" strike="noStrike" kern="1200" cap="none" dirty="0">
                <a:solidFill>
                  <a:schemeClr val="dk1"/>
                </a:solidFill>
                <a:effectLst/>
                <a:latin typeface="Calibri"/>
                <a:ea typeface="Calibri"/>
                <a:cs typeface="Calibri"/>
                <a:sym typeface="Calibri"/>
              </a:rPr>
              <a:t>？(A)</a:t>
            </a:r>
            <a:r>
              <a:rPr lang="en-US" altLang="zh-TW" sz="1200" b="0" i="0" u="none" strike="noStrike" kern="1200" cap="none" dirty="0" err="1">
                <a:solidFill>
                  <a:schemeClr val="dk1"/>
                </a:solidFill>
                <a:effectLst/>
                <a:latin typeface="Calibri"/>
                <a:ea typeface="Calibri"/>
                <a:cs typeface="Calibri"/>
                <a:sym typeface="Calibri"/>
              </a:rPr>
              <a:t>生活</a:t>
            </a:r>
            <a:r>
              <a:rPr lang="en-US"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err="1">
                <a:solidFill>
                  <a:schemeClr val="dk1"/>
                </a:solidFill>
                <a:effectLst/>
                <a:latin typeface="Calibri"/>
                <a:ea typeface="Calibri"/>
                <a:cs typeface="Calibri"/>
                <a:sym typeface="Calibri"/>
              </a:rPr>
              <a:t>機能佳</a:t>
            </a:r>
            <a:r>
              <a:rPr lang="en-US" altLang="zh-TW" sz="1200" b="0" i="0" u="none" strike="noStrike" kern="1200" cap="none" dirty="0">
                <a:solidFill>
                  <a:schemeClr val="dk1"/>
                </a:solidFill>
                <a:effectLst/>
                <a:latin typeface="Calibri"/>
                <a:ea typeface="Calibri"/>
                <a:cs typeface="Calibri"/>
                <a:sym typeface="Calibri"/>
              </a:rPr>
              <a:t> (B)</a:t>
            </a:r>
            <a:r>
              <a:rPr lang="en-US" altLang="zh-TW" sz="1200" b="0" i="0" u="none" strike="noStrike" kern="1200" cap="none" dirty="0" err="1">
                <a:solidFill>
                  <a:schemeClr val="dk1"/>
                </a:solidFill>
                <a:effectLst/>
                <a:latin typeface="Calibri"/>
                <a:ea typeface="Calibri"/>
                <a:cs typeface="Calibri"/>
                <a:sym typeface="Calibri"/>
              </a:rPr>
              <a:t>空氣汙染嚴重</a:t>
            </a:r>
            <a:r>
              <a:rPr lang="en-US" altLang="zh-TW" sz="1200" b="0" i="0" u="none" strike="noStrike" kern="1200" cap="none" dirty="0">
                <a:solidFill>
                  <a:schemeClr val="dk1"/>
                </a:solidFill>
                <a:effectLst/>
                <a:latin typeface="Calibri"/>
                <a:ea typeface="Calibri"/>
                <a:cs typeface="Calibri"/>
                <a:sym typeface="Calibri"/>
              </a:rPr>
              <a:t> (C)</a:t>
            </a:r>
            <a:r>
              <a:rPr lang="en-US" altLang="zh-TW" sz="1200" b="0" i="0" u="none" strike="noStrike" kern="1200" cap="none" dirty="0" err="1">
                <a:solidFill>
                  <a:schemeClr val="dk1"/>
                </a:solidFill>
                <a:effectLst/>
                <a:latin typeface="Calibri"/>
                <a:ea typeface="Calibri"/>
                <a:cs typeface="Calibri"/>
                <a:sym typeface="Calibri"/>
              </a:rPr>
              <a:t>國防重心集中於此</a:t>
            </a:r>
            <a:r>
              <a:rPr lang="en-US" altLang="zh-TW" sz="1200" b="0" i="0" u="none" strike="noStrike" kern="1200" cap="none" dirty="0">
                <a:solidFill>
                  <a:schemeClr val="dk1"/>
                </a:solidFill>
                <a:effectLst/>
                <a:latin typeface="Calibri"/>
                <a:ea typeface="Calibri"/>
                <a:cs typeface="Calibri"/>
                <a:sym typeface="Calibri"/>
              </a:rPr>
              <a:t> (D)</a:t>
            </a:r>
            <a:r>
              <a:rPr lang="en-US" altLang="zh-TW" sz="1200" b="0" i="0" u="none" strike="noStrike" kern="1200" cap="none" dirty="0" err="1">
                <a:solidFill>
                  <a:schemeClr val="dk1"/>
                </a:solidFill>
                <a:effectLst/>
                <a:latin typeface="Calibri"/>
                <a:ea typeface="Calibri"/>
                <a:cs typeface="Calibri"/>
                <a:sym typeface="Calibri"/>
              </a:rPr>
              <a:t>氣候乾、溼分明，乾季雲、雨量少</a:t>
            </a:r>
            <a:r>
              <a:rPr lang="en-US" altLang="zh-TW" sz="1200" b="0" i="0" u="none" strike="noStrike" kern="1200" cap="none" dirty="0">
                <a:solidFill>
                  <a:schemeClr val="dk1"/>
                </a:solidFill>
                <a:effectLst/>
                <a:latin typeface="Calibri"/>
                <a:ea typeface="Calibri"/>
                <a:cs typeface="Calibri"/>
                <a:sym typeface="Calibri"/>
              </a:rPr>
              <a:t> </a:t>
            </a:r>
          </a:p>
          <a:p>
            <a:pPr marL="0" marR="0" indent="0" algn="l" defTabSz="914400" rtl="0" eaLnBrk="1" fontAlgn="auto" latinLnBrk="0" hangingPunct="1">
              <a:lnSpc>
                <a:spcPct val="100000"/>
              </a:lnSpc>
              <a:spcBef>
                <a:spcPts val="360"/>
              </a:spcBef>
              <a:spcAft>
                <a:spcPts val="0"/>
              </a:spcAft>
              <a:buClrTx/>
              <a:buSzTx/>
              <a:buFontTx/>
              <a:buChar char="●"/>
              <a:tabLst/>
              <a:defRPr/>
            </a:pP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※沙塵暴，是一種強風將大量地表沙土捲揚起來，降低能見度、使空氣變混濁的災害性天氣現象。中國的沙塵暴，</a:t>
            </a:r>
            <a:r>
              <a:rPr lang="zh-TW" altLang="zh-TW" sz="1200" b="0" i="0" u="sng" strike="noStrike" kern="1200" cap="none" dirty="0">
                <a:solidFill>
                  <a:schemeClr val="dk1"/>
                </a:solidFill>
                <a:effectLst/>
                <a:latin typeface="Calibri"/>
                <a:ea typeface="Calibri"/>
                <a:cs typeface="Calibri"/>
                <a:sym typeface="Calibri"/>
              </a:rPr>
              <a:t>盛行於</a:t>
            </a:r>
            <a:r>
              <a:rPr lang="en-US" altLang="zh-TW" sz="1200" b="1" i="0" u="sng" strike="noStrike" kern="1200" cap="none" dirty="0">
                <a:solidFill>
                  <a:schemeClr val="dk1"/>
                </a:solidFill>
                <a:effectLst/>
                <a:latin typeface="Calibri"/>
                <a:ea typeface="Calibri"/>
                <a:cs typeface="Calibri"/>
                <a:sym typeface="Calibri"/>
              </a:rPr>
              <a:t>(</a:t>
            </a:r>
            <a:r>
              <a:rPr lang="zh-TW" altLang="zh-TW" sz="1200" b="0" i="0" u="sng" strike="noStrike" kern="1200" cap="none" dirty="0">
                <a:solidFill>
                  <a:schemeClr val="dk1"/>
                </a:solidFill>
                <a:effectLst/>
                <a:latin typeface="Calibri"/>
                <a:ea typeface="Calibri"/>
                <a:cs typeface="Calibri"/>
                <a:sym typeface="Calibri"/>
              </a:rPr>
              <a:t>甲</a:t>
            </a:r>
            <a:r>
              <a:rPr lang="en-US" altLang="zh-TW" sz="1200" b="1" i="0" u="sng" strike="noStrike" kern="1200" cap="none" dirty="0">
                <a:solidFill>
                  <a:schemeClr val="dk1"/>
                </a:solidFill>
                <a:effectLst/>
                <a:latin typeface="Calibri"/>
                <a:ea typeface="Calibri"/>
                <a:cs typeface="Calibri"/>
                <a:sym typeface="Calibri"/>
              </a:rPr>
              <a:t>)</a:t>
            </a:r>
            <a:r>
              <a:rPr lang="zh-TW" altLang="zh-TW" sz="1200" b="0" i="0" u="sng" strike="noStrike" kern="1200" cap="none" dirty="0">
                <a:solidFill>
                  <a:schemeClr val="dk1"/>
                </a:solidFill>
                <a:effectLst/>
                <a:latin typeface="Calibri"/>
                <a:ea typeface="Calibri"/>
                <a:cs typeface="Calibri"/>
                <a:sym typeface="Calibri"/>
              </a:rPr>
              <a:t>時期</a:t>
            </a:r>
            <a:r>
              <a:rPr lang="zh-TW" altLang="zh-TW" sz="1200" b="0" i="0" u="none" strike="noStrike" kern="1200" cap="none" dirty="0">
                <a:solidFill>
                  <a:schemeClr val="dk1"/>
                </a:solidFill>
                <a:effectLst/>
                <a:latin typeface="Calibri"/>
                <a:ea typeface="Calibri"/>
                <a:cs typeface="Calibri"/>
                <a:sym typeface="Calibri"/>
              </a:rPr>
              <a:t>，主要是因為中國西北沙漠的豐富且鬆散的沙土裸露，遇地面強風和不穩定的氣流，被帶至高空，在無降水的情況下，較細小的沙塵，</a:t>
            </a:r>
            <a:r>
              <a:rPr lang="zh-TW" altLang="zh-TW" sz="1200" b="0" i="0" u="sng" strike="noStrike" kern="1200" cap="none" dirty="0">
                <a:solidFill>
                  <a:schemeClr val="dk1"/>
                </a:solidFill>
                <a:effectLst/>
                <a:latin typeface="Calibri"/>
                <a:ea typeface="Calibri"/>
                <a:cs typeface="Calibri"/>
                <a:sym typeface="Calibri"/>
              </a:rPr>
              <a:t>可能會伴隨</a:t>
            </a:r>
            <a:r>
              <a:rPr lang="en-US" altLang="zh-TW" sz="1200" b="1" i="0" u="sng" strike="noStrike" kern="1200" cap="none" dirty="0">
                <a:solidFill>
                  <a:schemeClr val="dk1"/>
                </a:solidFill>
                <a:effectLst/>
                <a:latin typeface="Calibri"/>
                <a:ea typeface="Calibri"/>
                <a:cs typeface="Calibri"/>
                <a:sym typeface="Calibri"/>
              </a:rPr>
              <a:t>(</a:t>
            </a:r>
            <a:r>
              <a:rPr lang="zh-TW" altLang="zh-TW" sz="1200" b="0" i="0" u="sng" strike="noStrike" kern="1200" cap="none" dirty="0">
                <a:solidFill>
                  <a:schemeClr val="dk1"/>
                </a:solidFill>
                <a:effectLst/>
                <a:latin typeface="Calibri"/>
                <a:ea typeface="Calibri"/>
                <a:cs typeface="Calibri"/>
                <a:sym typeface="Calibri"/>
              </a:rPr>
              <a:t>乙</a:t>
            </a:r>
            <a:r>
              <a:rPr lang="en-US" altLang="zh-TW" sz="1200" b="1" i="0" u="sng"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，進行長程傳送。請回答：</a:t>
            </a:r>
            <a:br>
              <a:rPr lang="en-US" altLang="zh-TW" sz="1200" b="0" i="0" u="none" strike="noStrike" kern="1200" cap="none" dirty="0">
                <a:solidFill>
                  <a:schemeClr val="dk1"/>
                </a:solidFill>
                <a:effectLst/>
                <a:latin typeface="Calibri"/>
                <a:ea typeface="Calibri"/>
                <a:cs typeface="Calibri"/>
                <a:sym typeface="Calibri"/>
              </a:rPr>
            </a:br>
            <a:r>
              <a:rPr lang="en-US" altLang="zh-TW" sz="1200" b="0" i="0" u="none" strike="noStrike" kern="1200" cap="none" dirty="0">
                <a:solidFill>
                  <a:schemeClr val="dk1"/>
                </a:solidFill>
                <a:effectLst/>
                <a:latin typeface="Calibri"/>
                <a:ea typeface="Calibri"/>
                <a:cs typeface="Calibri"/>
                <a:sym typeface="Calibri"/>
              </a:rPr>
              <a:t>41.</a:t>
            </a:r>
            <a:r>
              <a:rPr lang="zh-TW" altLang="zh-TW" sz="1200" b="0" i="0" u="none" strike="noStrike" kern="1200" cap="none" dirty="0">
                <a:solidFill>
                  <a:schemeClr val="dk1"/>
                </a:solidFill>
                <a:effectLst/>
                <a:latin typeface="Calibri"/>
                <a:ea typeface="Calibri"/>
                <a:cs typeface="Calibri"/>
                <a:sym typeface="Calibri"/>
              </a:rPr>
              <a:t>若沙塵暴經長程傳送，影響到臺灣，上文中的「乙」最有可能是下列何者？</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太平洋高壓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冷鋒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西風</a:t>
            </a:r>
            <a:r>
              <a:rPr lang="en-US" altLang="zh-TW" sz="1200" b="1" i="0" u="none" strike="noStrike" kern="1200" cap="none" dirty="0">
                <a:solidFill>
                  <a:schemeClr val="dk1"/>
                </a:solidFill>
                <a:effectLst/>
                <a:latin typeface="Calibri"/>
                <a:ea typeface="Calibri"/>
                <a:cs typeface="Calibri"/>
                <a:sym typeface="Calibri"/>
              </a:rPr>
              <a:t> (D)</a:t>
            </a:r>
            <a:r>
              <a:rPr lang="zh-TW" altLang="zh-TW" sz="1200" b="0" i="0" u="none" strike="noStrike" kern="1200" cap="none" dirty="0">
                <a:solidFill>
                  <a:schemeClr val="dk1"/>
                </a:solidFill>
                <a:effectLst/>
                <a:latin typeface="Calibri"/>
                <a:ea typeface="Calibri"/>
                <a:cs typeface="Calibri"/>
                <a:sym typeface="Calibri"/>
              </a:rPr>
              <a:t>滯留鋒 </a:t>
            </a:r>
          </a:p>
          <a:p>
            <a:pPr marL="0" marR="0" indent="0" algn="l" defTabSz="914400" rtl="0" eaLnBrk="1" fontAlgn="auto" latinLnBrk="0" hangingPunct="1">
              <a:lnSpc>
                <a:spcPct val="100000"/>
              </a:lnSpc>
              <a:spcBef>
                <a:spcPts val="360"/>
              </a:spcBef>
              <a:spcAft>
                <a:spcPts val="0"/>
              </a:spcAft>
              <a:buClrTx/>
              <a:buSzTx/>
              <a:buFontTx/>
              <a:buChar char="●"/>
              <a:tabLst/>
              <a:defRPr/>
            </a:pP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49</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1" dirty="0">
                <a:ea typeface="Calibri" panose="020F0502020204030204" pitchFamily="34" charset="0"/>
              </a:rPr>
              <a:t>1. </a:t>
            </a:r>
            <a:r>
              <a:rPr lang="zh-CN" altLang="zh-TW" sz="1200" b="1" dirty="0">
                <a:ea typeface="Microsoft YaHei" panose="020B0503020204020204" pitchFamily="34" charset="-122"/>
              </a:rPr>
              <a:t>北迴</a:t>
            </a:r>
            <a:r>
              <a:rPr lang="zh-TW" altLang="zh-TW" sz="1200" b="1" dirty="0">
                <a:ea typeface="Microsoft JhengHei" panose="020B0604030504040204" pitchFamily="34" charset="-120"/>
              </a:rPr>
              <a:t>歸線通過台灣，</a:t>
            </a:r>
            <a:br>
              <a:rPr lang="zh-TW" altLang="zh-TW" sz="1200" b="1" dirty="0">
                <a:ea typeface="Microsoft JhengHei" panose="020B0604030504040204" pitchFamily="34" charset="-120"/>
              </a:rPr>
            </a:br>
            <a:r>
              <a:rPr lang="en-US" altLang="zh-TW" sz="1200" b="1" dirty="0">
                <a:ea typeface="Calibri" panose="020F0502020204030204" pitchFamily="34" charset="0"/>
              </a:rPr>
              <a:t>(1) </a:t>
            </a:r>
            <a:r>
              <a:rPr lang="zh-TW" altLang="zh-TW" sz="1200" b="1" dirty="0">
                <a:ea typeface="Microsoft JhengHei" panose="020B0604030504040204" pitchFamily="34" charset="-120"/>
              </a:rPr>
              <a:t>全世界在此緯度理論上大多</a:t>
            </a:r>
            <a:r>
              <a:rPr lang="zh-CN" altLang="zh-TW" sz="1200" b="1" dirty="0">
                <a:ea typeface="Microsoft YaHei" panose="020B0503020204020204" pitchFamily="34" charset="-122"/>
              </a:rPr>
              <a:t>應</a:t>
            </a:r>
            <a:r>
              <a:rPr lang="zh-TW" altLang="zh-TW" sz="1200" b="1" dirty="0">
                <a:ea typeface="Microsoft JhengHei" panose="020B0604030504040204" pitchFamily="34" charset="-120"/>
              </a:rPr>
              <a:t>為什麼氣候？</a:t>
            </a:r>
            <a:r>
              <a:rPr lang="zh-TW" altLang="zh-TW" sz="1200" b="1" dirty="0">
                <a:ea typeface="PMingLiU" panose="02020500000000000000" pitchFamily="18" charset="-120"/>
              </a:rPr>
              <a:t>為什麼？</a:t>
            </a:r>
            <a:endParaRPr lang="zh-TW" altLang="zh-TW" sz="1200" b="1" dirty="0">
              <a:ea typeface="Calibri" panose="020F0502020204030204" pitchFamily="34" charset="0"/>
            </a:endParaRPr>
          </a:p>
          <a:p>
            <a:pPr>
              <a:buNone/>
            </a:pPr>
            <a:r>
              <a:rPr lang="en-US" altLang="zh-TW" sz="1200" b="1" dirty="0">
                <a:ea typeface="Calibri" panose="020F0502020204030204" pitchFamily="34" charset="0"/>
              </a:rPr>
              <a:t>(2) </a:t>
            </a:r>
            <a:r>
              <a:rPr lang="zh-TW" altLang="zh-TW" sz="1200" b="1" dirty="0">
                <a:ea typeface="PMingLiU" panose="02020500000000000000" pitchFamily="18" charset="-120"/>
              </a:rPr>
              <a:t>台灣為何</a:t>
            </a:r>
            <a:r>
              <a:rPr lang="zh-TW" altLang="en-US" sz="1200" b="1" dirty="0">
                <a:ea typeface="PMingLiU" panose="02020500000000000000" pitchFamily="18" charset="-120"/>
              </a:rPr>
              <a:t>能避開此宿命</a:t>
            </a:r>
            <a:r>
              <a:rPr lang="zh-TW" altLang="zh-TW" sz="1200" b="1" dirty="0">
                <a:ea typeface="PMingLiU" panose="02020500000000000000" pitchFamily="18" charset="-120"/>
              </a:rPr>
              <a:t>？</a:t>
            </a:r>
            <a:endParaRPr lang="zh-TW" altLang="zh-TW" sz="1200" b="1" dirty="0">
              <a:ea typeface="Calibri" panose="020F0502020204030204" pitchFamily="34" charset="0"/>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51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577479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71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028959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200" b="1" i="0" u="none" strike="noStrike" kern="1200" cap="none" dirty="0">
                <a:solidFill>
                  <a:schemeClr val="dk1"/>
                </a:solidFill>
                <a:effectLst/>
                <a:latin typeface="Calibri"/>
                <a:ea typeface="Calibri"/>
                <a:cs typeface="Calibri"/>
                <a:sym typeface="Calibri"/>
              </a:rPr>
              <a:t>34. </a:t>
            </a:r>
            <a:r>
              <a:rPr lang="zh-TW" altLang="zh-TW" sz="1200" b="0" i="0" u="none" strike="noStrike" kern="1200" cap="none" dirty="0">
                <a:solidFill>
                  <a:schemeClr val="dk1"/>
                </a:solidFill>
                <a:effectLst/>
                <a:latin typeface="Calibri"/>
                <a:ea typeface="Calibri"/>
                <a:cs typeface="Calibri"/>
                <a:sym typeface="Calibri"/>
              </a:rPr>
              <a:t>某人想在明年</a:t>
            </a:r>
            <a:r>
              <a:rPr lang="en-US" altLang="zh-TW" sz="1200" b="1" i="0" u="none" strike="noStrike" kern="1200" cap="none" dirty="0">
                <a:solidFill>
                  <a:schemeClr val="dk1"/>
                </a:solidFill>
                <a:effectLst/>
                <a:latin typeface="Calibri"/>
                <a:ea typeface="Calibri"/>
                <a:cs typeface="Calibri"/>
                <a:sym typeface="Calibri"/>
              </a:rPr>
              <a:t> 1 </a:t>
            </a:r>
            <a:r>
              <a:rPr lang="zh-TW" altLang="zh-TW" sz="1200" b="0" i="0" u="none" strike="noStrike" kern="1200" cap="none" dirty="0">
                <a:solidFill>
                  <a:schemeClr val="dk1"/>
                </a:solidFill>
                <a:effectLst/>
                <a:latin typeface="Calibri"/>
                <a:ea typeface="Calibri"/>
                <a:cs typeface="Calibri"/>
                <a:sym typeface="Calibri"/>
              </a:rPr>
              <a:t>月份到日本賞雪，從「鄰近海洋、盛行風向和緯度」等面向判斷，請問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下列何地 降雪機會最高？</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(A)A (B)B (C)C (D)D</a:t>
            </a:r>
            <a:endParaRPr lang="zh-TW" altLang="zh-TW" sz="1200" b="0" i="0" u="none" strike="noStrike" kern="1200" cap="none" dirty="0">
              <a:solidFill>
                <a:schemeClr val="dk1"/>
              </a:solidFill>
              <a:effectLst/>
              <a:latin typeface="Calibri"/>
              <a:ea typeface="Calibri"/>
              <a:cs typeface="Calibri"/>
              <a:sym typeface="Calibri"/>
            </a:endParaRPr>
          </a:p>
          <a:p>
            <a:pPr eaLnBrk="1" hangingPunct="1"/>
            <a:endParaRPr lang="zh-TW" altLang="en-US" dirty="0"/>
          </a:p>
        </p:txBody>
      </p:sp>
    </p:spTree>
    <p:extLst>
      <p:ext uri="{BB962C8B-B14F-4D97-AF65-F5344CB8AC3E}">
        <p14:creationId xmlns:p14="http://schemas.microsoft.com/office/powerpoint/2010/main" val="2869021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200" b="1" i="0" u="none" strike="noStrike" kern="1200" cap="none" dirty="0">
                <a:solidFill>
                  <a:schemeClr val="dk1"/>
                </a:solidFill>
                <a:effectLst/>
                <a:latin typeface="Calibri"/>
                <a:ea typeface="Calibri"/>
                <a:cs typeface="Calibri"/>
                <a:sym typeface="Calibri"/>
              </a:rPr>
              <a:t>34. </a:t>
            </a:r>
            <a:r>
              <a:rPr lang="zh-TW" altLang="zh-TW" sz="1200" b="0" i="0" u="none" strike="noStrike" kern="1200" cap="none" dirty="0">
                <a:solidFill>
                  <a:schemeClr val="dk1"/>
                </a:solidFill>
                <a:effectLst/>
                <a:latin typeface="Calibri"/>
                <a:ea typeface="Calibri"/>
                <a:cs typeface="Calibri"/>
                <a:sym typeface="Calibri"/>
              </a:rPr>
              <a:t>某人想在明年</a:t>
            </a:r>
            <a:r>
              <a:rPr lang="en-US" altLang="zh-TW" sz="1200" b="1" i="0" u="none" strike="noStrike" kern="1200" cap="none" dirty="0">
                <a:solidFill>
                  <a:schemeClr val="dk1"/>
                </a:solidFill>
                <a:effectLst/>
                <a:latin typeface="Calibri"/>
                <a:ea typeface="Calibri"/>
                <a:cs typeface="Calibri"/>
                <a:sym typeface="Calibri"/>
              </a:rPr>
              <a:t> 1 </a:t>
            </a:r>
            <a:r>
              <a:rPr lang="zh-TW" altLang="zh-TW" sz="1200" b="0" i="0" u="none" strike="noStrike" kern="1200" cap="none" dirty="0">
                <a:solidFill>
                  <a:schemeClr val="dk1"/>
                </a:solidFill>
                <a:effectLst/>
                <a:latin typeface="Calibri"/>
                <a:ea typeface="Calibri"/>
                <a:cs typeface="Calibri"/>
                <a:sym typeface="Calibri"/>
              </a:rPr>
              <a:t>月份到日本賞雪，從「鄰近海洋、盛行風向和緯度」等面向判斷，請問</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下列何地 降雪機會最高？</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(A)A (B)B (C)C (D)D</a:t>
            </a:r>
            <a:endParaRPr lang="zh-TW" altLang="zh-TW" sz="1200" b="0" i="0" u="none" strike="noStrike" kern="1200" cap="none" dirty="0">
              <a:solidFill>
                <a:schemeClr val="dk1"/>
              </a:solidFill>
              <a:effectLst/>
              <a:latin typeface="Calibri"/>
              <a:ea typeface="Calibri"/>
              <a:cs typeface="Calibri"/>
              <a:sym typeface="Calibri"/>
            </a:endParaRPr>
          </a:p>
          <a:p>
            <a:pPr eaLnBrk="1" hangingPunct="1"/>
            <a:endParaRPr lang="zh-TW" altLang="en-US" dirty="0"/>
          </a:p>
        </p:txBody>
      </p:sp>
    </p:spTree>
    <p:extLst>
      <p:ext uri="{BB962C8B-B14F-4D97-AF65-F5344CB8AC3E}">
        <p14:creationId xmlns:p14="http://schemas.microsoft.com/office/powerpoint/2010/main" val="4057450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23" name="Shape 23"/>
          <p:cNvSpPr txBox="1">
            <a:spLocks noGrp="1"/>
          </p:cNvSpPr>
          <p:nvPr>
            <p:ph type="body" idx="1"/>
          </p:nvPr>
        </p:nvSpPr>
        <p:spPr>
          <a:xfrm>
            <a:off x="301625" y="1600200"/>
            <a:ext cx="8540750" cy="4498975"/>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24" name="Shape 24"/>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5" name="Shape 25"/>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6" name="Shape 26"/>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b="0" i="0" u="none" strike="noStrike" cap="none">
                <a:solidFill>
                  <a:schemeClr val="dk1"/>
                </a:solidFill>
                <a:latin typeface="Arial"/>
                <a:ea typeface="Arial"/>
                <a:cs typeface="Arial"/>
                <a:sym typeface="Arial"/>
              </a:rPr>
              <a:t>‹#›</a:t>
            </a:fld>
            <a:endParaRPr lang="zh-TW" sz="14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區段標題">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722313" y="4406900"/>
            <a:ext cx="7772400" cy="1362075"/>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4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33" name="Shape 33"/>
          <p:cNvSpPr txBox="1">
            <a:spLocks noGrp="1"/>
          </p:cNvSpPr>
          <p:nvPr>
            <p:ph type="body" idx="1"/>
          </p:nvPr>
        </p:nvSpPr>
        <p:spPr>
          <a:xfrm>
            <a:off x="722313" y="2906713"/>
            <a:ext cx="7772400" cy="1500187"/>
          </a:xfrm>
          <a:prstGeom prst="rect">
            <a:avLst/>
          </a:prstGeom>
          <a:noFill/>
          <a:ln>
            <a:noFill/>
          </a:ln>
        </p:spPr>
        <p:txBody>
          <a:bodyPr wrap="square" lIns="91425" tIns="91425" rIns="91425" bIns="91425" anchor="b" anchorCtr="0"/>
          <a:lstStyle>
            <a:lvl1pPr marL="0" marR="0" lvl="0"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1pPr>
            <a:lvl2pPr marL="457200" marR="0" lvl="1" indent="0" algn="l" rtl="0">
              <a:spcBef>
                <a:spcPts val="360"/>
              </a:spcBef>
              <a:spcAft>
                <a:spcPts val="0"/>
              </a:spcAft>
              <a:buClr>
                <a:schemeClr val="hlink"/>
              </a:buClr>
              <a:buFont typeface="Noto Sans Symbols"/>
              <a:buNone/>
              <a:defRPr sz="1800" b="0" i="0" u="none" strike="noStrike" cap="none">
                <a:solidFill>
                  <a:schemeClr val="dk1"/>
                </a:solidFill>
                <a:latin typeface="Arial"/>
                <a:ea typeface="Arial"/>
                <a:cs typeface="Arial"/>
                <a:sym typeface="Arial"/>
              </a:defRPr>
            </a:lvl2pPr>
            <a:lvl3pPr marL="914400" marR="0" lvl="2" indent="0" algn="l" rtl="0">
              <a:spcBef>
                <a:spcPts val="320"/>
              </a:spcBef>
              <a:spcAft>
                <a:spcPts val="0"/>
              </a:spcAft>
              <a:buClr>
                <a:schemeClr val="folHlink"/>
              </a:buClr>
              <a:buFont typeface="Noto Sans Symbols"/>
              <a:buNone/>
              <a:defRPr sz="1600" b="0" i="0" u="none" strike="noStrike" cap="none">
                <a:solidFill>
                  <a:schemeClr val="dk1"/>
                </a:solidFill>
                <a:latin typeface="Arial"/>
                <a:ea typeface="Arial"/>
                <a:cs typeface="Arial"/>
                <a:sym typeface="Arial"/>
              </a:defRPr>
            </a:lvl3pPr>
            <a:lvl4pPr marL="1371600" marR="0" lvl="3" indent="0" algn="l" rtl="0">
              <a:spcBef>
                <a:spcPts val="280"/>
              </a:spcBef>
              <a:spcAft>
                <a:spcPts val="0"/>
              </a:spcAft>
              <a:buClr>
                <a:schemeClr val="hlink"/>
              </a:buClr>
              <a:buFont typeface="Noto Sans Symbols"/>
              <a:buNone/>
              <a:defRPr sz="1400" b="0" i="0" u="none" strike="noStrike" cap="none">
                <a:solidFill>
                  <a:schemeClr val="dk1"/>
                </a:solidFill>
                <a:latin typeface="Arial"/>
                <a:ea typeface="Arial"/>
                <a:cs typeface="Arial"/>
                <a:sym typeface="Arial"/>
              </a:defRPr>
            </a:lvl4pPr>
            <a:lvl5pPr marL="1828800" marR="0" lvl="4"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5pPr>
            <a:lvl6pPr marL="2286000" marR="0" lvl="5"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6pPr>
            <a:lvl7pPr marL="2743200" marR="0" lvl="6"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7pPr>
            <a:lvl8pPr marL="3200400" marR="0" lvl="7"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8pPr>
            <a:lvl9pPr marL="3657600" marR="0" lvl="8"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兩項物件">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39" name="Shape 39"/>
          <p:cNvSpPr txBox="1">
            <a:spLocks noGrp="1"/>
          </p:cNvSpPr>
          <p:nvPr>
            <p:ph type="body" idx="1"/>
          </p:nvPr>
        </p:nvSpPr>
        <p:spPr>
          <a:xfrm>
            <a:off x="301625" y="1600200"/>
            <a:ext cx="4194175" cy="4498975"/>
          </a:xfrm>
          <a:prstGeom prst="rect">
            <a:avLst/>
          </a:prstGeom>
          <a:noFill/>
          <a:ln>
            <a:noFill/>
          </a:ln>
        </p:spPr>
        <p:txBody>
          <a:bodyPr wrap="square" lIns="91425" tIns="91425" rIns="91425" bIns="91425" anchor="t" anchorCtr="0"/>
          <a:lstStyle>
            <a:lvl1pPr marL="342900" marR="0" lvl="0" indent="-191770" algn="l" rtl="0">
              <a:spcBef>
                <a:spcPts val="560"/>
              </a:spcBef>
              <a:spcAft>
                <a:spcPts val="0"/>
              </a:spcAft>
              <a:buClr>
                <a:schemeClr val="folHlink"/>
              </a:buClr>
              <a:buSzPct val="85000"/>
              <a:buFont typeface="Noto Sans Symbols"/>
              <a:buChar char="◼"/>
              <a:defRPr sz="2800" b="0" i="0" u="none" strike="noStrike" cap="none">
                <a:solidFill>
                  <a:schemeClr val="dk1"/>
                </a:solidFill>
                <a:latin typeface="Arial"/>
                <a:ea typeface="Arial"/>
                <a:cs typeface="Arial"/>
                <a:sym typeface="Arial"/>
              </a:defRPr>
            </a:lvl1pPr>
            <a:lvl2pPr marL="742950" marR="0" lvl="1" indent="-156209" algn="l" rtl="0">
              <a:spcBef>
                <a:spcPts val="480"/>
              </a:spcBef>
              <a:spcAft>
                <a:spcPts val="0"/>
              </a:spcAft>
              <a:buClr>
                <a:schemeClr val="hlink"/>
              </a:buClr>
              <a:buSzPct val="85000"/>
              <a:buFont typeface="Noto Sans Symbols"/>
              <a:buChar char="❧"/>
              <a:defRPr sz="2400" b="0" i="0" u="none" strike="noStrike" cap="none">
                <a:solidFill>
                  <a:schemeClr val="dk1"/>
                </a:solidFill>
                <a:latin typeface="Arial"/>
                <a:ea typeface="Arial"/>
                <a:cs typeface="Arial"/>
                <a:sym typeface="Arial"/>
              </a:defRPr>
            </a:lvl2pPr>
            <a:lvl3pPr marL="1143000" marR="0" lvl="2"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3pPr>
            <a:lvl4pPr marL="1600200" marR="0" lvl="3" indent="-125730" algn="l" rtl="0">
              <a:spcBef>
                <a:spcPts val="360"/>
              </a:spcBef>
              <a:spcAft>
                <a:spcPts val="0"/>
              </a:spcAft>
              <a:buClr>
                <a:schemeClr val="hlink"/>
              </a:buClr>
              <a:buSzPct val="90000"/>
              <a:buFont typeface="Noto Sans Symbols"/>
              <a:buChar char="❧"/>
              <a:defRPr sz="1800" b="0" i="0" u="none" strike="noStrike" cap="none">
                <a:solidFill>
                  <a:schemeClr val="dk1"/>
                </a:solidFill>
                <a:latin typeface="Arial"/>
                <a:ea typeface="Arial"/>
                <a:cs typeface="Arial"/>
                <a:sym typeface="Arial"/>
              </a:defRPr>
            </a:lvl4pPr>
            <a:lvl5pPr marL="2057400" marR="0" lvl="4"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5pPr>
            <a:lvl6pPr marL="2514600" marR="0" lvl="5"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6pPr>
            <a:lvl7pPr marL="2971800" marR="0" lvl="6"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7pPr>
            <a:lvl8pPr marL="3429000" marR="0" lvl="7"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8pPr>
            <a:lvl9pPr marL="3886200" marR="0" lvl="8"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4648200" y="1600200"/>
            <a:ext cx="4194175" cy="4498975"/>
          </a:xfrm>
          <a:prstGeom prst="rect">
            <a:avLst/>
          </a:prstGeom>
          <a:noFill/>
          <a:ln>
            <a:noFill/>
          </a:ln>
        </p:spPr>
        <p:txBody>
          <a:bodyPr wrap="square" lIns="91425" tIns="91425" rIns="91425" bIns="91425" anchor="t" anchorCtr="0"/>
          <a:lstStyle>
            <a:lvl1pPr marL="342900" marR="0" lvl="0" indent="-191770" algn="l" rtl="0">
              <a:spcBef>
                <a:spcPts val="560"/>
              </a:spcBef>
              <a:spcAft>
                <a:spcPts val="0"/>
              </a:spcAft>
              <a:buClr>
                <a:schemeClr val="folHlink"/>
              </a:buClr>
              <a:buSzPct val="85000"/>
              <a:buFont typeface="Noto Sans Symbols"/>
              <a:buChar char="◼"/>
              <a:defRPr sz="2800" b="0" i="0" u="none" strike="noStrike" cap="none">
                <a:solidFill>
                  <a:schemeClr val="dk1"/>
                </a:solidFill>
                <a:latin typeface="Arial"/>
                <a:ea typeface="Arial"/>
                <a:cs typeface="Arial"/>
                <a:sym typeface="Arial"/>
              </a:defRPr>
            </a:lvl1pPr>
            <a:lvl2pPr marL="742950" marR="0" lvl="1" indent="-156209" algn="l" rtl="0">
              <a:spcBef>
                <a:spcPts val="480"/>
              </a:spcBef>
              <a:spcAft>
                <a:spcPts val="0"/>
              </a:spcAft>
              <a:buClr>
                <a:schemeClr val="hlink"/>
              </a:buClr>
              <a:buSzPct val="85000"/>
              <a:buFont typeface="Noto Sans Symbols"/>
              <a:buChar char="❧"/>
              <a:defRPr sz="2400" b="0" i="0" u="none" strike="noStrike" cap="none">
                <a:solidFill>
                  <a:schemeClr val="dk1"/>
                </a:solidFill>
                <a:latin typeface="Arial"/>
                <a:ea typeface="Arial"/>
                <a:cs typeface="Arial"/>
                <a:sym typeface="Arial"/>
              </a:defRPr>
            </a:lvl2pPr>
            <a:lvl3pPr marL="1143000" marR="0" lvl="2"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3pPr>
            <a:lvl4pPr marL="1600200" marR="0" lvl="3" indent="-125730" algn="l" rtl="0">
              <a:spcBef>
                <a:spcPts val="360"/>
              </a:spcBef>
              <a:spcAft>
                <a:spcPts val="0"/>
              </a:spcAft>
              <a:buClr>
                <a:schemeClr val="hlink"/>
              </a:buClr>
              <a:buSzPct val="90000"/>
              <a:buFont typeface="Noto Sans Symbols"/>
              <a:buChar char="❧"/>
              <a:defRPr sz="1800" b="0" i="0" u="none" strike="noStrike" cap="none">
                <a:solidFill>
                  <a:schemeClr val="dk1"/>
                </a:solidFill>
                <a:latin typeface="Arial"/>
                <a:ea typeface="Arial"/>
                <a:cs typeface="Arial"/>
                <a:sym typeface="Arial"/>
              </a:defRPr>
            </a:lvl4pPr>
            <a:lvl5pPr marL="2057400" marR="0" lvl="4"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5pPr>
            <a:lvl6pPr marL="2514600" marR="0" lvl="5"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6pPr>
            <a:lvl7pPr marL="2971800" marR="0" lvl="6"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7pPr>
            <a:lvl8pPr marL="3429000" marR="0" lvl="7"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8pPr>
            <a:lvl9pPr marL="3886200" marR="0" lvl="8"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比對">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457200" y="274638"/>
            <a:ext cx="822960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46" name="Shape 46"/>
          <p:cNvSpPr txBox="1">
            <a:spLocks noGrp="1"/>
          </p:cNvSpPr>
          <p:nvPr>
            <p:ph type="body" idx="1"/>
          </p:nvPr>
        </p:nvSpPr>
        <p:spPr>
          <a:xfrm>
            <a:off x="457200" y="1535113"/>
            <a:ext cx="4040188" cy="639762"/>
          </a:xfrm>
          <a:prstGeom prst="rect">
            <a:avLst/>
          </a:prstGeom>
          <a:noFill/>
          <a:ln>
            <a:noFill/>
          </a:ln>
        </p:spPr>
        <p:txBody>
          <a:bodyPr wrap="square" lIns="91425" tIns="91425" rIns="91425" bIns="91425" anchor="b" anchorCtr="0"/>
          <a:lstStyle>
            <a:lvl1pPr marL="0" marR="0" lvl="0" indent="0" algn="l" rtl="0">
              <a:spcBef>
                <a:spcPts val="480"/>
              </a:spcBef>
              <a:spcAft>
                <a:spcPts val="0"/>
              </a:spcAft>
              <a:buClr>
                <a:schemeClr val="folHlink"/>
              </a:buClr>
              <a:buFont typeface="Noto Sans Symbols"/>
              <a:buNone/>
              <a:defRPr sz="2400" b="1" i="0" u="none" strike="noStrike" cap="none">
                <a:solidFill>
                  <a:schemeClr val="dk1"/>
                </a:solidFill>
                <a:latin typeface="Arial"/>
                <a:ea typeface="Arial"/>
                <a:cs typeface="Arial"/>
                <a:sym typeface="Arial"/>
              </a:defRPr>
            </a:lvl1pPr>
            <a:lvl2pPr marL="457200" marR="0" lvl="1" indent="0" algn="l" rtl="0">
              <a:spcBef>
                <a:spcPts val="400"/>
              </a:spcBef>
              <a:spcAft>
                <a:spcPts val="0"/>
              </a:spcAft>
              <a:buClr>
                <a:schemeClr val="hlink"/>
              </a:buClr>
              <a:buFont typeface="Noto Sans Symbols"/>
              <a:buNone/>
              <a:defRPr sz="2000" b="1" i="0" u="none" strike="noStrike" cap="none">
                <a:solidFill>
                  <a:schemeClr val="dk1"/>
                </a:solidFill>
                <a:latin typeface="Arial"/>
                <a:ea typeface="Arial"/>
                <a:cs typeface="Arial"/>
                <a:sym typeface="Arial"/>
              </a:defRPr>
            </a:lvl2pPr>
            <a:lvl3pPr marL="914400" marR="0" lvl="2" indent="0" algn="l" rtl="0">
              <a:spcBef>
                <a:spcPts val="360"/>
              </a:spcBef>
              <a:spcAft>
                <a:spcPts val="0"/>
              </a:spcAft>
              <a:buClr>
                <a:schemeClr val="folHlink"/>
              </a:buClr>
              <a:buFont typeface="Noto Sans Symbols"/>
              <a:buNone/>
              <a:defRPr sz="1800" b="1" i="0" u="none" strike="noStrike" cap="none">
                <a:solidFill>
                  <a:schemeClr val="dk1"/>
                </a:solidFill>
                <a:latin typeface="Arial"/>
                <a:ea typeface="Arial"/>
                <a:cs typeface="Arial"/>
                <a:sym typeface="Arial"/>
              </a:defRPr>
            </a:lvl3pPr>
            <a:lvl4pPr marL="1371600" marR="0" lvl="3" indent="0" algn="l" rtl="0">
              <a:spcBef>
                <a:spcPts val="320"/>
              </a:spcBef>
              <a:spcAft>
                <a:spcPts val="0"/>
              </a:spcAft>
              <a:buClr>
                <a:schemeClr val="hlink"/>
              </a:buClr>
              <a:buFont typeface="Noto Sans Symbols"/>
              <a:buNone/>
              <a:defRPr sz="1600" b="1" i="0" u="none" strike="noStrike" cap="none">
                <a:solidFill>
                  <a:schemeClr val="dk1"/>
                </a:solidFill>
                <a:latin typeface="Arial"/>
                <a:ea typeface="Arial"/>
                <a:cs typeface="Arial"/>
                <a:sym typeface="Arial"/>
              </a:defRPr>
            </a:lvl4pPr>
            <a:lvl5pPr marL="1828800" marR="0" lvl="4"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5pPr>
            <a:lvl6pPr marL="2286000" marR="0" lvl="5"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6pPr>
            <a:lvl7pPr marL="2743200" marR="0" lvl="6"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7pPr>
            <a:lvl8pPr marL="3200400" marR="0" lvl="7"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8pPr>
            <a:lvl9pPr marL="3657600" marR="0" lvl="8"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body" idx="2"/>
          </p:nvPr>
        </p:nvSpPr>
        <p:spPr>
          <a:xfrm>
            <a:off x="457200" y="2174875"/>
            <a:ext cx="4040188" cy="3951288"/>
          </a:xfrm>
          <a:prstGeom prst="rect">
            <a:avLst/>
          </a:prstGeom>
          <a:noFill/>
          <a:ln>
            <a:noFill/>
          </a:ln>
        </p:spPr>
        <p:txBody>
          <a:bodyPr wrap="square" lIns="91425" tIns="91425" rIns="91425" bIns="91425" anchor="t" anchorCtr="0"/>
          <a:lstStyle>
            <a:lvl1pPr marL="342900" marR="0" lvl="0" indent="-213359" algn="l" rtl="0">
              <a:spcBef>
                <a:spcPts val="480"/>
              </a:spcBef>
              <a:spcAft>
                <a:spcPts val="0"/>
              </a:spcAft>
              <a:buClr>
                <a:schemeClr val="folHlink"/>
              </a:buClr>
              <a:buSzPct val="85000"/>
              <a:buFont typeface="Noto Sans Symbols"/>
              <a:buChar char="◼"/>
              <a:defRPr sz="2400" b="0" i="0" u="none" strike="noStrike" cap="none">
                <a:solidFill>
                  <a:schemeClr val="dk1"/>
                </a:solidFill>
                <a:latin typeface="Arial"/>
                <a:ea typeface="Arial"/>
                <a:cs typeface="Arial"/>
                <a:sym typeface="Arial"/>
              </a:defRPr>
            </a:lvl1pPr>
            <a:lvl2pPr marL="742950" marR="0" lvl="1" indent="-177800" algn="l" rtl="0">
              <a:spcBef>
                <a:spcPts val="400"/>
              </a:spcBef>
              <a:spcAft>
                <a:spcPts val="0"/>
              </a:spcAft>
              <a:buClr>
                <a:schemeClr val="hlink"/>
              </a:buClr>
              <a:buSzPct val="85000"/>
              <a:buFont typeface="Noto Sans Symbols"/>
              <a:buChar char="❧"/>
              <a:defRPr sz="2000" b="0" i="0" u="none" strike="noStrike" cap="none">
                <a:solidFill>
                  <a:schemeClr val="dk1"/>
                </a:solidFill>
                <a:latin typeface="Arial"/>
                <a:ea typeface="Arial"/>
                <a:cs typeface="Arial"/>
                <a:sym typeface="Arial"/>
              </a:defRPr>
            </a:lvl2pPr>
            <a:lvl3pPr marL="1143000" marR="0" lvl="2" indent="-125730"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3pPr>
            <a:lvl4pPr marL="1600200" marR="0" lvl="3" indent="-137160" algn="l" rtl="0">
              <a:spcBef>
                <a:spcPts val="320"/>
              </a:spcBef>
              <a:spcAft>
                <a:spcPts val="0"/>
              </a:spcAft>
              <a:buClr>
                <a:schemeClr val="hlink"/>
              </a:buClr>
              <a:buSzPct val="90000"/>
              <a:buFont typeface="Noto Sans Symbols"/>
              <a:buChar char="❧"/>
              <a:defRPr sz="1600" b="0" i="0" u="none" strike="noStrike" cap="none">
                <a:solidFill>
                  <a:schemeClr val="dk1"/>
                </a:solidFill>
                <a:latin typeface="Arial"/>
                <a:ea typeface="Arial"/>
                <a:cs typeface="Arial"/>
                <a:sym typeface="Arial"/>
              </a:defRPr>
            </a:lvl4pPr>
            <a:lvl5pPr marL="2057400" marR="0" lvl="4"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5pPr>
            <a:lvl6pPr marL="2514600" marR="0" lvl="5"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6pPr>
            <a:lvl7pPr marL="2971800" marR="0" lvl="6"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7pPr>
            <a:lvl8pPr marL="3429000" marR="0" lvl="7"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8pPr>
            <a:lvl9pPr marL="3886200" marR="0" lvl="8"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body" idx="3"/>
          </p:nvPr>
        </p:nvSpPr>
        <p:spPr>
          <a:xfrm>
            <a:off x="4645025" y="1535113"/>
            <a:ext cx="4041775" cy="639762"/>
          </a:xfrm>
          <a:prstGeom prst="rect">
            <a:avLst/>
          </a:prstGeom>
          <a:noFill/>
          <a:ln>
            <a:noFill/>
          </a:ln>
        </p:spPr>
        <p:txBody>
          <a:bodyPr wrap="square" lIns="91425" tIns="91425" rIns="91425" bIns="91425" anchor="b" anchorCtr="0"/>
          <a:lstStyle>
            <a:lvl1pPr marL="0" marR="0" lvl="0" indent="0" algn="l" rtl="0">
              <a:spcBef>
                <a:spcPts val="480"/>
              </a:spcBef>
              <a:spcAft>
                <a:spcPts val="0"/>
              </a:spcAft>
              <a:buClr>
                <a:schemeClr val="folHlink"/>
              </a:buClr>
              <a:buFont typeface="Noto Sans Symbols"/>
              <a:buNone/>
              <a:defRPr sz="2400" b="1" i="0" u="none" strike="noStrike" cap="none">
                <a:solidFill>
                  <a:schemeClr val="dk1"/>
                </a:solidFill>
                <a:latin typeface="Arial"/>
                <a:ea typeface="Arial"/>
                <a:cs typeface="Arial"/>
                <a:sym typeface="Arial"/>
              </a:defRPr>
            </a:lvl1pPr>
            <a:lvl2pPr marL="457200" marR="0" lvl="1" indent="0" algn="l" rtl="0">
              <a:spcBef>
                <a:spcPts val="400"/>
              </a:spcBef>
              <a:spcAft>
                <a:spcPts val="0"/>
              </a:spcAft>
              <a:buClr>
                <a:schemeClr val="hlink"/>
              </a:buClr>
              <a:buFont typeface="Noto Sans Symbols"/>
              <a:buNone/>
              <a:defRPr sz="2000" b="1" i="0" u="none" strike="noStrike" cap="none">
                <a:solidFill>
                  <a:schemeClr val="dk1"/>
                </a:solidFill>
                <a:latin typeface="Arial"/>
                <a:ea typeface="Arial"/>
                <a:cs typeface="Arial"/>
                <a:sym typeface="Arial"/>
              </a:defRPr>
            </a:lvl2pPr>
            <a:lvl3pPr marL="914400" marR="0" lvl="2" indent="0" algn="l" rtl="0">
              <a:spcBef>
                <a:spcPts val="360"/>
              </a:spcBef>
              <a:spcAft>
                <a:spcPts val="0"/>
              </a:spcAft>
              <a:buClr>
                <a:schemeClr val="folHlink"/>
              </a:buClr>
              <a:buFont typeface="Noto Sans Symbols"/>
              <a:buNone/>
              <a:defRPr sz="1800" b="1" i="0" u="none" strike="noStrike" cap="none">
                <a:solidFill>
                  <a:schemeClr val="dk1"/>
                </a:solidFill>
                <a:latin typeface="Arial"/>
                <a:ea typeface="Arial"/>
                <a:cs typeface="Arial"/>
                <a:sym typeface="Arial"/>
              </a:defRPr>
            </a:lvl3pPr>
            <a:lvl4pPr marL="1371600" marR="0" lvl="3" indent="0" algn="l" rtl="0">
              <a:spcBef>
                <a:spcPts val="320"/>
              </a:spcBef>
              <a:spcAft>
                <a:spcPts val="0"/>
              </a:spcAft>
              <a:buClr>
                <a:schemeClr val="hlink"/>
              </a:buClr>
              <a:buFont typeface="Noto Sans Symbols"/>
              <a:buNone/>
              <a:defRPr sz="1600" b="1" i="0" u="none" strike="noStrike" cap="none">
                <a:solidFill>
                  <a:schemeClr val="dk1"/>
                </a:solidFill>
                <a:latin typeface="Arial"/>
                <a:ea typeface="Arial"/>
                <a:cs typeface="Arial"/>
                <a:sym typeface="Arial"/>
              </a:defRPr>
            </a:lvl4pPr>
            <a:lvl5pPr marL="1828800" marR="0" lvl="4"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5pPr>
            <a:lvl6pPr marL="2286000" marR="0" lvl="5"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6pPr>
            <a:lvl7pPr marL="2743200" marR="0" lvl="6"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7pPr>
            <a:lvl8pPr marL="3200400" marR="0" lvl="7"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8pPr>
            <a:lvl9pPr marL="3657600" marR="0" lvl="8"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9pPr>
          </a:lstStyle>
          <a:p>
            <a:endParaRPr/>
          </a:p>
        </p:txBody>
      </p:sp>
      <p:sp>
        <p:nvSpPr>
          <p:cNvPr id="49" name="Shape 49"/>
          <p:cNvSpPr txBox="1">
            <a:spLocks noGrp="1"/>
          </p:cNvSpPr>
          <p:nvPr>
            <p:ph type="body" idx="4"/>
          </p:nvPr>
        </p:nvSpPr>
        <p:spPr>
          <a:xfrm>
            <a:off x="4645025" y="2174875"/>
            <a:ext cx="4041775" cy="3951288"/>
          </a:xfrm>
          <a:prstGeom prst="rect">
            <a:avLst/>
          </a:prstGeom>
          <a:noFill/>
          <a:ln>
            <a:noFill/>
          </a:ln>
        </p:spPr>
        <p:txBody>
          <a:bodyPr wrap="square" lIns="91425" tIns="91425" rIns="91425" bIns="91425" anchor="t" anchorCtr="0"/>
          <a:lstStyle>
            <a:lvl1pPr marL="342900" marR="0" lvl="0" indent="-213359" algn="l" rtl="0">
              <a:spcBef>
                <a:spcPts val="480"/>
              </a:spcBef>
              <a:spcAft>
                <a:spcPts val="0"/>
              </a:spcAft>
              <a:buClr>
                <a:schemeClr val="folHlink"/>
              </a:buClr>
              <a:buSzPct val="85000"/>
              <a:buFont typeface="Noto Sans Symbols"/>
              <a:buChar char="◼"/>
              <a:defRPr sz="2400" b="0" i="0" u="none" strike="noStrike" cap="none">
                <a:solidFill>
                  <a:schemeClr val="dk1"/>
                </a:solidFill>
                <a:latin typeface="Arial"/>
                <a:ea typeface="Arial"/>
                <a:cs typeface="Arial"/>
                <a:sym typeface="Arial"/>
              </a:defRPr>
            </a:lvl1pPr>
            <a:lvl2pPr marL="742950" marR="0" lvl="1" indent="-177800" algn="l" rtl="0">
              <a:spcBef>
                <a:spcPts val="400"/>
              </a:spcBef>
              <a:spcAft>
                <a:spcPts val="0"/>
              </a:spcAft>
              <a:buClr>
                <a:schemeClr val="hlink"/>
              </a:buClr>
              <a:buSzPct val="85000"/>
              <a:buFont typeface="Noto Sans Symbols"/>
              <a:buChar char="❧"/>
              <a:defRPr sz="2000" b="0" i="0" u="none" strike="noStrike" cap="none">
                <a:solidFill>
                  <a:schemeClr val="dk1"/>
                </a:solidFill>
                <a:latin typeface="Arial"/>
                <a:ea typeface="Arial"/>
                <a:cs typeface="Arial"/>
                <a:sym typeface="Arial"/>
              </a:defRPr>
            </a:lvl2pPr>
            <a:lvl3pPr marL="1143000" marR="0" lvl="2" indent="-125730"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3pPr>
            <a:lvl4pPr marL="1600200" marR="0" lvl="3" indent="-137160" algn="l" rtl="0">
              <a:spcBef>
                <a:spcPts val="320"/>
              </a:spcBef>
              <a:spcAft>
                <a:spcPts val="0"/>
              </a:spcAft>
              <a:buClr>
                <a:schemeClr val="hlink"/>
              </a:buClr>
              <a:buSzPct val="90000"/>
              <a:buFont typeface="Noto Sans Symbols"/>
              <a:buChar char="❧"/>
              <a:defRPr sz="1600" b="0" i="0" u="none" strike="noStrike" cap="none">
                <a:solidFill>
                  <a:schemeClr val="dk1"/>
                </a:solidFill>
                <a:latin typeface="Arial"/>
                <a:ea typeface="Arial"/>
                <a:cs typeface="Arial"/>
                <a:sym typeface="Arial"/>
              </a:defRPr>
            </a:lvl4pPr>
            <a:lvl5pPr marL="2057400" marR="0" lvl="4"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5pPr>
            <a:lvl6pPr marL="2514600" marR="0" lvl="5"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6pPr>
            <a:lvl7pPr marL="2971800" marR="0" lvl="6"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7pPr>
            <a:lvl8pPr marL="3429000" marR="0" lvl="7"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8pPr>
            <a:lvl9pPr marL="3886200" marR="0" lvl="8"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9pPr>
          </a:lstStyle>
          <a:p>
            <a:endParaRPr/>
          </a:p>
        </p:txBody>
      </p:sp>
      <p:sp>
        <p:nvSpPr>
          <p:cNvPr id="50" name="Shape 50"/>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1" name="Shape 51"/>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2" name="Shape 52"/>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55" name="Shape 55"/>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含標題的內容">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457200" y="273050"/>
            <a:ext cx="3008313" cy="1162050"/>
          </a:xfrm>
          <a:prstGeom prst="rect">
            <a:avLst/>
          </a:prstGeom>
          <a:noFill/>
          <a:ln>
            <a:noFill/>
          </a:ln>
        </p:spPr>
        <p:txBody>
          <a:bodyPr wrap="square" lIns="91425" tIns="91425" rIns="91425" bIns="91425" anchor="b" anchorCtr="0"/>
          <a:lstStyle>
            <a:lvl1pPr marL="0" marR="0" lvl="0" indent="0" algn="l" rtl="0">
              <a:spcBef>
                <a:spcPts val="0"/>
              </a:spcBef>
              <a:spcAft>
                <a:spcPts val="0"/>
              </a:spcAft>
              <a:buNone/>
              <a:defRPr sz="2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60" name="Shape 60"/>
          <p:cNvSpPr txBox="1">
            <a:spLocks noGrp="1"/>
          </p:cNvSpPr>
          <p:nvPr>
            <p:ph type="body" idx="1"/>
          </p:nvPr>
        </p:nvSpPr>
        <p:spPr>
          <a:xfrm>
            <a:off x="3575050" y="273050"/>
            <a:ext cx="5111750" cy="5853113"/>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61" name="Shape 61"/>
          <p:cNvSpPr txBox="1">
            <a:spLocks noGrp="1"/>
          </p:cNvSpPr>
          <p:nvPr>
            <p:ph type="body" idx="2"/>
          </p:nvPr>
        </p:nvSpPr>
        <p:spPr>
          <a:xfrm>
            <a:off x="457200" y="1435100"/>
            <a:ext cx="3008313" cy="4691063"/>
          </a:xfrm>
          <a:prstGeom prst="rect">
            <a:avLst/>
          </a:prstGeom>
          <a:noFill/>
          <a:ln>
            <a:noFill/>
          </a:ln>
        </p:spPr>
        <p:txBody>
          <a:bodyPr wrap="square" lIns="91425" tIns="91425" rIns="91425" bIns="91425" anchor="t" anchorCtr="0"/>
          <a:lstStyle>
            <a:lvl1pPr marL="0" marR="0" lvl="0"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1pPr>
            <a:lvl2pPr marL="457200" marR="0" lvl="1" indent="0" algn="l" rtl="0">
              <a:spcBef>
                <a:spcPts val="240"/>
              </a:spcBef>
              <a:spcAft>
                <a:spcPts val="0"/>
              </a:spcAft>
              <a:buClr>
                <a:schemeClr val="hlink"/>
              </a:buClr>
              <a:buFont typeface="Noto Sans Symbols"/>
              <a:buNone/>
              <a:defRPr sz="1200" b="0" i="0" u="none" strike="noStrike" cap="none">
                <a:solidFill>
                  <a:schemeClr val="dk1"/>
                </a:solidFill>
                <a:latin typeface="Arial"/>
                <a:ea typeface="Arial"/>
                <a:cs typeface="Arial"/>
                <a:sym typeface="Arial"/>
              </a:defRPr>
            </a:lvl2pPr>
            <a:lvl3pPr marL="914400" marR="0" lvl="2" indent="0" algn="l" rtl="0">
              <a:spcBef>
                <a:spcPts val="200"/>
              </a:spcBef>
              <a:spcAft>
                <a:spcPts val="0"/>
              </a:spcAft>
              <a:buClr>
                <a:schemeClr val="folHlink"/>
              </a:buClr>
              <a:buFont typeface="Noto Sans Symbols"/>
              <a:buNone/>
              <a:defRPr sz="1000" b="0" i="0" u="none" strike="noStrike" cap="none">
                <a:solidFill>
                  <a:schemeClr val="dk1"/>
                </a:solidFill>
                <a:latin typeface="Arial"/>
                <a:ea typeface="Arial"/>
                <a:cs typeface="Arial"/>
                <a:sym typeface="Arial"/>
              </a:defRPr>
            </a:lvl3pPr>
            <a:lvl4pPr marL="1371600" marR="0" lvl="3" indent="0" algn="l" rtl="0">
              <a:spcBef>
                <a:spcPts val="180"/>
              </a:spcBef>
              <a:spcAft>
                <a:spcPts val="0"/>
              </a:spcAft>
              <a:buClr>
                <a:schemeClr val="hlink"/>
              </a:buClr>
              <a:buFont typeface="Noto Sans Symbols"/>
              <a:buNone/>
              <a:defRPr sz="900" b="0" i="0" u="none" strike="noStrike" cap="none">
                <a:solidFill>
                  <a:schemeClr val="dk1"/>
                </a:solidFill>
                <a:latin typeface="Arial"/>
                <a:ea typeface="Arial"/>
                <a:cs typeface="Arial"/>
                <a:sym typeface="Arial"/>
              </a:defRPr>
            </a:lvl4pPr>
            <a:lvl5pPr marL="1828800" marR="0" lvl="4"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5pPr>
            <a:lvl6pPr marL="2286000" marR="0" lvl="5"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6pPr>
            <a:lvl7pPr marL="2743200" marR="0" lvl="6"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7pPr>
            <a:lvl8pPr marL="3200400" marR="0" lvl="7"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8pPr>
            <a:lvl9pPr marL="3657600" marR="0" lvl="8"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9pPr>
          </a:lstStyle>
          <a:p>
            <a:endParaRPr/>
          </a:p>
        </p:txBody>
      </p:sp>
      <p:sp>
        <p:nvSpPr>
          <p:cNvPr id="62" name="Shape 62"/>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3" name="Shape 63"/>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4" name="Shape 64"/>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含標題的圖片">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1792288" y="4800600"/>
            <a:ext cx="5486400" cy="566738"/>
          </a:xfrm>
          <a:prstGeom prst="rect">
            <a:avLst/>
          </a:prstGeom>
          <a:noFill/>
          <a:ln>
            <a:noFill/>
          </a:ln>
        </p:spPr>
        <p:txBody>
          <a:bodyPr wrap="square" lIns="91425" tIns="91425" rIns="91425" bIns="91425" anchor="b" anchorCtr="0"/>
          <a:lstStyle>
            <a:lvl1pPr marL="0" marR="0" lvl="0" indent="0" algn="l" rtl="0">
              <a:spcBef>
                <a:spcPts val="0"/>
              </a:spcBef>
              <a:spcAft>
                <a:spcPts val="0"/>
              </a:spcAft>
              <a:buNone/>
              <a:defRPr sz="2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67" name="Shape 67"/>
          <p:cNvSpPr>
            <a:spLocks noGrp="1"/>
          </p:cNvSpPr>
          <p:nvPr>
            <p:ph type="pic" idx="2"/>
          </p:nvPr>
        </p:nvSpPr>
        <p:spPr>
          <a:xfrm>
            <a:off x="1792288" y="612775"/>
            <a:ext cx="5486400" cy="4114800"/>
          </a:xfrm>
          <a:prstGeom prst="rect">
            <a:avLst/>
          </a:prstGeom>
          <a:noFill/>
          <a:ln>
            <a:noFill/>
          </a:ln>
        </p:spPr>
        <p:txBody>
          <a:bodyPr wrap="square" lIns="91425" tIns="91425" rIns="91425" bIns="91425" anchor="t" anchorCtr="0"/>
          <a:lstStyle>
            <a:lvl1pPr marL="0" marR="0" lvl="0" indent="0" algn="l" rtl="0">
              <a:spcBef>
                <a:spcPts val="640"/>
              </a:spcBef>
              <a:spcAft>
                <a:spcPts val="0"/>
              </a:spcAft>
              <a:buClr>
                <a:schemeClr val="folHlink"/>
              </a:buClr>
              <a:buFont typeface="Noto Sans Symbols"/>
              <a:buNone/>
              <a:defRPr sz="3200" b="0" i="0" u="none" strike="noStrike" cap="none">
                <a:solidFill>
                  <a:schemeClr val="dk1"/>
                </a:solidFill>
                <a:latin typeface="Arial"/>
                <a:ea typeface="Arial"/>
                <a:cs typeface="Arial"/>
                <a:sym typeface="Arial"/>
              </a:defRPr>
            </a:lvl1pPr>
            <a:lvl2pPr marL="457200" marR="0" lvl="1" indent="0" algn="l" rtl="0">
              <a:spcBef>
                <a:spcPts val="560"/>
              </a:spcBef>
              <a:spcAft>
                <a:spcPts val="0"/>
              </a:spcAft>
              <a:buClr>
                <a:schemeClr val="hlink"/>
              </a:buClr>
              <a:buFont typeface="Noto Sans Symbols"/>
              <a:buNone/>
              <a:defRPr sz="2800" b="0" i="0" u="none" strike="noStrike" cap="none">
                <a:solidFill>
                  <a:schemeClr val="dk1"/>
                </a:solidFill>
                <a:latin typeface="Arial"/>
                <a:ea typeface="Arial"/>
                <a:cs typeface="Arial"/>
                <a:sym typeface="Arial"/>
              </a:defRPr>
            </a:lvl2pPr>
            <a:lvl3pPr marL="914400" marR="0" lvl="2" indent="0" algn="l" rtl="0">
              <a:spcBef>
                <a:spcPts val="480"/>
              </a:spcBef>
              <a:spcAft>
                <a:spcPts val="0"/>
              </a:spcAft>
              <a:buClr>
                <a:schemeClr val="folHlink"/>
              </a:buClr>
              <a:buFont typeface="Noto Sans Symbols"/>
              <a:buNone/>
              <a:defRPr sz="2400" b="0" i="0" u="none" strike="noStrike" cap="none">
                <a:solidFill>
                  <a:schemeClr val="dk1"/>
                </a:solidFill>
                <a:latin typeface="Arial"/>
                <a:ea typeface="Arial"/>
                <a:cs typeface="Arial"/>
                <a:sym typeface="Arial"/>
              </a:defRPr>
            </a:lvl3pPr>
            <a:lvl4pPr marL="1371600" marR="0" lvl="3" indent="0" algn="l" rtl="0">
              <a:spcBef>
                <a:spcPts val="400"/>
              </a:spcBef>
              <a:spcAft>
                <a:spcPts val="0"/>
              </a:spcAft>
              <a:buClr>
                <a:schemeClr val="hlink"/>
              </a:buClr>
              <a:buFont typeface="Noto Sans Symbols"/>
              <a:buNone/>
              <a:defRPr sz="2000" b="0" i="0" u="none" strike="noStrike" cap="none">
                <a:solidFill>
                  <a:schemeClr val="dk1"/>
                </a:solidFill>
                <a:latin typeface="Arial"/>
                <a:ea typeface="Arial"/>
                <a:cs typeface="Arial"/>
                <a:sym typeface="Arial"/>
              </a:defRPr>
            </a:lvl4pPr>
            <a:lvl5pPr marL="1828800" marR="0" lvl="4"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5pPr>
            <a:lvl6pPr marL="2286000" marR="0" lvl="5"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6pPr>
            <a:lvl7pPr marL="2743200" marR="0" lvl="6"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7pPr>
            <a:lvl8pPr marL="3200400" marR="0" lvl="7"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8pPr>
            <a:lvl9pPr marL="3657600" marR="0" lvl="8"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9pPr>
          </a:lstStyle>
          <a:p>
            <a:endParaRPr/>
          </a:p>
        </p:txBody>
      </p:sp>
      <p:sp>
        <p:nvSpPr>
          <p:cNvPr id="68" name="Shape 68"/>
          <p:cNvSpPr txBox="1">
            <a:spLocks noGrp="1"/>
          </p:cNvSpPr>
          <p:nvPr>
            <p:ph type="body" idx="1"/>
          </p:nvPr>
        </p:nvSpPr>
        <p:spPr>
          <a:xfrm>
            <a:off x="1792288" y="5367338"/>
            <a:ext cx="5486400" cy="804862"/>
          </a:xfrm>
          <a:prstGeom prst="rect">
            <a:avLst/>
          </a:prstGeom>
          <a:noFill/>
          <a:ln>
            <a:noFill/>
          </a:ln>
        </p:spPr>
        <p:txBody>
          <a:bodyPr wrap="square" lIns="91425" tIns="91425" rIns="91425" bIns="91425" anchor="t" anchorCtr="0"/>
          <a:lstStyle>
            <a:lvl1pPr marL="0" marR="0" lvl="0"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1pPr>
            <a:lvl2pPr marL="457200" marR="0" lvl="1" indent="0" algn="l" rtl="0">
              <a:spcBef>
                <a:spcPts val="240"/>
              </a:spcBef>
              <a:spcAft>
                <a:spcPts val="0"/>
              </a:spcAft>
              <a:buClr>
                <a:schemeClr val="hlink"/>
              </a:buClr>
              <a:buFont typeface="Noto Sans Symbols"/>
              <a:buNone/>
              <a:defRPr sz="1200" b="0" i="0" u="none" strike="noStrike" cap="none">
                <a:solidFill>
                  <a:schemeClr val="dk1"/>
                </a:solidFill>
                <a:latin typeface="Arial"/>
                <a:ea typeface="Arial"/>
                <a:cs typeface="Arial"/>
                <a:sym typeface="Arial"/>
              </a:defRPr>
            </a:lvl2pPr>
            <a:lvl3pPr marL="914400" marR="0" lvl="2" indent="0" algn="l" rtl="0">
              <a:spcBef>
                <a:spcPts val="200"/>
              </a:spcBef>
              <a:spcAft>
                <a:spcPts val="0"/>
              </a:spcAft>
              <a:buClr>
                <a:schemeClr val="folHlink"/>
              </a:buClr>
              <a:buFont typeface="Noto Sans Symbols"/>
              <a:buNone/>
              <a:defRPr sz="1000" b="0" i="0" u="none" strike="noStrike" cap="none">
                <a:solidFill>
                  <a:schemeClr val="dk1"/>
                </a:solidFill>
                <a:latin typeface="Arial"/>
                <a:ea typeface="Arial"/>
                <a:cs typeface="Arial"/>
                <a:sym typeface="Arial"/>
              </a:defRPr>
            </a:lvl3pPr>
            <a:lvl4pPr marL="1371600" marR="0" lvl="3" indent="0" algn="l" rtl="0">
              <a:spcBef>
                <a:spcPts val="180"/>
              </a:spcBef>
              <a:spcAft>
                <a:spcPts val="0"/>
              </a:spcAft>
              <a:buClr>
                <a:schemeClr val="hlink"/>
              </a:buClr>
              <a:buFont typeface="Noto Sans Symbols"/>
              <a:buNone/>
              <a:defRPr sz="900" b="0" i="0" u="none" strike="noStrike" cap="none">
                <a:solidFill>
                  <a:schemeClr val="dk1"/>
                </a:solidFill>
                <a:latin typeface="Arial"/>
                <a:ea typeface="Arial"/>
                <a:cs typeface="Arial"/>
                <a:sym typeface="Arial"/>
              </a:defRPr>
            </a:lvl4pPr>
            <a:lvl5pPr marL="1828800" marR="0" lvl="4"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5pPr>
            <a:lvl6pPr marL="2286000" marR="0" lvl="5"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6pPr>
            <a:lvl7pPr marL="2743200" marR="0" lvl="6"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7pPr>
            <a:lvl8pPr marL="3200400" marR="0" lvl="7"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8pPr>
            <a:lvl9pPr marL="3657600" marR="0" lvl="8"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9pPr>
          </a:lstStyle>
          <a:p>
            <a:endParaRPr/>
          </a:p>
        </p:txBody>
      </p:sp>
      <p:sp>
        <p:nvSpPr>
          <p:cNvPr id="69" name="Shape 69"/>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0" name="Shape 70"/>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1" name="Shape 71"/>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標題及直排文字">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74" name="Shape 74"/>
          <p:cNvSpPr txBox="1">
            <a:spLocks noGrp="1"/>
          </p:cNvSpPr>
          <p:nvPr>
            <p:ph type="body" idx="1"/>
          </p:nvPr>
        </p:nvSpPr>
        <p:spPr>
          <a:xfrm rot="5400000">
            <a:off x="2322512" y="-420687"/>
            <a:ext cx="4498975" cy="8540750"/>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75" name="Shape 75"/>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6" name="Shape 76"/>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cSld name="直排標題及文字">
    <p:spTree>
      <p:nvGrpSpPr>
        <p:cNvPr id="1" name="Shape 78"/>
        <p:cNvGrpSpPr/>
        <p:nvPr/>
      </p:nvGrpSpPr>
      <p:grpSpPr>
        <a:xfrm>
          <a:off x="0" y="0"/>
          <a:ext cx="0" cy="0"/>
          <a:chOff x="0" y="0"/>
          <a:chExt cx="0" cy="0"/>
        </a:xfrm>
      </p:grpSpPr>
      <p:sp>
        <p:nvSpPr>
          <p:cNvPr id="79" name="Shape 79"/>
          <p:cNvSpPr txBox="1">
            <a:spLocks noGrp="1"/>
          </p:cNvSpPr>
          <p:nvPr>
            <p:ph type="title"/>
          </p:nvPr>
        </p:nvSpPr>
        <p:spPr>
          <a:xfrm rot="5400000">
            <a:off x="4839494" y="2096294"/>
            <a:ext cx="5870575" cy="2135187"/>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80" name="Shape 80"/>
          <p:cNvSpPr txBox="1">
            <a:spLocks noGrp="1"/>
          </p:cNvSpPr>
          <p:nvPr>
            <p:ph type="body" idx="1"/>
          </p:nvPr>
        </p:nvSpPr>
        <p:spPr>
          <a:xfrm rot="5400000">
            <a:off x="492919" y="37306"/>
            <a:ext cx="5870575" cy="6253163"/>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3" name="Shape 83"/>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物件">
    <p:spTree>
      <p:nvGrpSpPr>
        <p:cNvPr id="1" name="Shape 84"/>
        <p:cNvGrpSpPr/>
        <p:nvPr/>
      </p:nvGrpSpPr>
      <p:grpSpPr>
        <a:xfrm>
          <a:off x="0" y="0"/>
          <a:ext cx="0" cy="0"/>
          <a:chOff x="0" y="0"/>
          <a:chExt cx="0" cy="0"/>
        </a:xfrm>
      </p:grpSpPr>
      <p:sp>
        <p:nvSpPr>
          <p:cNvPr id="85" name="Shape 85"/>
          <p:cNvSpPr txBox="1">
            <a:spLocks noGrp="1"/>
          </p:cNvSpPr>
          <p:nvPr>
            <p:ph type="body" idx="1"/>
          </p:nvPr>
        </p:nvSpPr>
        <p:spPr>
          <a:xfrm>
            <a:off x="301625" y="228600"/>
            <a:ext cx="8540750" cy="5870575"/>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86" name="Shape 86"/>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7" name="Shape 87"/>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8" name="Shape 88"/>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E1185A5-E421-4D38-A737-CE845FEA4146}" type="datetime1">
              <a:rPr lang="zh-TW" altLang="en-US"/>
              <a:pPr>
                <a:defRPr/>
              </a:pPr>
              <a:t>2026/5/18</a:t>
            </a:fld>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227AC464-0D13-4C4A-94FA-83A61701F2CD}" type="slidenum">
              <a:rPr lang="en-US" altLang="zh-TW"/>
              <a:pPr>
                <a:defRPr/>
              </a:pPr>
              <a:t>‹#›</a:t>
            </a:fld>
            <a:endParaRPr lang="en-US" altLang="zh-TW"/>
          </a:p>
        </p:txBody>
      </p:sp>
    </p:spTree>
    <p:extLst>
      <p:ext uri="{BB962C8B-B14F-4D97-AF65-F5344CB8AC3E}">
        <p14:creationId xmlns:p14="http://schemas.microsoft.com/office/powerpoint/2010/main" val="422830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179388" y="0"/>
            <a:ext cx="8805862"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107950" y="1341438"/>
            <a:ext cx="4387850" cy="48133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341438"/>
            <a:ext cx="4387850" cy="48133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fld id="{6A47D32D-02B9-4F41-8F2C-EA4BA9A63851}" type="datetime1">
              <a:rPr lang="zh-TW" altLang="en-US"/>
              <a:pPr>
                <a:defRPr/>
              </a:pPr>
              <a:t>2026/5/18</a:t>
            </a:fld>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A1DA2A3F-7618-4BAC-B57C-AD878F5D801D}" type="slidenum">
              <a:rPr lang="en-US" altLang="zh-TW"/>
              <a:pPr>
                <a:defRPr/>
              </a:pPr>
              <a:t>‹#›</a:t>
            </a:fld>
            <a:endParaRPr lang="en-US" altLang="zh-TW"/>
          </a:p>
        </p:txBody>
      </p:sp>
    </p:spTree>
    <p:extLst>
      <p:ext uri="{BB962C8B-B14F-4D97-AF65-F5344CB8AC3E}">
        <p14:creationId xmlns:p14="http://schemas.microsoft.com/office/powerpoint/2010/main" val="1219359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內文">
    <p:bg>
      <p:bgPr>
        <a:solidFill>
          <a:schemeClr val="bg1"/>
        </a:solidFill>
        <a:effectLst/>
      </p:bgPr>
    </p:bg>
    <p:spTree>
      <p:nvGrpSpPr>
        <p:cNvPr id="1" name=""/>
        <p:cNvGrpSpPr/>
        <p:nvPr/>
      </p:nvGrpSpPr>
      <p:grpSpPr>
        <a:xfrm>
          <a:off x="0" y="0"/>
          <a:ext cx="0" cy="0"/>
          <a:chOff x="0" y="0"/>
          <a:chExt cx="0" cy="0"/>
        </a:xfrm>
      </p:grpSpPr>
      <p:sp>
        <p:nvSpPr>
          <p:cNvPr id="14" name="矩形 13"/>
          <p:cNvSpPr/>
          <p:nvPr userDrawn="1"/>
        </p:nvSpPr>
        <p:spPr>
          <a:xfrm>
            <a:off x="0" y="0"/>
            <a:ext cx="9144000" cy="620688"/>
          </a:xfrm>
          <a:prstGeom prst="rect">
            <a:avLst/>
          </a:prstGeom>
          <a:solidFill>
            <a:srgbClr val="7CB9DE"/>
          </a:solidFill>
          <a:ln w="0">
            <a:noFill/>
          </a:ln>
        </p:spPr>
        <p:style>
          <a:lnRef idx="2">
            <a:schemeClr val="accent1">
              <a:shade val="50000"/>
            </a:schemeClr>
          </a:lnRef>
          <a:fillRef idx="1">
            <a:schemeClr val="accent1"/>
          </a:fillRef>
          <a:effectRef idx="0">
            <a:schemeClr val="accent1"/>
          </a:effectRef>
          <a:fontRef idx="minor">
            <a:schemeClr val="lt1"/>
          </a:fontRef>
        </p:style>
        <p:txBody>
          <a:bodyPr lIns="68573" tIns="34289" rIns="68573" bIns="34289" rtlCol="0" anchor="ctr"/>
          <a:lstStyle/>
          <a:p>
            <a:pPr algn="ctr"/>
            <a:endParaRPr lang="zh-TW" altLang="en-US" sz="1800">
              <a:solidFill>
                <a:prstClr val="white"/>
              </a:solidFill>
            </a:endParaRPr>
          </a:p>
        </p:txBody>
      </p:sp>
      <p:sp>
        <p:nvSpPr>
          <p:cNvPr id="9" name="矩形 8"/>
          <p:cNvSpPr/>
          <p:nvPr userDrawn="1"/>
        </p:nvSpPr>
        <p:spPr>
          <a:xfrm>
            <a:off x="0" y="0"/>
            <a:ext cx="9144000" cy="620688"/>
          </a:xfrm>
          <a:prstGeom prst="rect">
            <a:avLst/>
          </a:prstGeom>
          <a:solidFill>
            <a:srgbClr val="7CB9DE"/>
          </a:solidFill>
          <a:ln w="0">
            <a:noFill/>
          </a:ln>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algn="ctr"/>
            <a:endParaRPr lang="zh-TW" altLang="en-US" sz="1400">
              <a:solidFill>
                <a:prstClr val="white"/>
              </a:solidFill>
            </a:endParaRPr>
          </a:p>
        </p:txBody>
      </p:sp>
      <p:sp>
        <p:nvSpPr>
          <p:cNvPr id="10" name="文字版面配置區 8"/>
          <p:cNvSpPr>
            <a:spLocks noGrp="1"/>
          </p:cNvSpPr>
          <p:nvPr>
            <p:ph type="body" sz="quarter" idx="12" hasCustomPrompt="1"/>
          </p:nvPr>
        </p:nvSpPr>
        <p:spPr>
          <a:xfrm>
            <a:off x="973362" y="897456"/>
            <a:ext cx="4678759" cy="5027821"/>
          </a:xfrm>
          <a:prstGeom prst="rect">
            <a:avLst/>
          </a:prstGeom>
        </p:spPr>
        <p:txBody>
          <a:bodyPr/>
          <a:lstStyle>
            <a:lvl1pPr marL="514350" indent="-514350">
              <a:lnSpc>
                <a:spcPts val="4500"/>
              </a:lnSpc>
              <a:buFont typeface="+mj-lt"/>
              <a:buAutoNum type="arabicPeriod"/>
              <a:defRPr sz="3000" b="1">
                <a:solidFill>
                  <a:schemeClr val="tx1"/>
                </a:solidFill>
                <a:latin typeface="微軟正黑體" panose="020B0604030504040204" pitchFamily="34" charset="-120"/>
                <a:ea typeface="微軟正黑體" panose="020B0604030504040204" pitchFamily="34" charset="-120"/>
              </a:defRPr>
            </a:lvl1pPr>
          </a:lstStyle>
          <a:p>
            <a:pPr lvl="0"/>
            <a:r>
              <a:rPr lang="zh-TW" altLang="en-US" dirty="0"/>
              <a:t>縮小：地表特定範圍</a:t>
            </a:r>
            <a:br>
              <a:rPr lang="en-US" altLang="zh-TW" dirty="0"/>
            </a:br>
            <a:r>
              <a:rPr lang="zh-TW" altLang="en-US" dirty="0"/>
              <a:t>按「比例」縮小繪製。</a:t>
            </a:r>
          </a:p>
          <a:p>
            <a:pPr lvl="0"/>
            <a:r>
              <a:rPr lang="zh-TW" altLang="en-US" dirty="0"/>
              <a:t>坐標轉換：將地表上</a:t>
            </a:r>
            <a:br>
              <a:rPr lang="en-US" altLang="zh-TW" dirty="0"/>
            </a:br>
            <a:r>
              <a:rPr lang="zh-TW" altLang="en-US" dirty="0"/>
              <a:t>地貌地物，轉繪至地</a:t>
            </a:r>
            <a:br>
              <a:rPr lang="en-US" altLang="zh-TW" dirty="0"/>
            </a:br>
            <a:r>
              <a:rPr lang="zh-TW" altLang="en-US" dirty="0"/>
              <a:t>圖上的對應位置。</a:t>
            </a:r>
          </a:p>
          <a:p>
            <a:pPr lvl="0"/>
            <a:endParaRPr lang="zh-TW" altLang="en-US" dirty="0"/>
          </a:p>
        </p:txBody>
      </p:sp>
      <p:sp>
        <p:nvSpPr>
          <p:cNvPr id="11" name="文字版面配置區 8"/>
          <p:cNvSpPr>
            <a:spLocks noGrp="1"/>
          </p:cNvSpPr>
          <p:nvPr>
            <p:ph type="body" sz="quarter" idx="13" hasCustomPrompt="1"/>
          </p:nvPr>
        </p:nvSpPr>
        <p:spPr>
          <a:xfrm>
            <a:off x="899592" y="-27384"/>
            <a:ext cx="6048672" cy="609003"/>
          </a:xfrm>
          <a:prstGeom prst="rect">
            <a:avLst/>
          </a:prstGeom>
        </p:spPr>
        <p:txBody>
          <a:bodyPr/>
          <a:lstStyle>
            <a:lvl1pPr marL="0" indent="0">
              <a:lnSpc>
                <a:spcPts val="3800"/>
              </a:lnSpc>
              <a:buNone/>
              <a:defRPr sz="2800" b="1">
                <a:solidFill>
                  <a:schemeClr val="bg1"/>
                </a:solidFill>
                <a:latin typeface="微軟正黑體" panose="020B0604030504040204" pitchFamily="34" charset="-120"/>
                <a:ea typeface="微軟正黑體" panose="020B0604030504040204" pitchFamily="34" charset="-120"/>
              </a:defRPr>
            </a:lvl1pPr>
          </a:lstStyle>
          <a:p>
            <a:pPr lvl="0"/>
            <a:r>
              <a:rPr lang="zh-TW" altLang="en-US" dirty="0"/>
              <a:t>地圖本質</a:t>
            </a:r>
          </a:p>
        </p:txBody>
      </p:sp>
      <p:pic>
        <p:nvPicPr>
          <p:cNvPr id="17" name="圖片 16"/>
          <p:cNvPicPr>
            <a:picLocks noChangeAspect="1"/>
          </p:cNvPicPr>
          <p:nvPr userDrawn="1"/>
        </p:nvPicPr>
        <p:blipFill rotWithShape="1">
          <a:blip r:embed="rId2" cstate="print">
            <a:extLst>
              <a:ext uri="{28A0092B-C50C-407E-A947-70E740481C1C}">
                <a14:useLocalDpi xmlns:a14="http://schemas.microsoft.com/office/drawing/2010/main" val="0"/>
              </a:ext>
            </a:extLst>
          </a:blip>
          <a:srcRect r="90155" b="85302"/>
          <a:stretch/>
        </p:blipFill>
        <p:spPr>
          <a:xfrm>
            <a:off x="1353" y="0"/>
            <a:ext cx="900000" cy="1008000"/>
          </a:xfrm>
          <a:prstGeom prst="rect">
            <a:avLst/>
          </a:prstGeom>
        </p:spPr>
      </p:pic>
    </p:spTree>
    <p:extLst>
      <p:ext uri="{BB962C8B-B14F-4D97-AF65-F5344CB8AC3E}">
        <p14:creationId xmlns:p14="http://schemas.microsoft.com/office/powerpoint/2010/main" val="4206391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11" name="Shape 11"/>
          <p:cNvSpPr txBox="1">
            <a:spLocks noGrp="1"/>
          </p:cNvSpPr>
          <p:nvPr>
            <p:ph type="body" idx="1"/>
          </p:nvPr>
        </p:nvSpPr>
        <p:spPr>
          <a:xfrm>
            <a:off x="301625" y="1600200"/>
            <a:ext cx="8540750" cy="4498975"/>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12" name="Shape 12"/>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b="0" i="0" u="none" strike="noStrike" cap="none">
                <a:solidFill>
                  <a:schemeClr val="dk1"/>
                </a:solidFill>
                <a:latin typeface="Arial"/>
                <a:ea typeface="Arial"/>
                <a:cs typeface="Arial"/>
                <a:sym typeface="Arial"/>
              </a:rPr>
              <a:t>‹#›</a:t>
            </a:fld>
            <a:endParaRPr lang="zh-TW" sz="14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745" r:id="rId11"/>
    <p:sldLayoutId id="2147483746" r:id="rId12"/>
    <p:sldLayoutId id="2147483747"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jp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40.png"/><Relationship Id="rId4" Type="http://schemas.microsoft.com/office/2007/relationships/hdphoto" Target="../media/hdphoto2.wdp"/></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7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45.jpeg"/><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8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8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9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1.png"/><Relationship Id="rId7" Type="http://schemas.openxmlformats.org/officeDocument/2006/relationships/image" Target="../media/image69.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65.png"/><Relationship Id="rId4" Type="http://schemas.openxmlformats.org/officeDocument/2006/relationships/image" Target="../media/image66.png"/><Relationship Id="rId9" Type="http://schemas.openxmlformats.org/officeDocument/2006/relationships/image" Target="../media/image6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71.e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72.emf"/></Relationships>
</file>

<file path=ppt/slides/_rels/slide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Shape 654"/>
          <p:cNvSpPr/>
          <p:nvPr/>
        </p:nvSpPr>
        <p:spPr>
          <a:xfrm>
            <a:off x="1" y="2751125"/>
            <a:ext cx="1619671" cy="1067419"/>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en-US" altLang="zh-TW" sz="7200" b="1" dirty="0">
                <a:solidFill>
                  <a:schemeClr val="bg1"/>
                </a:solidFill>
              </a:rPr>
              <a:t>8</a:t>
            </a:r>
            <a:endParaRPr lang="zh-TW" sz="7200" b="1" i="0" u="none" strike="noStrike" cap="none" dirty="0">
              <a:solidFill>
                <a:schemeClr val="bg1"/>
              </a:solidFill>
              <a:sym typeface="Arial"/>
            </a:endParaRPr>
          </a:p>
        </p:txBody>
      </p:sp>
      <p:sp>
        <p:nvSpPr>
          <p:cNvPr id="5" name="內容版面配置區 2"/>
          <p:cNvSpPr>
            <a:spLocks/>
          </p:cNvSpPr>
          <p:nvPr/>
        </p:nvSpPr>
        <p:spPr bwMode="auto">
          <a:xfrm>
            <a:off x="251520" y="190065"/>
            <a:ext cx="7129463"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zh-TW" sz="5400" b="1" dirty="0">
                <a:ea typeface="新細明體" pitchFamily="18" charset="-120"/>
              </a:rPr>
              <a:t>　</a:t>
            </a:r>
            <a:r>
              <a:rPr lang="zh-TW" altLang="en-US" sz="5400" b="1" dirty="0">
                <a:solidFill>
                  <a:srgbClr val="FF0000"/>
                </a:solidFill>
                <a:ea typeface="新細明體" pitchFamily="18" charset="-120"/>
              </a:rPr>
              <a:t>東亞文化圈 </a:t>
            </a:r>
            <a:r>
              <a:rPr lang="zh-TW" altLang="en-US" sz="5400" kern="1200" dirty="0">
                <a:solidFill>
                  <a:srgbClr val="0000FF"/>
                </a:solidFill>
                <a:latin typeface="Calibri"/>
                <a:ea typeface="Calibri"/>
                <a:cs typeface="Calibri"/>
                <a:sym typeface="Calibri"/>
              </a:rPr>
              <a:t>中日</a:t>
            </a:r>
            <a:r>
              <a:rPr lang="zh-TW" altLang="zh-TW" sz="5400" kern="1200" dirty="0">
                <a:solidFill>
                  <a:srgbClr val="0000FF"/>
                </a:solidFill>
                <a:latin typeface="Calibri"/>
                <a:ea typeface="Calibri"/>
                <a:cs typeface="Calibri"/>
                <a:sym typeface="Calibri"/>
              </a:rPr>
              <a:t>韓</a:t>
            </a:r>
            <a:endParaRPr lang="en-US" altLang="zh-TW" sz="5400" kern="1200" dirty="0">
              <a:solidFill>
                <a:srgbClr val="0000FF"/>
              </a:solidFill>
              <a:latin typeface="Calibri"/>
              <a:ea typeface="Calibri"/>
              <a:cs typeface="Calibri"/>
              <a:sym typeface="Calibri"/>
            </a:endParaRPr>
          </a:p>
          <a:p>
            <a:pPr algn="ctr"/>
            <a:r>
              <a:rPr lang="zh-TW" altLang="en-US" sz="5400" b="1" dirty="0">
                <a:ea typeface="新細明體" pitchFamily="18" charset="-120"/>
              </a:rPr>
              <a:t>的  形成與發展</a:t>
            </a:r>
            <a:endParaRPr lang="zh-TW" altLang="zh-TW" sz="5400" b="1" dirty="0">
              <a:solidFill>
                <a:schemeClr val="tx1">
                  <a:lumMod val="90000"/>
                  <a:lumOff val="10000"/>
                </a:schemeClr>
              </a:solidFill>
            </a:endParaRPr>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1</a:t>
            </a:fld>
            <a:endParaRPr lang="zh-TW" sz="1400" b="0" i="0" u="none" strike="noStrike" cap="none">
              <a:solidFill>
                <a:schemeClr val="dk1"/>
              </a:solidFill>
              <a:latin typeface="Arial"/>
              <a:ea typeface="Arial"/>
              <a:cs typeface="Arial"/>
              <a:sym typeface="Arial"/>
            </a:endParaRPr>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864" y="1766452"/>
            <a:ext cx="7236296" cy="509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9769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4738" y="44450"/>
            <a:ext cx="5380037" cy="680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矩形 2"/>
          <p:cNvSpPr>
            <a:spLocks noChangeArrowheads="1"/>
          </p:cNvSpPr>
          <p:nvPr/>
        </p:nvSpPr>
        <p:spPr bwMode="auto">
          <a:xfrm>
            <a:off x="457200" y="1295400"/>
            <a:ext cx="31242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r>
              <a:rPr kumimoji="0" lang="zh-TW" altLang="en-US" b="1" dirty="0">
                <a:latin typeface="Times New Roman" panose="02020603050405020304" pitchFamily="18" charset="0"/>
                <a:ea typeface="標楷體" panose="03000509000000000000" pitchFamily="65" charset="-120"/>
              </a:rPr>
              <a:t>東北亞可分為</a:t>
            </a:r>
            <a:endParaRPr kumimoji="0" lang="en-US" altLang="zh-TW" b="1" dirty="0">
              <a:latin typeface="Times New Roman" panose="02020603050405020304" pitchFamily="18" charset="0"/>
              <a:ea typeface="標楷體" panose="03000509000000000000" pitchFamily="65" charset="-120"/>
            </a:endParaRPr>
          </a:p>
          <a:p>
            <a:pPr>
              <a:spcBef>
                <a:spcPct val="0"/>
              </a:spcBef>
              <a:buFontTx/>
              <a:buNone/>
            </a:pPr>
            <a:r>
              <a:rPr kumimoji="0" lang="zh-TW" altLang="en-US" b="1" dirty="0">
                <a:solidFill>
                  <a:srgbClr val="C00000"/>
                </a:solidFill>
                <a:latin typeface="Times New Roman" panose="02020603050405020304" pitchFamily="18" charset="0"/>
                <a:ea typeface="標楷體" panose="03000509000000000000" pitchFamily="65" charset="-120"/>
                <a:cs typeface="華康POP1體 Std W5"/>
              </a:rPr>
              <a:t>朝鮮半島  </a:t>
            </a:r>
            <a:r>
              <a:rPr kumimoji="0" lang="zh-TW" altLang="en-US" b="1" dirty="0">
                <a:latin typeface="Times New Roman" panose="02020603050405020304" pitchFamily="18" charset="0"/>
                <a:ea typeface="標楷體" panose="03000509000000000000" pitchFamily="65" charset="-120"/>
                <a:cs typeface="華康POP1體 Std W5"/>
              </a:rPr>
              <a:t>與</a:t>
            </a:r>
            <a:endParaRPr kumimoji="0" lang="en-US" altLang="zh-TW" b="1" dirty="0">
              <a:latin typeface="Times New Roman" panose="02020603050405020304" pitchFamily="18" charset="0"/>
              <a:ea typeface="標楷體" panose="03000509000000000000" pitchFamily="65" charset="-120"/>
              <a:cs typeface="華康POP1體 Std W5"/>
            </a:endParaRPr>
          </a:p>
          <a:p>
            <a:pPr>
              <a:spcBef>
                <a:spcPct val="0"/>
              </a:spcBef>
              <a:buFontTx/>
              <a:buNone/>
            </a:pPr>
            <a:r>
              <a:rPr kumimoji="0" lang="zh-TW" altLang="en-US" b="1" dirty="0">
                <a:solidFill>
                  <a:srgbClr val="C00000"/>
                </a:solidFill>
                <a:latin typeface="Times New Roman" panose="02020603050405020304" pitchFamily="18" charset="0"/>
                <a:ea typeface="標楷體" panose="03000509000000000000" pitchFamily="65" charset="-120"/>
                <a:cs typeface="華康POP1體 Std W5"/>
              </a:rPr>
              <a:t>日本群島</a:t>
            </a:r>
            <a:endParaRPr kumimoji="0" lang="en-US" altLang="zh-TW" b="1" dirty="0">
              <a:solidFill>
                <a:srgbClr val="C00000"/>
              </a:solidFill>
              <a:latin typeface="Times New Roman" panose="02020603050405020304" pitchFamily="18" charset="0"/>
              <a:ea typeface="標楷體" panose="03000509000000000000" pitchFamily="65" charset="-120"/>
              <a:cs typeface="華康POP1體 Std W5"/>
            </a:endParaRPr>
          </a:p>
          <a:p>
            <a:pPr>
              <a:spcBef>
                <a:spcPct val="0"/>
              </a:spcBef>
              <a:buFontTx/>
              <a:buNone/>
            </a:pPr>
            <a:r>
              <a:rPr kumimoji="0" lang="zh-TW" altLang="en-US" b="1" dirty="0">
                <a:latin typeface="Times New Roman" panose="02020603050405020304" pitchFamily="18" charset="0"/>
                <a:ea typeface="標楷體" panose="03000509000000000000" pitchFamily="65" charset="-120"/>
                <a:cs typeface="華康POP1體 Std W5"/>
              </a:rPr>
              <a:t>兩大區域</a:t>
            </a:r>
          </a:p>
        </p:txBody>
      </p:sp>
      <p:sp>
        <p:nvSpPr>
          <p:cNvPr id="6" name="矩形 5"/>
          <p:cNvSpPr/>
          <p:nvPr/>
        </p:nvSpPr>
        <p:spPr>
          <a:xfrm>
            <a:off x="1495425" y="6392863"/>
            <a:ext cx="1828800" cy="376237"/>
          </a:xfrm>
          <a:prstGeom prst="rect">
            <a:avLst/>
          </a:prstGeom>
          <a:solidFill>
            <a:srgbClr val="FFC000"/>
          </a:solidFill>
          <a:ln w="9525" algn="ctr">
            <a:solidFill>
              <a:schemeClr val="bg2"/>
            </a:solidFill>
            <a:miter lim="800000"/>
            <a:headEnd/>
            <a:tailEnd/>
          </a:ln>
          <a:effectLst>
            <a:prstShdw prst="shdw13" dist="53882" dir="13500000">
              <a:schemeClr val="bg2">
                <a:alpha val="50000"/>
              </a:schemeClr>
            </a:prstShdw>
          </a:effectLst>
        </p:spPr>
        <p:txBody>
          <a:bodyPr>
            <a:spAutoFit/>
          </a:bodyPr>
          <a:lstStyle/>
          <a:p>
            <a:pPr algn="ctr" eaLnBrk="1" hangingPunct="1">
              <a:defRPr/>
            </a:pPr>
            <a:r>
              <a:rPr lang="zh-TW" altLang="en-US" b="1" dirty="0">
                <a:latin typeface="+mj-ea"/>
                <a:ea typeface="+mj-ea"/>
              </a:rPr>
              <a:t>東北亞地形圖</a:t>
            </a:r>
          </a:p>
        </p:txBody>
      </p:sp>
      <p:sp>
        <p:nvSpPr>
          <p:cNvPr id="6149" name="投影片編號版面配置區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30F341FF-BCB0-410B-9DAC-251A2389D24F}" type="slidenum">
              <a:rPr lang="en-US" altLang="zh-TW" sz="1400" smtClean="0"/>
              <a:pPr>
                <a:spcBef>
                  <a:spcPct val="0"/>
                </a:spcBef>
                <a:buFontTx/>
                <a:buNone/>
              </a:pPr>
              <a:t>2</a:t>
            </a:fld>
            <a:endParaRPr lang="en-US" altLang="zh-TW" sz="1400"/>
          </a:p>
        </p:txBody>
      </p:sp>
    </p:spTree>
    <p:extLst>
      <p:ext uri="{BB962C8B-B14F-4D97-AF65-F5344CB8AC3E}">
        <p14:creationId xmlns:p14="http://schemas.microsoft.com/office/powerpoint/2010/main" val="2642145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3032" y="4535399"/>
            <a:ext cx="7772400" cy="1362075"/>
          </a:xfrm>
        </p:spPr>
        <p:txBody>
          <a:bodyPr/>
          <a:lstStyle/>
          <a:p>
            <a:endParaRPr lang="zh-TW" altLang="en-US"/>
          </a:p>
        </p:txBody>
      </p:sp>
      <p:sp>
        <p:nvSpPr>
          <p:cNvPr id="3" name="文字版面配置區 2"/>
          <p:cNvSpPr>
            <a:spLocks noGrp="1"/>
          </p:cNvSpPr>
          <p:nvPr>
            <p:ph type="body" idx="1"/>
          </p:nvPr>
        </p:nvSpPr>
        <p:spPr>
          <a:xfrm>
            <a:off x="193032" y="3035212"/>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5437" y="212744"/>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10271" y="1182723"/>
            <a:ext cx="8352928" cy="2590800"/>
          </a:xfrm>
          <a:prstGeom prst="rect">
            <a:avLst/>
          </a:prstGeom>
          <a:solidFill>
            <a:schemeClr val="bg1"/>
          </a:solidFill>
          <a:ln>
            <a:noFill/>
          </a:ln>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3.</a:t>
            </a:r>
            <a:r>
              <a:rPr lang="zh-TW" altLang="en-US" sz="2400" dirty="0">
                <a:latin typeface="標楷體" pitchFamily="65" charset="-120"/>
              </a:rPr>
              <a:t>請由高緯至低緯依次寫出</a:t>
            </a:r>
            <a:br>
              <a:rPr lang="en-US" altLang="zh-TW" sz="2400" dirty="0">
                <a:latin typeface="標楷體" pitchFamily="65" charset="-120"/>
              </a:rPr>
            </a:br>
            <a:r>
              <a:rPr lang="zh-TW" altLang="en-US" sz="2400" dirty="0">
                <a:solidFill>
                  <a:srgbClr val="FF0000"/>
                </a:solidFill>
                <a:latin typeface="標楷體" pitchFamily="65" charset="-120"/>
              </a:rPr>
              <a:t>日本</a:t>
            </a:r>
            <a:r>
              <a:rPr lang="zh-TW" altLang="en-US" sz="2400" dirty="0">
                <a:latin typeface="標楷體" pitchFamily="65" charset="-120"/>
              </a:rPr>
              <a:t>的</a:t>
            </a:r>
            <a:r>
              <a:rPr lang="en-US" altLang="zh-TW" sz="2400" dirty="0">
                <a:solidFill>
                  <a:srgbClr val="FF0000"/>
                </a:solidFill>
                <a:latin typeface="標楷體" pitchFamily="65" charset="-120"/>
              </a:rPr>
              <a:t>4</a:t>
            </a:r>
            <a:r>
              <a:rPr lang="zh-TW" altLang="en-US" sz="2400" dirty="0">
                <a:latin typeface="標楷體" pitchFamily="65" charset="-120"/>
              </a:rPr>
              <a:t>個</a:t>
            </a:r>
            <a:r>
              <a:rPr lang="zh-TW" altLang="en-US" sz="2400" dirty="0">
                <a:solidFill>
                  <a:srgbClr val="FF0000"/>
                </a:solidFill>
                <a:latin typeface="標楷體" pitchFamily="65" charset="-120"/>
              </a:rPr>
              <a:t>大島</a:t>
            </a:r>
            <a:r>
              <a:rPr lang="zh-TW" altLang="en-US" sz="2400" dirty="0">
                <a:latin typeface="標楷體" pitchFamily="65" charset="-120"/>
              </a:rPr>
              <a:t>的名稱。</a:t>
            </a:r>
          </a:p>
          <a:p>
            <a:r>
              <a:rPr lang="en-US" altLang="zh-TW" sz="2400" dirty="0">
                <a:latin typeface="標楷體" pitchFamily="65" charset="-120"/>
              </a:rPr>
              <a:t>A</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r>
              <a:rPr lang="zh-TW" altLang="en-US" sz="2400" dirty="0">
                <a:latin typeface="標楷體" pitchFamily="65" charset="-120"/>
              </a:rPr>
              <a:t>　</a:t>
            </a:r>
          </a:p>
          <a:p>
            <a:r>
              <a:rPr lang="en-US" altLang="zh-TW" sz="2400" dirty="0">
                <a:latin typeface="標楷體" pitchFamily="65" charset="-120"/>
              </a:rPr>
              <a:t>B</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endParaRPr lang="zh-TW" altLang="en-US" sz="2400" dirty="0">
              <a:latin typeface="標楷體" pitchFamily="65" charset="-120"/>
            </a:endParaRPr>
          </a:p>
          <a:p>
            <a:r>
              <a:rPr lang="en-US" altLang="zh-TW" sz="2400" dirty="0">
                <a:latin typeface="標楷體" pitchFamily="65" charset="-120"/>
              </a:rPr>
              <a:t>C</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 </a:t>
            </a:r>
          </a:p>
          <a:p>
            <a:r>
              <a:rPr lang="en-US" altLang="zh-TW" sz="2400" dirty="0">
                <a:latin typeface="標楷體" pitchFamily="65" charset="-120"/>
              </a:rPr>
              <a:t>D</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 </a:t>
            </a:r>
          </a:p>
          <a:p>
            <a:r>
              <a:rPr lang="en-US" altLang="zh-TW" sz="2400" dirty="0">
                <a:latin typeface="標楷體" pitchFamily="65" charset="-120"/>
              </a:rPr>
              <a:t>4.</a:t>
            </a:r>
            <a:r>
              <a:rPr lang="zh-TW" altLang="en-US" sz="2400" dirty="0">
                <a:latin typeface="標楷體" pitchFamily="65" charset="-120"/>
              </a:rPr>
              <a:t>請寫出鮮朝半島的</a:t>
            </a:r>
            <a:br>
              <a:rPr lang="en-US" altLang="zh-TW" sz="2400" dirty="0">
                <a:latin typeface="標楷體" pitchFamily="65" charset="-120"/>
              </a:rPr>
            </a:br>
            <a:r>
              <a:rPr lang="zh-TW" altLang="en-US" sz="2400" dirty="0">
                <a:latin typeface="標楷體" pitchFamily="65" charset="-120"/>
              </a:rPr>
              <a:t>重要都市及代號。</a:t>
            </a:r>
          </a:p>
          <a:p>
            <a:r>
              <a:rPr lang="en-US" altLang="zh-TW" sz="2400" dirty="0">
                <a:latin typeface="標楷體" pitchFamily="65" charset="-120"/>
              </a:rPr>
              <a:t>(1)</a:t>
            </a:r>
            <a:r>
              <a:rPr lang="zh-TW" altLang="en-US" sz="2400" dirty="0">
                <a:solidFill>
                  <a:srgbClr val="FF0000"/>
                </a:solidFill>
                <a:latin typeface="標楷體" pitchFamily="65" charset="-120"/>
              </a:rPr>
              <a:t>南韓首都</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endParaRPr lang="zh-TW" altLang="en-US" sz="2400" dirty="0">
              <a:latin typeface="標楷體" pitchFamily="65" charset="-120"/>
            </a:endParaRPr>
          </a:p>
          <a:p>
            <a:r>
              <a:rPr lang="en-US" altLang="zh-TW" sz="2400" dirty="0">
                <a:latin typeface="標楷體" pitchFamily="65" charset="-120"/>
              </a:rPr>
              <a:t>(2)</a:t>
            </a:r>
            <a:r>
              <a:rPr lang="zh-TW" altLang="en-US" sz="2400" dirty="0">
                <a:solidFill>
                  <a:srgbClr val="FF0000"/>
                </a:solidFill>
                <a:latin typeface="標楷體" pitchFamily="65" charset="-120"/>
              </a:rPr>
              <a:t>南韓最大港口</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 </a:t>
            </a:r>
            <a:r>
              <a:rPr lang="zh-TW" altLang="en-US" sz="2400" dirty="0">
                <a:latin typeface="標楷體" pitchFamily="65" charset="-120"/>
              </a:rPr>
              <a:t>　</a:t>
            </a:r>
          </a:p>
          <a:p>
            <a:r>
              <a:rPr lang="en-US" altLang="zh-TW" sz="2400" dirty="0">
                <a:latin typeface="標楷體" pitchFamily="65" charset="-120"/>
              </a:rPr>
              <a:t>(3)</a:t>
            </a:r>
            <a:r>
              <a:rPr lang="zh-TW" altLang="en-US" sz="2400" dirty="0">
                <a:solidFill>
                  <a:srgbClr val="FF0000"/>
                </a:solidFill>
                <a:latin typeface="標楷體" pitchFamily="65" charset="-120"/>
              </a:rPr>
              <a:t>北韓首都</a:t>
            </a:r>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 </a:t>
            </a:r>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11" name="矩形 10"/>
          <p:cNvSpPr>
            <a:spLocks noChangeArrowheads="1"/>
          </p:cNvSpPr>
          <p:nvPr/>
        </p:nvSpPr>
        <p:spPr bwMode="auto">
          <a:xfrm>
            <a:off x="857932" y="1901315"/>
            <a:ext cx="1168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北海道</a:t>
            </a:r>
          </a:p>
        </p:txBody>
      </p:sp>
      <p:pic>
        <p:nvPicPr>
          <p:cNvPr id="92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1756" y="188640"/>
            <a:ext cx="4898589" cy="6669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矩形 15"/>
          <p:cNvSpPr>
            <a:spLocks noChangeArrowheads="1"/>
          </p:cNvSpPr>
          <p:nvPr/>
        </p:nvSpPr>
        <p:spPr bwMode="auto">
          <a:xfrm>
            <a:off x="857418" y="2264708"/>
            <a:ext cx="1168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本州</a:t>
            </a:r>
          </a:p>
        </p:txBody>
      </p:sp>
      <p:sp>
        <p:nvSpPr>
          <p:cNvPr id="17" name="矩形 16"/>
          <p:cNvSpPr>
            <a:spLocks noChangeArrowheads="1"/>
          </p:cNvSpPr>
          <p:nvPr/>
        </p:nvSpPr>
        <p:spPr bwMode="auto">
          <a:xfrm>
            <a:off x="857417" y="2633025"/>
            <a:ext cx="1168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四國</a:t>
            </a:r>
          </a:p>
        </p:txBody>
      </p:sp>
      <p:sp>
        <p:nvSpPr>
          <p:cNvPr id="18" name="矩形 17"/>
          <p:cNvSpPr>
            <a:spLocks noChangeArrowheads="1"/>
          </p:cNvSpPr>
          <p:nvPr/>
        </p:nvSpPr>
        <p:spPr bwMode="auto">
          <a:xfrm>
            <a:off x="830146" y="3001189"/>
            <a:ext cx="11685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九州</a:t>
            </a:r>
          </a:p>
        </p:txBody>
      </p:sp>
      <p:sp>
        <p:nvSpPr>
          <p:cNvPr id="19" name="矩形 18"/>
          <p:cNvSpPr>
            <a:spLocks noChangeArrowheads="1"/>
          </p:cNvSpPr>
          <p:nvPr/>
        </p:nvSpPr>
        <p:spPr bwMode="auto">
          <a:xfrm>
            <a:off x="2178895" y="4061555"/>
            <a:ext cx="17198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甲：首爾</a:t>
            </a:r>
          </a:p>
        </p:txBody>
      </p:sp>
      <p:sp>
        <p:nvSpPr>
          <p:cNvPr id="20" name="矩形 19"/>
          <p:cNvSpPr>
            <a:spLocks noChangeArrowheads="1"/>
          </p:cNvSpPr>
          <p:nvPr/>
        </p:nvSpPr>
        <p:spPr bwMode="auto">
          <a:xfrm>
            <a:off x="2778187" y="4454742"/>
            <a:ext cx="17198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丙：釜山</a:t>
            </a:r>
          </a:p>
        </p:txBody>
      </p:sp>
      <p:sp>
        <p:nvSpPr>
          <p:cNvPr id="21" name="矩形 20"/>
          <p:cNvSpPr>
            <a:spLocks noChangeArrowheads="1"/>
          </p:cNvSpPr>
          <p:nvPr/>
        </p:nvSpPr>
        <p:spPr bwMode="auto">
          <a:xfrm>
            <a:off x="2303705" y="4827984"/>
            <a:ext cx="17198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乙：平壤</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a:t>
            </a:fld>
            <a:endParaRPr lang="zh-TW" sz="1400">
              <a:solidFill>
                <a:schemeClr val="dk1"/>
              </a:solidFill>
              <a:latin typeface="Arial"/>
              <a:ea typeface="Arial"/>
              <a:cs typeface="Arial"/>
              <a:sym typeface="Arial"/>
            </a:endParaRPr>
          </a:p>
        </p:txBody>
      </p:sp>
      <p:sp>
        <p:nvSpPr>
          <p:cNvPr id="22" name="矩形 21"/>
          <p:cNvSpPr>
            <a:spLocks noChangeArrowheads="1"/>
          </p:cNvSpPr>
          <p:nvPr/>
        </p:nvSpPr>
        <p:spPr bwMode="auto">
          <a:xfrm>
            <a:off x="0" y="-2070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p.201</a:t>
            </a:r>
            <a:endParaRPr lang="zh-TW" altLang="en-US" sz="3600" b="0" dirty="0"/>
          </a:p>
        </p:txBody>
      </p:sp>
    </p:spTree>
    <p:extLst>
      <p:ext uri="{BB962C8B-B14F-4D97-AF65-F5344CB8AC3E}">
        <p14:creationId xmlns:p14="http://schemas.microsoft.com/office/powerpoint/2010/main" val="281486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ox(i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ox(in)">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7" grpId="0"/>
      <p:bldP spid="18" grpId="0"/>
      <p:bldP spid="19"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矩形 5"/>
          <p:cNvSpPr>
            <a:spLocks noChangeArrowheads="1"/>
          </p:cNvSpPr>
          <p:nvPr/>
        </p:nvSpPr>
        <p:spPr bwMode="auto">
          <a:xfrm>
            <a:off x="369508" y="620688"/>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p.195</a:t>
            </a:r>
            <a:endParaRPr lang="zh-TW" altLang="en-US" sz="3600" b="0" dirty="0"/>
          </a:p>
        </p:txBody>
      </p:sp>
      <p:sp>
        <p:nvSpPr>
          <p:cNvPr id="7" name="內容版面配置區 2"/>
          <p:cNvSpPr>
            <a:spLocks/>
          </p:cNvSpPr>
          <p:nvPr/>
        </p:nvSpPr>
        <p:spPr bwMode="auto">
          <a:xfrm>
            <a:off x="1983171" y="22628"/>
            <a:ext cx="7129463" cy="103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zh-TW" sz="3600" b="1" dirty="0">
                <a:ea typeface="新細明體" pitchFamily="18" charset="-120"/>
              </a:rPr>
              <a:t>　</a:t>
            </a:r>
            <a:r>
              <a:rPr lang="zh-TW" altLang="en-US" sz="3600" b="1" dirty="0">
                <a:solidFill>
                  <a:srgbClr val="FF0000"/>
                </a:solidFill>
                <a:ea typeface="新細明體" pitchFamily="18" charset="-120"/>
              </a:rPr>
              <a:t>東亞文化圈</a:t>
            </a:r>
            <a:r>
              <a:rPr lang="zh-TW" altLang="en-US" sz="3600" b="1" dirty="0">
                <a:ea typeface="新細明體" pitchFamily="18" charset="-120"/>
              </a:rPr>
              <a:t>的</a:t>
            </a:r>
            <a:endParaRPr lang="en-US" altLang="zh-TW" sz="3600" b="1" dirty="0">
              <a:ea typeface="新細明體" pitchFamily="18" charset="-120"/>
            </a:endParaRPr>
          </a:p>
          <a:p>
            <a:pPr algn="ctr"/>
            <a:r>
              <a:rPr lang="zh-TW" altLang="en-US" sz="3600" b="1" dirty="0">
                <a:ea typeface="新細明體" pitchFamily="18" charset="-120"/>
              </a:rPr>
              <a:t>形成與發展</a:t>
            </a:r>
            <a:endParaRPr lang="zh-TW" altLang="zh-TW" sz="3600" b="1" dirty="0">
              <a:solidFill>
                <a:schemeClr val="tx1">
                  <a:lumMod val="90000"/>
                  <a:lumOff val="10000"/>
                </a:schemeClr>
              </a:solidFill>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4</a:t>
            </a:fld>
            <a:endParaRPr lang="zh-TW" sz="1400" b="0" i="0" u="none" strike="noStrike" cap="none">
              <a:solidFill>
                <a:schemeClr val="dk1"/>
              </a:solidFill>
              <a:latin typeface="Arial"/>
              <a:ea typeface="Arial"/>
              <a:cs typeface="Arial"/>
              <a:sym typeface="Arial"/>
            </a:endParaRPr>
          </a:p>
        </p:txBody>
      </p:sp>
      <p:pic>
        <p:nvPicPr>
          <p:cNvPr id="3074" name="Picture 2">
            <a:extLst>
              <a:ext uri="{FF2B5EF4-FFF2-40B4-BE49-F238E27FC236}">
                <a16:creationId xmlns:a16="http://schemas.microsoft.com/office/drawing/2014/main" id="{F6BB68D6-65D8-470F-A3DF-95ABEEBC1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412775"/>
            <a:ext cx="7848872" cy="5308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8163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3023320" y="198277"/>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latin typeface="微軟正黑體" pitchFamily="34" charset="-120"/>
              </a:rPr>
              <a:t>東亞文化圈的形成</a:t>
            </a:r>
            <a:endParaRPr lang="en-US" altLang="zh-TW" sz="3600" b="1" dirty="0">
              <a:latin typeface="微軟正黑體" pitchFamily="34" charset="-120"/>
            </a:endParaRPr>
          </a:p>
        </p:txBody>
      </p:sp>
      <p:sp>
        <p:nvSpPr>
          <p:cNvPr id="7" name="Rectangle 3"/>
          <p:cNvSpPr txBox="1">
            <a:spLocks noChangeArrowheads="1"/>
          </p:cNvSpPr>
          <p:nvPr/>
        </p:nvSpPr>
        <p:spPr>
          <a:xfrm>
            <a:off x="179512" y="994072"/>
            <a:ext cx="8780729" cy="476061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600" dirty="0">
                <a:latin typeface="標楷體" pitchFamily="65" charset="-120"/>
                <a:ea typeface="標楷體" pitchFamily="65" charset="-120"/>
              </a:rPr>
              <a:t>    文化是人類生活的總體，涵蓋人與自然環境的互動，也包括社會制度與藝文等。在漫長的千年歷史中，</a:t>
            </a:r>
            <a:r>
              <a:rPr lang="zh-TW" altLang="en-US" sz="2600" dirty="0">
                <a:solidFill>
                  <a:srgbClr val="FF0000"/>
                </a:solidFill>
                <a:latin typeface="標楷體" pitchFamily="65" charset="-120"/>
                <a:ea typeface="標楷體" pitchFamily="65" charset="-120"/>
              </a:rPr>
              <a:t>中國漢文化向外傳播形成  東亞文化圈，又稱漢字文化圈、儒學文化圈</a:t>
            </a:r>
            <a:r>
              <a:rPr lang="zh-TW" altLang="en-US" sz="2600" dirty="0">
                <a:latin typeface="標楷體" pitchFamily="65" charset="-120"/>
                <a:ea typeface="標楷體" pitchFamily="65" charset="-120"/>
              </a:rPr>
              <a:t>。這個文化擴散的過程受自然環境、歷史脈絡影響，發展出東亞獨特的文化特色。</a:t>
            </a:r>
            <a:endParaRPr lang="en-US" altLang="zh-TW" sz="2600" dirty="0">
              <a:latin typeface="標楷體" pitchFamily="65" charset="-120"/>
              <a:ea typeface="標楷體" pitchFamily="65" charset="-120"/>
            </a:endParaRPr>
          </a:p>
          <a:p>
            <a:r>
              <a:rPr lang="zh-TW" altLang="en-US" sz="2600" dirty="0">
                <a:latin typeface="標楷體" pitchFamily="65" charset="-120"/>
                <a:ea typeface="標楷體" pitchFamily="65" charset="-120"/>
              </a:rPr>
              <a:t>一、異曲同工的文化特色</a:t>
            </a:r>
            <a:endParaRPr lang="en-US" altLang="zh-TW" sz="2600" dirty="0">
              <a:latin typeface="標楷體" pitchFamily="65" charset="-120"/>
              <a:ea typeface="標楷體" pitchFamily="65" charset="-120"/>
            </a:endParaRPr>
          </a:p>
          <a:p>
            <a:r>
              <a:rPr lang="en-US" altLang="zh-TW" sz="2600" dirty="0">
                <a:latin typeface="標楷體" pitchFamily="65" charset="-120"/>
                <a:ea typeface="標楷體" pitchFamily="65" charset="-120"/>
              </a:rPr>
              <a:t>1.</a:t>
            </a:r>
            <a:r>
              <a:rPr lang="zh-TW" altLang="en-US" sz="2600" dirty="0">
                <a:latin typeface="標楷體" pitchFamily="65" charset="-120"/>
                <a:ea typeface="標楷體" pitchFamily="65" charset="-120"/>
              </a:rPr>
              <a:t>東亞文化圈</a:t>
            </a:r>
            <a:r>
              <a:rPr lang="zh-TW" altLang="en-US" sz="2600" dirty="0">
                <a:solidFill>
                  <a:srgbClr val="FF0000"/>
                </a:solidFill>
                <a:latin typeface="標楷體" pitchFamily="65" charset="-120"/>
                <a:ea typeface="標楷體" pitchFamily="65" charset="-120"/>
              </a:rPr>
              <a:t>共通</a:t>
            </a:r>
            <a:r>
              <a:rPr lang="zh-TW" altLang="en-US" sz="2600" dirty="0">
                <a:latin typeface="標楷體" pitchFamily="65" charset="-120"/>
                <a:ea typeface="標楷體" pitchFamily="65" charset="-120"/>
              </a:rPr>
              <a:t>的</a:t>
            </a:r>
            <a:r>
              <a:rPr lang="zh-TW" altLang="en-US" sz="2600" dirty="0">
                <a:solidFill>
                  <a:srgbClr val="FF0000"/>
                </a:solidFill>
                <a:latin typeface="標楷體" pitchFamily="65" charset="-120"/>
                <a:ea typeface="標楷體" pitchFamily="65" charset="-120"/>
              </a:rPr>
              <a:t>文化特色</a:t>
            </a:r>
            <a:r>
              <a:rPr lang="zh-TW" altLang="en-US" sz="2600" dirty="0">
                <a:latin typeface="標楷體" pitchFamily="65" charset="-120"/>
                <a:ea typeface="標楷體" pitchFamily="65" charset="-120"/>
              </a:rPr>
              <a:t>：</a:t>
            </a:r>
            <a:endParaRPr lang="en-US" altLang="zh-TW" sz="2600" dirty="0">
              <a:latin typeface="標楷體" pitchFamily="65" charset="-120"/>
              <a:ea typeface="標楷體" pitchFamily="65" charset="-120"/>
            </a:endParaRPr>
          </a:p>
          <a:p>
            <a:r>
              <a:rPr lang="en-US" altLang="zh-TW" sz="2600" dirty="0">
                <a:latin typeface="標楷體" pitchFamily="65" charset="-120"/>
                <a:ea typeface="標楷體" pitchFamily="65" charset="-120"/>
              </a:rPr>
              <a:t>(1)</a:t>
            </a:r>
            <a:r>
              <a:rPr lang="zh-TW" altLang="en-US" sz="2600" dirty="0">
                <a:latin typeface="標楷體" pitchFamily="65" charset="-120"/>
                <a:ea typeface="標楷體" pitchFamily="65" charset="-120"/>
              </a:rPr>
              <a:t>飲食上皆使用</a:t>
            </a:r>
            <a:r>
              <a:rPr lang="zh-TW" altLang="en-US" sz="2600" dirty="0">
                <a:solidFill>
                  <a:srgbClr val="FF0000"/>
                </a:solidFill>
                <a:latin typeface="標楷體" pitchFamily="65" charset="-120"/>
                <a:ea typeface="標楷體" pitchFamily="65" charset="-120"/>
              </a:rPr>
              <a:t>筷子</a:t>
            </a:r>
            <a:r>
              <a:rPr lang="zh-TW" altLang="en-US" sz="2600" dirty="0">
                <a:latin typeface="標楷體" pitchFamily="65" charset="-120"/>
                <a:ea typeface="標楷體" pitchFamily="65" charset="-120"/>
              </a:rPr>
              <a:t>。</a:t>
            </a:r>
          </a:p>
          <a:p>
            <a:r>
              <a:rPr lang="en-US" altLang="zh-TW" sz="2600" dirty="0">
                <a:latin typeface="標楷體" pitchFamily="65" charset="-120"/>
                <a:ea typeface="標楷體" pitchFamily="65" charset="-120"/>
              </a:rPr>
              <a:t>(2)</a:t>
            </a:r>
            <a:r>
              <a:rPr lang="zh-TW" altLang="en-US" sz="2600" dirty="0">
                <a:latin typeface="標楷體" pitchFamily="65" charset="-120"/>
                <a:ea typeface="標楷體" pitchFamily="65" charset="-120"/>
              </a:rPr>
              <a:t>相近的自然環境發展出共通的</a:t>
            </a:r>
            <a:r>
              <a:rPr lang="zh-TW" altLang="en-US" sz="2600" dirty="0">
                <a:solidFill>
                  <a:srgbClr val="FF0000"/>
                </a:solidFill>
                <a:latin typeface="標楷體" pitchFamily="65" charset="-120"/>
                <a:ea typeface="標楷體" pitchFamily="65" charset="-120"/>
              </a:rPr>
              <a:t>稻米</a:t>
            </a:r>
            <a:r>
              <a:rPr lang="zh-TW" altLang="en-US" sz="2600" dirty="0">
                <a:latin typeface="標楷體" pitchFamily="65" charset="-120"/>
                <a:ea typeface="標楷體" pitchFamily="65" charset="-120"/>
              </a:rPr>
              <a:t>文化。</a:t>
            </a:r>
          </a:p>
          <a:p>
            <a:r>
              <a:rPr lang="en-US" altLang="zh-TW" sz="2600" dirty="0">
                <a:latin typeface="標楷體" pitchFamily="65" charset="-120"/>
                <a:ea typeface="標楷體" pitchFamily="65" charset="-120"/>
              </a:rPr>
              <a:t>(3)</a:t>
            </a:r>
            <a:r>
              <a:rPr lang="zh-TW" altLang="en-US" sz="2600" dirty="0">
                <a:latin typeface="標楷體" pitchFamily="65" charset="-120"/>
                <a:ea typeface="標楷體" pitchFamily="65" charset="-120"/>
              </a:rPr>
              <a:t>各式</a:t>
            </a:r>
            <a:r>
              <a:rPr lang="zh-TW" altLang="en-US" sz="2600" dirty="0">
                <a:solidFill>
                  <a:srgbClr val="FF00FF"/>
                </a:solidFill>
                <a:latin typeface="標楷體" pitchFamily="65" charset="-120"/>
                <a:ea typeface="標楷體" pitchFamily="65" charset="-120"/>
              </a:rPr>
              <a:t>建築、器物、習俗及節慶等</a:t>
            </a:r>
            <a:r>
              <a:rPr lang="zh-TW" altLang="en-US" sz="2600" dirty="0">
                <a:solidFill>
                  <a:srgbClr val="FF0000"/>
                </a:solidFill>
                <a:latin typeface="標楷體" pitchFamily="65" charset="-120"/>
                <a:ea typeface="標楷體" pitchFamily="65" charset="-120"/>
              </a:rPr>
              <a:t>文化景觀</a:t>
            </a:r>
            <a:r>
              <a:rPr lang="zh-TW" altLang="en-US" sz="2600" dirty="0">
                <a:latin typeface="標楷體" pitchFamily="65" charset="-120"/>
                <a:ea typeface="標楷體" pitchFamily="65" charset="-120"/>
              </a:rPr>
              <a:t>上都有</a:t>
            </a:r>
            <a:r>
              <a:rPr lang="zh-TW" altLang="en-US" sz="2600" dirty="0">
                <a:solidFill>
                  <a:srgbClr val="FF0000"/>
                </a:solidFill>
                <a:latin typeface="標楷體" pitchFamily="65" charset="-120"/>
                <a:ea typeface="標楷體" pitchFamily="65" charset="-120"/>
              </a:rPr>
              <a:t>相似</a:t>
            </a:r>
            <a:r>
              <a:rPr lang="zh-TW" altLang="en-US" sz="2600" dirty="0">
                <a:latin typeface="標楷體" pitchFamily="65" charset="-120"/>
                <a:ea typeface="標楷體" pitchFamily="65" charset="-120"/>
              </a:rPr>
              <a:t>處。</a:t>
            </a:r>
          </a:p>
        </p:txBody>
      </p:sp>
      <p:sp>
        <p:nvSpPr>
          <p:cNvPr id="8" name="矩形 7"/>
          <p:cNvSpPr>
            <a:spLocks noChangeArrowheads="1"/>
          </p:cNvSpPr>
          <p:nvPr/>
        </p:nvSpPr>
        <p:spPr bwMode="auto">
          <a:xfrm>
            <a:off x="179512" y="141385"/>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p.195</a:t>
            </a:r>
            <a:endParaRPr lang="zh-TW" altLang="en-US" sz="3600" b="0" dirty="0"/>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a:t>
            </a:fld>
            <a:endParaRPr lang="zh-TW" sz="1400">
              <a:solidFill>
                <a:schemeClr val="dk1"/>
              </a:solidFill>
              <a:latin typeface="Arial"/>
              <a:ea typeface="Arial"/>
              <a:cs typeface="Arial"/>
              <a:sym typeface="Arial"/>
            </a:endParaRPr>
          </a:p>
        </p:txBody>
      </p:sp>
      <p:sp>
        <p:nvSpPr>
          <p:cNvPr id="9" name="Shape 659">
            <a:extLst>
              <a:ext uri="{FF2B5EF4-FFF2-40B4-BE49-F238E27FC236}">
                <a16:creationId xmlns:a16="http://schemas.microsoft.com/office/drawing/2014/main" id="{42A86D32-2E57-4CB9-BF80-88AA3A40298D}"/>
              </a:ext>
            </a:extLst>
          </p:cNvPr>
          <p:cNvSpPr/>
          <p:nvPr/>
        </p:nvSpPr>
        <p:spPr>
          <a:xfrm>
            <a:off x="1331640" y="217539"/>
            <a:ext cx="2062435" cy="580546"/>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sz="3600" b="1" i="0" u="none" strike="noStrike" cap="none" dirty="0">
                <a:solidFill>
                  <a:schemeClr val="dk1"/>
                </a:solidFill>
                <a:latin typeface="Arial"/>
                <a:ea typeface="Arial"/>
                <a:cs typeface="Arial"/>
                <a:sym typeface="Arial"/>
              </a:rPr>
              <a:t>第一節</a:t>
            </a:r>
          </a:p>
        </p:txBody>
      </p:sp>
    </p:spTree>
    <p:extLst>
      <p:ext uri="{BB962C8B-B14F-4D97-AF65-F5344CB8AC3E}">
        <p14:creationId xmlns:p14="http://schemas.microsoft.com/office/powerpoint/2010/main" val="383918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404646" y="12635"/>
            <a:ext cx="7704857" cy="102971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sz="2400" dirty="0">
                <a:latin typeface="標楷體" pitchFamily="65" charset="-120"/>
                <a:ea typeface="標楷體" pitchFamily="65" charset="-120"/>
              </a:rPr>
              <a:t>2.</a:t>
            </a:r>
            <a:r>
              <a:rPr lang="zh-TW" altLang="en-US" sz="2400" dirty="0">
                <a:latin typeface="標楷體" pitchFamily="65" charset="-120"/>
                <a:ea typeface="標楷體" pitchFamily="65" charset="-120"/>
              </a:rPr>
              <a:t>東亞文化圈的核心：是經過</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和</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的轉化與融合。</a:t>
            </a:r>
            <a:endParaRPr lang="en-US" altLang="zh-TW" sz="2400" dirty="0">
              <a:latin typeface="標楷體" pitchFamily="65" charset="-120"/>
              <a:ea typeface="標楷體" pitchFamily="65" charset="-120"/>
            </a:endParaRPr>
          </a:p>
        </p:txBody>
      </p:sp>
      <p:sp>
        <p:nvSpPr>
          <p:cNvPr id="8" name="矩形 7"/>
          <p:cNvSpPr>
            <a:spLocks noChangeArrowheads="1"/>
          </p:cNvSpPr>
          <p:nvPr/>
        </p:nvSpPr>
        <p:spPr bwMode="auto">
          <a:xfrm>
            <a:off x="5581110" y="178248"/>
            <a:ext cx="10917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漢字</a:t>
            </a:r>
          </a:p>
        </p:txBody>
      </p:sp>
      <p:sp>
        <p:nvSpPr>
          <p:cNvPr id="9" name="矩形 8"/>
          <p:cNvSpPr>
            <a:spLocks noChangeArrowheads="1"/>
          </p:cNvSpPr>
          <p:nvPr/>
        </p:nvSpPr>
        <p:spPr bwMode="auto">
          <a:xfrm>
            <a:off x="6960868" y="178248"/>
            <a:ext cx="1512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儒家思想</a:t>
            </a:r>
          </a:p>
        </p:txBody>
      </p:sp>
      <p:graphicFrame>
        <p:nvGraphicFramePr>
          <p:cNvPr id="10" name="Group 47"/>
          <p:cNvGraphicFramePr>
            <a:graphicFrameLocks noGrp="1"/>
          </p:cNvGraphicFramePr>
          <p:nvPr>
            <p:extLst>
              <p:ext uri="{D42A27DB-BD31-4B8C-83A1-F6EECF244321}">
                <p14:modId xmlns:p14="http://schemas.microsoft.com/office/powerpoint/2010/main" val="1965009984"/>
              </p:ext>
            </p:extLst>
          </p:nvPr>
        </p:nvGraphicFramePr>
        <p:xfrm>
          <a:off x="107504" y="1097361"/>
          <a:ext cx="8784976" cy="5233149"/>
        </p:xfrm>
        <a:graphic>
          <a:graphicData uri="http://schemas.openxmlformats.org/drawingml/2006/table">
            <a:tbl>
              <a:tblPr/>
              <a:tblGrid>
                <a:gridCol w="1224136">
                  <a:extLst>
                    <a:ext uri="{9D8B030D-6E8A-4147-A177-3AD203B41FA5}">
                      <a16:colId xmlns:a16="http://schemas.microsoft.com/office/drawing/2014/main" val="20000"/>
                    </a:ext>
                  </a:extLst>
                </a:gridCol>
                <a:gridCol w="7560840">
                  <a:extLst>
                    <a:ext uri="{9D8B030D-6E8A-4147-A177-3AD203B41FA5}">
                      <a16:colId xmlns:a16="http://schemas.microsoft.com/office/drawing/2014/main" val="20001"/>
                    </a:ext>
                  </a:extLst>
                </a:gridCol>
              </a:tblGrid>
              <a:tr h="35634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文化核心</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發展內容</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8186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4000" b="0" i="0" u="none" strike="noStrike" cap="none" dirty="0">
                          <a:solidFill>
                            <a:srgbClr val="FF0000"/>
                          </a:solidFill>
                          <a:latin typeface="標楷體" pitchFamily="65" charset="-120"/>
                          <a:ea typeface="標楷體" pitchFamily="65" charset="-120"/>
                          <a:cs typeface="Arial"/>
                          <a:sym typeface="Arial"/>
                        </a:rPr>
                        <a:t>漢字</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語言和文字</a:t>
                      </a:r>
                      <a:r>
                        <a:rPr lang="zh-TW" altLang="en-US" sz="2000" b="0" i="0" u="none" strike="noStrike" cap="none" dirty="0">
                          <a:solidFill>
                            <a:schemeClr val="tx1"/>
                          </a:solidFill>
                          <a:latin typeface="標楷體" pitchFamily="65" charset="-120"/>
                          <a:ea typeface="標楷體" pitchFamily="65" charset="-120"/>
                          <a:cs typeface="Arial"/>
                          <a:sym typeface="Arial"/>
                        </a:rPr>
                        <a:t>是人類溝通的工具，也是</a:t>
                      </a:r>
                      <a:r>
                        <a:rPr lang="zh-TW" altLang="en-US" sz="2000" b="0" i="0" u="none" strike="noStrike" cap="none" dirty="0">
                          <a:solidFill>
                            <a:srgbClr val="FF0000"/>
                          </a:solidFill>
                          <a:latin typeface="標楷體" pitchFamily="65" charset="-120"/>
                          <a:ea typeface="標楷體" pitchFamily="65" charset="-120"/>
                          <a:cs typeface="Arial"/>
                          <a:sym typeface="Arial"/>
                        </a:rPr>
                        <a:t>文化</a:t>
                      </a:r>
                      <a:r>
                        <a:rPr lang="zh-TW" altLang="en-US" sz="2000" b="0" i="0" u="none" strike="noStrike" cap="none" dirty="0">
                          <a:solidFill>
                            <a:schemeClr val="tx1"/>
                          </a:solidFill>
                          <a:latin typeface="標楷體" pitchFamily="65" charset="-120"/>
                          <a:ea typeface="標楷體" pitchFamily="65" charset="-120"/>
                          <a:cs typeface="Arial"/>
                          <a:sym typeface="Arial"/>
                        </a:rPr>
                        <a:t>傳承的重要</a:t>
                      </a:r>
                      <a:r>
                        <a:rPr lang="zh-TW" altLang="en-US" sz="2000" b="0" i="0" u="none" strike="noStrike" cap="none" dirty="0">
                          <a:solidFill>
                            <a:srgbClr val="FF0000"/>
                          </a:solidFill>
                          <a:latin typeface="標楷體" pitchFamily="65" charset="-120"/>
                          <a:ea typeface="標楷體" pitchFamily="65" charset="-120"/>
                          <a:cs typeface="Arial"/>
                          <a:sym typeface="Arial"/>
                        </a:rPr>
                        <a:t>載體</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rgbClr val="FF0000"/>
                          </a:solidFill>
                          <a:latin typeface="標楷體" pitchFamily="65" charset="-120"/>
                          <a:ea typeface="標楷體" pitchFamily="65" charset="-120"/>
                          <a:cs typeface="Arial"/>
                          <a:sym typeface="Arial"/>
                        </a:rPr>
                        <a:t>漢字發源於中國，歷史上受過冊封向中國朝貢的周遭地區</a:t>
                      </a:r>
                      <a:r>
                        <a:rPr lang="zh-TW" altLang="en-US" sz="2000" b="0" i="0" u="none" strike="noStrike" cap="none" dirty="0">
                          <a:solidFill>
                            <a:schemeClr val="tx1"/>
                          </a:solidFill>
                          <a:latin typeface="標楷體" pitchFamily="65" charset="-120"/>
                          <a:ea typeface="標楷體" pitchFamily="65" charset="-120"/>
                          <a:cs typeface="Arial"/>
                          <a:sym typeface="Arial"/>
                        </a:rPr>
                        <a:t>，如蒙古、日本、朝鮮半島、越南等，</a:t>
                      </a:r>
                      <a:r>
                        <a:rPr lang="zh-TW" altLang="en-US" sz="2000" b="0" i="0" u="none" strike="noStrike" cap="none" dirty="0">
                          <a:solidFill>
                            <a:srgbClr val="FF0000"/>
                          </a:solidFill>
                          <a:latin typeface="標楷體" pitchFamily="65" charset="-120"/>
                          <a:ea typeface="標楷體" pitchFamily="65" charset="-120"/>
                          <a:cs typeface="Arial"/>
                          <a:sym typeface="Arial"/>
                        </a:rPr>
                        <a:t>皆曾引入漢字</a:t>
                      </a:r>
                      <a:r>
                        <a:rPr lang="zh-TW" altLang="en-US" sz="2000" b="0" i="0" u="none" strike="noStrike" cap="none" dirty="0">
                          <a:solidFill>
                            <a:schemeClr val="tx1"/>
                          </a:solidFill>
                          <a:latin typeface="標楷體" pitchFamily="65" charset="-120"/>
                          <a:ea typeface="標楷體" pitchFamily="65" charset="-120"/>
                          <a:cs typeface="Arial"/>
                          <a:sym typeface="Arial"/>
                        </a:rPr>
                        <a:t>，藉以師法中國的典章制度、政治思想、法規律令等。從各國士紳階級進一步推及普羅大眾，帶動漢字傳播</a:t>
                      </a:r>
                    </a:p>
                    <a:p>
                      <a:r>
                        <a:rPr lang="en-US" altLang="zh-TW" sz="2000" b="0" i="0" u="none" strike="noStrike" cap="none" dirty="0">
                          <a:solidFill>
                            <a:schemeClr val="tx1"/>
                          </a:solidFill>
                          <a:latin typeface="標楷體" pitchFamily="65" charset="-120"/>
                          <a:ea typeface="標楷體" pitchFamily="65" charset="-120"/>
                          <a:cs typeface="Arial"/>
                          <a:sym typeface="Arial"/>
                        </a:rPr>
                        <a:t>(3)</a:t>
                      </a:r>
                      <a:r>
                        <a:rPr lang="zh-TW" altLang="en-US" sz="2000" b="0" i="0" u="none" strike="noStrike" cap="none" dirty="0">
                          <a:solidFill>
                            <a:srgbClr val="FF0000"/>
                          </a:solidFill>
                          <a:latin typeface="標楷體" pitchFamily="65" charset="-120"/>
                          <a:ea typeface="標楷體" pitchFamily="65" charset="-120"/>
                          <a:cs typeface="Arial"/>
                          <a:sym typeface="Arial"/>
                        </a:rPr>
                        <a:t>日本的「平假名」、南韓的「諺文」</a:t>
                      </a:r>
                      <a:r>
                        <a:rPr lang="zh-TW" altLang="en-US" sz="2000" b="0" i="0" u="none" strike="noStrike" cap="none" dirty="0">
                          <a:solidFill>
                            <a:schemeClr val="tx1"/>
                          </a:solidFill>
                          <a:latin typeface="標楷體" pitchFamily="65" charset="-120"/>
                          <a:ea typeface="標楷體" pitchFamily="65" charset="-120"/>
                          <a:cs typeface="Arial"/>
                          <a:sym typeface="Arial"/>
                        </a:rPr>
                        <a:t>皆是</a:t>
                      </a:r>
                      <a:r>
                        <a:rPr lang="zh-TW" altLang="en-US" sz="2000" b="0" i="0" u="none" strike="noStrike" cap="none" dirty="0">
                          <a:solidFill>
                            <a:srgbClr val="FF0000"/>
                          </a:solidFill>
                          <a:latin typeface="標楷體" pitchFamily="65" charset="-120"/>
                          <a:ea typeface="標楷體" pitchFamily="65" charset="-120"/>
                          <a:cs typeface="Arial"/>
                          <a:sym typeface="Arial"/>
                        </a:rPr>
                        <a:t>相對</a:t>
                      </a:r>
                      <a:r>
                        <a:rPr lang="zh-TW" altLang="en-US" sz="2000" b="0" i="0" u="none" strike="noStrike" cap="none" dirty="0">
                          <a:solidFill>
                            <a:schemeClr val="tx1"/>
                          </a:solidFill>
                          <a:latin typeface="標楷體" pitchFamily="65" charset="-120"/>
                          <a:ea typeface="標楷體" pitchFamily="65" charset="-120"/>
                          <a:cs typeface="Arial"/>
                          <a:sym typeface="Arial"/>
                        </a:rPr>
                        <a:t>於漢文而生的</a:t>
                      </a:r>
                      <a:r>
                        <a:rPr lang="zh-TW" altLang="en-US" sz="2000" b="0" i="0" u="none" strike="noStrike" cap="none" dirty="0">
                          <a:solidFill>
                            <a:srgbClr val="FF0000"/>
                          </a:solidFill>
                          <a:latin typeface="標楷體" pitchFamily="65" charset="-120"/>
                          <a:ea typeface="標楷體" pitchFamily="65" charset="-120"/>
                          <a:cs typeface="Arial"/>
                          <a:sym typeface="Arial"/>
                        </a:rPr>
                        <a:t>簡易</a:t>
                      </a:r>
                      <a:r>
                        <a:rPr lang="zh-TW" altLang="en-US" sz="2000" b="0" i="0" u="none" strike="noStrike" cap="none" dirty="0">
                          <a:solidFill>
                            <a:schemeClr val="tx1"/>
                          </a:solidFill>
                          <a:latin typeface="標楷體" pitchFamily="65" charset="-120"/>
                          <a:ea typeface="標楷體" pitchFamily="65" charset="-120"/>
                          <a:cs typeface="Arial"/>
                          <a:sym typeface="Arial"/>
                        </a:rPr>
                        <a:t>書寫文字，</a:t>
                      </a:r>
                      <a:r>
                        <a:rPr lang="zh-TW" altLang="en-US" sz="2000" b="0" i="0" u="none" strike="noStrike" cap="none" dirty="0">
                          <a:solidFill>
                            <a:srgbClr val="FF0000"/>
                          </a:solidFill>
                          <a:latin typeface="標楷體" pitchFamily="65" charset="-120"/>
                          <a:ea typeface="標楷體" pitchFamily="65" charset="-120"/>
                          <a:cs typeface="Arial"/>
                          <a:sym typeface="Arial"/>
                        </a:rPr>
                        <a:t>具</a:t>
                      </a:r>
                      <a:r>
                        <a:rPr lang="zh-TW" altLang="en-US" sz="2000" b="0" i="0" u="none" strike="noStrike" cap="none" dirty="0">
                          <a:solidFill>
                            <a:schemeClr val="tx1"/>
                          </a:solidFill>
                          <a:latin typeface="標楷體" pitchFamily="65" charset="-120"/>
                          <a:ea typeface="標楷體" pitchFamily="65" charset="-120"/>
                          <a:cs typeface="Arial"/>
                          <a:sym typeface="Arial"/>
                        </a:rPr>
                        <a:t>有漢字</a:t>
                      </a:r>
                      <a:r>
                        <a:rPr lang="zh-TW" altLang="en-US" sz="2000" b="0" i="0" u="none" strike="noStrike" cap="none" dirty="0">
                          <a:solidFill>
                            <a:srgbClr val="FF0000"/>
                          </a:solidFill>
                          <a:latin typeface="標楷體" pitchFamily="65" charset="-120"/>
                          <a:ea typeface="標楷體" pitchFamily="65" charset="-120"/>
                          <a:cs typeface="Arial"/>
                          <a:sym typeface="Arial"/>
                        </a:rPr>
                        <a:t>方塊字和縱書的特色</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en-US" altLang="zh-TW" sz="2000" b="0" i="0" u="none" strike="noStrike" cap="none" dirty="0">
                          <a:solidFill>
                            <a:schemeClr val="tx1"/>
                          </a:solidFill>
                          <a:latin typeface="標楷體" pitchFamily="65" charset="-120"/>
                          <a:ea typeface="標楷體" pitchFamily="65" charset="-120"/>
                          <a:cs typeface="Arial"/>
                          <a:sym typeface="Arial"/>
                        </a:rPr>
                        <a:t>(4)</a:t>
                      </a:r>
                      <a:r>
                        <a:rPr lang="zh-TW" altLang="en-US" sz="2000" b="0" i="0" u="none" strike="noStrike" cap="none" dirty="0">
                          <a:solidFill>
                            <a:schemeClr val="tx1"/>
                          </a:solidFill>
                          <a:latin typeface="標楷體" pitchFamily="65" charset="-120"/>
                          <a:ea typeface="標楷體" pitchFamily="65" charset="-120"/>
                          <a:cs typeface="Arial"/>
                          <a:sym typeface="Arial"/>
                        </a:rPr>
                        <a:t>隨時間演進，各國使用的漢字有別，但代表傳統漢字的</a:t>
                      </a:r>
                      <a:r>
                        <a:rPr lang="zh-TW" altLang="en-US" sz="2000" b="0" i="0" u="none" strike="noStrike" cap="none" dirty="0">
                          <a:solidFill>
                            <a:srgbClr val="FF0000"/>
                          </a:solidFill>
                          <a:latin typeface="標楷體" pitchFamily="65" charset="-120"/>
                          <a:ea typeface="標楷體" pitchFamily="65" charset="-120"/>
                          <a:cs typeface="Arial"/>
                          <a:sym typeface="Arial"/>
                        </a:rPr>
                        <a:t>書法仍是中、日、韓的共通美學</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4221088"/>
            <a:ext cx="7344816"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a:t>
            </a:fld>
            <a:endParaRPr lang="zh-TW" sz="1400">
              <a:solidFill>
                <a:schemeClr val="dk1"/>
              </a:solidFill>
              <a:latin typeface="Arial"/>
              <a:ea typeface="Arial"/>
              <a:cs typeface="Arial"/>
              <a:sym typeface="Arial"/>
            </a:endParaRPr>
          </a:p>
        </p:txBody>
      </p:sp>
      <p:sp>
        <p:nvSpPr>
          <p:cNvPr id="12" name="矩形 11">
            <a:extLst>
              <a:ext uri="{FF2B5EF4-FFF2-40B4-BE49-F238E27FC236}">
                <a16:creationId xmlns:a16="http://schemas.microsoft.com/office/drawing/2014/main" id="{A6F33373-089B-4862-B8DE-D2C3BA186DB4}"/>
              </a:ext>
            </a:extLst>
          </p:cNvPr>
          <p:cNvSpPr>
            <a:spLocks noChangeArrowheads="1"/>
          </p:cNvSpPr>
          <p:nvPr/>
        </p:nvSpPr>
        <p:spPr bwMode="auto">
          <a:xfrm>
            <a:off x="46434" y="9657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p.196</a:t>
            </a:r>
            <a:endParaRPr lang="zh-TW" altLang="en-US" sz="3600" b="0" dirty="0"/>
          </a:p>
        </p:txBody>
      </p:sp>
    </p:spTree>
    <p:extLst>
      <p:ext uri="{BB962C8B-B14F-4D97-AF65-F5344CB8AC3E}">
        <p14:creationId xmlns:p14="http://schemas.microsoft.com/office/powerpoint/2010/main" val="1290504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aphicFrame>
        <p:nvGraphicFramePr>
          <p:cNvPr id="10" name="Group 47"/>
          <p:cNvGraphicFramePr>
            <a:graphicFrameLocks noGrp="1"/>
          </p:cNvGraphicFramePr>
          <p:nvPr>
            <p:extLst>
              <p:ext uri="{D42A27DB-BD31-4B8C-83A1-F6EECF244321}">
                <p14:modId xmlns:p14="http://schemas.microsoft.com/office/powerpoint/2010/main" val="2453682568"/>
              </p:ext>
            </p:extLst>
          </p:nvPr>
        </p:nvGraphicFramePr>
        <p:xfrm>
          <a:off x="107504" y="188640"/>
          <a:ext cx="8856984" cy="6456040"/>
        </p:xfrm>
        <a:graphic>
          <a:graphicData uri="http://schemas.openxmlformats.org/drawingml/2006/table">
            <a:tbl>
              <a:tblPr/>
              <a:tblGrid>
                <a:gridCol w="1224136">
                  <a:extLst>
                    <a:ext uri="{9D8B030D-6E8A-4147-A177-3AD203B41FA5}">
                      <a16:colId xmlns:a16="http://schemas.microsoft.com/office/drawing/2014/main" val="20000"/>
                    </a:ext>
                  </a:extLst>
                </a:gridCol>
                <a:gridCol w="7632848">
                  <a:extLst>
                    <a:ext uri="{9D8B030D-6E8A-4147-A177-3AD203B41FA5}">
                      <a16:colId xmlns:a16="http://schemas.microsoft.com/office/drawing/2014/main" val="20001"/>
                    </a:ext>
                  </a:extLst>
                </a:gridCol>
              </a:tblGrid>
              <a:tr h="3600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文化核心</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發展內容</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4434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儒家思想</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儒家</a:t>
                      </a:r>
                      <a:r>
                        <a:rPr lang="zh-TW" altLang="en-US" sz="2000" b="0" i="0" u="none" strike="noStrike" cap="none" dirty="0">
                          <a:solidFill>
                            <a:schemeClr val="tx1"/>
                          </a:solidFill>
                          <a:latin typeface="標楷體" pitchFamily="65" charset="-120"/>
                          <a:ea typeface="標楷體" pitchFamily="65" charset="-120"/>
                          <a:cs typeface="Arial"/>
                          <a:sym typeface="Arial"/>
                        </a:rPr>
                        <a:t>思想</a:t>
                      </a:r>
                      <a:r>
                        <a:rPr lang="zh-TW" altLang="en-US" sz="2000" b="0" i="0" u="none" strike="noStrike" cap="none" dirty="0">
                          <a:solidFill>
                            <a:srgbClr val="FF0000"/>
                          </a:solidFill>
                          <a:latin typeface="標楷體" pitchFamily="65" charset="-120"/>
                          <a:ea typeface="標楷體" pitchFamily="65" charset="-120"/>
                          <a:cs typeface="Arial"/>
                          <a:sym typeface="Arial"/>
                        </a:rPr>
                        <a:t>根基於</a:t>
                      </a:r>
                      <a:r>
                        <a:rPr lang="zh-TW" altLang="en-US" sz="2000" b="0" i="0" u="none" strike="noStrike" cap="none" dirty="0">
                          <a:solidFill>
                            <a:schemeClr val="tx1"/>
                          </a:solidFill>
                          <a:latin typeface="標楷體" pitchFamily="65" charset="-120"/>
                          <a:ea typeface="標楷體" pitchFamily="65" charset="-120"/>
                          <a:cs typeface="Arial"/>
                          <a:sym typeface="Arial"/>
                        </a:rPr>
                        <a:t>傳統</a:t>
                      </a:r>
                      <a:r>
                        <a:rPr lang="zh-TW" altLang="en-US" sz="2000" b="0" i="0" u="none" strike="noStrike" cap="none" dirty="0">
                          <a:solidFill>
                            <a:srgbClr val="FF0000"/>
                          </a:solidFill>
                          <a:latin typeface="標楷體" pitchFamily="65" charset="-120"/>
                          <a:ea typeface="標楷體" pitchFamily="65" charset="-120"/>
                          <a:cs typeface="Arial"/>
                          <a:sym typeface="Arial"/>
                        </a:rPr>
                        <a:t>農耕社會</a:t>
                      </a:r>
                      <a:r>
                        <a:rPr lang="zh-TW" altLang="en-US" sz="2000" b="0" i="0" u="none" strike="noStrike" cap="none" dirty="0">
                          <a:solidFill>
                            <a:schemeClr val="tx1"/>
                          </a:solidFill>
                          <a:latin typeface="標楷體" pitchFamily="65" charset="-120"/>
                          <a:ea typeface="標楷體" pitchFamily="65" charset="-120"/>
                          <a:cs typeface="Arial"/>
                          <a:sym typeface="Arial"/>
                        </a:rPr>
                        <a:t>，強調倫理與孝悌，</a:t>
                      </a:r>
                      <a:r>
                        <a:rPr lang="zh-TW" altLang="en-US" sz="2000" b="0" i="0" u="none" strike="noStrike" cap="none" dirty="0">
                          <a:solidFill>
                            <a:srgbClr val="FF0000"/>
                          </a:solidFill>
                          <a:latin typeface="標楷體" pitchFamily="65" charset="-120"/>
                          <a:ea typeface="標楷體" pitchFamily="65" charset="-120"/>
                          <a:cs typeface="Arial"/>
                          <a:sym typeface="Arial"/>
                        </a:rPr>
                        <a:t>重視家庭倫理和教育，形塑出和諧的社會基調</a:t>
                      </a:r>
                      <a:r>
                        <a:rPr lang="zh-TW" altLang="en-US" sz="2000" b="0" i="0" u="none" strike="noStrike" cap="none" dirty="0">
                          <a:solidFill>
                            <a:schemeClr val="tx1"/>
                          </a:solidFill>
                          <a:latin typeface="標楷體" pitchFamily="65" charset="-120"/>
                          <a:ea typeface="標楷體" pitchFamily="65" charset="-120"/>
                          <a:cs typeface="Arial"/>
                          <a:sym typeface="Arial"/>
                        </a:rPr>
                        <a:t>，有助於傳統家庭農業發展</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傳播至</a:t>
                      </a:r>
                      <a:r>
                        <a:rPr lang="zh-TW" altLang="en-US" sz="2000" b="0" i="0" u="none" strike="noStrike" cap="none" dirty="0">
                          <a:solidFill>
                            <a:srgbClr val="FF0000"/>
                          </a:solidFill>
                          <a:latin typeface="標楷體" pitchFamily="65" charset="-120"/>
                          <a:ea typeface="標楷體" pitchFamily="65" charset="-120"/>
                          <a:cs typeface="Arial"/>
                          <a:sym typeface="Arial"/>
                        </a:rPr>
                        <a:t>朝鮮半島、日本群島</a:t>
                      </a:r>
                      <a:r>
                        <a:rPr lang="zh-TW" altLang="en-US" sz="2000" b="0" i="0" u="none" strike="noStrike" cap="none" dirty="0">
                          <a:solidFill>
                            <a:schemeClr val="tx1"/>
                          </a:solidFill>
                          <a:latin typeface="標楷體" pitchFamily="65" charset="-120"/>
                          <a:ea typeface="標楷體" pitchFamily="65" charset="-120"/>
                          <a:cs typeface="Arial"/>
                          <a:sym typeface="Arial"/>
                        </a:rPr>
                        <a:t>等 </a:t>
                      </a:r>
                      <a:r>
                        <a:rPr lang="zh-TW" altLang="en-US" sz="2000" b="0" i="0" u="none" strike="noStrike" cap="none" dirty="0">
                          <a:solidFill>
                            <a:srgbClr val="FF0000"/>
                          </a:solidFill>
                          <a:latin typeface="標楷體" pitchFamily="65" charset="-120"/>
                          <a:ea typeface="標楷體" pitchFamily="65" charset="-120"/>
                          <a:cs typeface="Arial"/>
                          <a:sym typeface="Arial"/>
                        </a:rPr>
                        <a:t>同屬季風亞洲氣候</a:t>
                      </a:r>
                      <a:r>
                        <a:rPr lang="zh-TW" altLang="en-US" sz="2000" b="0" i="0" u="none" strike="noStrike" cap="none" dirty="0">
                          <a:solidFill>
                            <a:schemeClr val="tx1"/>
                          </a:solidFill>
                          <a:latin typeface="標楷體" pitchFamily="65" charset="-120"/>
                          <a:ea typeface="標楷體" pitchFamily="65" charset="-120"/>
                          <a:cs typeface="Arial"/>
                          <a:sym typeface="Arial"/>
                        </a:rPr>
                        <a:t>的地區時，因有著</a:t>
                      </a:r>
                      <a:r>
                        <a:rPr lang="zh-TW" altLang="en-US" sz="2000" b="0" i="0" u="none" strike="noStrike" cap="none" dirty="0">
                          <a:solidFill>
                            <a:srgbClr val="FF0000"/>
                          </a:solidFill>
                          <a:latin typeface="標楷體" pitchFamily="65" charset="-120"/>
                          <a:ea typeface="標楷體" pitchFamily="65" charset="-120"/>
                          <a:cs typeface="Arial"/>
                          <a:sym typeface="Arial"/>
                        </a:rPr>
                        <a:t>相似農業背景</a:t>
                      </a:r>
                      <a:r>
                        <a:rPr lang="zh-TW" altLang="en-US" sz="2000" b="0" i="0" u="none" strike="noStrike" cap="none" dirty="0">
                          <a:solidFill>
                            <a:schemeClr val="tx1"/>
                          </a:solidFill>
                          <a:latin typeface="標楷體" pitchFamily="65" charset="-120"/>
                          <a:ea typeface="標楷體" pitchFamily="65" charset="-120"/>
                          <a:cs typeface="Arial"/>
                          <a:sym typeface="Arial"/>
                        </a:rPr>
                        <a:t>，故儒家思想普遍被接受</a:t>
                      </a:r>
                    </a:p>
                    <a:p>
                      <a:r>
                        <a:rPr lang="en-US" altLang="zh-TW" sz="2000" b="0" i="0" u="none" strike="noStrike" cap="none" dirty="0">
                          <a:solidFill>
                            <a:schemeClr val="tx1"/>
                          </a:solidFill>
                          <a:latin typeface="標楷體" pitchFamily="65" charset="-120"/>
                          <a:ea typeface="標楷體" pitchFamily="65" charset="-120"/>
                          <a:cs typeface="Arial"/>
                          <a:sym typeface="Arial"/>
                        </a:rPr>
                        <a:t>(3)</a:t>
                      </a:r>
                      <a:r>
                        <a:rPr lang="zh-TW" altLang="en-US" sz="2000" b="0" i="0" u="none" strike="noStrike" cap="none" dirty="0">
                          <a:solidFill>
                            <a:schemeClr val="tx1"/>
                          </a:solidFill>
                          <a:latin typeface="標楷體" pitchFamily="65" charset="-120"/>
                          <a:ea typeface="標楷體" pitchFamily="65" charset="-120"/>
                          <a:cs typeface="Arial"/>
                          <a:sym typeface="Arial"/>
                        </a:rPr>
                        <a:t>企業管理上，</a:t>
                      </a:r>
                      <a:r>
                        <a:rPr lang="zh-TW" altLang="en-US" sz="2000" b="0" i="0" u="none" strike="noStrike" cap="none" dirty="0">
                          <a:solidFill>
                            <a:srgbClr val="FF0000"/>
                          </a:solidFill>
                          <a:latin typeface="標楷體" pitchFamily="65" charset="-120"/>
                          <a:ea typeface="標楷體" pitchFamily="65" charset="-120"/>
                          <a:cs typeface="Arial"/>
                          <a:sym typeface="Arial"/>
                        </a:rPr>
                        <a:t>東亞勞工教育水準高，易接受上位者的權威，</a:t>
                      </a:r>
                      <a:r>
                        <a:rPr lang="zh-TW" altLang="en-US" sz="2000" b="0" i="0" u="none" strike="noStrike" cap="none" dirty="0">
                          <a:solidFill>
                            <a:schemeClr val="tx1"/>
                          </a:solidFill>
                          <a:latin typeface="標楷體" pitchFamily="65" charset="-120"/>
                          <a:ea typeface="標楷體" pitchFamily="65" charset="-120"/>
                          <a:cs typeface="Arial"/>
                          <a:sym typeface="Arial"/>
                        </a:rPr>
                        <a:t>願意</a:t>
                      </a:r>
                      <a:r>
                        <a:rPr lang="zh-TW" altLang="en-US" sz="2000" b="0" i="0" u="none" strike="noStrike" cap="none" dirty="0">
                          <a:solidFill>
                            <a:srgbClr val="FF0000"/>
                          </a:solidFill>
                          <a:latin typeface="標楷體" pitchFamily="65" charset="-120"/>
                          <a:ea typeface="標楷體" pitchFamily="65" charset="-120"/>
                          <a:cs typeface="Arial"/>
                          <a:sym typeface="Arial"/>
                        </a:rPr>
                        <a:t>為群體目標犧牲自我</a:t>
                      </a:r>
                      <a:r>
                        <a:rPr lang="zh-TW" altLang="en-US" sz="2000" b="0" i="0" u="none" strike="noStrike" cap="none" dirty="0">
                          <a:solidFill>
                            <a:schemeClr val="tx1"/>
                          </a:solidFill>
                          <a:latin typeface="標楷體" pitchFamily="65" charset="-120"/>
                          <a:ea typeface="標楷體" pitchFamily="65" charset="-120"/>
                          <a:cs typeface="Arial"/>
                          <a:sym typeface="Arial"/>
                        </a:rPr>
                        <a:t>。加上</a:t>
                      </a:r>
                      <a:r>
                        <a:rPr lang="zh-TW" altLang="en-US" sz="2000" b="0" i="0" u="none" strike="noStrike" cap="none" dirty="0">
                          <a:solidFill>
                            <a:srgbClr val="FF0000"/>
                          </a:solidFill>
                          <a:latin typeface="標楷體" pitchFamily="65" charset="-120"/>
                          <a:ea typeface="標楷體" pitchFamily="65" charset="-120"/>
                          <a:cs typeface="Arial"/>
                          <a:sym typeface="Arial"/>
                        </a:rPr>
                        <a:t>良好的社會治安</a:t>
                      </a:r>
                      <a:r>
                        <a:rPr lang="zh-TW" altLang="en-US" sz="2000" b="0" i="0" u="none" strike="noStrike" cap="none" dirty="0">
                          <a:solidFill>
                            <a:schemeClr val="tx1"/>
                          </a:solidFill>
                          <a:latin typeface="標楷體" pitchFamily="65" charset="-120"/>
                          <a:ea typeface="標楷體" pitchFamily="65" charset="-120"/>
                          <a:cs typeface="Arial"/>
                          <a:sym typeface="Arial"/>
                        </a:rPr>
                        <a:t>，為東亞創造相對</a:t>
                      </a:r>
                      <a:r>
                        <a:rPr lang="zh-TW" altLang="en-US" sz="2000" b="0" i="0" u="none" strike="noStrike" cap="none" dirty="0">
                          <a:solidFill>
                            <a:srgbClr val="FF0000"/>
                          </a:solidFill>
                          <a:latin typeface="標楷體" pitchFamily="65" charset="-120"/>
                          <a:ea typeface="標楷體" pitchFamily="65" charset="-120"/>
                          <a:cs typeface="Arial"/>
                          <a:sym typeface="Arial"/>
                        </a:rPr>
                        <a:t>較佳的投資環境及經濟成長，促使近代東亞經濟崛起</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en-US" altLang="zh-TW" sz="2000" b="0" i="0" u="none" strike="noStrike" cap="none" dirty="0">
                          <a:solidFill>
                            <a:schemeClr val="tx1"/>
                          </a:solidFill>
                          <a:latin typeface="標楷體" pitchFamily="65" charset="-120"/>
                          <a:ea typeface="標楷體" pitchFamily="65" charset="-120"/>
                          <a:cs typeface="Arial"/>
                          <a:sym typeface="Arial"/>
                        </a:rPr>
                        <a:t>(4)</a:t>
                      </a:r>
                      <a:r>
                        <a:rPr lang="zh-TW" altLang="en-US" sz="2000" b="0" i="0" u="none" strike="noStrike" cap="none" dirty="0">
                          <a:solidFill>
                            <a:schemeClr val="tx1"/>
                          </a:solidFill>
                          <a:latin typeface="標楷體" pitchFamily="65" charset="-120"/>
                          <a:ea typeface="標楷體" pitchFamily="65" charset="-120"/>
                          <a:cs typeface="Arial"/>
                          <a:sym typeface="Arial"/>
                        </a:rPr>
                        <a:t>伴隨</a:t>
                      </a:r>
                      <a:r>
                        <a:rPr lang="zh-TW" altLang="en-US" sz="2000" b="0" i="0" u="none" strike="noStrike" cap="none" dirty="0">
                          <a:solidFill>
                            <a:srgbClr val="FF0000"/>
                          </a:solidFill>
                          <a:latin typeface="標楷體" pitchFamily="65" charset="-120"/>
                          <a:ea typeface="標楷體" pitchFamily="65" charset="-120"/>
                          <a:cs typeface="Arial"/>
                          <a:sym typeface="Arial"/>
                        </a:rPr>
                        <a:t>西方文明傳入，東亞各國</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rgbClr val="FF0000"/>
                          </a:solidFill>
                          <a:latin typeface="標楷體" pitchFamily="65" charset="-120"/>
                          <a:ea typeface="標楷體" pitchFamily="65" charset="-120"/>
                          <a:cs typeface="Arial"/>
                          <a:sym typeface="Arial"/>
                        </a:rPr>
                        <a:t>開始省思文化優劣</a:t>
                      </a:r>
                      <a:r>
                        <a:rPr lang="zh-TW" altLang="en-US" sz="2000" b="0" i="0" u="none" strike="noStrike" cap="none" dirty="0">
                          <a:solidFill>
                            <a:schemeClr val="tx1"/>
                          </a:solidFill>
                          <a:latin typeface="標楷體" pitchFamily="65" charset="-120"/>
                          <a:ea typeface="標楷體" pitchFamily="65" charset="-120"/>
                          <a:cs typeface="Arial"/>
                          <a:sym typeface="Arial"/>
                        </a:rPr>
                        <a:t>，並</a:t>
                      </a:r>
                      <a:r>
                        <a:rPr lang="zh-TW" altLang="en-US" sz="2000" b="0" i="0" u="none" strike="noStrike" cap="none" dirty="0">
                          <a:solidFill>
                            <a:srgbClr val="FF0000"/>
                          </a:solidFill>
                          <a:latin typeface="標楷體" pitchFamily="65" charset="-120"/>
                          <a:ea typeface="標楷體" pitchFamily="65" charset="-120"/>
                          <a:cs typeface="Arial"/>
                          <a:sym typeface="Arial"/>
                        </a:rPr>
                        <a:t>發展出新</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rgbClr val="FF0000"/>
                          </a:solidFill>
                          <a:latin typeface="標楷體" pitchFamily="65" charset="-120"/>
                          <a:ea typeface="標楷體" pitchFamily="65" charset="-120"/>
                          <a:cs typeface="Arial"/>
                          <a:sym typeface="Arial"/>
                        </a:rPr>
                        <a:t>的價值體系</a:t>
                      </a:r>
                      <a:r>
                        <a:rPr lang="zh-TW" altLang="en-US" sz="2000" b="0" i="0" u="none" strike="noStrike" cap="none" dirty="0">
                          <a:solidFill>
                            <a:schemeClr val="tx1"/>
                          </a:solidFill>
                          <a:latin typeface="標楷體" pitchFamily="65" charset="-120"/>
                          <a:ea typeface="標楷體" pitchFamily="65" charset="-120"/>
                          <a:cs typeface="Arial"/>
                          <a:sym typeface="Arial"/>
                        </a:rPr>
                        <a:t>。如</a:t>
                      </a:r>
                      <a:r>
                        <a:rPr lang="zh-TW" altLang="en-US" sz="2000" b="0" i="0" u="none" strike="noStrike" cap="none" dirty="0">
                          <a:solidFill>
                            <a:srgbClr val="FF0000"/>
                          </a:solidFill>
                          <a:latin typeface="標楷體" pitchFamily="65" charset="-120"/>
                          <a:ea typeface="標楷體" pitchFamily="65" charset="-120"/>
                          <a:cs typeface="Arial"/>
                          <a:sym typeface="Arial"/>
                        </a:rPr>
                        <a:t>中國 </a:t>
                      </a:r>
                      <a:r>
                        <a:rPr lang="en-US" altLang="zh-TW" sz="2000" b="0" i="0" u="none" strike="noStrike" cap="none" dirty="0">
                          <a:solidFill>
                            <a:srgbClr val="FF0000"/>
                          </a:solidFill>
                          <a:latin typeface="標楷體" pitchFamily="65" charset="-120"/>
                          <a:ea typeface="標楷體" pitchFamily="65" charset="-120"/>
                          <a:cs typeface="Arial"/>
                          <a:sym typeface="Arial"/>
                        </a:rPr>
                        <a:t>1919 </a:t>
                      </a:r>
                      <a:r>
                        <a:rPr lang="zh-TW" altLang="en-US" sz="2000" b="0" i="0" u="none" strike="noStrike" cap="none" dirty="0">
                          <a:solidFill>
                            <a:srgbClr val="FF0000"/>
                          </a:solidFill>
                          <a:latin typeface="標楷體" pitchFamily="65" charset="-120"/>
                          <a:ea typeface="標楷體" pitchFamily="65" charset="-120"/>
                          <a:cs typeface="Arial"/>
                          <a:sym typeface="Arial"/>
                        </a:rPr>
                        <a:t>年的</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rgbClr val="FF0000"/>
                          </a:solidFill>
                          <a:latin typeface="標楷體" pitchFamily="65" charset="-120"/>
                          <a:ea typeface="標楷體" pitchFamily="65" charset="-120"/>
                          <a:cs typeface="Arial"/>
                          <a:sym typeface="Arial"/>
                        </a:rPr>
                        <a:t>「五四運動」</a:t>
                      </a:r>
                      <a:r>
                        <a:rPr lang="zh-TW" altLang="en-US" sz="2000" b="0" i="0" u="none" strike="noStrike" cap="none" dirty="0">
                          <a:solidFill>
                            <a:schemeClr val="tx1"/>
                          </a:solidFill>
                          <a:latin typeface="標楷體" pitchFamily="65" charset="-120"/>
                          <a:ea typeface="標楷體" pitchFamily="65" charset="-120"/>
                          <a:cs typeface="Arial"/>
                          <a:sym typeface="Arial"/>
                        </a:rPr>
                        <a:t>，追求</a:t>
                      </a:r>
                      <a:r>
                        <a:rPr lang="zh-TW" altLang="en-US" sz="2000" b="0" i="0" u="none" strike="noStrike" cap="none" dirty="0">
                          <a:solidFill>
                            <a:srgbClr val="FF0000"/>
                          </a:solidFill>
                          <a:latin typeface="標楷體" pitchFamily="65" charset="-120"/>
                          <a:ea typeface="標楷體" pitchFamily="65" charset="-120"/>
                          <a:cs typeface="Arial"/>
                          <a:sym typeface="Arial"/>
                        </a:rPr>
                        <a:t>民主、科學</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思想；</a:t>
                      </a:r>
                      <a:r>
                        <a:rPr lang="zh-TW" altLang="en-US" sz="2000" b="0" i="0" u="none" strike="noStrike" cap="none" dirty="0">
                          <a:solidFill>
                            <a:srgbClr val="FF0000"/>
                          </a:solidFill>
                          <a:latin typeface="標楷體" pitchFamily="65" charset="-120"/>
                          <a:ea typeface="標楷體" pitchFamily="65" charset="-120"/>
                          <a:cs typeface="Arial"/>
                          <a:sym typeface="Arial"/>
                        </a:rPr>
                        <a:t>南韓</a:t>
                      </a:r>
                      <a:r>
                        <a:rPr lang="zh-TW" altLang="en-US" sz="2000" b="0" i="0" u="none" strike="noStrike" cap="none" dirty="0">
                          <a:solidFill>
                            <a:schemeClr val="tx1"/>
                          </a:solidFill>
                          <a:latin typeface="標楷體" pitchFamily="65" charset="-120"/>
                          <a:ea typeface="標楷體" pitchFamily="65" charset="-120"/>
                          <a:cs typeface="Arial"/>
                          <a:sym typeface="Arial"/>
                        </a:rPr>
                        <a:t>在</a:t>
                      </a:r>
                      <a:r>
                        <a:rPr lang="zh-TW" altLang="en-US" sz="2000" b="0" i="0" u="none" strike="noStrike" cap="none" dirty="0">
                          <a:solidFill>
                            <a:srgbClr val="FF0000"/>
                          </a:solidFill>
                          <a:latin typeface="標楷體" pitchFamily="65" charset="-120"/>
                          <a:ea typeface="標楷體" pitchFamily="65" charset="-120"/>
                          <a:cs typeface="Arial"/>
                          <a:sym typeface="Arial"/>
                        </a:rPr>
                        <a:t>韓戰後</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基督教</a:t>
                      </a:r>
                      <a:r>
                        <a:rPr lang="zh-TW" altLang="en-US" sz="2000" b="0" i="0" u="none" strike="noStrike" cap="none" dirty="0">
                          <a:solidFill>
                            <a:schemeClr val="tx1"/>
                          </a:solidFill>
                          <a:latin typeface="標楷體" pitchFamily="65" charset="-120"/>
                          <a:ea typeface="標楷體" pitchFamily="65" charset="-120"/>
                          <a:cs typeface="Arial"/>
                          <a:sym typeface="Arial"/>
                        </a:rPr>
                        <a:t>快</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速成長，並</a:t>
                      </a:r>
                      <a:r>
                        <a:rPr lang="zh-TW" altLang="en-US" sz="2000" b="0" i="0" u="none" strike="noStrike" cap="none" dirty="0">
                          <a:solidFill>
                            <a:srgbClr val="FF0000"/>
                          </a:solidFill>
                          <a:latin typeface="標楷體" pitchFamily="65" charset="-120"/>
                          <a:ea typeface="標楷體" pitchFamily="65" charset="-120"/>
                          <a:cs typeface="Arial"/>
                          <a:sym typeface="Arial"/>
                        </a:rPr>
                        <a:t>超越佛教</a:t>
                      </a:r>
                      <a:r>
                        <a:rPr lang="zh-TW" altLang="en-US" sz="2000" b="0" i="0" u="none" strike="noStrike" cap="none" dirty="0">
                          <a:solidFill>
                            <a:schemeClr val="tx1"/>
                          </a:solidFill>
                          <a:latin typeface="標楷體" pitchFamily="65" charset="-120"/>
                          <a:ea typeface="標楷體" pitchFamily="65" charset="-120"/>
                          <a:cs typeface="Arial"/>
                          <a:sym typeface="Arial"/>
                        </a:rPr>
                        <a:t>比例；</a:t>
                      </a:r>
                      <a:br>
                        <a:rPr lang="en-US" altLang="zh-TW" sz="2000" b="0" i="0" u="none" strike="noStrike" cap="none" dirty="0">
                          <a:solidFill>
                            <a:schemeClr val="tx1"/>
                          </a:solidFill>
                          <a:latin typeface="標楷體" pitchFamily="65" charset="-120"/>
                          <a:ea typeface="標楷體" pitchFamily="65" charset="-120"/>
                          <a:cs typeface="Arial"/>
                          <a:sym typeface="Arial"/>
                        </a:rPr>
                      </a:br>
                      <a:r>
                        <a:rPr lang="zh-TW" altLang="en-US" sz="2000" b="0" i="0" u="none" strike="noStrike" cap="none" dirty="0">
                          <a:solidFill>
                            <a:srgbClr val="FF0000"/>
                          </a:solidFill>
                          <a:latin typeface="標楷體" pitchFamily="65" charset="-120"/>
                          <a:ea typeface="標楷體" pitchFamily="65" charset="-120"/>
                          <a:cs typeface="Arial"/>
                          <a:sym typeface="Arial"/>
                        </a:rPr>
                        <a:t>日本</a:t>
                      </a:r>
                      <a:r>
                        <a:rPr lang="zh-TW" altLang="en-US" sz="2000" b="0" i="0" u="none" strike="noStrike" cap="none" dirty="0">
                          <a:solidFill>
                            <a:schemeClr val="tx1"/>
                          </a:solidFill>
                          <a:latin typeface="標楷體" pitchFamily="65" charset="-120"/>
                          <a:ea typeface="標楷體" pitchFamily="65" charset="-120"/>
                          <a:cs typeface="Arial"/>
                          <a:sym typeface="Arial"/>
                        </a:rPr>
                        <a:t>則</a:t>
                      </a:r>
                      <a:r>
                        <a:rPr lang="zh-TW" altLang="en-US" sz="2000" b="0" i="0" u="none" strike="noStrike" cap="none" dirty="0">
                          <a:solidFill>
                            <a:srgbClr val="FF0000"/>
                          </a:solidFill>
                          <a:latin typeface="標楷體" pitchFamily="65" charset="-120"/>
                          <a:ea typeface="標楷體" pitchFamily="65" charset="-120"/>
                          <a:cs typeface="Arial"/>
                          <a:sym typeface="Arial"/>
                        </a:rPr>
                        <a:t>檢討</a:t>
                      </a:r>
                      <a:r>
                        <a:rPr lang="zh-TW" altLang="en-US" sz="2000" b="0" i="0" u="none" strike="noStrike" cap="none" dirty="0">
                          <a:solidFill>
                            <a:schemeClr val="tx1"/>
                          </a:solidFill>
                          <a:latin typeface="標楷體" pitchFamily="65" charset="-120"/>
                          <a:ea typeface="標楷體" pitchFamily="65" charset="-120"/>
                          <a:cs typeface="Arial"/>
                          <a:sym typeface="Arial"/>
                        </a:rPr>
                        <a:t>固有</a:t>
                      </a:r>
                      <a:r>
                        <a:rPr lang="zh-TW" altLang="en-US" sz="2000" b="0" i="0" u="none" strike="noStrike" cap="none" dirty="0">
                          <a:solidFill>
                            <a:srgbClr val="FF0000"/>
                          </a:solidFill>
                          <a:latin typeface="標楷體" pitchFamily="65" charset="-120"/>
                          <a:ea typeface="標楷體" pitchFamily="65" charset="-120"/>
                          <a:cs typeface="Arial"/>
                          <a:sym typeface="Arial"/>
                        </a:rPr>
                        <a:t>企業文化</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取消</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en-US" altLang="zh-TW" sz="2000" b="0" i="0" u="none" strike="noStrike" cap="none" dirty="0">
                          <a:solidFill>
                            <a:schemeClr val="bg1"/>
                          </a:solidFill>
                          <a:latin typeface="標楷體" pitchFamily="65" charset="-120"/>
                          <a:ea typeface="標楷體" pitchFamily="65" charset="-120"/>
                          <a:cs typeface="Arial"/>
                          <a:sym typeface="Arial"/>
                        </a:rPr>
                        <a:t>.</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及</a:t>
                      </a:r>
                      <a:r>
                        <a:rPr lang="en-US" altLang="zh-TW"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　，</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都漸漸改變東亞文化的傳統面貌</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a:t>
            </a:fld>
            <a:endParaRPr lang="zh-TW" sz="1400">
              <a:solidFill>
                <a:schemeClr val="dk1"/>
              </a:solidFill>
              <a:latin typeface="Arial"/>
              <a:ea typeface="Arial"/>
              <a:cs typeface="Arial"/>
              <a:sym typeface="Arial"/>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4591" y="2744483"/>
            <a:ext cx="3637784" cy="3849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1"/>
          <p:cNvSpPr>
            <a:spLocks noChangeArrowheads="1"/>
          </p:cNvSpPr>
          <p:nvPr/>
        </p:nvSpPr>
        <p:spPr bwMode="auto">
          <a:xfrm>
            <a:off x="1652794" y="4751357"/>
            <a:ext cx="13681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a:solidFill>
                  <a:srgbClr val="FF0000"/>
                </a:solidFill>
                <a:latin typeface="標楷體" pitchFamily="65" charset="-120"/>
                <a:ea typeface="標楷體" pitchFamily="65" charset="-120"/>
                <a:cs typeface="Times New Roman" pitchFamily="18" charset="0"/>
              </a:rPr>
              <a:t>年功序列</a:t>
            </a:r>
            <a:endParaRPr lang="zh-TW" altLang="en-US" sz="2000" kern="1200" dirty="0">
              <a:solidFill>
                <a:srgbClr val="FF0000"/>
              </a:solidFill>
              <a:latin typeface="標楷體" pitchFamily="65" charset="-120"/>
              <a:ea typeface="標楷體" pitchFamily="65" charset="-120"/>
              <a:cs typeface="Times New Roman" pitchFamily="18" charset="0"/>
            </a:endParaRPr>
          </a:p>
        </p:txBody>
      </p:sp>
      <p:sp>
        <p:nvSpPr>
          <p:cNvPr id="13" name="矩形 12"/>
          <p:cNvSpPr>
            <a:spLocks noChangeArrowheads="1"/>
          </p:cNvSpPr>
          <p:nvPr/>
        </p:nvSpPr>
        <p:spPr bwMode="auto">
          <a:xfrm>
            <a:off x="3380985" y="4751357"/>
            <a:ext cx="14703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終生僱用制</a:t>
            </a:r>
          </a:p>
        </p:txBody>
      </p:sp>
      <p:pic>
        <p:nvPicPr>
          <p:cNvPr id="14" name="Picture 2">
            <a:extLst>
              <a:ext uri="{FF2B5EF4-FFF2-40B4-BE49-F238E27FC236}">
                <a16:creationId xmlns:a16="http://schemas.microsoft.com/office/drawing/2014/main" id="{A99A84CB-E39A-4683-864A-86CFD17A55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5517232"/>
            <a:ext cx="4851347" cy="12881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矩形 14">
            <a:extLst>
              <a:ext uri="{FF2B5EF4-FFF2-40B4-BE49-F238E27FC236}">
                <a16:creationId xmlns:a16="http://schemas.microsoft.com/office/drawing/2014/main" id="{02AE91C2-6C80-4AE5-83A5-D4FDBC3EC5AB}"/>
              </a:ext>
            </a:extLst>
          </p:cNvPr>
          <p:cNvSpPr>
            <a:spLocks noChangeArrowheads="1"/>
          </p:cNvSpPr>
          <p:nvPr/>
        </p:nvSpPr>
        <p:spPr bwMode="auto">
          <a:xfrm>
            <a:off x="-72008" y="5435724"/>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p.197</a:t>
            </a:r>
            <a:endParaRPr lang="zh-TW" altLang="en-US" sz="3600" b="0" dirty="0"/>
          </a:p>
        </p:txBody>
      </p:sp>
      <p:sp>
        <p:nvSpPr>
          <p:cNvPr id="16" name="矩形 15">
            <a:extLst>
              <a:ext uri="{FF2B5EF4-FFF2-40B4-BE49-F238E27FC236}">
                <a16:creationId xmlns:a16="http://schemas.microsoft.com/office/drawing/2014/main" id="{857E6CD8-D6EC-41D2-8DD8-EBD6851FA446}"/>
              </a:ext>
            </a:extLst>
          </p:cNvPr>
          <p:cNvSpPr>
            <a:spLocks noChangeArrowheads="1"/>
          </p:cNvSpPr>
          <p:nvPr/>
        </p:nvSpPr>
        <p:spPr bwMode="auto">
          <a:xfrm>
            <a:off x="97783" y="622605"/>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p.196</a:t>
            </a:r>
            <a:endParaRPr lang="zh-TW" altLang="en-US" sz="3600" b="0" dirty="0"/>
          </a:p>
        </p:txBody>
      </p:sp>
    </p:spTree>
    <p:extLst>
      <p:ext uri="{BB962C8B-B14F-4D97-AF65-F5344CB8AC3E}">
        <p14:creationId xmlns:p14="http://schemas.microsoft.com/office/powerpoint/2010/main" val="215074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3" y="3764652"/>
            <a:ext cx="3113730" cy="3033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標題 1"/>
          <p:cNvSpPr>
            <a:spLocks/>
          </p:cNvSpPr>
          <p:nvPr/>
        </p:nvSpPr>
        <p:spPr bwMode="auto">
          <a:xfrm>
            <a:off x="1886244" y="211026"/>
            <a:ext cx="532859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TW" altLang="en-US" sz="3600" dirty="0">
                <a:latin typeface="標楷體" pitchFamily="65" charset="-120"/>
                <a:ea typeface="標楷體" pitchFamily="65" charset="-120"/>
              </a:rPr>
              <a:t>二、</a:t>
            </a:r>
            <a:r>
              <a:rPr lang="zh-TW" altLang="en-US" sz="3600" dirty="0">
                <a:solidFill>
                  <a:srgbClr val="FF0000"/>
                </a:solidFill>
                <a:latin typeface="標楷體" pitchFamily="65" charset="-120"/>
                <a:ea typeface="標楷體" pitchFamily="65" charset="-120"/>
              </a:rPr>
              <a:t>適宜農耕</a:t>
            </a:r>
            <a:r>
              <a:rPr lang="zh-TW" altLang="en-US" sz="3600" dirty="0">
                <a:latin typeface="標楷體" pitchFamily="65" charset="-120"/>
                <a:ea typeface="標楷體" pitchFamily="65" charset="-120"/>
              </a:rPr>
              <a:t>的</a:t>
            </a:r>
            <a:r>
              <a:rPr lang="zh-TW" altLang="en-US" sz="3600" dirty="0">
                <a:solidFill>
                  <a:srgbClr val="FF0000"/>
                </a:solidFill>
                <a:latin typeface="標楷體" pitchFamily="65" charset="-120"/>
                <a:ea typeface="標楷體" pitchFamily="65" charset="-120"/>
              </a:rPr>
              <a:t>自然環境</a:t>
            </a:r>
            <a:endParaRPr lang="en-US" altLang="zh-TW" sz="3600" dirty="0">
              <a:solidFill>
                <a:srgbClr val="FF0000"/>
              </a:solidFill>
              <a:latin typeface="標楷體" pitchFamily="65" charset="-120"/>
              <a:ea typeface="標楷體" pitchFamily="65" charset="-120"/>
            </a:endParaRPr>
          </a:p>
        </p:txBody>
      </p:sp>
      <p:sp>
        <p:nvSpPr>
          <p:cNvPr id="7" name="Rectangle 3"/>
          <p:cNvSpPr txBox="1">
            <a:spLocks noChangeArrowheads="1"/>
          </p:cNvSpPr>
          <p:nvPr/>
        </p:nvSpPr>
        <p:spPr>
          <a:xfrm>
            <a:off x="251520" y="1024981"/>
            <a:ext cx="8712967" cy="2815829"/>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sz="2400" dirty="0">
                <a:latin typeface="標楷體" pitchFamily="65" charset="-120"/>
                <a:ea typeface="標楷體" pitchFamily="65" charset="-120"/>
              </a:rPr>
              <a:t>1.</a:t>
            </a:r>
            <a:r>
              <a:rPr lang="zh-TW" altLang="en-US" sz="2400" dirty="0">
                <a:solidFill>
                  <a:srgbClr val="FF0000"/>
                </a:solidFill>
                <a:latin typeface="標楷體" pitchFamily="65" charset="-120"/>
                <a:ea typeface="標楷體" pitchFamily="65" charset="-120"/>
              </a:rPr>
              <a:t>季風氣候</a:t>
            </a:r>
            <a:r>
              <a:rPr lang="zh-TW" altLang="en-US" sz="2400" dirty="0">
                <a:latin typeface="標楷體" pitchFamily="65" charset="-120"/>
                <a:ea typeface="標楷體" pitchFamily="65" charset="-120"/>
              </a:rPr>
              <a:t>：氣候溫暖溼潤，加以沿海廣大肥沃的沖積平原，使此區形成發展</a:t>
            </a:r>
            <a:r>
              <a:rPr lang="zh-TW" altLang="en-US" sz="2400" dirty="0">
                <a:solidFill>
                  <a:srgbClr val="FF0000"/>
                </a:solidFill>
                <a:latin typeface="標楷體" pitchFamily="65" charset="-120"/>
                <a:ea typeface="標楷體" pitchFamily="65" charset="-120"/>
              </a:rPr>
              <a:t>水稻</a:t>
            </a:r>
            <a:r>
              <a:rPr lang="zh-TW" altLang="en-US" sz="2400" dirty="0">
                <a:latin typeface="標楷體" pitchFamily="65" charset="-120"/>
                <a:ea typeface="標楷體" pitchFamily="65" charset="-120"/>
              </a:rPr>
              <a:t>、小麥等</a:t>
            </a:r>
            <a:r>
              <a:rPr lang="zh-TW" altLang="en-US" sz="2400" dirty="0">
                <a:solidFill>
                  <a:srgbClr val="FF0000"/>
                </a:solidFill>
                <a:latin typeface="標楷體" pitchFamily="65" charset="-120"/>
                <a:ea typeface="標楷體" pitchFamily="65" charset="-120"/>
              </a:rPr>
              <a:t>傳統集約農業</a:t>
            </a:r>
            <a:r>
              <a:rPr lang="zh-TW" altLang="en-US" sz="2400" dirty="0">
                <a:latin typeface="標楷體" pitchFamily="65" charset="-120"/>
                <a:ea typeface="標楷體" pitchFamily="65" charset="-120"/>
              </a:rPr>
              <a:t>的極佳環境。</a:t>
            </a: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以水稻為例，在規律季節進行翻土、插秧等精耕細作程序，</a:t>
            </a:r>
            <a:r>
              <a:rPr lang="zh-TW" altLang="en-US" sz="2400" dirty="0">
                <a:solidFill>
                  <a:srgbClr val="FF0000"/>
                </a:solidFill>
                <a:latin typeface="標楷體" pitchFamily="65" charset="-120"/>
                <a:ea typeface="標楷體" pitchFamily="65" charset="-120"/>
              </a:rPr>
              <a:t>需要大量勞動力投入</a:t>
            </a:r>
            <a:r>
              <a:rPr lang="zh-TW" altLang="en-US" sz="2400" dirty="0">
                <a:latin typeface="標楷體" pitchFamily="65" charset="-120"/>
                <a:ea typeface="標楷體" pitchFamily="65" charset="-120"/>
              </a:rPr>
              <a:t>。</a:t>
            </a:r>
          </a:p>
          <a:p>
            <a:r>
              <a:rPr lang="en-US" altLang="zh-TW" sz="2400" dirty="0">
                <a:latin typeface="標楷體" pitchFamily="65" charset="-120"/>
                <a:ea typeface="標楷體" pitchFamily="65" charset="-120"/>
              </a:rPr>
              <a:t>(2)</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重農抑商</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儒家價值觀</a:t>
            </a:r>
            <a:r>
              <a:rPr lang="zh-TW" altLang="en-US" sz="2400" dirty="0">
                <a:latin typeface="標楷體" pitchFamily="65" charset="-120"/>
                <a:ea typeface="標楷體" pitchFamily="65" charset="-120"/>
              </a:rPr>
              <a:t>確保農業生產的人力穩定。</a:t>
            </a:r>
          </a:p>
          <a:p>
            <a:r>
              <a:rPr lang="en-US" altLang="zh-TW" sz="2400" dirty="0">
                <a:latin typeface="標楷體" pitchFamily="65" charset="-120"/>
                <a:ea typeface="標楷體" pitchFamily="65" charset="-120"/>
              </a:rPr>
              <a:t>(3)</a:t>
            </a:r>
            <a:r>
              <a:rPr lang="zh-TW" altLang="en-US" sz="2400" dirty="0">
                <a:latin typeface="標楷體" pitchFamily="65" charset="-120"/>
                <a:ea typeface="標楷體" pitchFamily="65" charset="-120"/>
              </a:rPr>
              <a:t>指導</a:t>
            </a:r>
            <a:r>
              <a:rPr lang="zh-TW" altLang="en-US" sz="2400" dirty="0">
                <a:solidFill>
                  <a:srgbClr val="FF0000"/>
                </a:solidFill>
                <a:latin typeface="標楷體" pitchFamily="65" charset="-120"/>
                <a:ea typeface="標楷體" pitchFamily="65" charset="-120"/>
              </a:rPr>
              <a:t>農</a:t>
            </a:r>
            <a:r>
              <a:rPr lang="zh-TW" altLang="en-US" sz="2400" dirty="0">
                <a:latin typeface="標楷體" pitchFamily="65" charset="-120"/>
                <a:ea typeface="標楷體" pitchFamily="65" charset="-120"/>
              </a:rPr>
              <a:t>事的</a:t>
            </a:r>
            <a:r>
              <a:rPr lang="zh-TW" altLang="en-US" sz="2400" dirty="0">
                <a:solidFill>
                  <a:srgbClr val="FF0000"/>
                </a:solidFill>
                <a:latin typeface="標楷體" pitchFamily="65" charset="-120"/>
                <a:ea typeface="標楷體" pitchFamily="65" charset="-120"/>
              </a:rPr>
              <a:t>曆</a:t>
            </a:r>
            <a:r>
              <a:rPr lang="zh-TW" altLang="en-US" sz="2400" dirty="0">
                <a:latin typeface="標楷體" pitchFamily="65" charset="-120"/>
                <a:ea typeface="標楷體" pitchFamily="65" charset="-120"/>
              </a:rPr>
              <a:t>法「</a:t>
            </a:r>
            <a:r>
              <a:rPr lang="zh-TW" altLang="en-US" sz="2400" dirty="0">
                <a:solidFill>
                  <a:srgbClr val="FF0000"/>
                </a:solidFill>
                <a:latin typeface="標楷體" pitchFamily="65" charset="-120"/>
                <a:ea typeface="標楷體" pitchFamily="65" charset="-120"/>
              </a:rPr>
              <a:t>節氣</a:t>
            </a:r>
            <a:r>
              <a:rPr lang="zh-TW" altLang="en-US" sz="2400" dirty="0">
                <a:latin typeface="標楷體" pitchFamily="65" charset="-120"/>
                <a:ea typeface="標楷體" pitchFamily="65" charset="-120"/>
              </a:rPr>
              <a:t>」傳承至今，在東亞各國</a:t>
            </a:r>
            <a:r>
              <a:rPr lang="zh-TW" altLang="en-US" sz="2400" dirty="0">
                <a:solidFill>
                  <a:srgbClr val="FF0000"/>
                </a:solidFill>
                <a:latin typeface="標楷體" pitchFamily="65" charset="-120"/>
                <a:ea typeface="標楷體" pitchFamily="65" charset="-120"/>
              </a:rPr>
              <a:t>普遍可見其相關的習俗</a:t>
            </a:r>
            <a:r>
              <a:rPr lang="zh-TW" altLang="en-US" sz="2400" dirty="0">
                <a:latin typeface="標楷體" pitchFamily="65" charset="-120"/>
                <a:ea typeface="標楷體" pitchFamily="65" charset="-120"/>
              </a:rPr>
              <a:t>。→反映了東亞農耕自然環境的近似。</a:t>
            </a:r>
            <a:endParaRPr lang="en-US" altLang="zh-TW" sz="2400" dirty="0">
              <a:latin typeface="標楷體" pitchFamily="65" charset="-120"/>
              <a:ea typeface="標楷體" pitchFamily="65" charset="-120"/>
            </a:endParaRP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a:t>
            </a:fld>
            <a:endParaRPr lang="zh-TW" sz="1400">
              <a:solidFill>
                <a:schemeClr val="dk1"/>
              </a:solidFill>
              <a:latin typeface="Arial"/>
              <a:ea typeface="Arial"/>
              <a:cs typeface="Arial"/>
              <a:sym typeface="Arial"/>
            </a:endParaRP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41" y="3857149"/>
            <a:ext cx="5830112" cy="2864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矩形 9"/>
          <p:cNvSpPr>
            <a:spLocks noChangeArrowheads="1"/>
          </p:cNvSpPr>
          <p:nvPr/>
        </p:nvSpPr>
        <p:spPr bwMode="auto">
          <a:xfrm>
            <a:off x="323528" y="260648"/>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p.197</a:t>
            </a:r>
            <a:endParaRPr lang="zh-TW" altLang="en-US" sz="3600" b="0" dirty="0"/>
          </a:p>
        </p:txBody>
      </p:sp>
    </p:spTree>
    <p:extLst>
      <p:ext uri="{BB962C8B-B14F-4D97-AF65-F5344CB8AC3E}">
        <p14:creationId xmlns:p14="http://schemas.microsoft.com/office/powerpoint/2010/main" val="1451007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548680"/>
            <a:ext cx="6876256" cy="6309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a:xfrm>
            <a:off x="27253" y="50269"/>
            <a:ext cx="3608644" cy="99682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dirty="0">
                <a:latin typeface="標楷體" pitchFamily="65" charset="-120"/>
                <a:ea typeface="標楷體" pitchFamily="65" charset="-120"/>
              </a:rPr>
              <a:t>二、適宜農耕的自然環境</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地形</a:t>
            </a:r>
            <a:r>
              <a:rPr lang="zh-TW" altLang="en-US" sz="2400" dirty="0">
                <a:latin typeface="標楷體" pitchFamily="65" charset="-120"/>
                <a:ea typeface="標楷體" pitchFamily="65" charset="-120"/>
              </a:rPr>
              <a:t>：</a:t>
            </a:r>
            <a:endParaRPr lang="en-US" altLang="zh-TW" sz="2400" dirty="0">
              <a:latin typeface="標楷體" pitchFamily="65" charset="-120"/>
              <a:ea typeface="標楷體" pitchFamily="65" charset="-120"/>
            </a:endParaRPr>
          </a:p>
        </p:txBody>
      </p:sp>
      <p:graphicFrame>
        <p:nvGraphicFramePr>
          <p:cNvPr id="11" name="Group 47"/>
          <p:cNvGraphicFramePr>
            <a:graphicFrameLocks noGrp="1"/>
          </p:cNvGraphicFramePr>
          <p:nvPr>
            <p:extLst>
              <p:ext uri="{D42A27DB-BD31-4B8C-83A1-F6EECF244321}">
                <p14:modId xmlns:p14="http://schemas.microsoft.com/office/powerpoint/2010/main" val="3523098997"/>
              </p:ext>
            </p:extLst>
          </p:nvPr>
        </p:nvGraphicFramePr>
        <p:xfrm>
          <a:off x="27253" y="1289802"/>
          <a:ext cx="2906591" cy="4754880"/>
        </p:xfrm>
        <a:graphic>
          <a:graphicData uri="http://schemas.openxmlformats.org/drawingml/2006/table">
            <a:tbl>
              <a:tblPr/>
              <a:tblGrid>
                <a:gridCol w="435250">
                  <a:extLst>
                    <a:ext uri="{9D8B030D-6E8A-4147-A177-3AD203B41FA5}">
                      <a16:colId xmlns:a16="http://schemas.microsoft.com/office/drawing/2014/main" val="20000"/>
                    </a:ext>
                  </a:extLst>
                </a:gridCol>
                <a:gridCol w="2471341">
                  <a:extLst>
                    <a:ext uri="{9D8B030D-6E8A-4147-A177-3AD203B41FA5}">
                      <a16:colId xmlns:a16="http://schemas.microsoft.com/office/drawing/2014/main" val="20001"/>
                    </a:ext>
                  </a:extLst>
                </a:gridCol>
              </a:tblGrid>
              <a:tr h="12396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2400" b="1" i="0" u="none" strike="noStrike" cap="none" dirty="0">
                          <a:solidFill>
                            <a:srgbClr val="0000FF"/>
                          </a:solidFill>
                          <a:latin typeface="標楷體" pitchFamily="65" charset="-120"/>
                          <a:ea typeface="標楷體" pitchFamily="65" charset="-120"/>
                          <a:cs typeface="Arial"/>
                          <a:sym typeface="Arial"/>
                        </a:rPr>
                        <a:t>3</a:t>
                      </a:r>
                      <a:r>
                        <a:rPr lang="zh-TW" altLang="en-US" sz="2400" b="1" i="0" u="none" strike="noStrike" cap="none" dirty="0">
                          <a:solidFill>
                            <a:srgbClr val="0000FF"/>
                          </a:solidFill>
                          <a:latin typeface="標楷體" pitchFamily="65" charset="-120"/>
                          <a:ea typeface="標楷體" pitchFamily="65" charset="-120"/>
                          <a:cs typeface="Arial"/>
                          <a:sym typeface="Arial"/>
                        </a:rPr>
                        <a:t>級</a:t>
                      </a:r>
                      <a:r>
                        <a:rPr lang="zh-TW" altLang="en-US" sz="2400" b="0" i="0" u="none" strike="noStrike" cap="none" dirty="0">
                          <a:solidFill>
                            <a:srgbClr val="FF0000"/>
                          </a:solidFill>
                          <a:latin typeface="標楷體" pitchFamily="65" charset="-120"/>
                          <a:ea typeface="標楷體" pitchFamily="65" charset="-120"/>
                          <a:cs typeface="Arial"/>
                          <a:sym typeface="Arial"/>
                        </a:rPr>
                        <a:t>階梯狀</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歐亞大陸受</a:t>
                      </a:r>
                      <a:r>
                        <a:rPr lang="zh-TW" altLang="en-US" sz="2400" b="0" i="0" u="none" strike="noStrike" cap="none" dirty="0">
                          <a:solidFill>
                            <a:schemeClr val="tx1"/>
                          </a:solidFill>
                          <a:latin typeface="標楷體" pitchFamily="65" charset="-120"/>
                          <a:ea typeface="標楷體" pitchFamily="65" charset="-120"/>
                          <a:cs typeface="Arial"/>
                          <a:sym typeface="Arial"/>
                        </a:rPr>
                        <a:t>到</a:t>
                      </a:r>
                      <a:r>
                        <a:rPr lang="zh-TW" altLang="en-US" sz="2400" b="0" i="0" u="none" strike="noStrike" cap="none" dirty="0">
                          <a:solidFill>
                            <a:srgbClr val="FF0000"/>
                          </a:solidFill>
                          <a:latin typeface="標楷體" pitchFamily="65" charset="-120"/>
                          <a:ea typeface="標楷體" pitchFamily="65" charset="-120"/>
                          <a:cs typeface="Arial"/>
                          <a:sym typeface="Arial"/>
                        </a:rPr>
                        <a:t>印澳板塊擠壓</a:t>
                      </a:r>
                      <a:r>
                        <a:rPr lang="zh-TW" altLang="en-US" sz="2400" b="0" i="0" u="none" strike="noStrike" cap="none" dirty="0">
                          <a:solidFill>
                            <a:schemeClr val="tx1"/>
                          </a:solidFill>
                          <a:latin typeface="標楷體" pitchFamily="65" charset="-120"/>
                          <a:ea typeface="標楷體" pitchFamily="65" charset="-120"/>
                          <a:cs typeface="Arial"/>
                          <a:sym typeface="Arial"/>
                        </a:rPr>
                        <a:t>，褶曲作用造就了</a:t>
                      </a:r>
                      <a:r>
                        <a:rPr lang="zh-TW" altLang="en-US" sz="2400" b="0" i="0" u="none" strike="noStrike" cap="none" dirty="0">
                          <a:solidFill>
                            <a:srgbClr val="FF0000"/>
                          </a:solidFill>
                          <a:latin typeface="標楷體" pitchFamily="65" charset="-120"/>
                          <a:ea typeface="標楷體" pitchFamily="65" charset="-120"/>
                          <a:cs typeface="Arial"/>
                          <a:sym typeface="Arial"/>
                        </a:rPr>
                        <a:t>世界屋脊青藏高原</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地形</a:t>
                      </a:r>
                      <a:r>
                        <a:rPr lang="zh-TW" altLang="en-US" sz="2400" b="0" i="0" u="none" strike="noStrike" cap="none" dirty="0">
                          <a:solidFill>
                            <a:schemeClr val="tx1"/>
                          </a:solidFill>
                          <a:latin typeface="標楷體" pitchFamily="65" charset="-120"/>
                          <a:ea typeface="標楷體" pitchFamily="65" charset="-120"/>
                          <a:cs typeface="Arial"/>
                          <a:sym typeface="Arial"/>
                        </a:rPr>
                        <a:t>由</a:t>
                      </a:r>
                      <a:r>
                        <a:rPr lang="zh-TW" altLang="en-US" sz="2400" b="0" i="0" u="sng" strike="noStrike" cap="none" dirty="0">
                          <a:solidFill>
                            <a:srgbClr val="FF0000"/>
                          </a:solidFill>
                          <a:latin typeface="標楷體" pitchFamily="65" charset="-120"/>
                          <a:ea typeface="標楷體" pitchFamily="65" charset="-120"/>
                          <a:cs typeface="Arial"/>
                          <a:sym typeface="Arial"/>
                        </a:rPr>
                        <a:t>  </a:t>
                      </a:r>
                      <a:r>
                        <a:rPr lang="zh-TW" altLang="en-US" sz="2400" b="0" i="0" u="none" strike="noStrike" cap="none" dirty="0">
                          <a:solidFill>
                            <a:schemeClr val="tx1"/>
                          </a:solidFill>
                          <a:latin typeface="標楷體" pitchFamily="65" charset="-120"/>
                          <a:ea typeface="標楷體" pitchFamily="65" charset="-120"/>
                          <a:cs typeface="Arial"/>
                          <a:sym typeface="Arial"/>
                        </a:rPr>
                        <a:t>向</a:t>
                      </a:r>
                      <a:r>
                        <a:rPr lang="zh-TW" altLang="en-US" sz="2400" b="0" i="0" u="sng" strike="noStrike" cap="none" dirty="0">
                          <a:solidFill>
                            <a:srgbClr val="FF0000"/>
                          </a:solidFill>
                          <a:latin typeface="標楷體" pitchFamily="65" charset="-120"/>
                          <a:ea typeface="標楷體" pitchFamily="65" charset="-120"/>
                          <a:cs typeface="Arial"/>
                          <a:sym typeface="Arial"/>
                        </a:rPr>
                        <a:t>   </a:t>
                      </a:r>
                      <a:r>
                        <a:rPr lang="zh-TW" altLang="en-US" sz="2400" b="0" i="0" u="none" strike="noStrike" cap="none" dirty="0">
                          <a:solidFill>
                            <a:srgbClr val="FF0000"/>
                          </a:solidFill>
                          <a:latin typeface="標楷體" pitchFamily="65" charset="-120"/>
                          <a:ea typeface="標楷體" pitchFamily="65" charset="-120"/>
                          <a:cs typeface="Arial"/>
                          <a:sym typeface="Arial"/>
                        </a:rPr>
                        <a:t>遞降成階梯狀</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河流</a:t>
                      </a:r>
                      <a:r>
                        <a:rPr lang="zh-TW" altLang="en-US" sz="2400" b="0" i="0" u="none" strike="noStrike" cap="none" dirty="0">
                          <a:solidFill>
                            <a:schemeClr val="tx1"/>
                          </a:solidFill>
                          <a:latin typeface="標楷體" pitchFamily="65" charset="-120"/>
                          <a:ea typeface="標楷體" pitchFamily="65" charset="-120"/>
                          <a:cs typeface="Arial"/>
                          <a:sym typeface="Arial"/>
                        </a:rPr>
                        <a:t>大致向</a:t>
                      </a:r>
                      <a:r>
                        <a:rPr lang="zh-TW" altLang="en-US" sz="2400" b="0" i="0" u="none" strike="noStrike" cap="none" dirty="0">
                          <a:solidFill>
                            <a:srgbClr val="FF0000"/>
                          </a:solidFill>
                          <a:latin typeface="標楷體" pitchFamily="65" charset="-120"/>
                          <a:ea typeface="標楷體" pitchFamily="65" charset="-120"/>
                          <a:cs typeface="Arial"/>
                          <a:sym typeface="Arial"/>
                        </a:rPr>
                        <a:t>東流</a:t>
                      </a:r>
                      <a:r>
                        <a:rPr lang="zh-TW" altLang="en-US" sz="2400" b="0" i="0" u="none" strike="noStrike" cap="none" dirty="0">
                          <a:solidFill>
                            <a:schemeClr val="tx1"/>
                          </a:solidFill>
                          <a:latin typeface="標楷體" pitchFamily="65" charset="-120"/>
                          <a:ea typeface="標楷體" pitchFamily="65" charset="-120"/>
                          <a:cs typeface="Arial"/>
                          <a:sym typeface="Arial"/>
                        </a:rPr>
                        <a:t>，在</a:t>
                      </a:r>
                      <a:r>
                        <a:rPr lang="zh-TW" altLang="en-US" sz="2400" b="0" i="0" u="none" strike="noStrike" cap="none" dirty="0">
                          <a:solidFill>
                            <a:srgbClr val="FF0000"/>
                          </a:solidFill>
                          <a:latin typeface="標楷體" pitchFamily="65" charset="-120"/>
                          <a:ea typeface="標楷體" pitchFamily="65" charset="-120"/>
                          <a:cs typeface="Arial"/>
                          <a:sym typeface="Arial"/>
                        </a:rPr>
                        <a:t>沿海</a:t>
                      </a:r>
                      <a:r>
                        <a:rPr lang="zh-TW" altLang="en-US" sz="2400" b="0" i="0" u="none" strike="noStrike" cap="none" dirty="0">
                          <a:solidFill>
                            <a:schemeClr val="tx1"/>
                          </a:solidFill>
                          <a:latin typeface="標楷體" pitchFamily="65" charset="-120"/>
                          <a:ea typeface="標楷體" pitchFamily="65" charset="-120"/>
                          <a:cs typeface="Arial"/>
                          <a:sym typeface="Arial"/>
                        </a:rPr>
                        <a:t>形成</a:t>
                      </a:r>
                      <a:r>
                        <a:rPr lang="zh-TW" altLang="en-US" sz="2400" b="0" i="0" u="none" strike="noStrike" cap="none" dirty="0">
                          <a:solidFill>
                            <a:srgbClr val="FF0000"/>
                          </a:solidFill>
                          <a:latin typeface="標楷體" pitchFamily="65" charset="-120"/>
                          <a:ea typeface="標楷體" pitchFamily="65" charset="-120"/>
                          <a:cs typeface="Arial"/>
                          <a:sym typeface="Arial"/>
                        </a:rPr>
                        <a:t>廣大的平原</a:t>
                      </a:r>
                      <a:r>
                        <a:rPr lang="zh-TW" altLang="en-US" sz="2400" b="0" i="0" u="none" strike="noStrike" cap="none" dirty="0">
                          <a:solidFill>
                            <a:schemeClr val="tx1"/>
                          </a:solidFill>
                          <a:latin typeface="標楷體" pitchFamily="65" charset="-120"/>
                          <a:ea typeface="標楷體" pitchFamily="65" charset="-120"/>
                          <a:cs typeface="Arial"/>
                          <a:sym typeface="Arial"/>
                        </a:rPr>
                        <a:t>，如中國東北平原</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→東部平坦的地形</a:t>
                      </a:r>
                      <a:r>
                        <a:rPr lang="zh-TW" altLang="en-US" sz="2400" b="0" i="0" u="none" strike="noStrike" cap="none" dirty="0">
                          <a:solidFill>
                            <a:srgbClr val="FF0000"/>
                          </a:solidFill>
                          <a:latin typeface="標楷體" pitchFamily="65" charset="-120"/>
                          <a:ea typeface="標楷體" pitchFamily="65" charset="-120"/>
                          <a:cs typeface="Arial"/>
                          <a:sym typeface="Arial"/>
                        </a:rPr>
                        <a:t>讓來自</a:t>
                      </a:r>
                      <a:r>
                        <a:rPr lang="zh-TW" altLang="en-US" sz="2400" b="0" i="0" u="sng" strike="noStrike" cap="none" dirty="0">
                          <a:solidFill>
                            <a:srgbClr val="FF0000"/>
                          </a:solidFill>
                          <a:latin typeface="標楷體" pitchFamily="65" charset="-120"/>
                          <a:ea typeface="標楷體" pitchFamily="65" charset="-120"/>
                          <a:cs typeface="Arial"/>
                          <a:sym typeface="Arial"/>
                        </a:rPr>
                        <a:t>     </a:t>
                      </a:r>
                      <a:r>
                        <a:rPr lang="zh-TW" altLang="en-US" sz="2400" b="0" i="0" u="none" strike="noStrike" cap="none" dirty="0">
                          <a:solidFill>
                            <a:srgbClr val="FF0000"/>
                          </a:solidFill>
                          <a:latin typeface="標楷體" pitchFamily="65" charset="-120"/>
                          <a:ea typeface="標楷體" pitchFamily="65" charset="-120"/>
                          <a:cs typeface="Arial"/>
                          <a:sym typeface="Arial"/>
                        </a:rPr>
                        <a:t>的水氣得以深入</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9" name="矩形 8"/>
          <p:cNvSpPr>
            <a:spLocks noChangeArrowheads="1"/>
          </p:cNvSpPr>
          <p:nvPr/>
        </p:nvSpPr>
        <p:spPr bwMode="auto">
          <a:xfrm>
            <a:off x="1286075" y="2708920"/>
            <a:ext cx="7272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西</a:t>
            </a:r>
          </a:p>
        </p:txBody>
      </p:sp>
      <p:sp>
        <p:nvSpPr>
          <p:cNvPr id="10" name="矩形 9"/>
          <p:cNvSpPr>
            <a:spLocks noChangeArrowheads="1"/>
          </p:cNvSpPr>
          <p:nvPr/>
        </p:nvSpPr>
        <p:spPr bwMode="auto">
          <a:xfrm>
            <a:off x="2013343" y="2705929"/>
            <a:ext cx="5884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東</a:t>
            </a:r>
          </a:p>
        </p:txBody>
      </p:sp>
      <p:sp>
        <p:nvSpPr>
          <p:cNvPr id="12" name="矩形 11"/>
          <p:cNvSpPr>
            <a:spLocks noChangeArrowheads="1"/>
          </p:cNvSpPr>
          <p:nvPr/>
        </p:nvSpPr>
        <p:spPr bwMode="auto">
          <a:xfrm>
            <a:off x="1620161" y="5229200"/>
            <a:ext cx="129516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200" kern="1200" dirty="0">
                <a:solidFill>
                  <a:srgbClr val="FF0000"/>
                </a:solidFill>
                <a:latin typeface="標楷體" pitchFamily="65" charset="-120"/>
                <a:ea typeface="標楷體" pitchFamily="65" charset="-120"/>
                <a:cs typeface="Times New Roman" pitchFamily="18" charset="0"/>
              </a:rPr>
              <a:t>太平洋</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a:t>
            </a:fld>
            <a:endParaRPr lang="zh-TW" sz="1400">
              <a:solidFill>
                <a:schemeClr val="dk1"/>
              </a:solidFill>
              <a:latin typeface="Arial"/>
              <a:ea typeface="Arial"/>
              <a:cs typeface="Arial"/>
              <a:sym typeface="Arial"/>
            </a:endParaRPr>
          </a:p>
        </p:txBody>
      </p:sp>
      <p:sp>
        <p:nvSpPr>
          <p:cNvPr id="13" name="矩形 12"/>
          <p:cNvSpPr>
            <a:spLocks noChangeArrowheads="1"/>
          </p:cNvSpPr>
          <p:nvPr/>
        </p:nvSpPr>
        <p:spPr bwMode="auto">
          <a:xfrm>
            <a:off x="3779912" y="-97651"/>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p.198</a:t>
            </a:r>
            <a:endParaRPr lang="zh-TW" altLang="en-US" sz="3600" b="0" dirty="0"/>
          </a:p>
        </p:txBody>
      </p:sp>
      <p:pic>
        <p:nvPicPr>
          <p:cNvPr id="3" name="圖片 2">
            <a:extLst>
              <a:ext uri="{FF2B5EF4-FFF2-40B4-BE49-F238E27FC236}">
                <a16:creationId xmlns:a16="http://schemas.microsoft.com/office/drawing/2014/main" id="{451C734F-D46C-4333-9DF7-CA69A139AC40}"/>
              </a:ext>
            </a:extLst>
          </p:cNvPr>
          <p:cNvPicPr>
            <a:picLocks noChangeAspect="1"/>
          </p:cNvPicPr>
          <p:nvPr/>
        </p:nvPicPr>
        <p:blipFill>
          <a:blip r:embed="rId4"/>
          <a:stretch>
            <a:fillRect/>
          </a:stretch>
        </p:blipFill>
        <p:spPr>
          <a:xfrm>
            <a:off x="0" y="0"/>
            <a:ext cx="9144000" cy="6858000"/>
          </a:xfrm>
          <a:prstGeom prst="rect">
            <a:avLst/>
          </a:prstGeom>
        </p:spPr>
      </p:pic>
    </p:spTree>
    <p:extLst>
      <p:ext uri="{BB962C8B-B14F-4D97-AF65-F5344CB8AC3E}">
        <p14:creationId xmlns:p14="http://schemas.microsoft.com/office/powerpoint/2010/main" val="58865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323528" y="-331016"/>
            <a:ext cx="8820472" cy="1615303"/>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地形</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東亞陸橋</a:t>
            </a:r>
            <a:endParaRPr lang="en-US" altLang="zh-TW" sz="2400" dirty="0">
              <a:solidFill>
                <a:srgbClr val="FF0000"/>
              </a:solidFill>
              <a:latin typeface="標楷體" pitchFamily="65" charset="-120"/>
              <a:ea typeface="標楷體" pitchFamily="65" charset="-120"/>
            </a:endParaRPr>
          </a:p>
          <a:p>
            <a:r>
              <a:rPr lang="zh-TW" altLang="en-US" sz="2400" dirty="0">
                <a:solidFill>
                  <a:srgbClr val="FF0000"/>
                </a:solidFill>
                <a:latin typeface="標楷體" pitchFamily="65" charset="-120"/>
                <a:ea typeface="標楷體" pitchFamily="65" charset="-120"/>
              </a:rPr>
              <a:t>朝鮮半島</a:t>
            </a:r>
            <a:r>
              <a:rPr lang="zh-TW" altLang="en-US" sz="2400" dirty="0">
                <a:latin typeface="標楷體" pitchFamily="65" charset="-120"/>
                <a:ea typeface="標楷體" pitchFamily="65" charset="-120"/>
              </a:rPr>
              <a:t>：隔著</a:t>
            </a:r>
            <a:r>
              <a:rPr lang="zh-TW" altLang="en-US" sz="2400" u="sng" dirty="0">
                <a:solidFill>
                  <a:srgbClr val="FF0000"/>
                </a:solidFill>
                <a:latin typeface="標楷體" pitchFamily="65" charset="-120"/>
                <a:ea typeface="標楷體" pitchFamily="65" charset="-120"/>
              </a:rPr>
              <a:t>        </a:t>
            </a:r>
            <a:r>
              <a:rPr lang="zh-TW" altLang="en-US" sz="2400" dirty="0">
                <a:solidFill>
                  <a:srgbClr val="FF0000"/>
                </a:solidFill>
                <a:latin typeface="標楷體" pitchFamily="65" charset="-120"/>
                <a:ea typeface="標楷體" pitchFamily="65" charset="-120"/>
              </a:rPr>
              <a:t>海峽</a:t>
            </a:r>
            <a:r>
              <a:rPr lang="zh-TW" altLang="en-US" sz="2400" dirty="0">
                <a:latin typeface="標楷體" pitchFamily="65" charset="-120"/>
                <a:ea typeface="標楷體" pitchFamily="65" charset="-120"/>
              </a:rPr>
              <a:t>及</a:t>
            </a:r>
            <a:r>
              <a:rPr lang="zh-TW" altLang="en-US" sz="2400" u="sng" dirty="0">
                <a:solidFill>
                  <a:srgbClr val="FF0000"/>
                </a:solidFill>
                <a:latin typeface="標楷體" pitchFamily="65" charset="-120"/>
                <a:ea typeface="標楷體" pitchFamily="65" charset="-120"/>
              </a:rPr>
              <a:t>        </a:t>
            </a:r>
            <a:r>
              <a:rPr lang="zh-TW" altLang="en-US" sz="2400" dirty="0">
                <a:solidFill>
                  <a:srgbClr val="FF0000"/>
                </a:solidFill>
                <a:latin typeface="標楷體" pitchFamily="65" charset="-120"/>
                <a:ea typeface="標楷體" pitchFamily="65" charset="-120"/>
              </a:rPr>
              <a:t>海峽與日本相望，</a:t>
            </a:r>
            <a:br>
              <a:rPr lang="en-US" altLang="zh-TW" sz="2400" dirty="0">
                <a:solidFill>
                  <a:srgbClr val="FF0000"/>
                </a:solidFill>
                <a:latin typeface="標楷體" pitchFamily="65" charset="-120"/>
                <a:ea typeface="標楷體" pitchFamily="65" charset="-120"/>
              </a:rPr>
            </a:br>
            <a:r>
              <a:rPr lang="zh-TW" altLang="en-US" sz="2400" dirty="0">
                <a:solidFill>
                  <a:srgbClr val="FF0000"/>
                </a:solidFill>
                <a:latin typeface="標楷體" pitchFamily="65" charset="-120"/>
                <a:ea typeface="標楷體" pitchFamily="65" charset="-120"/>
              </a:rPr>
              <a:t>成為文化傳播的「東亞陸橋」</a:t>
            </a:r>
            <a:r>
              <a:rPr lang="zh-TW" altLang="en-US" sz="2400" dirty="0">
                <a:latin typeface="標楷體" pitchFamily="65" charset="-120"/>
                <a:ea typeface="標楷體" pitchFamily="65" charset="-120"/>
              </a:rPr>
              <a:t>。</a:t>
            </a:r>
            <a:endParaRPr lang="en-US" altLang="zh-TW" sz="2400" dirty="0">
              <a:latin typeface="標楷體" pitchFamily="65" charset="-120"/>
              <a:ea typeface="標楷體" pitchFamily="65" charset="-120"/>
            </a:endParaRPr>
          </a:p>
        </p:txBody>
      </p:sp>
      <p:sp>
        <p:nvSpPr>
          <p:cNvPr id="9" name="矩形 8"/>
          <p:cNvSpPr>
            <a:spLocks noChangeArrowheads="1"/>
          </p:cNvSpPr>
          <p:nvPr/>
        </p:nvSpPr>
        <p:spPr bwMode="auto">
          <a:xfrm>
            <a:off x="2771800" y="399014"/>
            <a:ext cx="10917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大韓</a:t>
            </a:r>
          </a:p>
        </p:txBody>
      </p:sp>
      <p:sp>
        <p:nvSpPr>
          <p:cNvPr id="10" name="矩形 9"/>
          <p:cNvSpPr>
            <a:spLocks noChangeArrowheads="1"/>
          </p:cNvSpPr>
          <p:nvPr/>
        </p:nvSpPr>
        <p:spPr bwMode="auto">
          <a:xfrm>
            <a:off x="4932040" y="399014"/>
            <a:ext cx="10917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對馬</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10</a:t>
            </a:fld>
            <a:endParaRPr lang="zh-TW" sz="1400">
              <a:solidFill>
                <a:schemeClr val="dk1"/>
              </a:solidFill>
              <a:latin typeface="Arial"/>
              <a:ea typeface="Arial"/>
              <a:cs typeface="Arial"/>
              <a:sym typeface="Arial"/>
            </a:endParaRPr>
          </a:p>
        </p:txBody>
      </p:sp>
      <p:pic>
        <p:nvPicPr>
          <p:cNvPr id="3074" name="Picture 2">
            <a:extLst>
              <a:ext uri="{FF2B5EF4-FFF2-40B4-BE49-F238E27FC236}">
                <a16:creationId xmlns:a16="http://schemas.microsoft.com/office/drawing/2014/main" id="{A89CDF85-ACF5-4732-988E-9A5E50C827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194" y="1337468"/>
            <a:ext cx="8820472" cy="5310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069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8745" y="3275208"/>
            <a:ext cx="7772400" cy="1362075"/>
          </a:xfrm>
        </p:spPr>
        <p:txBody>
          <a:bodyPr/>
          <a:lstStyle/>
          <a:p>
            <a:endParaRPr lang="zh-TW" altLang="en-US"/>
          </a:p>
        </p:txBody>
      </p:sp>
      <p:sp>
        <p:nvSpPr>
          <p:cNvPr id="3" name="文字版面配置區 2"/>
          <p:cNvSpPr>
            <a:spLocks noGrp="1"/>
          </p:cNvSpPr>
          <p:nvPr>
            <p:ph type="body" idx="1"/>
          </p:nvPr>
        </p:nvSpPr>
        <p:spPr>
          <a:xfrm>
            <a:off x="28745" y="1775021"/>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201787" y="-227268"/>
            <a:ext cx="6743829" cy="1127609"/>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dirty="0">
                <a:latin typeface="標楷體" pitchFamily="65" charset="-120"/>
                <a:ea typeface="標楷體" pitchFamily="65" charset="-120"/>
              </a:rPr>
              <a:t>二、適宜農耕的自然環境</a:t>
            </a:r>
            <a:endParaRPr lang="en-US" altLang="zh-TW" sz="2400" dirty="0">
              <a:latin typeface="標楷體" pitchFamily="65" charset="-120"/>
              <a:ea typeface="標楷體" pitchFamily="65" charset="-120"/>
            </a:endParaRPr>
          </a:p>
          <a:p>
            <a:r>
              <a:rPr lang="en-US" altLang="zh-TW" sz="2400" dirty="0">
                <a:solidFill>
                  <a:srgbClr val="FF0000"/>
                </a:solidFill>
                <a:latin typeface="標楷體" pitchFamily="65" charset="-120"/>
                <a:ea typeface="標楷體" pitchFamily="65" charset="-120"/>
              </a:rPr>
              <a:t>3.</a:t>
            </a:r>
            <a:r>
              <a:rPr lang="zh-TW" altLang="en-US" sz="2400" dirty="0">
                <a:solidFill>
                  <a:srgbClr val="FF0000"/>
                </a:solidFill>
                <a:latin typeface="標楷體" pitchFamily="65" charset="-120"/>
                <a:ea typeface="標楷體" pitchFamily="65" charset="-120"/>
              </a:rPr>
              <a:t>氣候：</a:t>
            </a:r>
            <a:endParaRPr lang="en-US" altLang="zh-TW" sz="2400" dirty="0">
              <a:solidFill>
                <a:srgbClr val="FF0000"/>
              </a:solidFill>
              <a:latin typeface="標楷體" pitchFamily="65" charset="-120"/>
              <a:ea typeface="標楷體" pitchFamily="65" charset="-120"/>
            </a:endParaRPr>
          </a:p>
        </p:txBody>
      </p:sp>
      <p:graphicFrame>
        <p:nvGraphicFramePr>
          <p:cNvPr id="11" name="Group 47"/>
          <p:cNvGraphicFramePr>
            <a:graphicFrameLocks noGrp="1"/>
          </p:cNvGraphicFramePr>
          <p:nvPr/>
        </p:nvGraphicFramePr>
        <p:xfrm>
          <a:off x="56955" y="857148"/>
          <a:ext cx="9058299" cy="2304333"/>
        </p:xfrm>
        <a:graphic>
          <a:graphicData uri="http://schemas.openxmlformats.org/drawingml/2006/table">
            <a:tbl>
              <a:tblPr/>
              <a:tblGrid>
                <a:gridCol w="977972">
                  <a:extLst>
                    <a:ext uri="{9D8B030D-6E8A-4147-A177-3AD203B41FA5}">
                      <a16:colId xmlns:a16="http://schemas.microsoft.com/office/drawing/2014/main" val="20000"/>
                    </a:ext>
                  </a:extLst>
                </a:gridCol>
                <a:gridCol w="8080327">
                  <a:extLst>
                    <a:ext uri="{9D8B030D-6E8A-4147-A177-3AD203B41FA5}">
                      <a16:colId xmlns:a16="http://schemas.microsoft.com/office/drawing/2014/main" val="20001"/>
                    </a:ext>
                  </a:extLst>
                </a:gridCol>
              </a:tblGrid>
              <a:tr h="58680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降水量</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東亞地區主要</a:t>
                      </a:r>
                      <a:r>
                        <a:rPr lang="zh-TW" altLang="en-US" sz="2000" b="0" i="0" u="none" strike="noStrike" cap="none" dirty="0">
                          <a:solidFill>
                            <a:srgbClr val="FF0000"/>
                          </a:solidFill>
                          <a:latin typeface="標楷體" pitchFamily="65" charset="-120"/>
                          <a:ea typeface="標楷體" pitchFamily="65" charset="-120"/>
                          <a:cs typeface="Arial"/>
                          <a:sym typeface="Arial"/>
                        </a:rPr>
                        <a:t>降水來自東側的太平洋水氣（以夏季降雨為主）</a:t>
                      </a:r>
                      <a:r>
                        <a:rPr lang="zh-TW" altLang="en-US" sz="2000" b="0" i="0" u="none" strike="noStrike" cap="none" dirty="0">
                          <a:solidFill>
                            <a:schemeClr val="tx1"/>
                          </a:solidFill>
                          <a:latin typeface="標楷體" pitchFamily="65" charset="-120"/>
                          <a:ea typeface="標楷體" pitchFamily="65" charset="-120"/>
                          <a:cs typeface="Arial"/>
                          <a:sym typeface="Arial"/>
                        </a:rPr>
                        <a:t>，</a:t>
                      </a:r>
                      <a:br>
                        <a:rPr lang="en-US" altLang="zh-TW" sz="2000" b="0" i="0" u="none" strike="noStrike" cap="none" dirty="0">
                          <a:solidFill>
                            <a:schemeClr val="tx1"/>
                          </a:solidFill>
                          <a:latin typeface="標楷體" pitchFamily="65" charset="-120"/>
                          <a:ea typeface="標楷體" pitchFamily="65" charset="-120"/>
                          <a:cs typeface="Arial"/>
                          <a:sym typeface="Arial"/>
                        </a:rPr>
                      </a:br>
                      <a:r>
                        <a:rPr lang="zh-TW" altLang="en-US" sz="2000" b="0" i="0" u="none" strike="noStrike" cap="none" dirty="0">
                          <a:solidFill>
                            <a:schemeClr val="tx1"/>
                          </a:solidFill>
                          <a:latin typeface="標楷體" pitchFamily="65" charset="-120"/>
                          <a:ea typeface="標楷體" pitchFamily="65" charset="-120"/>
                          <a:cs typeface="Arial"/>
                          <a:sym typeface="Arial"/>
                        </a:rPr>
                        <a:t>年降水量呈現</a:t>
                      </a:r>
                      <a:r>
                        <a:rPr lang="zh-TW" altLang="en-US" sz="2000" b="0" i="0" u="none" strike="noStrike" cap="none" dirty="0">
                          <a:solidFill>
                            <a:srgbClr val="FF0000"/>
                          </a:solidFill>
                          <a:latin typeface="標楷體" pitchFamily="65" charset="-120"/>
                          <a:ea typeface="標楷體" pitchFamily="65" charset="-120"/>
                          <a:cs typeface="Arial"/>
                          <a:sym typeface="Arial"/>
                        </a:rPr>
                        <a:t>由東南向內陸遞減</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236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氣溫</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夏</a:t>
                      </a:r>
                      <a:r>
                        <a:rPr lang="zh-TW" altLang="en-US" sz="2000" b="0" i="0" u="none" strike="noStrike" cap="none" dirty="0">
                          <a:solidFill>
                            <a:schemeClr val="tx1"/>
                          </a:solidFill>
                          <a:latin typeface="標楷體" pitchFamily="65" charset="-120"/>
                          <a:ea typeface="標楷體" pitchFamily="65" charset="-120"/>
                          <a:cs typeface="Arial"/>
                          <a:sym typeface="Arial"/>
                        </a:rPr>
                        <a:t>季</a:t>
                      </a:r>
                      <a:r>
                        <a:rPr lang="zh-TW" altLang="en-US" sz="2000" b="0" i="0" u="none" strike="noStrike" cap="none" dirty="0">
                          <a:solidFill>
                            <a:srgbClr val="FF0000"/>
                          </a:solidFill>
                          <a:latin typeface="標楷體" pitchFamily="65" charset="-120"/>
                          <a:ea typeface="標楷體" pitchFamily="65" charset="-120"/>
                          <a:cs typeface="Arial"/>
                          <a:sym typeface="Arial"/>
                        </a:rPr>
                        <a:t>普遍高溫</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冬</a:t>
                      </a:r>
                      <a:r>
                        <a:rPr lang="zh-TW" altLang="en-US" sz="2000" b="0" i="0" u="none" strike="noStrike" cap="none" dirty="0">
                          <a:solidFill>
                            <a:schemeClr val="tx1"/>
                          </a:solidFill>
                          <a:latin typeface="標楷體" pitchFamily="65" charset="-120"/>
                          <a:ea typeface="標楷體" pitchFamily="65" charset="-120"/>
                          <a:cs typeface="Arial"/>
                          <a:sym typeface="Arial"/>
                        </a:rPr>
                        <a:t>季受</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影響，愈往南方氣溫愈高</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33236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氣候</a:t>
                      </a:r>
                      <a:br>
                        <a:rPr lang="en-US" altLang="zh-TW" sz="2000" b="0" i="0" u="none" strike="noStrike" cap="none" dirty="0">
                          <a:solidFill>
                            <a:srgbClr val="FF0000"/>
                          </a:solidFill>
                          <a:latin typeface="標楷體" pitchFamily="65" charset="-120"/>
                          <a:ea typeface="標楷體" pitchFamily="65" charset="-120"/>
                          <a:cs typeface="Arial"/>
                          <a:sym typeface="Arial"/>
                        </a:rPr>
                      </a:br>
                      <a:r>
                        <a:rPr lang="zh-TW" altLang="en-US" sz="2000" b="0" i="0" u="none" strike="noStrike" cap="none" dirty="0">
                          <a:solidFill>
                            <a:srgbClr val="FF0000"/>
                          </a:solidFill>
                          <a:latin typeface="標楷體" pitchFamily="65" charset="-120"/>
                          <a:ea typeface="標楷體" pitchFamily="65" charset="-120"/>
                          <a:cs typeface="Arial"/>
                          <a:sym typeface="Arial"/>
                        </a:rPr>
                        <a:t>類型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以年降水量</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rgbClr val="FF0000"/>
                          </a:solidFill>
                          <a:latin typeface="標楷體" pitchFamily="65" charset="-120"/>
                          <a:ea typeface="標楷體" pitchFamily="65" charset="-120"/>
                          <a:cs typeface="Arial"/>
                          <a:sym typeface="Arial"/>
                        </a:rPr>
                        <a:t>毫米等雨量線為界，向東為溼潤的季風氣候</a:t>
                      </a:r>
                      <a:r>
                        <a:rPr lang="zh-TW" altLang="en-US" sz="2000" b="0" i="0" u="none" strike="noStrike" cap="none" dirty="0">
                          <a:solidFill>
                            <a:schemeClr val="tx1"/>
                          </a:solidFill>
                          <a:latin typeface="標楷體" pitchFamily="65" charset="-120"/>
                          <a:ea typeface="標楷體" pitchFamily="65" charset="-120"/>
                          <a:cs typeface="Arial"/>
                          <a:sym typeface="Arial"/>
                        </a:rPr>
                        <a:t>區</a:t>
                      </a:r>
                    </a:p>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rgbClr val="FF0000"/>
                          </a:solidFill>
                          <a:latin typeface="標楷體" pitchFamily="65" charset="-120"/>
                          <a:ea typeface="標楷體" pitchFamily="65" charset="-120"/>
                          <a:cs typeface="Arial"/>
                          <a:sym typeface="Arial"/>
                        </a:rPr>
                        <a:t>依最冷月均溫，分</a:t>
                      </a:r>
                      <a:r>
                        <a:rPr lang="zh-TW" altLang="en-US" sz="2000" b="0" i="0" u="none" strike="noStrike" cap="none" dirty="0">
                          <a:solidFill>
                            <a:schemeClr val="tx1"/>
                          </a:solidFill>
                          <a:latin typeface="標楷體" pitchFamily="65" charset="-120"/>
                          <a:ea typeface="標楷體" pitchFamily="65" charset="-120"/>
                          <a:cs typeface="Arial"/>
                          <a:sym typeface="Arial"/>
                        </a:rPr>
                        <a:t>為</a:t>
                      </a:r>
                      <a:r>
                        <a:rPr lang="zh-TW" altLang="en-US" sz="2000" b="0" i="0" u="none" strike="noStrike" cap="none" dirty="0">
                          <a:solidFill>
                            <a:srgbClr val="FF0000"/>
                          </a:solidFill>
                          <a:latin typeface="標楷體" pitchFamily="65" charset="-120"/>
                          <a:ea typeface="標楷體" pitchFamily="65" charset="-120"/>
                          <a:cs typeface="Arial"/>
                          <a:sym typeface="Arial"/>
                        </a:rPr>
                        <a:t>熱帶</a:t>
                      </a:r>
                      <a:r>
                        <a:rPr lang="en-US" altLang="zh-TW" sz="2000" b="0" i="0" u="none" strike="noStrike" cap="none" dirty="0">
                          <a:solidFill>
                            <a:srgbClr val="0000FF"/>
                          </a:solidFill>
                          <a:latin typeface="標楷體" pitchFamily="65" charset="-120"/>
                          <a:ea typeface="標楷體" pitchFamily="65" charset="-120"/>
                          <a:cs typeface="Arial"/>
                          <a:sym typeface="Arial"/>
                        </a:rPr>
                        <a:t>(18)</a:t>
                      </a:r>
                      <a:r>
                        <a:rPr lang="zh-TW" altLang="en-US" sz="2000" b="0" i="0" u="none" strike="noStrike" cap="none" dirty="0">
                          <a:solidFill>
                            <a:srgbClr val="FF0000"/>
                          </a:solidFill>
                          <a:latin typeface="標楷體" pitchFamily="65" charset="-120"/>
                          <a:ea typeface="標楷體" pitchFamily="65" charset="-120"/>
                          <a:cs typeface="Arial"/>
                          <a:sym typeface="Arial"/>
                        </a:rPr>
                        <a:t>、副熱帶</a:t>
                      </a:r>
                      <a:r>
                        <a:rPr lang="zh-TW" altLang="en-US" sz="2000" b="0" i="0" u="none" strike="noStrike" cap="none" dirty="0">
                          <a:solidFill>
                            <a:schemeClr val="tx1"/>
                          </a:solidFill>
                          <a:latin typeface="標楷體" pitchFamily="65" charset="-120"/>
                          <a:ea typeface="標楷體" pitchFamily="65" charset="-120"/>
                          <a:cs typeface="Arial"/>
                          <a:sym typeface="Arial"/>
                        </a:rPr>
                        <a:t>及</a:t>
                      </a:r>
                      <a:r>
                        <a:rPr lang="en-US" altLang="zh-TW" sz="2000" b="0" i="0" u="none" strike="noStrike" cap="none" dirty="0">
                          <a:solidFill>
                            <a:srgbClr val="0000FF"/>
                          </a:solidFill>
                          <a:latin typeface="標楷體" pitchFamily="65" charset="-120"/>
                          <a:ea typeface="標楷體" pitchFamily="65" charset="-120"/>
                          <a:cs typeface="Arial"/>
                          <a:sym typeface="Arial"/>
                        </a:rPr>
                        <a:t>(0)</a:t>
                      </a:r>
                      <a:r>
                        <a:rPr lang="zh-TW" altLang="en-US" sz="2000" b="0" i="0" u="none" strike="noStrike" cap="none" dirty="0">
                          <a:solidFill>
                            <a:srgbClr val="FF0000"/>
                          </a:solidFill>
                          <a:latin typeface="標楷體" pitchFamily="65" charset="-120"/>
                          <a:ea typeface="標楷體" pitchFamily="65" charset="-120"/>
                          <a:cs typeface="Arial"/>
                          <a:sym typeface="Arial"/>
                        </a:rPr>
                        <a:t>溫帶 三類</a:t>
                      </a:r>
                    </a:p>
                    <a:p>
                      <a:pPr marL="0" marR="0" lvl="0" indent="0" algn="l" defTabSz="914400" rtl="0" eaLnBrk="1" fontAlgn="base" latinLnBrk="0" hangingPunct="1">
                        <a:lnSpc>
                          <a:spcPct val="100000"/>
                        </a:lnSpc>
                        <a:spcBef>
                          <a:spcPct val="0"/>
                        </a:spcBef>
                        <a:spcAft>
                          <a:spcPct val="0"/>
                        </a:spcAft>
                        <a:buClrTx/>
                        <a:buSzTx/>
                        <a:buFontTx/>
                        <a:buNone/>
                        <a:tabLst/>
                      </a:pPr>
                      <a:r>
                        <a:rPr lang="en-US" altLang="zh-TW" sz="1900" b="0" i="0" u="none" strike="noStrike" cap="none" dirty="0">
                          <a:solidFill>
                            <a:schemeClr val="tx1"/>
                          </a:solidFill>
                          <a:latin typeface="標楷體" pitchFamily="65" charset="-120"/>
                          <a:ea typeface="標楷體" pitchFamily="65" charset="-120"/>
                          <a:cs typeface="Arial"/>
                          <a:sym typeface="Arial"/>
                        </a:rPr>
                        <a:t>(3)</a:t>
                      </a:r>
                      <a:r>
                        <a:rPr lang="zh-TW" altLang="en-US" sz="1900" b="0" i="0" u="none" strike="noStrike" cap="none" dirty="0">
                          <a:solidFill>
                            <a:srgbClr val="FF0000"/>
                          </a:solidFill>
                          <a:latin typeface="標楷體" pitchFamily="65" charset="-120"/>
                          <a:ea typeface="標楷體" pitchFamily="65" charset="-120"/>
                          <a:cs typeface="Arial"/>
                          <a:sym typeface="Arial"/>
                        </a:rPr>
                        <a:t>島嶼</a:t>
                      </a:r>
                      <a:r>
                        <a:rPr lang="en-US" altLang="zh-TW" sz="1900" b="0" i="0" u="none" strike="noStrike" cap="none" dirty="0">
                          <a:solidFill>
                            <a:srgbClr val="0000FF"/>
                          </a:solidFill>
                          <a:latin typeface="標楷體" pitchFamily="65" charset="-120"/>
                          <a:ea typeface="標楷體" pitchFamily="65" charset="-120"/>
                          <a:cs typeface="Arial"/>
                          <a:sym typeface="Arial"/>
                        </a:rPr>
                        <a:t>(</a:t>
                      </a:r>
                      <a:r>
                        <a:rPr lang="zh-TW" altLang="en-US" sz="1900" kern="1200" dirty="0">
                          <a:solidFill>
                            <a:srgbClr val="0000FF"/>
                          </a:solidFill>
                          <a:latin typeface="Calibri"/>
                          <a:ea typeface="Calibri"/>
                          <a:cs typeface="Calibri"/>
                          <a:sym typeface="Calibri"/>
                        </a:rPr>
                        <a:t>日</a:t>
                      </a:r>
                      <a:r>
                        <a:rPr lang="en-US" altLang="zh-TW" sz="1900" b="0" i="0" u="none" strike="noStrike" cap="none" dirty="0">
                          <a:solidFill>
                            <a:srgbClr val="0000FF"/>
                          </a:solidFill>
                          <a:latin typeface="標楷體" pitchFamily="65" charset="-120"/>
                          <a:ea typeface="標楷體" pitchFamily="65" charset="-120"/>
                          <a:cs typeface="Arial"/>
                          <a:sym typeface="Arial"/>
                        </a:rPr>
                        <a:t>)</a:t>
                      </a:r>
                      <a:r>
                        <a:rPr lang="zh-TW" altLang="en-US" sz="1900" kern="1200" dirty="0">
                          <a:solidFill>
                            <a:srgbClr val="0000FF"/>
                          </a:solidFill>
                          <a:latin typeface="Calibri"/>
                          <a:ea typeface="Calibri"/>
                          <a:cs typeface="Calibri"/>
                          <a:sym typeface="Calibri"/>
                        </a:rPr>
                        <a:t> </a:t>
                      </a:r>
                      <a:r>
                        <a:rPr lang="zh-TW" altLang="en-US" sz="1900" b="0" i="0" u="none" strike="noStrike" cap="none" dirty="0">
                          <a:solidFill>
                            <a:srgbClr val="FF0000"/>
                          </a:solidFill>
                          <a:latin typeface="標楷體" pitchFamily="65" charset="-120"/>
                          <a:ea typeface="標楷體" pitchFamily="65" charset="-120"/>
                          <a:cs typeface="Arial"/>
                          <a:sym typeface="Arial"/>
                        </a:rPr>
                        <a:t>和半島</a:t>
                      </a:r>
                      <a:r>
                        <a:rPr lang="en-US" altLang="zh-TW" sz="1900" b="0" i="0" u="none" strike="noStrike" cap="none" dirty="0">
                          <a:solidFill>
                            <a:srgbClr val="0000FF"/>
                          </a:solidFill>
                          <a:latin typeface="標楷體" pitchFamily="65" charset="-120"/>
                          <a:ea typeface="標楷體" pitchFamily="65" charset="-120"/>
                          <a:cs typeface="Arial"/>
                          <a:sym typeface="Arial"/>
                        </a:rPr>
                        <a:t>(</a:t>
                      </a:r>
                      <a:r>
                        <a:rPr lang="zh-TW" altLang="zh-TW" sz="1900" kern="1200" dirty="0">
                          <a:solidFill>
                            <a:srgbClr val="0000FF"/>
                          </a:solidFill>
                          <a:latin typeface="Calibri"/>
                          <a:ea typeface="Calibri"/>
                          <a:cs typeface="Calibri"/>
                          <a:sym typeface="Calibri"/>
                        </a:rPr>
                        <a:t>韓</a:t>
                      </a:r>
                      <a:r>
                        <a:rPr lang="en-US" altLang="zh-TW" sz="1900" b="0" i="0" u="none" strike="noStrike" cap="none" dirty="0">
                          <a:solidFill>
                            <a:srgbClr val="0000FF"/>
                          </a:solidFill>
                          <a:latin typeface="標楷體" pitchFamily="65" charset="-120"/>
                          <a:ea typeface="標楷體" pitchFamily="65" charset="-120"/>
                          <a:cs typeface="Arial"/>
                          <a:sym typeface="Arial"/>
                        </a:rPr>
                        <a:t>)</a:t>
                      </a:r>
                      <a:r>
                        <a:rPr lang="zh-TW" altLang="en-US" sz="1900" b="0" i="0" u="none" strike="noStrike" cap="none" dirty="0">
                          <a:solidFill>
                            <a:schemeClr val="tx1"/>
                          </a:solidFill>
                          <a:latin typeface="標楷體" pitchFamily="65" charset="-120"/>
                          <a:ea typeface="標楷體" pitchFamily="65" charset="-120"/>
                          <a:cs typeface="Arial"/>
                          <a:sym typeface="Arial"/>
                        </a:rPr>
                        <a:t>地區則</a:t>
                      </a:r>
                      <a:r>
                        <a:rPr lang="zh-TW" altLang="en-US" sz="1900" b="0" i="0" u="none" strike="noStrike" cap="none" dirty="0">
                          <a:solidFill>
                            <a:srgbClr val="FF0000"/>
                          </a:solidFill>
                          <a:latin typeface="標楷體" pitchFamily="65" charset="-120"/>
                          <a:ea typeface="標楷體" pitchFamily="65" charset="-120"/>
                          <a:cs typeface="Arial"/>
                          <a:sym typeface="Arial"/>
                        </a:rPr>
                        <a:t>受海洋影響</a:t>
                      </a:r>
                      <a:r>
                        <a:rPr lang="zh-TW" altLang="en-US" sz="1900" b="0" i="0" u="none" strike="noStrike" cap="none" dirty="0">
                          <a:solidFill>
                            <a:schemeClr val="tx1"/>
                          </a:solidFill>
                          <a:latin typeface="標楷體" pitchFamily="65" charset="-120"/>
                          <a:ea typeface="標楷體" pitchFamily="65" charset="-120"/>
                          <a:cs typeface="Arial"/>
                          <a:sym typeface="Arial"/>
                        </a:rPr>
                        <a:t>，加上「</a:t>
                      </a:r>
                      <a:r>
                        <a:rPr lang="zh-TW" altLang="en-US" sz="1900" b="0" i="0" u="none" strike="noStrike" cap="none" dirty="0">
                          <a:solidFill>
                            <a:srgbClr val="FF0000"/>
                          </a:solidFill>
                          <a:latin typeface="標楷體" pitchFamily="65" charset="-120"/>
                          <a:ea typeface="標楷體" pitchFamily="65" charset="-120"/>
                          <a:cs typeface="Arial"/>
                          <a:sym typeface="Arial"/>
                        </a:rPr>
                        <a:t>黑潮」流經</a:t>
                      </a:r>
                      <a:r>
                        <a:rPr lang="zh-TW" altLang="en-US" sz="1900" b="0" i="0" u="none" strike="noStrike" cap="none" dirty="0">
                          <a:solidFill>
                            <a:schemeClr val="tx1"/>
                          </a:solidFill>
                          <a:latin typeface="標楷體" pitchFamily="65" charset="-120"/>
                          <a:ea typeface="標楷體" pitchFamily="65" charset="-120"/>
                          <a:cs typeface="Arial"/>
                          <a:sym typeface="Arial"/>
                        </a:rPr>
                        <a:t>，因此氣候</a:t>
                      </a:r>
                      <a:r>
                        <a:rPr lang="zh-TW" altLang="en-US" sz="1900" b="0" i="0" u="none" strike="noStrike" cap="none" dirty="0">
                          <a:solidFill>
                            <a:srgbClr val="FF0000"/>
                          </a:solidFill>
                          <a:latin typeface="標楷體" pitchFamily="65" charset="-120"/>
                          <a:ea typeface="標楷體" pitchFamily="65" charset="-120"/>
                          <a:cs typeface="Arial"/>
                          <a:sym typeface="Arial"/>
                        </a:rPr>
                        <a:t>比同緯度的亞洲大陸更暖溼</a:t>
                      </a:r>
                      <a:r>
                        <a:rPr lang="en-US" altLang="zh-TW" sz="1900" b="0" i="0" u="none" strike="noStrike" cap="none" dirty="0">
                          <a:solidFill>
                            <a:srgbClr val="0000FF"/>
                          </a:solidFill>
                          <a:latin typeface="標楷體" pitchFamily="65" charset="-120"/>
                          <a:ea typeface="標楷體" pitchFamily="65" charset="-120"/>
                          <a:cs typeface="Arial"/>
                          <a:sym typeface="Arial"/>
                        </a:rPr>
                        <a:t>(</a:t>
                      </a:r>
                      <a:r>
                        <a:rPr lang="zh-TW" altLang="en-US" sz="1900" b="0" i="0" u="none" strike="noStrike" cap="none" dirty="0">
                          <a:solidFill>
                            <a:srgbClr val="0000FF"/>
                          </a:solidFill>
                          <a:latin typeface="標楷體" pitchFamily="65" charset="-120"/>
                          <a:ea typeface="標楷體" pitchFamily="65" charset="-120"/>
                          <a:cs typeface="Arial"/>
                          <a:sym typeface="Arial"/>
                        </a:rPr>
                        <a:t>分界線更偏北</a:t>
                      </a:r>
                      <a:r>
                        <a:rPr lang="en-US" altLang="zh-TW" sz="1900" b="0" i="0" u="none" strike="noStrike" cap="none" dirty="0">
                          <a:solidFill>
                            <a:srgbClr val="0000FF"/>
                          </a:solidFill>
                          <a:latin typeface="標楷體" pitchFamily="65" charset="-120"/>
                          <a:ea typeface="標楷體" pitchFamily="65" charset="-120"/>
                          <a:cs typeface="Arial"/>
                          <a:sym typeface="Arial"/>
                        </a:rPr>
                        <a:t>)</a:t>
                      </a:r>
                      <a:r>
                        <a:rPr lang="zh-TW" altLang="en-US" sz="1900" b="0" i="0" u="none" strike="noStrike" cap="none" dirty="0">
                          <a:solidFill>
                            <a:schemeClr val="tx1"/>
                          </a:solidFill>
                          <a:latin typeface="標楷體" pitchFamily="65" charset="-120"/>
                          <a:ea typeface="標楷體" pitchFamily="65" charset="-120"/>
                          <a:cs typeface="Arial"/>
                          <a:sym typeface="Arial"/>
                        </a:rPr>
                        <a:t>，沿海平原地帶適合發展農業</a:t>
                      </a:r>
                      <a:endParaRPr lang="en-US" altLang="zh-TW" sz="19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 name="矩形 8"/>
          <p:cNvSpPr>
            <a:spLocks noChangeArrowheads="1"/>
          </p:cNvSpPr>
          <p:nvPr/>
        </p:nvSpPr>
        <p:spPr bwMode="auto">
          <a:xfrm>
            <a:off x="2884501" y="1862562"/>
            <a:ext cx="792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000" kern="1200" dirty="0">
                <a:solidFill>
                  <a:srgbClr val="FF0000"/>
                </a:solidFill>
                <a:latin typeface="標楷體" pitchFamily="65" charset="-120"/>
                <a:ea typeface="標楷體" pitchFamily="65" charset="-120"/>
                <a:cs typeface="Times New Roman" pitchFamily="18" charset="0"/>
              </a:rPr>
              <a:t>400</a:t>
            </a:r>
            <a:endParaRPr lang="zh-TW" altLang="en-US" sz="2000" kern="1200" dirty="0">
              <a:solidFill>
                <a:srgbClr val="FF0000"/>
              </a:solidFill>
              <a:latin typeface="標楷體" pitchFamily="65" charset="-120"/>
              <a:ea typeface="標楷體" pitchFamily="65" charset="-120"/>
              <a:cs typeface="Times New Roman" pitchFamily="18" charset="0"/>
            </a:endParaRPr>
          </a:p>
        </p:txBody>
      </p:sp>
      <p:sp>
        <p:nvSpPr>
          <p:cNvPr id="10" name="矩形 9"/>
          <p:cNvSpPr>
            <a:spLocks noChangeArrowheads="1"/>
          </p:cNvSpPr>
          <p:nvPr/>
        </p:nvSpPr>
        <p:spPr bwMode="auto">
          <a:xfrm>
            <a:off x="3889001" y="1440831"/>
            <a:ext cx="16170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大陸冷高壓</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11</a:t>
            </a:fld>
            <a:endParaRPr lang="zh-TW" sz="1400">
              <a:solidFill>
                <a:schemeClr val="dk1"/>
              </a:solidFill>
              <a:latin typeface="Arial"/>
              <a:ea typeface="Arial"/>
              <a:cs typeface="Arial"/>
              <a:sym typeface="Arial"/>
            </a:endParaRPr>
          </a:p>
        </p:txBody>
      </p:sp>
      <p:sp>
        <p:nvSpPr>
          <p:cNvPr id="12" name="矩形 11"/>
          <p:cNvSpPr>
            <a:spLocks noChangeArrowheads="1"/>
          </p:cNvSpPr>
          <p:nvPr/>
        </p:nvSpPr>
        <p:spPr bwMode="auto">
          <a:xfrm>
            <a:off x="0" y="-2070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p.199</a:t>
            </a:r>
            <a:endParaRPr lang="zh-TW" altLang="en-US" sz="3600" b="0" dirty="0"/>
          </a:p>
        </p:txBody>
      </p:sp>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56" y="3228672"/>
            <a:ext cx="4317657" cy="3631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7693" y="3226562"/>
            <a:ext cx="4318256" cy="3631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Line 4"/>
          <p:cNvSpPr>
            <a:spLocks noChangeShapeType="1"/>
          </p:cNvSpPr>
          <p:nvPr/>
        </p:nvSpPr>
        <p:spPr bwMode="auto">
          <a:xfrm flipH="1" flipV="1">
            <a:off x="961008" y="4615130"/>
            <a:ext cx="1810792" cy="1262141"/>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16" name="手繪多邊形 9">
            <a:extLst>
              <a:ext uri="{FF2B5EF4-FFF2-40B4-BE49-F238E27FC236}">
                <a16:creationId xmlns:a16="http://schemas.microsoft.com/office/drawing/2014/main" id="{00709AC4-62DA-4313-96A7-CDDF14518EC8}"/>
              </a:ext>
            </a:extLst>
          </p:cNvPr>
          <p:cNvSpPr/>
          <p:nvPr/>
        </p:nvSpPr>
        <p:spPr>
          <a:xfrm>
            <a:off x="1249059" y="3736267"/>
            <a:ext cx="1676633" cy="1780965"/>
          </a:xfrm>
          <a:custGeom>
            <a:avLst/>
            <a:gdLst>
              <a:gd name="connsiteX0" fmla="*/ 336177 w 3112994"/>
              <a:gd name="connsiteY0" fmla="*/ 2998694 h 2998694"/>
              <a:gd name="connsiteX1" fmla="*/ 322730 w 3112994"/>
              <a:gd name="connsiteY1" fmla="*/ 2924736 h 2998694"/>
              <a:gd name="connsiteX2" fmla="*/ 295835 w 3112994"/>
              <a:gd name="connsiteY2" fmla="*/ 2918012 h 2998694"/>
              <a:gd name="connsiteX3" fmla="*/ 255494 w 3112994"/>
              <a:gd name="connsiteY3" fmla="*/ 2904565 h 2998694"/>
              <a:gd name="connsiteX4" fmla="*/ 235324 w 3112994"/>
              <a:gd name="connsiteY4" fmla="*/ 2884394 h 2998694"/>
              <a:gd name="connsiteX5" fmla="*/ 215153 w 3112994"/>
              <a:gd name="connsiteY5" fmla="*/ 2877671 h 2998694"/>
              <a:gd name="connsiteX6" fmla="*/ 201706 w 3112994"/>
              <a:gd name="connsiteY6" fmla="*/ 2857500 h 2998694"/>
              <a:gd name="connsiteX7" fmla="*/ 161365 w 3112994"/>
              <a:gd name="connsiteY7" fmla="*/ 2817159 h 2998694"/>
              <a:gd name="connsiteX8" fmla="*/ 134471 w 3112994"/>
              <a:gd name="connsiteY8" fmla="*/ 2770094 h 2998694"/>
              <a:gd name="connsiteX9" fmla="*/ 107577 w 3112994"/>
              <a:gd name="connsiteY9" fmla="*/ 2749924 h 2998694"/>
              <a:gd name="connsiteX10" fmla="*/ 67235 w 3112994"/>
              <a:gd name="connsiteY10" fmla="*/ 2723030 h 2998694"/>
              <a:gd name="connsiteX11" fmla="*/ 47065 w 3112994"/>
              <a:gd name="connsiteY11" fmla="*/ 2709583 h 2998694"/>
              <a:gd name="connsiteX12" fmla="*/ 13447 w 3112994"/>
              <a:gd name="connsiteY12" fmla="*/ 2702859 h 2998694"/>
              <a:gd name="connsiteX13" fmla="*/ 0 w 3112994"/>
              <a:gd name="connsiteY13" fmla="*/ 2675965 h 2998694"/>
              <a:gd name="connsiteX14" fmla="*/ 13447 w 3112994"/>
              <a:gd name="connsiteY14" fmla="*/ 2534771 h 2998694"/>
              <a:gd name="connsiteX15" fmla="*/ 33618 w 3112994"/>
              <a:gd name="connsiteY15" fmla="*/ 2528047 h 2998694"/>
              <a:gd name="connsiteX16" fmla="*/ 114300 w 3112994"/>
              <a:gd name="connsiteY16" fmla="*/ 2521324 h 2998694"/>
              <a:gd name="connsiteX17" fmla="*/ 134471 w 3112994"/>
              <a:gd name="connsiteY17" fmla="*/ 2507877 h 2998694"/>
              <a:gd name="connsiteX18" fmla="*/ 161365 w 3112994"/>
              <a:gd name="connsiteY18" fmla="*/ 2501153 h 2998694"/>
              <a:gd name="connsiteX19" fmla="*/ 174812 w 3112994"/>
              <a:gd name="connsiteY19" fmla="*/ 2480983 h 2998694"/>
              <a:gd name="connsiteX20" fmla="*/ 194982 w 3112994"/>
              <a:gd name="connsiteY20" fmla="*/ 2467536 h 2998694"/>
              <a:gd name="connsiteX21" fmla="*/ 208430 w 3112994"/>
              <a:gd name="connsiteY21" fmla="*/ 2447365 h 2998694"/>
              <a:gd name="connsiteX22" fmla="*/ 228600 w 3112994"/>
              <a:gd name="connsiteY22" fmla="*/ 2427194 h 2998694"/>
              <a:gd name="connsiteX23" fmla="*/ 268941 w 3112994"/>
              <a:gd name="connsiteY23" fmla="*/ 2386853 h 2998694"/>
              <a:gd name="connsiteX24" fmla="*/ 389965 w 3112994"/>
              <a:gd name="connsiteY24" fmla="*/ 2393577 h 2998694"/>
              <a:gd name="connsiteX25" fmla="*/ 430306 w 3112994"/>
              <a:gd name="connsiteY25" fmla="*/ 2407024 h 2998694"/>
              <a:gd name="connsiteX26" fmla="*/ 443753 w 3112994"/>
              <a:gd name="connsiteY26" fmla="*/ 2427194 h 2998694"/>
              <a:gd name="connsiteX27" fmla="*/ 484094 w 3112994"/>
              <a:gd name="connsiteY27" fmla="*/ 2440641 h 2998694"/>
              <a:gd name="connsiteX28" fmla="*/ 584947 w 3112994"/>
              <a:gd name="connsiteY28" fmla="*/ 2427194 h 2998694"/>
              <a:gd name="connsiteX29" fmla="*/ 618565 w 3112994"/>
              <a:gd name="connsiteY29" fmla="*/ 2420471 h 2998694"/>
              <a:gd name="connsiteX30" fmla="*/ 692524 w 3112994"/>
              <a:gd name="connsiteY30" fmla="*/ 2407024 h 2998694"/>
              <a:gd name="connsiteX31" fmla="*/ 712694 w 3112994"/>
              <a:gd name="connsiteY31" fmla="*/ 2386853 h 2998694"/>
              <a:gd name="connsiteX32" fmla="*/ 739588 w 3112994"/>
              <a:gd name="connsiteY32" fmla="*/ 2380130 h 2998694"/>
              <a:gd name="connsiteX33" fmla="*/ 773206 w 3112994"/>
              <a:gd name="connsiteY33" fmla="*/ 2366683 h 2998694"/>
              <a:gd name="connsiteX34" fmla="*/ 840441 w 3112994"/>
              <a:gd name="connsiteY34" fmla="*/ 2353236 h 2998694"/>
              <a:gd name="connsiteX35" fmla="*/ 880782 w 3112994"/>
              <a:gd name="connsiteY35" fmla="*/ 2333065 h 2998694"/>
              <a:gd name="connsiteX36" fmla="*/ 921124 w 3112994"/>
              <a:gd name="connsiteY36" fmla="*/ 2292724 h 2998694"/>
              <a:gd name="connsiteX37" fmla="*/ 941294 w 3112994"/>
              <a:gd name="connsiteY37" fmla="*/ 2286000 h 2998694"/>
              <a:gd name="connsiteX38" fmla="*/ 1062318 w 3112994"/>
              <a:gd name="connsiteY38" fmla="*/ 2265830 h 2998694"/>
              <a:gd name="connsiteX39" fmla="*/ 1149724 w 3112994"/>
              <a:gd name="connsiteY39" fmla="*/ 2252383 h 2998694"/>
              <a:gd name="connsiteX40" fmla="*/ 1176618 w 3112994"/>
              <a:gd name="connsiteY40" fmla="*/ 2238936 h 2998694"/>
              <a:gd name="connsiteX41" fmla="*/ 1210235 w 3112994"/>
              <a:gd name="connsiteY41" fmla="*/ 2198594 h 2998694"/>
              <a:gd name="connsiteX42" fmla="*/ 1216959 w 3112994"/>
              <a:gd name="connsiteY42" fmla="*/ 2178424 h 2998694"/>
              <a:gd name="connsiteX43" fmla="*/ 1237130 w 3112994"/>
              <a:gd name="connsiteY43" fmla="*/ 2138083 h 2998694"/>
              <a:gd name="connsiteX44" fmla="*/ 1230406 w 3112994"/>
              <a:gd name="connsiteY44" fmla="*/ 1963271 h 2998694"/>
              <a:gd name="connsiteX45" fmla="*/ 1210235 w 3112994"/>
              <a:gd name="connsiteY45" fmla="*/ 1949824 h 2998694"/>
              <a:gd name="connsiteX46" fmla="*/ 1169894 w 3112994"/>
              <a:gd name="connsiteY46" fmla="*/ 1922930 h 2998694"/>
              <a:gd name="connsiteX47" fmla="*/ 1149724 w 3112994"/>
              <a:gd name="connsiteY47" fmla="*/ 1902759 h 2998694"/>
              <a:gd name="connsiteX48" fmla="*/ 1169894 w 3112994"/>
              <a:gd name="connsiteY48" fmla="*/ 1882588 h 2998694"/>
              <a:gd name="connsiteX49" fmla="*/ 1237130 w 3112994"/>
              <a:gd name="connsiteY49" fmla="*/ 1889312 h 2998694"/>
              <a:gd name="connsiteX50" fmla="*/ 1264024 w 3112994"/>
              <a:gd name="connsiteY50" fmla="*/ 1902759 h 2998694"/>
              <a:gd name="connsiteX51" fmla="*/ 1297641 w 3112994"/>
              <a:gd name="connsiteY51" fmla="*/ 1943100 h 2998694"/>
              <a:gd name="connsiteX52" fmla="*/ 1337982 w 3112994"/>
              <a:gd name="connsiteY52" fmla="*/ 2017059 h 2998694"/>
              <a:gd name="connsiteX53" fmla="*/ 1331259 w 3112994"/>
              <a:gd name="connsiteY53" fmla="*/ 2151530 h 2998694"/>
              <a:gd name="connsiteX54" fmla="*/ 1337982 w 3112994"/>
              <a:gd name="connsiteY54" fmla="*/ 2185147 h 2998694"/>
              <a:gd name="connsiteX55" fmla="*/ 1411941 w 3112994"/>
              <a:gd name="connsiteY55" fmla="*/ 2178424 h 2998694"/>
              <a:gd name="connsiteX56" fmla="*/ 1553135 w 3112994"/>
              <a:gd name="connsiteY56" fmla="*/ 2138083 h 2998694"/>
              <a:gd name="connsiteX57" fmla="*/ 1586753 w 3112994"/>
              <a:gd name="connsiteY57" fmla="*/ 2131359 h 2998694"/>
              <a:gd name="connsiteX58" fmla="*/ 1627094 w 3112994"/>
              <a:gd name="connsiteY58" fmla="*/ 2124636 h 2998694"/>
              <a:gd name="connsiteX59" fmla="*/ 1647265 w 3112994"/>
              <a:gd name="connsiteY59" fmla="*/ 2111188 h 2998694"/>
              <a:gd name="connsiteX60" fmla="*/ 1660712 w 3112994"/>
              <a:gd name="connsiteY60" fmla="*/ 2131359 h 2998694"/>
              <a:gd name="connsiteX61" fmla="*/ 1781735 w 3112994"/>
              <a:gd name="connsiteY61" fmla="*/ 2178424 h 2998694"/>
              <a:gd name="connsiteX62" fmla="*/ 1862418 w 3112994"/>
              <a:gd name="connsiteY62" fmla="*/ 2164977 h 2998694"/>
              <a:gd name="connsiteX63" fmla="*/ 1889312 w 3112994"/>
              <a:gd name="connsiteY63" fmla="*/ 2158253 h 2998694"/>
              <a:gd name="connsiteX64" fmla="*/ 1936377 w 3112994"/>
              <a:gd name="connsiteY64" fmla="*/ 2104465 h 2998694"/>
              <a:gd name="connsiteX65" fmla="*/ 1956547 w 3112994"/>
              <a:gd name="connsiteY65" fmla="*/ 2064124 h 2998694"/>
              <a:gd name="connsiteX66" fmla="*/ 1963271 w 3112994"/>
              <a:gd name="connsiteY66" fmla="*/ 2043953 h 2998694"/>
              <a:gd name="connsiteX67" fmla="*/ 1983441 w 3112994"/>
              <a:gd name="connsiteY67" fmla="*/ 2037230 h 2998694"/>
              <a:gd name="connsiteX68" fmla="*/ 2023782 w 3112994"/>
              <a:gd name="connsiteY68" fmla="*/ 1983441 h 2998694"/>
              <a:gd name="connsiteX69" fmla="*/ 2050677 w 3112994"/>
              <a:gd name="connsiteY69" fmla="*/ 1936377 h 2998694"/>
              <a:gd name="connsiteX70" fmla="*/ 2070847 w 3112994"/>
              <a:gd name="connsiteY70" fmla="*/ 1916206 h 2998694"/>
              <a:gd name="connsiteX71" fmla="*/ 2077571 w 3112994"/>
              <a:gd name="connsiteY71" fmla="*/ 1889312 h 2998694"/>
              <a:gd name="connsiteX72" fmla="*/ 2097741 w 3112994"/>
              <a:gd name="connsiteY72" fmla="*/ 1882588 h 2998694"/>
              <a:gd name="connsiteX73" fmla="*/ 2117912 w 3112994"/>
              <a:gd name="connsiteY73" fmla="*/ 1869141 h 2998694"/>
              <a:gd name="connsiteX74" fmla="*/ 2131359 w 3112994"/>
              <a:gd name="connsiteY74" fmla="*/ 1848971 h 2998694"/>
              <a:gd name="connsiteX75" fmla="*/ 2151530 w 3112994"/>
              <a:gd name="connsiteY75" fmla="*/ 1815353 h 2998694"/>
              <a:gd name="connsiteX76" fmla="*/ 2185147 w 3112994"/>
              <a:gd name="connsiteY76" fmla="*/ 1781736 h 2998694"/>
              <a:gd name="connsiteX77" fmla="*/ 2191871 w 3112994"/>
              <a:gd name="connsiteY77" fmla="*/ 1761565 h 2998694"/>
              <a:gd name="connsiteX78" fmla="*/ 2212041 w 3112994"/>
              <a:gd name="connsiteY78" fmla="*/ 1701053 h 2998694"/>
              <a:gd name="connsiteX79" fmla="*/ 2259106 w 3112994"/>
              <a:gd name="connsiteY79" fmla="*/ 1653988 h 2998694"/>
              <a:gd name="connsiteX80" fmla="*/ 2286000 w 3112994"/>
              <a:gd name="connsiteY80" fmla="*/ 1647265 h 2998694"/>
              <a:gd name="connsiteX81" fmla="*/ 2353235 w 3112994"/>
              <a:gd name="connsiteY81" fmla="*/ 1633818 h 2998694"/>
              <a:gd name="connsiteX82" fmla="*/ 2373406 w 3112994"/>
              <a:gd name="connsiteY82" fmla="*/ 1627094 h 2998694"/>
              <a:gd name="connsiteX83" fmla="*/ 2433918 w 3112994"/>
              <a:gd name="connsiteY83" fmla="*/ 1613647 h 2998694"/>
              <a:gd name="connsiteX84" fmla="*/ 2460812 w 3112994"/>
              <a:gd name="connsiteY84" fmla="*/ 1600200 h 2998694"/>
              <a:gd name="connsiteX85" fmla="*/ 2494430 w 3112994"/>
              <a:gd name="connsiteY85" fmla="*/ 1559859 h 2998694"/>
              <a:gd name="connsiteX86" fmla="*/ 2541494 w 3112994"/>
              <a:gd name="connsiteY86" fmla="*/ 1506071 h 2998694"/>
              <a:gd name="connsiteX87" fmla="*/ 2622177 w 3112994"/>
              <a:gd name="connsiteY87" fmla="*/ 1452283 h 2998694"/>
              <a:gd name="connsiteX88" fmla="*/ 2642347 w 3112994"/>
              <a:gd name="connsiteY88" fmla="*/ 1432112 h 2998694"/>
              <a:gd name="connsiteX89" fmla="*/ 2662518 w 3112994"/>
              <a:gd name="connsiteY89" fmla="*/ 1418665 h 2998694"/>
              <a:gd name="connsiteX90" fmla="*/ 2702859 w 3112994"/>
              <a:gd name="connsiteY90" fmla="*/ 1385047 h 2998694"/>
              <a:gd name="connsiteX91" fmla="*/ 2716306 w 3112994"/>
              <a:gd name="connsiteY91" fmla="*/ 1364877 h 2998694"/>
              <a:gd name="connsiteX92" fmla="*/ 2743200 w 3112994"/>
              <a:gd name="connsiteY92" fmla="*/ 1297641 h 2998694"/>
              <a:gd name="connsiteX93" fmla="*/ 2776818 w 3112994"/>
              <a:gd name="connsiteY93" fmla="*/ 1290918 h 2998694"/>
              <a:gd name="connsiteX94" fmla="*/ 2830606 w 3112994"/>
              <a:gd name="connsiteY94" fmla="*/ 1277471 h 2998694"/>
              <a:gd name="connsiteX95" fmla="*/ 2850777 w 3112994"/>
              <a:gd name="connsiteY95" fmla="*/ 1257300 h 2998694"/>
              <a:gd name="connsiteX96" fmla="*/ 2870947 w 3112994"/>
              <a:gd name="connsiteY96" fmla="*/ 1250577 h 2998694"/>
              <a:gd name="connsiteX97" fmla="*/ 2985247 w 3112994"/>
              <a:gd name="connsiteY97" fmla="*/ 1243853 h 2998694"/>
              <a:gd name="connsiteX98" fmla="*/ 2998694 w 3112994"/>
              <a:gd name="connsiteY98" fmla="*/ 1216959 h 2998694"/>
              <a:gd name="connsiteX99" fmla="*/ 3018865 w 3112994"/>
              <a:gd name="connsiteY99" fmla="*/ 1102659 h 2998694"/>
              <a:gd name="connsiteX100" fmla="*/ 3059206 w 3112994"/>
              <a:gd name="connsiteY100" fmla="*/ 1048871 h 2998694"/>
              <a:gd name="connsiteX101" fmla="*/ 3099547 w 3112994"/>
              <a:gd name="connsiteY101" fmla="*/ 1001806 h 2998694"/>
              <a:gd name="connsiteX102" fmla="*/ 3112994 w 3112994"/>
              <a:gd name="connsiteY102" fmla="*/ 954741 h 2998694"/>
              <a:gd name="connsiteX103" fmla="*/ 3106271 w 3112994"/>
              <a:gd name="connsiteY103" fmla="*/ 887506 h 2998694"/>
              <a:gd name="connsiteX104" fmla="*/ 3092824 w 3112994"/>
              <a:gd name="connsiteY104" fmla="*/ 867336 h 2998694"/>
              <a:gd name="connsiteX105" fmla="*/ 3065930 w 3112994"/>
              <a:gd name="connsiteY105" fmla="*/ 806824 h 2998694"/>
              <a:gd name="connsiteX106" fmla="*/ 3018865 w 3112994"/>
              <a:gd name="connsiteY106" fmla="*/ 759759 h 2998694"/>
              <a:gd name="connsiteX107" fmla="*/ 2985247 w 3112994"/>
              <a:gd name="connsiteY107" fmla="*/ 753036 h 2998694"/>
              <a:gd name="connsiteX108" fmla="*/ 2965077 w 3112994"/>
              <a:gd name="connsiteY108" fmla="*/ 732865 h 2998694"/>
              <a:gd name="connsiteX109" fmla="*/ 2938182 w 3112994"/>
              <a:gd name="connsiteY109" fmla="*/ 658906 h 2998694"/>
              <a:gd name="connsiteX110" fmla="*/ 2931459 w 3112994"/>
              <a:gd name="connsiteY110" fmla="*/ 389965 h 2998694"/>
              <a:gd name="connsiteX111" fmla="*/ 2918012 w 3112994"/>
              <a:gd name="connsiteY111" fmla="*/ 369794 h 2998694"/>
              <a:gd name="connsiteX112" fmla="*/ 2891118 w 3112994"/>
              <a:gd name="connsiteY112" fmla="*/ 356347 h 2998694"/>
              <a:gd name="connsiteX113" fmla="*/ 2897841 w 3112994"/>
              <a:gd name="connsiteY113" fmla="*/ 228600 h 2998694"/>
              <a:gd name="connsiteX114" fmla="*/ 2904565 w 3112994"/>
              <a:gd name="connsiteY114" fmla="*/ 174812 h 2998694"/>
              <a:gd name="connsiteX115" fmla="*/ 2884394 w 3112994"/>
              <a:gd name="connsiteY115" fmla="*/ 0 h 299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112994" h="2998694">
                <a:moveTo>
                  <a:pt x="336177" y="2998694"/>
                </a:moveTo>
                <a:cubicBezTo>
                  <a:pt x="340949" y="2960516"/>
                  <a:pt x="357324" y="2944504"/>
                  <a:pt x="322730" y="2924736"/>
                </a:cubicBezTo>
                <a:cubicBezTo>
                  <a:pt x="314707" y="2920151"/>
                  <a:pt x="304686" y="2920667"/>
                  <a:pt x="295835" y="2918012"/>
                </a:cubicBezTo>
                <a:cubicBezTo>
                  <a:pt x="282258" y="2913939"/>
                  <a:pt x="255494" y="2904565"/>
                  <a:pt x="255494" y="2904565"/>
                </a:cubicBezTo>
                <a:cubicBezTo>
                  <a:pt x="248771" y="2897841"/>
                  <a:pt x="243236" y="2889668"/>
                  <a:pt x="235324" y="2884394"/>
                </a:cubicBezTo>
                <a:cubicBezTo>
                  <a:pt x="229427" y="2880463"/>
                  <a:pt x="220687" y="2882098"/>
                  <a:pt x="215153" y="2877671"/>
                </a:cubicBezTo>
                <a:cubicBezTo>
                  <a:pt x="208843" y="2872623"/>
                  <a:pt x="207075" y="2863540"/>
                  <a:pt x="201706" y="2857500"/>
                </a:cubicBezTo>
                <a:cubicBezTo>
                  <a:pt x="189072" y="2843287"/>
                  <a:pt x="161365" y="2817159"/>
                  <a:pt x="161365" y="2817159"/>
                </a:cubicBezTo>
                <a:cubicBezTo>
                  <a:pt x="153672" y="2794082"/>
                  <a:pt x="154822" y="2790445"/>
                  <a:pt x="134471" y="2770094"/>
                </a:cubicBezTo>
                <a:cubicBezTo>
                  <a:pt x="126547" y="2762170"/>
                  <a:pt x="116085" y="2757217"/>
                  <a:pt x="107577" y="2749924"/>
                </a:cubicBezTo>
                <a:cubicBezTo>
                  <a:pt x="75526" y="2722452"/>
                  <a:pt x="101546" y="2734466"/>
                  <a:pt x="67235" y="2723030"/>
                </a:cubicBezTo>
                <a:cubicBezTo>
                  <a:pt x="60512" y="2718548"/>
                  <a:pt x="54631" y="2712420"/>
                  <a:pt x="47065" y="2709583"/>
                </a:cubicBezTo>
                <a:cubicBezTo>
                  <a:pt x="36365" y="2705570"/>
                  <a:pt x="22746" y="2709501"/>
                  <a:pt x="13447" y="2702859"/>
                </a:cubicBezTo>
                <a:cubicBezTo>
                  <a:pt x="5291" y="2697033"/>
                  <a:pt x="4482" y="2684930"/>
                  <a:pt x="0" y="2675965"/>
                </a:cubicBezTo>
                <a:cubicBezTo>
                  <a:pt x="4482" y="2628900"/>
                  <a:pt x="2969" y="2580873"/>
                  <a:pt x="13447" y="2534771"/>
                </a:cubicBezTo>
                <a:cubicBezTo>
                  <a:pt x="15018" y="2527860"/>
                  <a:pt x="26593" y="2528984"/>
                  <a:pt x="33618" y="2528047"/>
                </a:cubicBezTo>
                <a:cubicBezTo>
                  <a:pt x="60368" y="2524480"/>
                  <a:pt x="87406" y="2523565"/>
                  <a:pt x="114300" y="2521324"/>
                </a:cubicBezTo>
                <a:cubicBezTo>
                  <a:pt x="121024" y="2516842"/>
                  <a:pt x="127044" y="2511060"/>
                  <a:pt x="134471" y="2507877"/>
                </a:cubicBezTo>
                <a:cubicBezTo>
                  <a:pt x="142964" y="2504237"/>
                  <a:pt x="153676" y="2506279"/>
                  <a:pt x="161365" y="2501153"/>
                </a:cubicBezTo>
                <a:cubicBezTo>
                  <a:pt x="168088" y="2496671"/>
                  <a:pt x="169098" y="2486697"/>
                  <a:pt x="174812" y="2480983"/>
                </a:cubicBezTo>
                <a:cubicBezTo>
                  <a:pt x="180526" y="2475269"/>
                  <a:pt x="188259" y="2472018"/>
                  <a:pt x="194982" y="2467536"/>
                </a:cubicBezTo>
                <a:cubicBezTo>
                  <a:pt x="199465" y="2460812"/>
                  <a:pt x="203257" y="2453573"/>
                  <a:pt x="208430" y="2447365"/>
                </a:cubicBezTo>
                <a:cubicBezTo>
                  <a:pt x="214517" y="2440060"/>
                  <a:pt x="222895" y="2434801"/>
                  <a:pt x="228600" y="2427194"/>
                </a:cubicBezTo>
                <a:cubicBezTo>
                  <a:pt x="260355" y="2384854"/>
                  <a:pt x="232069" y="2399145"/>
                  <a:pt x="268941" y="2386853"/>
                </a:cubicBezTo>
                <a:cubicBezTo>
                  <a:pt x="309282" y="2389094"/>
                  <a:pt x="349873" y="2388565"/>
                  <a:pt x="389965" y="2393577"/>
                </a:cubicBezTo>
                <a:cubicBezTo>
                  <a:pt x="404030" y="2395335"/>
                  <a:pt x="430306" y="2407024"/>
                  <a:pt x="430306" y="2407024"/>
                </a:cubicBezTo>
                <a:cubicBezTo>
                  <a:pt x="434788" y="2413747"/>
                  <a:pt x="436901" y="2422911"/>
                  <a:pt x="443753" y="2427194"/>
                </a:cubicBezTo>
                <a:cubicBezTo>
                  <a:pt x="455773" y="2434706"/>
                  <a:pt x="484094" y="2440641"/>
                  <a:pt x="484094" y="2440641"/>
                </a:cubicBezTo>
                <a:lnTo>
                  <a:pt x="584947" y="2427194"/>
                </a:lnTo>
                <a:cubicBezTo>
                  <a:pt x="596248" y="2425499"/>
                  <a:pt x="607293" y="2422350"/>
                  <a:pt x="618565" y="2420471"/>
                </a:cubicBezTo>
                <a:cubicBezTo>
                  <a:pt x="690834" y="2408426"/>
                  <a:pt x="640893" y="2419931"/>
                  <a:pt x="692524" y="2407024"/>
                </a:cubicBezTo>
                <a:cubicBezTo>
                  <a:pt x="699247" y="2400300"/>
                  <a:pt x="704438" y="2391571"/>
                  <a:pt x="712694" y="2386853"/>
                </a:cubicBezTo>
                <a:cubicBezTo>
                  <a:pt x="720717" y="2382268"/>
                  <a:pt x="730822" y="2383052"/>
                  <a:pt x="739588" y="2380130"/>
                </a:cubicBezTo>
                <a:cubicBezTo>
                  <a:pt x="751038" y="2376313"/>
                  <a:pt x="761756" y="2370500"/>
                  <a:pt x="773206" y="2366683"/>
                </a:cubicBezTo>
                <a:cubicBezTo>
                  <a:pt x="793271" y="2359995"/>
                  <a:pt x="820571" y="2356547"/>
                  <a:pt x="840441" y="2353236"/>
                </a:cubicBezTo>
                <a:cubicBezTo>
                  <a:pt x="853728" y="2348807"/>
                  <a:pt x="871303" y="2344914"/>
                  <a:pt x="880782" y="2333065"/>
                </a:cubicBezTo>
                <a:cubicBezTo>
                  <a:pt x="914098" y="2291419"/>
                  <a:pt x="840016" y="2333278"/>
                  <a:pt x="921124" y="2292724"/>
                </a:cubicBezTo>
                <a:cubicBezTo>
                  <a:pt x="927463" y="2289555"/>
                  <a:pt x="934332" y="2287326"/>
                  <a:pt x="941294" y="2286000"/>
                </a:cubicBezTo>
                <a:cubicBezTo>
                  <a:pt x="981469" y="2278348"/>
                  <a:pt x="1021896" y="2272049"/>
                  <a:pt x="1062318" y="2265830"/>
                </a:cubicBezTo>
                <a:cubicBezTo>
                  <a:pt x="1168151" y="2249548"/>
                  <a:pt x="1072643" y="2267798"/>
                  <a:pt x="1149724" y="2252383"/>
                </a:cubicBezTo>
                <a:cubicBezTo>
                  <a:pt x="1158689" y="2247901"/>
                  <a:pt x="1168462" y="2244762"/>
                  <a:pt x="1176618" y="2238936"/>
                </a:cubicBezTo>
                <a:cubicBezTo>
                  <a:pt x="1188183" y="2230675"/>
                  <a:pt x="1203682" y="2211699"/>
                  <a:pt x="1210235" y="2198594"/>
                </a:cubicBezTo>
                <a:cubicBezTo>
                  <a:pt x="1213405" y="2192255"/>
                  <a:pt x="1214081" y="2184900"/>
                  <a:pt x="1216959" y="2178424"/>
                </a:cubicBezTo>
                <a:cubicBezTo>
                  <a:pt x="1223065" y="2164686"/>
                  <a:pt x="1230406" y="2151530"/>
                  <a:pt x="1237130" y="2138083"/>
                </a:cubicBezTo>
                <a:cubicBezTo>
                  <a:pt x="1234889" y="2079812"/>
                  <a:pt x="1238653" y="2020999"/>
                  <a:pt x="1230406" y="1963271"/>
                </a:cubicBezTo>
                <a:cubicBezTo>
                  <a:pt x="1229263" y="1955271"/>
                  <a:pt x="1216443" y="1954997"/>
                  <a:pt x="1210235" y="1949824"/>
                </a:cubicBezTo>
                <a:cubicBezTo>
                  <a:pt x="1176659" y="1921843"/>
                  <a:pt x="1205343" y="1934745"/>
                  <a:pt x="1169894" y="1922930"/>
                </a:cubicBezTo>
                <a:cubicBezTo>
                  <a:pt x="1163171" y="1916206"/>
                  <a:pt x="1149724" y="1912267"/>
                  <a:pt x="1149724" y="1902759"/>
                </a:cubicBezTo>
                <a:cubicBezTo>
                  <a:pt x="1149724" y="1893251"/>
                  <a:pt x="1160496" y="1884034"/>
                  <a:pt x="1169894" y="1882588"/>
                </a:cubicBezTo>
                <a:cubicBezTo>
                  <a:pt x="1192156" y="1879163"/>
                  <a:pt x="1214718" y="1887071"/>
                  <a:pt x="1237130" y="1889312"/>
                </a:cubicBezTo>
                <a:cubicBezTo>
                  <a:pt x="1246095" y="1893794"/>
                  <a:pt x="1256533" y="1896100"/>
                  <a:pt x="1264024" y="1902759"/>
                </a:cubicBezTo>
                <a:cubicBezTo>
                  <a:pt x="1277107" y="1914388"/>
                  <a:pt x="1287139" y="1929097"/>
                  <a:pt x="1297641" y="1943100"/>
                </a:cubicBezTo>
                <a:cubicBezTo>
                  <a:pt x="1326432" y="1981488"/>
                  <a:pt x="1322116" y="1977394"/>
                  <a:pt x="1337982" y="2017059"/>
                </a:cubicBezTo>
                <a:cubicBezTo>
                  <a:pt x="1335741" y="2061883"/>
                  <a:pt x="1331259" y="2106650"/>
                  <a:pt x="1331259" y="2151530"/>
                </a:cubicBezTo>
                <a:cubicBezTo>
                  <a:pt x="1331259" y="2162958"/>
                  <a:pt x="1327141" y="2181533"/>
                  <a:pt x="1337982" y="2185147"/>
                </a:cubicBezTo>
                <a:cubicBezTo>
                  <a:pt x="1361466" y="2192975"/>
                  <a:pt x="1387288" y="2180665"/>
                  <a:pt x="1411941" y="2178424"/>
                </a:cubicBezTo>
                <a:cubicBezTo>
                  <a:pt x="1501318" y="2133736"/>
                  <a:pt x="1454223" y="2147074"/>
                  <a:pt x="1553135" y="2138083"/>
                </a:cubicBezTo>
                <a:lnTo>
                  <a:pt x="1586753" y="2131359"/>
                </a:lnTo>
                <a:cubicBezTo>
                  <a:pt x="1600166" y="2128920"/>
                  <a:pt x="1614161" y="2128947"/>
                  <a:pt x="1627094" y="2124636"/>
                </a:cubicBezTo>
                <a:cubicBezTo>
                  <a:pt x="1634760" y="2122081"/>
                  <a:pt x="1640541" y="2115671"/>
                  <a:pt x="1647265" y="2111188"/>
                </a:cubicBezTo>
                <a:cubicBezTo>
                  <a:pt x="1651747" y="2117912"/>
                  <a:pt x="1658586" y="2123563"/>
                  <a:pt x="1660712" y="2131359"/>
                </a:cubicBezTo>
                <a:cubicBezTo>
                  <a:pt x="1685495" y="2222234"/>
                  <a:pt x="1621248" y="2187864"/>
                  <a:pt x="1781735" y="2178424"/>
                </a:cubicBezTo>
                <a:cubicBezTo>
                  <a:pt x="1808629" y="2173942"/>
                  <a:pt x="1835620" y="2170002"/>
                  <a:pt x="1862418" y="2164977"/>
                </a:cubicBezTo>
                <a:cubicBezTo>
                  <a:pt x="1871500" y="2163274"/>
                  <a:pt x="1881623" y="2163379"/>
                  <a:pt x="1889312" y="2158253"/>
                </a:cubicBezTo>
                <a:cubicBezTo>
                  <a:pt x="1912913" y="2142519"/>
                  <a:pt x="1922161" y="2125790"/>
                  <a:pt x="1936377" y="2104465"/>
                </a:cubicBezTo>
                <a:cubicBezTo>
                  <a:pt x="1953273" y="2053771"/>
                  <a:pt x="1930483" y="2116251"/>
                  <a:pt x="1956547" y="2064124"/>
                </a:cubicBezTo>
                <a:cubicBezTo>
                  <a:pt x="1959717" y="2057785"/>
                  <a:pt x="1958259" y="2048965"/>
                  <a:pt x="1963271" y="2043953"/>
                </a:cubicBezTo>
                <a:cubicBezTo>
                  <a:pt x="1968282" y="2038942"/>
                  <a:pt x="1976718" y="2039471"/>
                  <a:pt x="1983441" y="2037230"/>
                </a:cubicBezTo>
                <a:cubicBezTo>
                  <a:pt x="1996378" y="2021058"/>
                  <a:pt x="2013076" y="2002176"/>
                  <a:pt x="2023782" y="1983441"/>
                </a:cubicBezTo>
                <a:cubicBezTo>
                  <a:pt x="2035738" y="1962518"/>
                  <a:pt x="2035786" y="1954246"/>
                  <a:pt x="2050677" y="1936377"/>
                </a:cubicBezTo>
                <a:cubicBezTo>
                  <a:pt x="2056764" y="1929072"/>
                  <a:pt x="2064124" y="1922930"/>
                  <a:pt x="2070847" y="1916206"/>
                </a:cubicBezTo>
                <a:cubicBezTo>
                  <a:pt x="2073088" y="1907241"/>
                  <a:pt x="2071798" y="1896528"/>
                  <a:pt x="2077571" y="1889312"/>
                </a:cubicBezTo>
                <a:cubicBezTo>
                  <a:pt x="2081998" y="1883778"/>
                  <a:pt x="2091402" y="1885758"/>
                  <a:pt x="2097741" y="1882588"/>
                </a:cubicBezTo>
                <a:cubicBezTo>
                  <a:pt x="2104969" y="1878974"/>
                  <a:pt x="2111188" y="1873623"/>
                  <a:pt x="2117912" y="1869141"/>
                </a:cubicBezTo>
                <a:cubicBezTo>
                  <a:pt x="2122394" y="1862418"/>
                  <a:pt x="2127076" y="1855823"/>
                  <a:pt x="2131359" y="1848971"/>
                </a:cubicBezTo>
                <a:cubicBezTo>
                  <a:pt x="2138285" y="1837889"/>
                  <a:pt x="2143366" y="1825558"/>
                  <a:pt x="2151530" y="1815353"/>
                </a:cubicBezTo>
                <a:cubicBezTo>
                  <a:pt x="2161430" y="1802978"/>
                  <a:pt x="2173941" y="1792942"/>
                  <a:pt x="2185147" y="1781736"/>
                </a:cubicBezTo>
                <a:cubicBezTo>
                  <a:pt x="2187388" y="1775012"/>
                  <a:pt x="2190152" y="1768441"/>
                  <a:pt x="2191871" y="1761565"/>
                </a:cubicBezTo>
                <a:cubicBezTo>
                  <a:pt x="2197764" y="1737993"/>
                  <a:pt x="2195935" y="1720738"/>
                  <a:pt x="2212041" y="1701053"/>
                </a:cubicBezTo>
                <a:cubicBezTo>
                  <a:pt x="2226090" y="1683881"/>
                  <a:pt x="2237582" y="1659369"/>
                  <a:pt x="2259106" y="1653988"/>
                </a:cubicBezTo>
                <a:cubicBezTo>
                  <a:pt x="2268071" y="1651747"/>
                  <a:pt x="2276965" y="1649201"/>
                  <a:pt x="2286000" y="1647265"/>
                </a:cubicBezTo>
                <a:cubicBezTo>
                  <a:pt x="2308348" y="1642476"/>
                  <a:pt x="2330965" y="1638957"/>
                  <a:pt x="2353235" y="1633818"/>
                </a:cubicBezTo>
                <a:cubicBezTo>
                  <a:pt x="2360141" y="1632224"/>
                  <a:pt x="2366530" y="1628813"/>
                  <a:pt x="2373406" y="1627094"/>
                </a:cubicBezTo>
                <a:cubicBezTo>
                  <a:pt x="2393452" y="1622083"/>
                  <a:pt x="2413747" y="1618129"/>
                  <a:pt x="2433918" y="1613647"/>
                </a:cubicBezTo>
                <a:cubicBezTo>
                  <a:pt x="2442883" y="1609165"/>
                  <a:pt x="2452656" y="1606026"/>
                  <a:pt x="2460812" y="1600200"/>
                </a:cubicBezTo>
                <a:cubicBezTo>
                  <a:pt x="2484180" y="1583509"/>
                  <a:pt x="2477846" y="1580128"/>
                  <a:pt x="2494430" y="1559859"/>
                </a:cubicBezTo>
                <a:cubicBezTo>
                  <a:pt x="2509516" y="1541420"/>
                  <a:pt x="2524648" y="1522917"/>
                  <a:pt x="2541494" y="1506071"/>
                </a:cubicBezTo>
                <a:cubicBezTo>
                  <a:pt x="2577664" y="1469901"/>
                  <a:pt x="2577205" y="1483764"/>
                  <a:pt x="2622177" y="1452283"/>
                </a:cubicBezTo>
                <a:cubicBezTo>
                  <a:pt x="2629967" y="1446830"/>
                  <a:pt x="2635042" y="1438199"/>
                  <a:pt x="2642347" y="1432112"/>
                </a:cubicBezTo>
                <a:cubicBezTo>
                  <a:pt x="2648555" y="1426939"/>
                  <a:pt x="2656310" y="1423838"/>
                  <a:pt x="2662518" y="1418665"/>
                </a:cubicBezTo>
                <a:cubicBezTo>
                  <a:pt x="2714287" y="1375524"/>
                  <a:pt x="2652778" y="1418434"/>
                  <a:pt x="2702859" y="1385047"/>
                </a:cubicBezTo>
                <a:cubicBezTo>
                  <a:pt x="2707341" y="1378324"/>
                  <a:pt x="2713984" y="1372617"/>
                  <a:pt x="2716306" y="1364877"/>
                </a:cubicBezTo>
                <a:cubicBezTo>
                  <a:pt x="2725587" y="1333943"/>
                  <a:pt x="2711097" y="1313692"/>
                  <a:pt x="2743200" y="1297641"/>
                </a:cubicBezTo>
                <a:cubicBezTo>
                  <a:pt x="2753421" y="1292530"/>
                  <a:pt x="2765683" y="1293488"/>
                  <a:pt x="2776818" y="1290918"/>
                </a:cubicBezTo>
                <a:cubicBezTo>
                  <a:pt x="2794826" y="1286762"/>
                  <a:pt x="2830606" y="1277471"/>
                  <a:pt x="2830606" y="1277471"/>
                </a:cubicBezTo>
                <a:cubicBezTo>
                  <a:pt x="2837330" y="1270747"/>
                  <a:pt x="2842865" y="1262574"/>
                  <a:pt x="2850777" y="1257300"/>
                </a:cubicBezTo>
                <a:cubicBezTo>
                  <a:pt x="2856674" y="1253369"/>
                  <a:pt x="2863895" y="1251282"/>
                  <a:pt x="2870947" y="1250577"/>
                </a:cubicBezTo>
                <a:cubicBezTo>
                  <a:pt x="2908923" y="1246779"/>
                  <a:pt x="2947147" y="1246094"/>
                  <a:pt x="2985247" y="1243853"/>
                </a:cubicBezTo>
                <a:cubicBezTo>
                  <a:pt x="2989729" y="1234888"/>
                  <a:pt x="2996440" y="1226725"/>
                  <a:pt x="2998694" y="1216959"/>
                </a:cubicBezTo>
                <a:cubicBezTo>
                  <a:pt x="3023005" y="1111612"/>
                  <a:pt x="2986339" y="1200238"/>
                  <a:pt x="3018865" y="1102659"/>
                </a:cubicBezTo>
                <a:cubicBezTo>
                  <a:pt x="3029334" y="1071251"/>
                  <a:pt x="3036163" y="1074218"/>
                  <a:pt x="3059206" y="1048871"/>
                </a:cubicBezTo>
                <a:cubicBezTo>
                  <a:pt x="3073105" y="1033582"/>
                  <a:pt x="3086100" y="1017494"/>
                  <a:pt x="3099547" y="1001806"/>
                </a:cubicBezTo>
                <a:cubicBezTo>
                  <a:pt x="3102719" y="992290"/>
                  <a:pt x="3112994" y="963189"/>
                  <a:pt x="3112994" y="954741"/>
                </a:cubicBezTo>
                <a:cubicBezTo>
                  <a:pt x="3112994" y="932218"/>
                  <a:pt x="3111336" y="909453"/>
                  <a:pt x="3106271" y="887506"/>
                </a:cubicBezTo>
                <a:cubicBezTo>
                  <a:pt x="3104454" y="879632"/>
                  <a:pt x="3096106" y="874720"/>
                  <a:pt x="3092824" y="867336"/>
                </a:cubicBezTo>
                <a:cubicBezTo>
                  <a:pt x="3079046" y="836336"/>
                  <a:pt x="3085972" y="829092"/>
                  <a:pt x="3065930" y="806824"/>
                </a:cubicBezTo>
                <a:cubicBezTo>
                  <a:pt x="3051088" y="790333"/>
                  <a:pt x="3040621" y="764110"/>
                  <a:pt x="3018865" y="759759"/>
                </a:cubicBezTo>
                <a:lnTo>
                  <a:pt x="2985247" y="753036"/>
                </a:lnTo>
                <a:cubicBezTo>
                  <a:pt x="2978524" y="746312"/>
                  <a:pt x="2969630" y="741212"/>
                  <a:pt x="2965077" y="732865"/>
                </a:cubicBezTo>
                <a:cubicBezTo>
                  <a:pt x="2958604" y="720997"/>
                  <a:pt x="2944971" y="679271"/>
                  <a:pt x="2938182" y="658906"/>
                </a:cubicBezTo>
                <a:cubicBezTo>
                  <a:pt x="2935941" y="569259"/>
                  <a:pt x="2937700" y="479423"/>
                  <a:pt x="2931459" y="389965"/>
                </a:cubicBezTo>
                <a:cubicBezTo>
                  <a:pt x="2930897" y="381904"/>
                  <a:pt x="2924220" y="374967"/>
                  <a:pt x="2918012" y="369794"/>
                </a:cubicBezTo>
                <a:cubicBezTo>
                  <a:pt x="2910312" y="363378"/>
                  <a:pt x="2900083" y="360829"/>
                  <a:pt x="2891118" y="356347"/>
                </a:cubicBezTo>
                <a:cubicBezTo>
                  <a:pt x="2893359" y="313765"/>
                  <a:pt x="2894691" y="271125"/>
                  <a:pt x="2897841" y="228600"/>
                </a:cubicBezTo>
                <a:cubicBezTo>
                  <a:pt x="2899176" y="210580"/>
                  <a:pt x="2906130" y="192813"/>
                  <a:pt x="2904565" y="174812"/>
                </a:cubicBezTo>
                <a:cubicBezTo>
                  <a:pt x="2879559" y="-112757"/>
                  <a:pt x="2884394" y="225125"/>
                  <a:pt x="2884394" y="0"/>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solidFill>
                <a:srgbClr val="FF0000"/>
              </a:solidFill>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47462E86-BD5E-4A23-ACE8-6BCE092A3435}"/>
              </a:ext>
            </a:extLst>
          </p:cNvPr>
          <p:cNvGrpSpPr/>
          <p:nvPr/>
        </p:nvGrpSpPr>
        <p:grpSpPr>
          <a:xfrm>
            <a:off x="6227770" y="5104410"/>
            <a:ext cx="2916230" cy="1027087"/>
            <a:chOff x="3517564" y="4995371"/>
            <a:chExt cx="3668238" cy="1266545"/>
          </a:xfrm>
        </p:grpSpPr>
        <p:sp>
          <p:nvSpPr>
            <p:cNvPr id="18" name="直線圖說文字 1 11">
              <a:extLst>
                <a:ext uri="{FF2B5EF4-FFF2-40B4-BE49-F238E27FC236}">
                  <a16:creationId xmlns:a16="http://schemas.microsoft.com/office/drawing/2014/main" id="{4BAD9BEB-7EFA-4D39-91CF-8D86EDB5A92C}"/>
                </a:ext>
              </a:extLst>
            </p:cNvPr>
            <p:cNvSpPr/>
            <p:nvPr/>
          </p:nvSpPr>
          <p:spPr>
            <a:xfrm>
              <a:off x="5717739" y="5137551"/>
              <a:ext cx="1443521" cy="508816"/>
            </a:xfrm>
            <a:prstGeom prst="borderCallout1">
              <a:avLst>
                <a:gd name="adj1" fmla="val 50887"/>
                <a:gd name="adj2" fmla="val -365"/>
                <a:gd name="adj3" fmla="val -20576"/>
                <a:gd name="adj4" fmla="val -27790"/>
              </a:avLst>
            </a:prstGeom>
            <a:ln w="38100">
              <a:solidFill>
                <a:srgbClr val="FF33CC"/>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zh-TW" altLang="en-US" sz="1800" dirty="0">
                  <a:latin typeface="微軟正黑體" panose="020B0604030504040204" pitchFamily="34" charset="-120"/>
                  <a:ea typeface="微軟正黑體" panose="020B0604030504040204" pitchFamily="34" charset="-120"/>
                </a:rPr>
                <a:t>冬溫</a:t>
              </a:r>
              <a:r>
                <a:rPr lang="en-US" altLang="zh-TW" sz="1800" dirty="0">
                  <a:latin typeface="微軟正黑體" panose="020B0604030504040204" pitchFamily="34" charset="-120"/>
                  <a:ea typeface="微軟正黑體" panose="020B0604030504040204" pitchFamily="34" charset="-120"/>
                </a:rPr>
                <a:t>0</a:t>
              </a:r>
              <a:r>
                <a:rPr lang="zh-TW" altLang="en-US" sz="1800" dirty="0">
                  <a:latin typeface="微軟正黑體" panose="020B0604030504040204" pitchFamily="34" charset="-120"/>
                  <a:ea typeface="微軟正黑體" panose="020B0604030504040204" pitchFamily="34" charset="-120"/>
                </a:rPr>
                <a:t>度</a:t>
              </a:r>
            </a:p>
          </p:txBody>
        </p:sp>
        <p:sp>
          <p:nvSpPr>
            <p:cNvPr id="19" name="直線圖說文字 1 12">
              <a:extLst>
                <a:ext uri="{FF2B5EF4-FFF2-40B4-BE49-F238E27FC236}">
                  <a16:creationId xmlns:a16="http://schemas.microsoft.com/office/drawing/2014/main" id="{85EEA520-5F8B-4A5F-827B-448D4E8B7E92}"/>
                </a:ext>
              </a:extLst>
            </p:cNvPr>
            <p:cNvSpPr/>
            <p:nvPr/>
          </p:nvSpPr>
          <p:spPr>
            <a:xfrm>
              <a:off x="5742282" y="5753100"/>
              <a:ext cx="1443520" cy="508816"/>
            </a:xfrm>
            <a:prstGeom prst="borderCallout1">
              <a:avLst>
                <a:gd name="adj1" fmla="val 48303"/>
                <a:gd name="adj2" fmla="val -20010"/>
                <a:gd name="adj3" fmla="val 54556"/>
                <a:gd name="adj4" fmla="val -53513"/>
              </a:avLst>
            </a:prstGeom>
            <a:ln w="38100">
              <a:solidFill>
                <a:srgbClr val="FF33CC"/>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zh-TW" altLang="en-US" sz="1800" dirty="0">
                  <a:latin typeface="微軟正黑體" panose="020B0604030504040204" pitchFamily="34" charset="-120"/>
                  <a:ea typeface="微軟正黑體" panose="020B0604030504040204" pitchFamily="34" charset="-120"/>
                </a:rPr>
                <a:t>冬溫</a:t>
              </a:r>
              <a:r>
                <a:rPr lang="en-US" altLang="zh-TW" sz="1800" dirty="0">
                  <a:latin typeface="微軟正黑體" panose="020B0604030504040204" pitchFamily="34" charset="-120"/>
                  <a:ea typeface="微軟正黑體" panose="020B0604030504040204" pitchFamily="34" charset="-120"/>
                </a:rPr>
                <a:t>18</a:t>
              </a:r>
              <a:r>
                <a:rPr lang="zh-TW" altLang="en-US" sz="1800" dirty="0">
                  <a:latin typeface="微軟正黑體" panose="020B0604030504040204" pitchFamily="34" charset="-120"/>
                  <a:ea typeface="微軟正黑體" panose="020B0604030504040204" pitchFamily="34" charset="-120"/>
                </a:rPr>
                <a:t>度</a:t>
              </a:r>
            </a:p>
          </p:txBody>
        </p:sp>
        <p:sp>
          <p:nvSpPr>
            <p:cNvPr id="20" name="手繪多邊形 13">
              <a:extLst>
                <a:ext uri="{FF2B5EF4-FFF2-40B4-BE49-F238E27FC236}">
                  <a16:creationId xmlns:a16="http://schemas.microsoft.com/office/drawing/2014/main" id="{46B4321F-AA9D-430B-9CD9-7C3A62798E4E}"/>
                </a:ext>
              </a:extLst>
            </p:cNvPr>
            <p:cNvSpPr/>
            <p:nvPr/>
          </p:nvSpPr>
          <p:spPr>
            <a:xfrm>
              <a:off x="4163603" y="4995371"/>
              <a:ext cx="1247775" cy="95964"/>
            </a:xfrm>
            <a:custGeom>
              <a:avLst/>
              <a:gdLst>
                <a:gd name="connsiteX0" fmla="*/ 0 w 1247775"/>
                <a:gd name="connsiteY0" fmla="*/ 47824 h 95964"/>
                <a:gd name="connsiteX1" fmla="*/ 152400 w 1247775"/>
                <a:gd name="connsiteY1" fmla="*/ 66874 h 95964"/>
                <a:gd name="connsiteX2" fmla="*/ 466725 w 1247775"/>
                <a:gd name="connsiteY2" fmla="*/ 76399 h 95964"/>
                <a:gd name="connsiteX3" fmla="*/ 504825 w 1247775"/>
                <a:gd name="connsiteY3" fmla="*/ 85924 h 95964"/>
                <a:gd name="connsiteX4" fmla="*/ 857250 w 1247775"/>
                <a:gd name="connsiteY4" fmla="*/ 85924 h 95964"/>
                <a:gd name="connsiteX5" fmla="*/ 923925 w 1247775"/>
                <a:gd name="connsiteY5" fmla="*/ 76399 h 95964"/>
                <a:gd name="connsiteX6" fmla="*/ 971550 w 1247775"/>
                <a:gd name="connsiteY6" fmla="*/ 57349 h 95964"/>
                <a:gd name="connsiteX7" fmla="*/ 1066800 w 1247775"/>
                <a:gd name="connsiteY7" fmla="*/ 47824 h 95964"/>
                <a:gd name="connsiteX8" fmla="*/ 1104900 w 1247775"/>
                <a:gd name="connsiteY8" fmla="*/ 38299 h 95964"/>
                <a:gd name="connsiteX9" fmla="*/ 1133475 w 1247775"/>
                <a:gd name="connsiteY9" fmla="*/ 28774 h 95964"/>
                <a:gd name="connsiteX10" fmla="*/ 1200150 w 1247775"/>
                <a:gd name="connsiteY10" fmla="*/ 19249 h 95964"/>
                <a:gd name="connsiteX11" fmla="*/ 1247775 w 1247775"/>
                <a:gd name="connsiteY11" fmla="*/ 199 h 9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7775" h="95964">
                  <a:moveTo>
                    <a:pt x="0" y="47824"/>
                  </a:moveTo>
                  <a:cubicBezTo>
                    <a:pt x="38894" y="53380"/>
                    <a:pt x="116387" y="65159"/>
                    <a:pt x="152400" y="66874"/>
                  </a:cubicBezTo>
                  <a:cubicBezTo>
                    <a:pt x="257104" y="71860"/>
                    <a:pt x="361950" y="73224"/>
                    <a:pt x="466725" y="76399"/>
                  </a:cubicBezTo>
                  <a:cubicBezTo>
                    <a:pt x="479425" y="79574"/>
                    <a:pt x="491849" y="84194"/>
                    <a:pt x="504825" y="85924"/>
                  </a:cubicBezTo>
                  <a:cubicBezTo>
                    <a:pt x="645681" y="104705"/>
                    <a:pt x="683367" y="92612"/>
                    <a:pt x="857250" y="85924"/>
                  </a:cubicBezTo>
                  <a:cubicBezTo>
                    <a:pt x="879475" y="82749"/>
                    <a:pt x="902145" y="81844"/>
                    <a:pt x="923925" y="76399"/>
                  </a:cubicBezTo>
                  <a:cubicBezTo>
                    <a:pt x="940512" y="72252"/>
                    <a:pt x="954784" y="60702"/>
                    <a:pt x="971550" y="57349"/>
                  </a:cubicBezTo>
                  <a:cubicBezTo>
                    <a:pt x="1002839" y="51091"/>
                    <a:pt x="1035050" y="50999"/>
                    <a:pt x="1066800" y="47824"/>
                  </a:cubicBezTo>
                  <a:cubicBezTo>
                    <a:pt x="1079500" y="44649"/>
                    <a:pt x="1092313" y="41895"/>
                    <a:pt x="1104900" y="38299"/>
                  </a:cubicBezTo>
                  <a:cubicBezTo>
                    <a:pt x="1114554" y="35541"/>
                    <a:pt x="1123630" y="30743"/>
                    <a:pt x="1133475" y="28774"/>
                  </a:cubicBezTo>
                  <a:cubicBezTo>
                    <a:pt x="1155490" y="24371"/>
                    <a:pt x="1177925" y="22424"/>
                    <a:pt x="1200150" y="19249"/>
                  </a:cubicBezTo>
                  <a:cubicBezTo>
                    <a:pt x="1234009" y="-3323"/>
                    <a:pt x="1217277" y="199"/>
                    <a:pt x="1247775" y="199"/>
                  </a:cubicBezTo>
                </a:path>
              </a:pathLst>
            </a:custGeom>
            <a:noFill/>
            <a:ln w="63500">
              <a:solidFill>
                <a:srgbClr val="FF33C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21" name="手繪多邊形 14">
              <a:extLst>
                <a:ext uri="{FF2B5EF4-FFF2-40B4-BE49-F238E27FC236}">
                  <a16:creationId xmlns:a16="http://schemas.microsoft.com/office/drawing/2014/main" id="{1F05B428-F0A3-435B-9AA2-FBE129D85346}"/>
                </a:ext>
              </a:extLst>
            </p:cNvPr>
            <p:cNvSpPr/>
            <p:nvPr/>
          </p:nvSpPr>
          <p:spPr>
            <a:xfrm>
              <a:off x="3517564" y="5844952"/>
              <a:ext cx="2224716" cy="310230"/>
            </a:xfrm>
            <a:custGeom>
              <a:avLst/>
              <a:gdLst>
                <a:gd name="connsiteX0" fmla="*/ 1838325 w 1838325"/>
                <a:gd name="connsiteY0" fmla="*/ 185738 h 310231"/>
                <a:gd name="connsiteX1" fmla="*/ 1776413 w 1838325"/>
                <a:gd name="connsiteY1" fmla="*/ 180975 h 310231"/>
                <a:gd name="connsiteX2" fmla="*/ 1752600 w 1838325"/>
                <a:gd name="connsiteY2" fmla="*/ 176213 h 310231"/>
                <a:gd name="connsiteX3" fmla="*/ 1719263 w 1838325"/>
                <a:gd name="connsiteY3" fmla="*/ 171450 h 310231"/>
                <a:gd name="connsiteX4" fmla="*/ 1676400 w 1838325"/>
                <a:gd name="connsiteY4" fmla="*/ 161925 h 310231"/>
                <a:gd name="connsiteX5" fmla="*/ 1619250 w 1838325"/>
                <a:gd name="connsiteY5" fmla="*/ 166688 h 310231"/>
                <a:gd name="connsiteX6" fmla="*/ 1600200 w 1838325"/>
                <a:gd name="connsiteY6" fmla="*/ 171450 h 310231"/>
                <a:gd name="connsiteX7" fmla="*/ 1566863 w 1838325"/>
                <a:gd name="connsiteY7" fmla="*/ 185738 h 310231"/>
                <a:gd name="connsiteX8" fmla="*/ 1209675 w 1838325"/>
                <a:gd name="connsiteY8" fmla="*/ 176213 h 310231"/>
                <a:gd name="connsiteX9" fmla="*/ 1166813 w 1838325"/>
                <a:gd name="connsiteY9" fmla="*/ 171450 h 310231"/>
                <a:gd name="connsiteX10" fmla="*/ 1152525 w 1838325"/>
                <a:gd name="connsiteY10" fmla="*/ 166688 h 310231"/>
                <a:gd name="connsiteX11" fmla="*/ 923925 w 1838325"/>
                <a:gd name="connsiteY11" fmla="*/ 171450 h 310231"/>
                <a:gd name="connsiteX12" fmla="*/ 885825 w 1838325"/>
                <a:gd name="connsiteY12" fmla="*/ 180975 h 310231"/>
                <a:gd name="connsiteX13" fmla="*/ 842963 w 1838325"/>
                <a:gd name="connsiteY13" fmla="*/ 190500 h 310231"/>
                <a:gd name="connsiteX14" fmla="*/ 800100 w 1838325"/>
                <a:gd name="connsiteY14" fmla="*/ 200025 h 310231"/>
                <a:gd name="connsiteX15" fmla="*/ 742950 w 1838325"/>
                <a:gd name="connsiteY15" fmla="*/ 214313 h 310231"/>
                <a:gd name="connsiteX16" fmla="*/ 652463 w 1838325"/>
                <a:gd name="connsiteY16" fmla="*/ 228600 h 310231"/>
                <a:gd name="connsiteX17" fmla="*/ 614363 w 1838325"/>
                <a:gd name="connsiteY17" fmla="*/ 238125 h 310231"/>
                <a:gd name="connsiteX18" fmla="*/ 600075 w 1838325"/>
                <a:gd name="connsiteY18" fmla="*/ 242888 h 310231"/>
                <a:gd name="connsiteX19" fmla="*/ 509588 w 1838325"/>
                <a:gd name="connsiteY19" fmla="*/ 252413 h 310231"/>
                <a:gd name="connsiteX20" fmla="*/ 481013 w 1838325"/>
                <a:gd name="connsiteY20" fmla="*/ 261938 h 310231"/>
                <a:gd name="connsiteX21" fmla="*/ 433388 w 1838325"/>
                <a:gd name="connsiteY21" fmla="*/ 276225 h 310231"/>
                <a:gd name="connsiteX22" fmla="*/ 404813 w 1838325"/>
                <a:gd name="connsiteY22" fmla="*/ 285750 h 310231"/>
                <a:gd name="connsiteX23" fmla="*/ 361950 w 1838325"/>
                <a:gd name="connsiteY23" fmla="*/ 290513 h 310231"/>
                <a:gd name="connsiteX24" fmla="*/ 309563 w 1838325"/>
                <a:gd name="connsiteY24" fmla="*/ 304800 h 310231"/>
                <a:gd name="connsiteX25" fmla="*/ 266700 w 1838325"/>
                <a:gd name="connsiteY25" fmla="*/ 309563 h 310231"/>
                <a:gd name="connsiteX26" fmla="*/ 171450 w 1838325"/>
                <a:gd name="connsiteY26" fmla="*/ 304800 h 310231"/>
                <a:gd name="connsiteX27" fmla="*/ 161925 w 1838325"/>
                <a:gd name="connsiteY27" fmla="*/ 276225 h 310231"/>
                <a:gd name="connsiteX28" fmla="*/ 133350 w 1838325"/>
                <a:gd name="connsiteY28" fmla="*/ 257175 h 310231"/>
                <a:gd name="connsiteX29" fmla="*/ 119063 w 1838325"/>
                <a:gd name="connsiteY29" fmla="*/ 247650 h 310231"/>
                <a:gd name="connsiteX30" fmla="*/ 104775 w 1838325"/>
                <a:gd name="connsiteY30" fmla="*/ 233363 h 310231"/>
                <a:gd name="connsiteX31" fmla="*/ 90488 w 1838325"/>
                <a:gd name="connsiteY31" fmla="*/ 204788 h 310231"/>
                <a:gd name="connsiteX32" fmla="*/ 80963 w 1838325"/>
                <a:gd name="connsiteY32" fmla="*/ 176213 h 310231"/>
                <a:gd name="connsiteX33" fmla="*/ 71438 w 1838325"/>
                <a:gd name="connsiteY33" fmla="*/ 147638 h 310231"/>
                <a:gd name="connsiteX34" fmla="*/ 66675 w 1838325"/>
                <a:gd name="connsiteY34" fmla="*/ 133350 h 310231"/>
                <a:gd name="connsiteX35" fmla="*/ 61913 w 1838325"/>
                <a:gd name="connsiteY35" fmla="*/ 119063 h 310231"/>
                <a:gd name="connsiteX36" fmla="*/ 52388 w 1838325"/>
                <a:gd name="connsiteY36" fmla="*/ 104775 h 310231"/>
                <a:gd name="connsiteX37" fmla="*/ 38100 w 1838325"/>
                <a:gd name="connsiteY37" fmla="*/ 76200 h 310231"/>
                <a:gd name="connsiteX38" fmla="*/ 33338 w 1838325"/>
                <a:gd name="connsiteY38" fmla="*/ 61913 h 310231"/>
                <a:gd name="connsiteX39" fmla="*/ 23813 w 1838325"/>
                <a:gd name="connsiteY39" fmla="*/ 47625 h 310231"/>
                <a:gd name="connsiteX40" fmla="*/ 4763 w 1838325"/>
                <a:gd name="connsiteY40" fmla="*/ 4763 h 310231"/>
                <a:gd name="connsiteX41" fmla="*/ 0 w 1838325"/>
                <a:gd name="connsiteY41" fmla="*/ 0 h 310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38325" h="310231">
                  <a:moveTo>
                    <a:pt x="1838325" y="185738"/>
                  </a:moveTo>
                  <a:cubicBezTo>
                    <a:pt x="1817688" y="184150"/>
                    <a:pt x="1796985" y="183261"/>
                    <a:pt x="1776413" y="180975"/>
                  </a:cubicBezTo>
                  <a:cubicBezTo>
                    <a:pt x="1768368" y="180081"/>
                    <a:pt x="1760585" y="177544"/>
                    <a:pt x="1752600" y="176213"/>
                  </a:cubicBezTo>
                  <a:cubicBezTo>
                    <a:pt x="1741528" y="174368"/>
                    <a:pt x="1730375" y="173038"/>
                    <a:pt x="1719263" y="171450"/>
                  </a:cubicBezTo>
                  <a:cubicBezTo>
                    <a:pt x="1704531" y="166540"/>
                    <a:pt x="1693159" y="161925"/>
                    <a:pt x="1676400" y="161925"/>
                  </a:cubicBezTo>
                  <a:cubicBezTo>
                    <a:pt x="1657284" y="161925"/>
                    <a:pt x="1638300" y="165100"/>
                    <a:pt x="1619250" y="166688"/>
                  </a:cubicBezTo>
                  <a:cubicBezTo>
                    <a:pt x="1612900" y="168275"/>
                    <a:pt x="1606216" y="168872"/>
                    <a:pt x="1600200" y="171450"/>
                  </a:cubicBezTo>
                  <a:cubicBezTo>
                    <a:pt x="1554147" y="191186"/>
                    <a:pt x="1621564" y="172061"/>
                    <a:pt x="1566863" y="185738"/>
                  </a:cubicBezTo>
                  <a:cubicBezTo>
                    <a:pt x="1423473" y="183348"/>
                    <a:pt x="1334523" y="186617"/>
                    <a:pt x="1209675" y="176213"/>
                  </a:cubicBezTo>
                  <a:cubicBezTo>
                    <a:pt x="1195349" y="175019"/>
                    <a:pt x="1181100" y="173038"/>
                    <a:pt x="1166813" y="171450"/>
                  </a:cubicBezTo>
                  <a:cubicBezTo>
                    <a:pt x="1162050" y="169863"/>
                    <a:pt x="1157545" y="166688"/>
                    <a:pt x="1152525" y="166688"/>
                  </a:cubicBezTo>
                  <a:cubicBezTo>
                    <a:pt x="1076308" y="166688"/>
                    <a:pt x="1000087" y="168576"/>
                    <a:pt x="923925" y="171450"/>
                  </a:cubicBezTo>
                  <a:cubicBezTo>
                    <a:pt x="907200" y="172081"/>
                    <a:pt x="900344" y="176827"/>
                    <a:pt x="885825" y="180975"/>
                  </a:cubicBezTo>
                  <a:cubicBezTo>
                    <a:pt x="851566" y="190763"/>
                    <a:pt x="882290" y="180668"/>
                    <a:pt x="842963" y="190500"/>
                  </a:cubicBezTo>
                  <a:cubicBezTo>
                    <a:pt x="796064" y="202225"/>
                    <a:pt x="878733" y="186921"/>
                    <a:pt x="800100" y="200025"/>
                  </a:cubicBezTo>
                  <a:cubicBezTo>
                    <a:pt x="766473" y="216839"/>
                    <a:pt x="793737" y="205848"/>
                    <a:pt x="742950" y="214313"/>
                  </a:cubicBezTo>
                  <a:cubicBezTo>
                    <a:pt x="644214" y="230770"/>
                    <a:pt x="744283" y="218399"/>
                    <a:pt x="652463" y="228600"/>
                  </a:cubicBezTo>
                  <a:cubicBezTo>
                    <a:pt x="639763" y="231775"/>
                    <a:pt x="626782" y="233985"/>
                    <a:pt x="614363" y="238125"/>
                  </a:cubicBezTo>
                  <a:cubicBezTo>
                    <a:pt x="609600" y="239713"/>
                    <a:pt x="604998" y="241903"/>
                    <a:pt x="600075" y="242888"/>
                  </a:cubicBezTo>
                  <a:cubicBezTo>
                    <a:pt x="573419" y="248219"/>
                    <a:pt x="534320" y="250352"/>
                    <a:pt x="509588" y="252413"/>
                  </a:cubicBezTo>
                  <a:cubicBezTo>
                    <a:pt x="500063" y="255588"/>
                    <a:pt x="490754" y="259503"/>
                    <a:pt x="481013" y="261938"/>
                  </a:cubicBezTo>
                  <a:cubicBezTo>
                    <a:pt x="452225" y="269134"/>
                    <a:pt x="468169" y="264631"/>
                    <a:pt x="433388" y="276225"/>
                  </a:cubicBezTo>
                  <a:lnTo>
                    <a:pt x="404813" y="285750"/>
                  </a:lnTo>
                  <a:lnTo>
                    <a:pt x="361950" y="290513"/>
                  </a:lnTo>
                  <a:cubicBezTo>
                    <a:pt x="345543" y="295982"/>
                    <a:pt x="325675" y="303010"/>
                    <a:pt x="309563" y="304800"/>
                  </a:cubicBezTo>
                  <a:lnTo>
                    <a:pt x="266700" y="309563"/>
                  </a:lnTo>
                  <a:cubicBezTo>
                    <a:pt x="234950" y="307975"/>
                    <a:pt x="201743" y="314439"/>
                    <a:pt x="171450" y="304800"/>
                  </a:cubicBezTo>
                  <a:cubicBezTo>
                    <a:pt x="161882" y="301756"/>
                    <a:pt x="170279" y="281794"/>
                    <a:pt x="161925" y="276225"/>
                  </a:cubicBezTo>
                  <a:lnTo>
                    <a:pt x="133350" y="257175"/>
                  </a:lnTo>
                  <a:cubicBezTo>
                    <a:pt x="128588" y="254000"/>
                    <a:pt x="123110" y="251697"/>
                    <a:pt x="119063" y="247650"/>
                  </a:cubicBezTo>
                  <a:lnTo>
                    <a:pt x="104775" y="233363"/>
                  </a:lnTo>
                  <a:cubicBezTo>
                    <a:pt x="87412" y="181268"/>
                    <a:pt x="115101" y="260166"/>
                    <a:pt x="90488" y="204788"/>
                  </a:cubicBezTo>
                  <a:cubicBezTo>
                    <a:pt x="86410" y="195613"/>
                    <a:pt x="84138" y="185738"/>
                    <a:pt x="80963" y="176213"/>
                  </a:cubicBezTo>
                  <a:lnTo>
                    <a:pt x="71438" y="147638"/>
                  </a:lnTo>
                  <a:lnTo>
                    <a:pt x="66675" y="133350"/>
                  </a:lnTo>
                  <a:cubicBezTo>
                    <a:pt x="65088" y="128588"/>
                    <a:pt x="64697" y="123240"/>
                    <a:pt x="61913" y="119063"/>
                  </a:cubicBezTo>
                  <a:cubicBezTo>
                    <a:pt x="58738" y="114300"/>
                    <a:pt x="54948" y="109895"/>
                    <a:pt x="52388" y="104775"/>
                  </a:cubicBezTo>
                  <a:cubicBezTo>
                    <a:pt x="32669" y="65339"/>
                    <a:pt x="65398" y="117149"/>
                    <a:pt x="38100" y="76200"/>
                  </a:cubicBezTo>
                  <a:cubicBezTo>
                    <a:pt x="36513" y="71438"/>
                    <a:pt x="35583" y="66403"/>
                    <a:pt x="33338" y="61913"/>
                  </a:cubicBezTo>
                  <a:cubicBezTo>
                    <a:pt x="30778" y="56793"/>
                    <a:pt x="26138" y="52856"/>
                    <a:pt x="23813" y="47625"/>
                  </a:cubicBezTo>
                  <a:cubicBezTo>
                    <a:pt x="8019" y="12087"/>
                    <a:pt x="22400" y="28278"/>
                    <a:pt x="4763" y="4763"/>
                  </a:cubicBezTo>
                  <a:cubicBezTo>
                    <a:pt x="3416" y="2967"/>
                    <a:pt x="1588" y="1588"/>
                    <a:pt x="0" y="0"/>
                  </a:cubicBezTo>
                </a:path>
              </a:pathLst>
            </a:custGeom>
            <a:noFill/>
            <a:ln w="63500">
              <a:solidFill>
                <a:srgbClr val="FF33C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grpSp>
    </p:spTree>
    <p:extLst>
      <p:ext uri="{BB962C8B-B14F-4D97-AF65-F5344CB8AC3E}">
        <p14:creationId xmlns:p14="http://schemas.microsoft.com/office/powerpoint/2010/main" val="214267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344" y="1536176"/>
            <a:ext cx="4216707" cy="510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3490" name="投影片編號版面配置區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eaLnBrk="1" hangingPunct="1">
              <a:spcBef>
                <a:spcPct val="0"/>
              </a:spcBef>
              <a:buFontTx/>
              <a:buNone/>
            </a:pPr>
            <a:fld id="{E61B392D-D12F-425F-90F2-40F08A0EA84A}" type="slidenum">
              <a:rPr lang="en-US" altLang="zh-TW" sz="1400" b="0"/>
              <a:pPr algn="r" eaLnBrk="1" hangingPunct="1">
                <a:spcBef>
                  <a:spcPct val="0"/>
                </a:spcBef>
                <a:buFontTx/>
                <a:buNone/>
              </a:pPr>
              <a:t>12</a:t>
            </a:fld>
            <a:endParaRPr lang="en-US" altLang="zh-TW" sz="1400" b="0"/>
          </a:p>
        </p:txBody>
      </p:sp>
      <p:sp>
        <p:nvSpPr>
          <p:cNvPr id="63491" name="Rectangle 2"/>
          <p:cNvSpPr>
            <a:spLocks noGrp="1" noChangeArrowheads="1"/>
          </p:cNvSpPr>
          <p:nvPr>
            <p:ph type="title" idx="4294967295"/>
          </p:nvPr>
        </p:nvSpPr>
        <p:spPr>
          <a:xfrm>
            <a:off x="0" y="-34926"/>
            <a:ext cx="5038725" cy="914400"/>
          </a:xfrm>
        </p:spPr>
        <p:txBody>
          <a:bodyPr/>
          <a:lstStyle/>
          <a:p>
            <a:pPr eaLnBrk="1" hangingPunct="1"/>
            <a:r>
              <a:rPr lang="en-US" altLang="zh-TW" dirty="0">
                <a:solidFill>
                  <a:srgbClr val="FF00FF"/>
                </a:solidFill>
              </a:rPr>
              <a:t>(</a:t>
            </a:r>
            <a:r>
              <a:rPr lang="zh-TW" altLang="en-US" dirty="0">
                <a:solidFill>
                  <a:srgbClr val="FF00FF"/>
                </a:solidFill>
              </a:rPr>
              <a:t>補充</a:t>
            </a:r>
            <a:r>
              <a:rPr lang="en-US" altLang="zh-TW" dirty="0">
                <a:solidFill>
                  <a:srgbClr val="FF00FF"/>
                </a:solidFill>
              </a:rPr>
              <a:t>1) </a:t>
            </a:r>
            <a:r>
              <a:rPr lang="en-US" altLang="zh-TW" dirty="0"/>
              <a:t>3</a:t>
            </a:r>
            <a:r>
              <a:rPr lang="zh-TW" altLang="en-US" dirty="0"/>
              <a:t>氣候區 </a:t>
            </a:r>
            <a:endParaRPr lang="en-US" altLang="zh-TW" dirty="0"/>
          </a:p>
        </p:txBody>
      </p:sp>
      <p:grpSp>
        <p:nvGrpSpPr>
          <p:cNvPr id="63492" name="Group 4"/>
          <p:cNvGrpSpPr>
            <a:grpSpLocks/>
          </p:cNvGrpSpPr>
          <p:nvPr/>
        </p:nvGrpSpPr>
        <p:grpSpPr bwMode="auto">
          <a:xfrm>
            <a:off x="4427538" y="1341438"/>
            <a:ext cx="4448175" cy="4876800"/>
            <a:chOff x="2496" y="1968"/>
            <a:chExt cx="2928" cy="2160"/>
          </a:xfrm>
        </p:grpSpPr>
        <p:sp>
          <p:nvSpPr>
            <p:cNvPr id="63522" name="Rectangle 5"/>
            <p:cNvSpPr>
              <a:spLocks noChangeArrowheads="1"/>
            </p:cNvSpPr>
            <p:nvPr/>
          </p:nvSpPr>
          <p:spPr bwMode="auto">
            <a:xfrm>
              <a:off x="2496" y="1968"/>
              <a:ext cx="2928" cy="2160"/>
            </a:xfrm>
            <a:prstGeom prst="rect">
              <a:avLst/>
            </a:prstGeom>
            <a:solidFill>
              <a:schemeClr val="accent1"/>
            </a:solidFill>
            <a:ln w="57150">
              <a:solidFill>
                <a:schemeClr val="tx1"/>
              </a:solidFill>
              <a:miter lim="800000"/>
              <a:headEnd/>
              <a:tailEnd/>
            </a:ln>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63523" name="Line 6"/>
            <p:cNvSpPr>
              <a:spLocks noChangeShapeType="1"/>
            </p:cNvSpPr>
            <p:nvPr/>
          </p:nvSpPr>
          <p:spPr bwMode="auto">
            <a:xfrm>
              <a:off x="3984" y="2016"/>
              <a:ext cx="0" cy="2064"/>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63524" name="Line 7"/>
            <p:cNvSpPr>
              <a:spLocks noChangeShapeType="1"/>
            </p:cNvSpPr>
            <p:nvPr/>
          </p:nvSpPr>
          <p:spPr bwMode="auto">
            <a:xfrm>
              <a:off x="2496" y="3024"/>
              <a:ext cx="148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grpSp>
      <p:grpSp>
        <p:nvGrpSpPr>
          <p:cNvPr id="63493" name="Group 8"/>
          <p:cNvGrpSpPr>
            <a:grpSpLocks/>
          </p:cNvGrpSpPr>
          <p:nvPr/>
        </p:nvGrpSpPr>
        <p:grpSpPr bwMode="auto">
          <a:xfrm>
            <a:off x="4530723" y="1314450"/>
            <a:ext cx="4362449" cy="4926013"/>
            <a:chOff x="2854" y="828"/>
            <a:chExt cx="2748" cy="3103"/>
          </a:xfrm>
        </p:grpSpPr>
        <p:sp>
          <p:nvSpPr>
            <p:cNvPr id="63506" name="Line 9"/>
            <p:cNvSpPr>
              <a:spLocks noChangeShapeType="1"/>
            </p:cNvSpPr>
            <p:nvPr/>
          </p:nvSpPr>
          <p:spPr bwMode="auto">
            <a:xfrm>
              <a:off x="4224" y="3504"/>
              <a:ext cx="13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63507" name="Line 10"/>
            <p:cNvSpPr>
              <a:spLocks noChangeShapeType="1"/>
            </p:cNvSpPr>
            <p:nvPr/>
          </p:nvSpPr>
          <p:spPr bwMode="auto">
            <a:xfrm>
              <a:off x="4224" y="2352"/>
              <a:ext cx="13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63508" name="Text Box 11"/>
            <p:cNvSpPr txBox="1">
              <a:spLocks noChangeArrowheads="1"/>
            </p:cNvSpPr>
            <p:nvPr/>
          </p:nvSpPr>
          <p:spPr bwMode="auto">
            <a:xfrm>
              <a:off x="4559" y="3524"/>
              <a:ext cx="78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zh-TW" altLang="en-US" sz="3600" b="0" dirty="0">
                  <a:solidFill>
                    <a:srgbClr val="FF0000"/>
                  </a:solidFill>
                  <a:latin typeface="Times New Roman" panose="02020603050405020304" pitchFamily="18" charset="0"/>
                </a:rPr>
                <a:t>熱季</a:t>
              </a:r>
            </a:p>
          </p:txBody>
        </p:sp>
        <p:sp>
          <p:nvSpPr>
            <p:cNvPr id="63509" name="Text Box 12"/>
            <p:cNvSpPr txBox="1">
              <a:spLocks noChangeArrowheads="1"/>
            </p:cNvSpPr>
            <p:nvPr/>
          </p:nvSpPr>
          <p:spPr bwMode="auto">
            <a:xfrm>
              <a:off x="3002" y="828"/>
              <a:ext cx="115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en-US" altLang="zh-TW" sz="4000" b="0" dirty="0">
                  <a:solidFill>
                    <a:srgbClr val="FF0000"/>
                  </a:solidFill>
                  <a:latin typeface="Times New Roman" panose="02020603050405020304" pitchFamily="18" charset="0"/>
                </a:rPr>
                <a:t>2</a:t>
              </a:r>
              <a:r>
                <a:rPr lang="zh-TW" altLang="en-US" sz="4000" b="0" dirty="0">
                  <a:solidFill>
                    <a:srgbClr val="FF0000"/>
                  </a:solidFill>
                  <a:latin typeface="Times New Roman" panose="02020603050405020304" pitchFamily="18" charset="0"/>
                </a:rPr>
                <a:t>乾燥</a:t>
              </a:r>
            </a:p>
          </p:txBody>
        </p:sp>
        <p:sp>
          <p:nvSpPr>
            <p:cNvPr id="63510" name="Text Box 13"/>
            <p:cNvSpPr txBox="1">
              <a:spLocks noChangeArrowheads="1"/>
            </p:cNvSpPr>
            <p:nvPr/>
          </p:nvSpPr>
          <p:spPr bwMode="auto">
            <a:xfrm>
              <a:off x="2969" y="2721"/>
              <a:ext cx="1102"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en-US" altLang="zh-TW" sz="4000" b="0">
                  <a:solidFill>
                    <a:srgbClr val="FF0000"/>
                  </a:solidFill>
                  <a:latin typeface="Times New Roman" panose="02020603050405020304" pitchFamily="18" charset="0"/>
                </a:rPr>
                <a:t>3</a:t>
              </a:r>
              <a:r>
                <a:rPr lang="zh-TW" altLang="en-US" sz="4000" b="0">
                  <a:solidFill>
                    <a:srgbClr val="FF0000"/>
                  </a:solidFill>
                  <a:latin typeface="Times New Roman" panose="02020603050405020304" pitchFamily="18" charset="0"/>
                </a:rPr>
                <a:t>高地</a:t>
              </a:r>
            </a:p>
          </p:txBody>
        </p:sp>
        <p:sp>
          <p:nvSpPr>
            <p:cNvPr id="63511" name="Line 14"/>
            <p:cNvSpPr>
              <a:spLocks noChangeShapeType="1"/>
            </p:cNvSpPr>
            <p:nvPr/>
          </p:nvSpPr>
          <p:spPr bwMode="auto">
            <a:xfrm>
              <a:off x="3527" y="913"/>
              <a:ext cx="0" cy="1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63512" name="Text Box 15"/>
            <p:cNvSpPr txBox="1">
              <a:spLocks noChangeArrowheads="1"/>
            </p:cNvSpPr>
            <p:nvPr/>
          </p:nvSpPr>
          <p:spPr bwMode="auto">
            <a:xfrm>
              <a:off x="3487" y="1392"/>
              <a:ext cx="737" cy="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zh-TW" altLang="en-US" dirty="0">
                  <a:latin typeface="Times New Roman" panose="02020603050405020304" pitchFamily="18" charset="0"/>
                </a:rPr>
                <a:t>半乾燥</a:t>
              </a:r>
              <a:r>
                <a:rPr lang="en-US" altLang="zh-TW" dirty="0">
                  <a:latin typeface="Times New Roman" panose="02020603050405020304" pitchFamily="18" charset="0"/>
                </a:rPr>
                <a:t>(</a:t>
              </a:r>
              <a:r>
                <a:rPr lang="zh-TW" altLang="en-US" dirty="0">
                  <a:latin typeface="Times New Roman" panose="02020603050405020304" pitchFamily="18" charset="0"/>
                </a:rPr>
                <a:t>草原</a:t>
              </a:r>
              <a:r>
                <a:rPr lang="en-US" altLang="zh-TW" dirty="0">
                  <a:latin typeface="Times New Roman" panose="02020603050405020304" pitchFamily="18" charset="0"/>
                </a:rPr>
                <a:t>)</a:t>
              </a:r>
              <a:endParaRPr lang="zh-TW" altLang="en-US" b="0" dirty="0">
                <a:latin typeface="Times New Roman" panose="02020603050405020304" pitchFamily="18" charset="0"/>
              </a:endParaRPr>
            </a:p>
          </p:txBody>
        </p:sp>
        <p:sp>
          <p:nvSpPr>
            <p:cNvPr id="63513" name="Text Box 16"/>
            <p:cNvSpPr txBox="1">
              <a:spLocks noChangeArrowheads="1"/>
            </p:cNvSpPr>
            <p:nvPr/>
          </p:nvSpPr>
          <p:spPr bwMode="auto">
            <a:xfrm>
              <a:off x="2854" y="1392"/>
              <a:ext cx="737"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zh-TW" altLang="en-US" b="0" dirty="0">
                  <a:latin typeface="Times New Roman" panose="02020603050405020304" pitchFamily="18" charset="0"/>
                </a:rPr>
                <a:t>乾燥</a:t>
              </a:r>
              <a:r>
                <a:rPr lang="en-US" altLang="zh-TW" b="0" dirty="0">
                  <a:latin typeface="Times New Roman" panose="02020603050405020304" pitchFamily="18" charset="0"/>
                </a:rPr>
                <a:t>(</a:t>
              </a:r>
              <a:r>
                <a:rPr lang="zh-TW" altLang="en-US" b="0" dirty="0">
                  <a:latin typeface="Times New Roman" panose="02020603050405020304" pitchFamily="18" charset="0"/>
                </a:rPr>
                <a:t>沙漠</a:t>
              </a:r>
              <a:r>
                <a:rPr lang="en-US" altLang="zh-TW" b="0" dirty="0">
                  <a:latin typeface="Times New Roman" panose="02020603050405020304" pitchFamily="18" charset="0"/>
                </a:rPr>
                <a:t>)</a:t>
              </a:r>
              <a:endParaRPr lang="zh-TW" altLang="en-US" b="0" dirty="0">
                <a:latin typeface="Times New Roman" panose="02020603050405020304" pitchFamily="18" charset="0"/>
              </a:endParaRPr>
            </a:p>
          </p:txBody>
        </p:sp>
        <p:sp>
          <p:nvSpPr>
            <p:cNvPr id="63514" name="Text Box 17"/>
            <p:cNvSpPr txBox="1">
              <a:spLocks noChangeArrowheads="1"/>
            </p:cNvSpPr>
            <p:nvPr/>
          </p:nvSpPr>
          <p:spPr bwMode="auto">
            <a:xfrm>
              <a:off x="4457" y="2687"/>
              <a:ext cx="101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zh-TW" altLang="en-US" sz="3600" b="0" dirty="0">
                  <a:solidFill>
                    <a:srgbClr val="FF0000"/>
                  </a:solidFill>
                  <a:latin typeface="Times New Roman" panose="02020603050405020304" pitchFamily="18" charset="0"/>
                </a:rPr>
                <a:t>副熱季</a:t>
              </a:r>
            </a:p>
          </p:txBody>
        </p:sp>
        <p:sp>
          <p:nvSpPr>
            <p:cNvPr id="63515" name="Text Box 18"/>
            <p:cNvSpPr txBox="1">
              <a:spLocks noChangeArrowheads="1"/>
            </p:cNvSpPr>
            <p:nvPr/>
          </p:nvSpPr>
          <p:spPr bwMode="auto">
            <a:xfrm>
              <a:off x="4559" y="1322"/>
              <a:ext cx="72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zh-TW" altLang="en-US" sz="3600" b="0" dirty="0">
                  <a:solidFill>
                    <a:srgbClr val="FF0000"/>
                  </a:solidFill>
                  <a:latin typeface="Times New Roman" panose="02020603050405020304" pitchFamily="18" charset="0"/>
                </a:rPr>
                <a:t>溫季</a:t>
              </a:r>
            </a:p>
          </p:txBody>
        </p:sp>
      </p:grpSp>
      <p:sp>
        <p:nvSpPr>
          <p:cNvPr id="63494" name="Text Box 25"/>
          <p:cNvSpPr txBox="1">
            <a:spLocks noChangeArrowheads="1"/>
          </p:cNvSpPr>
          <p:nvPr/>
        </p:nvSpPr>
        <p:spPr bwMode="auto">
          <a:xfrm>
            <a:off x="7162800" y="685800"/>
            <a:ext cx="152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50000"/>
              </a:spcBef>
              <a:buFontTx/>
              <a:buNone/>
            </a:pPr>
            <a:r>
              <a:rPr lang="en-US" altLang="zh-TW" sz="3600" b="0">
                <a:solidFill>
                  <a:srgbClr val="FF0000"/>
                </a:solidFill>
                <a:latin typeface="Times New Roman" panose="02020603050405020304" pitchFamily="18" charset="0"/>
              </a:rPr>
              <a:t>1</a:t>
            </a:r>
            <a:r>
              <a:rPr lang="zh-TW" altLang="en-US" sz="3600" b="0">
                <a:solidFill>
                  <a:srgbClr val="FF0000"/>
                </a:solidFill>
                <a:latin typeface="Times New Roman" panose="02020603050405020304" pitchFamily="18" charset="0"/>
              </a:rPr>
              <a:t>季風</a:t>
            </a:r>
          </a:p>
        </p:txBody>
      </p:sp>
      <p:sp>
        <p:nvSpPr>
          <p:cNvPr id="27" name="Rectangle 13"/>
          <p:cNvSpPr>
            <a:spLocks noChangeArrowheads="1"/>
          </p:cNvSpPr>
          <p:nvPr/>
        </p:nvSpPr>
        <p:spPr bwMode="auto">
          <a:xfrm>
            <a:off x="2214563" y="4077071"/>
            <a:ext cx="845269" cy="360041"/>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8" name="Rectangle 13"/>
          <p:cNvSpPr>
            <a:spLocks noChangeArrowheads="1"/>
          </p:cNvSpPr>
          <p:nvPr/>
        </p:nvSpPr>
        <p:spPr bwMode="auto">
          <a:xfrm>
            <a:off x="6659563" y="3573463"/>
            <a:ext cx="2214562" cy="285750"/>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9" name="Rectangle 13"/>
          <p:cNvSpPr>
            <a:spLocks noChangeArrowheads="1"/>
          </p:cNvSpPr>
          <p:nvPr/>
        </p:nvSpPr>
        <p:spPr bwMode="auto">
          <a:xfrm>
            <a:off x="1832461" y="5229200"/>
            <a:ext cx="1109612" cy="333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30" name="Rectangle 13"/>
          <p:cNvSpPr>
            <a:spLocks noChangeArrowheads="1"/>
          </p:cNvSpPr>
          <p:nvPr/>
        </p:nvSpPr>
        <p:spPr bwMode="auto">
          <a:xfrm>
            <a:off x="6659563" y="5373688"/>
            <a:ext cx="2214562" cy="287337"/>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166943" name="矩形 30"/>
          <p:cNvSpPr>
            <a:spLocks noChangeArrowheads="1"/>
          </p:cNvSpPr>
          <p:nvPr/>
        </p:nvSpPr>
        <p:spPr bwMode="auto">
          <a:xfrm>
            <a:off x="6688138" y="3500438"/>
            <a:ext cx="2276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r>
              <a:rPr lang="zh-TW" altLang="en-US" sz="2000">
                <a:solidFill>
                  <a:srgbClr val="FF0000"/>
                </a:solidFill>
              </a:rPr>
              <a:t>秦嶺、淮河</a:t>
            </a:r>
            <a:r>
              <a:rPr lang="en-US" altLang="zh-TW" sz="2000">
                <a:solidFill>
                  <a:srgbClr val="FF0000"/>
                </a:solidFill>
              </a:rPr>
              <a:t>1</a:t>
            </a:r>
            <a:r>
              <a:rPr kumimoji="0" lang="zh-TW" altLang="en-US" sz="2000">
                <a:solidFill>
                  <a:srgbClr val="FF0000"/>
                </a:solidFill>
                <a:latin typeface="華康POP1體 Std W5"/>
              </a:rPr>
              <a:t>月</a:t>
            </a:r>
            <a:r>
              <a:rPr kumimoji="0" lang="en-US" altLang="zh-TW" sz="2000">
                <a:solidFill>
                  <a:srgbClr val="FF0000"/>
                </a:solidFill>
                <a:latin typeface="華康POP1體 Std W5"/>
              </a:rPr>
              <a:t>0</a:t>
            </a:r>
            <a:r>
              <a:rPr kumimoji="0" lang="zh-TW" altLang="en-US" sz="2000">
                <a:solidFill>
                  <a:srgbClr val="FF0000"/>
                </a:solidFill>
                <a:latin typeface="華康POP1體 Std W5"/>
              </a:rPr>
              <a:t>℃</a:t>
            </a:r>
          </a:p>
          <a:p>
            <a:pPr eaLnBrk="1" hangingPunct="1">
              <a:spcBef>
                <a:spcPct val="0"/>
              </a:spcBef>
              <a:buFontTx/>
              <a:buNone/>
            </a:pPr>
            <a:endParaRPr lang="zh-TW" altLang="en-US" sz="2000"/>
          </a:p>
        </p:txBody>
      </p:sp>
      <p:sp>
        <p:nvSpPr>
          <p:cNvPr id="32" name="Rectangle 13"/>
          <p:cNvSpPr>
            <a:spLocks noChangeArrowheads="1"/>
          </p:cNvSpPr>
          <p:nvPr/>
        </p:nvSpPr>
        <p:spPr bwMode="auto">
          <a:xfrm>
            <a:off x="3216761" y="5000625"/>
            <a:ext cx="500063" cy="3571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166946" name="矩形 30"/>
          <p:cNvSpPr>
            <a:spLocks noChangeArrowheads="1"/>
          </p:cNvSpPr>
          <p:nvPr/>
        </p:nvSpPr>
        <p:spPr bwMode="auto">
          <a:xfrm>
            <a:off x="6732588" y="5300663"/>
            <a:ext cx="2232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r>
              <a:rPr lang="zh-TW" altLang="en-US" sz="2000">
                <a:solidFill>
                  <a:srgbClr val="FF0000"/>
                </a:solidFill>
              </a:rPr>
              <a:t>北回歸線</a:t>
            </a:r>
            <a:r>
              <a:rPr lang="en-US" altLang="zh-TW" sz="2000">
                <a:solidFill>
                  <a:srgbClr val="FF0000"/>
                </a:solidFill>
              </a:rPr>
              <a:t>1</a:t>
            </a:r>
            <a:r>
              <a:rPr kumimoji="0" lang="zh-TW" altLang="en-US" sz="2000">
                <a:solidFill>
                  <a:srgbClr val="FF0000"/>
                </a:solidFill>
                <a:latin typeface="華康POP1體 Std W5"/>
              </a:rPr>
              <a:t>月</a:t>
            </a:r>
            <a:r>
              <a:rPr kumimoji="0" lang="en-US" altLang="zh-TW" sz="2000">
                <a:solidFill>
                  <a:srgbClr val="FF0000"/>
                </a:solidFill>
                <a:latin typeface="華康POP1體 Std W5"/>
              </a:rPr>
              <a:t>18</a:t>
            </a:r>
            <a:r>
              <a:rPr kumimoji="0" lang="zh-TW" altLang="en-US" sz="2000">
                <a:solidFill>
                  <a:srgbClr val="FF0000"/>
                </a:solidFill>
                <a:latin typeface="華康POP1體 Std W5"/>
              </a:rPr>
              <a:t>℃</a:t>
            </a:r>
          </a:p>
          <a:p>
            <a:pPr eaLnBrk="1" hangingPunct="1">
              <a:spcBef>
                <a:spcPct val="0"/>
              </a:spcBef>
              <a:buFontTx/>
              <a:buNone/>
            </a:pPr>
            <a:endParaRPr lang="zh-TW" altLang="en-US" sz="2000"/>
          </a:p>
        </p:txBody>
      </p:sp>
      <p:sp>
        <p:nvSpPr>
          <p:cNvPr id="29731" name="Rectangle 35"/>
          <p:cNvSpPr>
            <a:spLocks noChangeArrowheads="1"/>
          </p:cNvSpPr>
          <p:nvPr/>
        </p:nvSpPr>
        <p:spPr bwMode="auto">
          <a:xfrm>
            <a:off x="5364163" y="260350"/>
            <a:ext cx="26308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r>
              <a:rPr lang="en-US" altLang="zh-TW" sz="2400" u="sng" dirty="0">
                <a:solidFill>
                  <a:srgbClr val="0000FF"/>
                </a:solidFill>
              </a:rPr>
              <a:t>400 </a:t>
            </a:r>
            <a:r>
              <a:rPr lang="zh-TW" altLang="en-US" sz="2400" dirty="0">
                <a:solidFill>
                  <a:srgbClr val="FF0000"/>
                </a:solidFill>
              </a:rPr>
              <a:t>公釐等雨量線</a:t>
            </a:r>
          </a:p>
        </p:txBody>
      </p:sp>
      <p:sp>
        <p:nvSpPr>
          <p:cNvPr id="29732" name="Line 36"/>
          <p:cNvSpPr>
            <a:spLocks noChangeShapeType="1"/>
          </p:cNvSpPr>
          <p:nvPr/>
        </p:nvSpPr>
        <p:spPr bwMode="auto">
          <a:xfrm>
            <a:off x="6659563" y="692150"/>
            <a:ext cx="0" cy="5545138"/>
          </a:xfrm>
          <a:prstGeom prst="line">
            <a:avLst/>
          </a:prstGeom>
          <a:noFill/>
          <a:ln w="762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3505" name="Rectangle 37"/>
          <p:cNvSpPr>
            <a:spLocks noChangeArrowheads="1"/>
          </p:cNvSpPr>
          <p:nvPr/>
        </p:nvSpPr>
        <p:spPr bwMode="auto">
          <a:xfrm>
            <a:off x="1403350" y="981075"/>
            <a:ext cx="26981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solidFill>
                  <a:srgbClr val="FF00FF"/>
                </a:solidFill>
              </a:rPr>
              <a:t>p.199 </a:t>
            </a:r>
            <a:r>
              <a:rPr lang="zh-TW" altLang="en-US" dirty="0">
                <a:solidFill>
                  <a:srgbClr val="FF00FF"/>
                </a:solidFill>
              </a:rPr>
              <a:t>氣候圖</a:t>
            </a:r>
            <a:endParaRPr lang="en-US" altLang="zh-TW" dirty="0">
              <a:solidFill>
                <a:srgbClr val="FF00FF"/>
              </a:solidFill>
            </a:endParaRPr>
          </a:p>
        </p:txBody>
      </p:sp>
    </p:spTree>
    <p:extLst>
      <p:ext uri="{BB962C8B-B14F-4D97-AF65-F5344CB8AC3E}">
        <p14:creationId xmlns:p14="http://schemas.microsoft.com/office/powerpoint/2010/main" val="583661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31"/>
                                        </p:tgtEl>
                                        <p:attrNameLst>
                                          <p:attrName>style.visibility</p:attrName>
                                        </p:attrNameLst>
                                      </p:cBhvr>
                                      <p:to>
                                        <p:strVal val="visible"/>
                                      </p:to>
                                    </p:set>
                                    <p:animEffect transition="in" filter="wipe(left)">
                                      <p:cBhvr>
                                        <p:cTn id="7" dur="500"/>
                                        <p:tgtEl>
                                          <p:spTgt spid="29731"/>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9732"/>
                                        </p:tgtEl>
                                        <p:attrNameLst>
                                          <p:attrName>style.visibility</p:attrName>
                                        </p:attrNameLst>
                                      </p:cBhvr>
                                      <p:to>
                                        <p:strVal val="visible"/>
                                      </p:to>
                                    </p:set>
                                    <p:animEffect transition="in" filter="wipe(up)">
                                      <p:cBhvr>
                                        <p:cTn id="11" dur="500"/>
                                        <p:tgtEl>
                                          <p:spTgt spid="2973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down)">
                                      <p:cBhvr>
                                        <p:cTn id="16" dur="500"/>
                                        <p:tgtEl>
                                          <p:spTgt spid="27"/>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66943"/>
                                        </p:tgtEl>
                                        <p:attrNameLst>
                                          <p:attrName>style.visibility</p:attrName>
                                        </p:attrNameLst>
                                      </p:cBhvr>
                                      <p:to>
                                        <p:strVal val="visible"/>
                                      </p:to>
                                    </p:set>
                                    <p:animEffect transition="in" filter="wipe(left)">
                                      <p:cBhvr>
                                        <p:cTn id="23" dur="500"/>
                                        <p:tgtEl>
                                          <p:spTgt spid="16694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left)">
                                      <p:cBhvr>
                                        <p:cTn id="33" dur="500"/>
                                        <p:tgtEl>
                                          <p:spTgt spid="32"/>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66946"/>
                                        </p:tgtEl>
                                        <p:attrNameLst>
                                          <p:attrName>style.visibility</p:attrName>
                                        </p:attrNameLst>
                                      </p:cBhvr>
                                      <p:to>
                                        <p:strVal val="visible"/>
                                      </p:to>
                                    </p:set>
                                    <p:animEffect transition="in" filter="wipe(left)">
                                      <p:cBhvr>
                                        <p:cTn id="40" dur="500"/>
                                        <p:tgtEl>
                                          <p:spTgt spid="166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166943" grpId="0"/>
      <p:bldP spid="166946" grpId="0"/>
      <p:bldP spid="29731" grpId="0"/>
      <p:bldP spid="297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投影片編號版面配置區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FDED1440-0173-400D-A951-D5BE6FA714DF}" type="slidenum">
              <a:rPr lang="en-US" altLang="zh-TW" sz="1400"/>
              <a:pPr>
                <a:spcBef>
                  <a:spcPct val="0"/>
                </a:spcBef>
                <a:buFontTx/>
                <a:buNone/>
              </a:pPr>
              <a:t>13</a:t>
            </a:fld>
            <a:endParaRPr lang="en-US" altLang="zh-TW" sz="1400"/>
          </a:p>
        </p:txBody>
      </p:sp>
      <p:sp>
        <p:nvSpPr>
          <p:cNvPr id="68611" name="Rectangle 2"/>
          <p:cNvSpPr>
            <a:spLocks noGrp="1" noChangeArrowheads="1"/>
          </p:cNvSpPr>
          <p:nvPr>
            <p:ph type="title"/>
          </p:nvPr>
        </p:nvSpPr>
        <p:spPr>
          <a:xfrm>
            <a:off x="169070" y="268331"/>
            <a:ext cx="8805862" cy="1143000"/>
          </a:xfrm>
        </p:spPr>
        <p:txBody>
          <a:bodyPr/>
          <a:lstStyle/>
          <a:p>
            <a:r>
              <a:rPr lang="en-US" altLang="zh-TW" dirty="0">
                <a:solidFill>
                  <a:srgbClr val="FF00FF"/>
                </a:solidFill>
              </a:rPr>
              <a:t>(</a:t>
            </a:r>
            <a:r>
              <a:rPr lang="zh-TW" altLang="en-US" dirty="0">
                <a:solidFill>
                  <a:srgbClr val="FF00FF"/>
                </a:solidFill>
              </a:rPr>
              <a:t>補充</a:t>
            </a:r>
            <a:r>
              <a:rPr lang="en-US" altLang="zh-TW" dirty="0">
                <a:solidFill>
                  <a:srgbClr val="FF00FF"/>
                </a:solidFill>
              </a:rPr>
              <a:t>2)</a:t>
            </a:r>
            <a:br>
              <a:rPr lang="en-US" altLang="zh-TW" dirty="0">
                <a:solidFill>
                  <a:srgbClr val="FF00FF"/>
                </a:solidFill>
              </a:rPr>
            </a:br>
            <a:r>
              <a:rPr lang="zh-TW" altLang="en-US" dirty="0"/>
              <a:t>季風氣候</a:t>
            </a:r>
            <a:r>
              <a:rPr lang="en-US" altLang="zh-TW" dirty="0"/>
              <a:t>──</a:t>
            </a:r>
            <a:r>
              <a:rPr lang="zh-TW" altLang="en-US" b="1" dirty="0">
                <a:solidFill>
                  <a:srgbClr val="FF0000"/>
                </a:solidFill>
              </a:rPr>
              <a:t>風向隨季節</a:t>
            </a:r>
            <a:r>
              <a:rPr lang="zh-TW" altLang="en-US" b="1" dirty="0">
                <a:solidFill>
                  <a:schemeClr val="tx1"/>
                </a:solidFill>
              </a:rPr>
              <a:t>交替</a:t>
            </a:r>
            <a:r>
              <a:rPr lang="zh-TW" altLang="en-US" b="1" dirty="0">
                <a:solidFill>
                  <a:srgbClr val="FF0000"/>
                </a:solidFill>
              </a:rPr>
              <a:t>變化</a:t>
            </a:r>
            <a:endParaRPr lang="zh-TW" altLang="en-US"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1700809"/>
            <a:ext cx="4572000"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 name="群組 4">
            <a:extLst>
              <a:ext uri="{FF2B5EF4-FFF2-40B4-BE49-F238E27FC236}">
                <a16:creationId xmlns:a16="http://schemas.microsoft.com/office/drawing/2014/main" id="{24F704B5-4ACF-4F10-970A-46A75594966C}"/>
              </a:ext>
            </a:extLst>
          </p:cNvPr>
          <p:cNvGrpSpPr/>
          <p:nvPr/>
        </p:nvGrpSpPr>
        <p:grpSpPr>
          <a:xfrm>
            <a:off x="539552" y="1736288"/>
            <a:ext cx="3983683" cy="4155580"/>
            <a:chOff x="539552" y="1831755"/>
            <a:chExt cx="3983683" cy="4155580"/>
          </a:xfrm>
        </p:grpSpPr>
        <p:pic>
          <p:nvPicPr>
            <p:cNvPr id="9" name="圖片 8">
              <a:extLst>
                <a:ext uri="{FF2B5EF4-FFF2-40B4-BE49-F238E27FC236}">
                  <a16:creationId xmlns:a16="http://schemas.microsoft.com/office/drawing/2014/main" id="{420EF6A3-9EC1-4DE8-B829-B64812D1D375}"/>
                </a:ext>
              </a:extLst>
            </p:cNvPr>
            <p:cNvPicPr>
              <a:picLocks noChangeAspect="1"/>
            </p:cNvPicPr>
            <p:nvPr/>
          </p:nvPicPr>
          <p:blipFill>
            <a:blip r:embed="rId4"/>
            <a:stretch>
              <a:fillRect/>
            </a:stretch>
          </p:blipFill>
          <p:spPr>
            <a:xfrm>
              <a:off x="539552" y="1831755"/>
              <a:ext cx="1573382" cy="4155580"/>
            </a:xfrm>
            <a:prstGeom prst="rect">
              <a:avLst/>
            </a:prstGeom>
          </p:spPr>
        </p:pic>
        <p:pic>
          <p:nvPicPr>
            <p:cNvPr id="10" name="圖片 9">
              <a:extLst>
                <a:ext uri="{FF2B5EF4-FFF2-40B4-BE49-F238E27FC236}">
                  <a16:creationId xmlns:a16="http://schemas.microsoft.com/office/drawing/2014/main" id="{D49719F0-1295-4531-AF60-F9500A669115}"/>
                </a:ext>
              </a:extLst>
            </p:cNvPr>
            <p:cNvPicPr>
              <a:picLocks noChangeAspect="1"/>
            </p:cNvPicPr>
            <p:nvPr/>
          </p:nvPicPr>
          <p:blipFill>
            <a:blip r:embed="rId5"/>
            <a:stretch>
              <a:fillRect/>
            </a:stretch>
          </p:blipFill>
          <p:spPr>
            <a:xfrm>
              <a:off x="1996569" y="1850266"/>
              <a:ext cx="2526666" cy="4137069"/>
            </a:xfrm>
            <a:prstGeom prst="rect">
              <a:avLst/>
            </a:prstGeom>
          </p:spPr>
        </p:pic>
        <p:sp>
          <p:nvSpPr>
            <p:cNvPr id="4" name="矩形 3">
              <a:extLst>
                <a:ext uri="{FF2B5EF4-FFF2-40B4-BE49-F238E27FC236}">
                  <a16:creationId xmlns:a16="http://schemas.microsoft.com/office/drawing/2014/main" id="{3BE14BE0-ADCB-4890-97FF-FBAE9C80D15C}"/>
                </a:ext>
              </a:extLst>
            </p:cNvPr>
            <p:cNvSpPr/>
            <p:nvPr/>
          </p:nvSpPr>
          <p:spPr>
            <a:xfrm>
              <a:off x="539552" y="1850266"/>
              <a:ext cx="3983683" cy="413706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13578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5"/>
          <p:cNvSpPr>
            <a:spLocks noGrp="1"/>
          </p:cNvSpPr>
          <p:nvPr>
            <p:ph type="body" sz="quarter" idx="13"/>
          </p:nvPr>
        </p:nvSpPr>
        <p:spPr>
          <a:xfrm>
            <a:off x="755576" y="564332"/>
            <a:ext cx="6048672" cy="609003"/>
          </a:xfrm>
        </p:spPr>
        <p:txBody>
          <a:bodyPr/>
          <a:lstStyle/>
          <a:p>
            <a:pPr>
              <a:defRPr/>
            </a:pPr>
            <a:r>
              <a:rPr lang="zh-TW" altLang="en-US" dirty="0">
                <a:solidFill>
                  <a:srgbClr val="FF0000"/>
                </a:solidFill>
              </a:rPr>
              <a:t>三　稻作文化</a:t>
            </a:r>
          </a:p>
        </p:txBody>
      </p:sp>
      <p:pic>
        <p:nvPicPr>
          <p:cNvPr id="4" name="圖片 3"/>
          <p:cNvPicPr>
            <a:picLocks noChangeAspect="1"/>
          </p:cNvPicPr>
          <p:nvPr/>
        </p:nvPicPr>
        <p:blipFill rotWithShape="1">
          <a:blip r:embed="rId3" cstate="print">
            <a:extLst>
              <a:ext uri="{28A0092B-C50C-407E-A947-70E740481C1C}">
                <a14:useLocalDpi xmlns:a14="http://schemas.microsoft.com/office/drawing/2010/main" val="0"/>
              </a:ext>
            </a:extLst>
          </a:blip>
          <a:srcRect l="2397"/>
          <a:stretch/>
        </p:blipFill>
        <p:spPr>
          <a:xfrm>
            <a:off x="4512421" y="836712"/>
            <a:ext cx="4740099" cy="5904656"/>
          </a:xfrm>
          <a:prstGeom prst="rect">
            <a:avLst/>
          </a:prstGeom>
        </p:spPr>
      </p:pic>
      <p:sp>
        <p:nvSpPr>
          <p:cNvPr id="5" name="文字方塊 4"/>
          <p:cNvSpPr txBox="1"/>
          <p:nvPr/>
        </p:nvSpPr>
        <p:spPr>
          <a:xfrm>
            <a:off x="0" y="1096667"/>
            <a:ext cx="4762226" cy="5416868"/>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稻米</a:t>
            </a:r>
            <a:r>
              <a:rPr lang="zh-TW" altLang="en-US" sz="2800" dirty="0">
                <a:solidFill>
                  <a:srgbClr val="FF0000"/>
                </a:solidFill>
                <a:latin typeface="微軟正黑體" panose="020B0604030504040204" pitchFamily="34" charset="-120"/>
                <a:ea typeface="微軟正黑體" panose="020B0604030504040204" pitchFamily="34" charset="-120"/>
              </a:rPr>
              <a:t>起源中國南方</a:t>
            </a:r>
            <a:r>
              <a:rPr lang="zh-TW" altLang="zh-TW" sz="2800" dirty="0">
                <a:latin typeface="微軟正黑體" panose="020B0604030504040204" pitchFamily="34" charset="-120"/>
                <a:ea typeface="微軟正黑體" panose="020B0604030504040204" pitchFamily="34" charset="-120"/>
              </a:rPr>
              <a:t>，向外擴展至世界各地皆有種植，因其</a:t>
            </a:r>
            <a:r>
              <a:rPr lang="zh-TW" altLang="zh-TW" sz="2800" dirty="0">
                <a:solidFill>
                  <a:srgbClr val="FF0000"/>
                </a:solidFill>
                <a:latin typeface="微軟正黑體" panose="020B0604030504040204" pitchFamily="34" charset="-120"/>
                <a:ea typeface="微軟正黑體" panose="020B0604030504040204" pitchFamily="34" charset="-120"/>
              </a:rPr>
              <a:t>喜高溫多雨</a:t>
            </a:r>
            <a:r>
              <a:rPr lang="zh-TW" altLang="zh-TW" sz="2800" dirty="0">
                <a:latin typeface="微軟正黑體" panose="020B0604030504040204" pitchFamily="34" charset="-120"/>
                <a:ea typeface="微軟正黑體" panose="020B0604030504040204" pitchFamily="34" charset="-120"/>
              </a:rPr>
              <a:t>的環境，故主要生產地區位於</a:t>
            </a:r>
            <a:r>
              <a:rPr lang="zh-TW" altLang="en-US" sz="2800" dirty="0">
                <a:solidFill>
                  <a:srgbClr val="FF0000"/>
                </a:solidFill>
                <a:latin typeface="微軟正黑體" panose="020B0604030504040204" pitchFamily="34" charset="-120"/>
                <a:ea typeface="微軟正黑體" panose="020B0604030504040204" pitchFamily="34" charset="-120"/>
              </a:rPr>
              <a:t>季風亞洲</a:t>
            </a:r>
            <a:endParaRPr lang="en-US" altLang="zh-TW" sz="2800" dirty="0">
              <a:solidFill>
                <a:srgbClr val="FF0000"/>
              </a:solidFill>
              <a:latin typeface="微軟正黑體" panose="020B0604030504040204" pitchFamily="34" charset="-120"/>
              <a:ea typeface="微軟正黑體" panose="020B0604030504040204" pitchFamily="34" charset="-120"/>
            </a:endParaRPr>
          </a:p>
          <a:p>
            <a:pPr marL="342900" indent="-342900">
              <a:spcBef>
                <a:spcPts val="600"/>
              </a:spcBef>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且其</a:t>
            </a:r>
            <a:r>
              <a:rPr lang="zh-TW" altLang="en-US" sz="2800" dirty="0">
                <a:solidFill>
                  <a:srgbClr val="FF0000"/>
                </a:solidFill>
                <a:latin typeface="微軟正黑體" panose="020B0604030504040204" pitchFamily="34" charset="-120"/>
                <a:ea typeface="微軟正黑體" panose="020B0604030504040204" pitchFamily="34" charset="-120"/>
              </a:rPr>
              <a:t>生產報酬高</a:t>
            </a:r>
            <a:r>
              <a:rPr lang="en-US" altLang="zh-TW" sz="2800" dirty="0">
                <a:solidFill>
                  <a:srgbClr val="FF0000"/>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800" dirty="0">
                <a:latin typeface="微軟正黑體" panose="020B0604030504040204" pitchFamily="34" charset="-120"/>
                <a:ea typeface="微軟正黑體" panose="020B0604030504040204" pitchFamily="34" charset="-120"/>
                <a:sym typeface="Wingdings" panose="05000000000000000000" pitchFamily="2" charset="2"/>
              </a:rPr>
              <a:t>符合季風亞洲</a:t>
            </a:r>
            <a:r>
              <a:rPr lang="zh-TW" altLang="en-US" sz="2800" dirty="0">
                <a:solidFill>
                  <a:srgbClr val="FF0000"/>
                </a:solidFill>
                <a:latin typeface="微軟正黑體" panose="020B0604030504040204" pitchFamily="34" charset="-120"/>
                <a:ea typeface="微軟正黑體" panose="020B0604030504040204" pitchFamily="34" charset="-120"/>
                <a:sym typeface="Wingdings" panose="05000000000000000000" pitchFamily="2" charset="2"/>
              </a:rPr>
              <a:t>人口稠密</a:t>
            </a:r>
            <a:r>
              <a:rPr lang="zh-TW" altLang="en-US" sz="2800" dirty="0">
                <a:latin typeface="微軟正黑體" panose="020B0604030504040204" pitchFamily="34" charset="-120"/>
                <a:ea typeface="微軟正黑體" panose="020B0604030504040204" pitchFamily="34" charset="-120"/>
                <a:sym typeface="Wingdings" panose="05000000000000000000" pitchFamily="2" charset="2"/>
              </a:rPr>
              <a:t>的特色，也反映當地有系統的生產組織，</a:t>
            </a:r>
            <a:endParaRPr lang="en-US" altLang="zh-TW" sz="2800" dirty="0">
              <a:latin typeface="微軟正黑體" panose="020B0604030504040204" pitchFamily="34" charset="-120"/>
              <a:ea typeface="微軟正黑體" panose="020B0604030504040204" pitchFamily="34" charset="-120"/>
              <a:sym typeface="Wingdings" panose="05000000000000000000" pitchFamily="2" charset="2"/>
            </a:endParaRPr>
          </a:p>
          <a:p>
            <a:pPr marL="342900" indent="-342900">
              <a:spcBef>
                <a:spcPts val="600"/>
              </a:spcBef>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sym typeface="Wingdings" panose="05000000000000000000" pitchFamily="2" charset="2"/>
              </a:rPr>
              <a:t>至今東亞各國皆</a:t>
            </a:r>
            <a:r>
              <a:rPr lang="zh-TW" altLang="en-US" sz="2800" dirty="0">
                <a:solidFill>
                  <a:srgbClr val="FF0000"/>
                </a:solidFill>
                <a:latin typeface="微軟正黑體" panose="020B0604030504040204" pitchFamily="34" charset="-120"/>
                <a:ea typeface="微軟正黑體" panose="020B0604030504040204" pitchFamily="34" charset="-120"/>
                <a:sym typeface="Wingdings" panose="05000000000000000000" pitchFamily="2" charset="2"/>
              </a:rPr>
              <a:t>以稻米為主食</a:t>
            </a:r>
            <a:r>
              <a:rPr lang="zh-TW" altLang="en-US" sz="2800" dirty="0">
                <a:latin typeface="微軟正黑體" panose="020B0604030504040204" pitchFamily="34" charset="-120"/>
                <a:ea typeface="微軟正黑體" panose="020B0604030504040204" pitchFamily="34" charset="-120"/>
                <a:sym typeface="Wingdings" panose="05000000000000000000" pitchFamily="2" charset="2"/>
              </a:rPr>
              <a:t>，各種米食亦</a:t>
            </a:r>
            <a:r>
              <a:rPr lang="zh-TW" altLang="en-US" sz="2800" dirty="0">
                <a:solidFill>
                  <a:srgbClr val="FF0000"/>
                </a:solidFill>
                <a:latin typeface="微軟正黑體" panose="020B0604030504040204" pitchFamily="34" charset="-120"/>
                <a:ea typeface="微軟正黑體" panose="020B0604030504040204" pitchFamily="34" charset="-120"/>
                <a:sym typeface="Wingdings" panose="05000000000000000000" pitchFamily="2" charset="2"/>
              </a:rPr>
              <a:t>成為東亞</a:t>
            </a:r>
            <a:r>
              <a:rPr lang="zh-TW" altLang="en-US" sz="2800" dirty="0">
                <a:latin typeface="微軟正黑體" panose="020B0604030504040204" pitchFamily="34" charset="-120"/>
                <a:ea typeface="微軟正黑體" panose="020B0604030504040204" pitchFamily="34" charset="-120"/>
                <a:sym typeface="Wingdings" panose="05000000000000000000" pitchFamily="2" charset="2"/>
              </a:rPr>
              <a:t>各國的</a:t>
            </a:r>
            <a:r>
              <a:rPr lang="zh-TW" altLang="en-US" sz="2800" dirty="0">
                <a:solidFill>
                  <a:srgbClr val="FF0000"/>
                </a:solidFill>
                <a:latin typeface="微軟正黑體" panose="020B0604030504040204" pitchFamily="34" charset="-120"/>
                <a:ea typeface="微軟正黑體" panose="020B0604030504040204" pitchFamily="34" charset="-120"/>
                <a:sym typeface="Wingdings" panose="05000000000000000000" pitchFamily="2" charset="2"/>
              </a:rPr>
              <a:t>文化表徵</a:t>
            </a:r>
            <a:endParaRPr lang="zh-TW" altLang="en-US" sz="2800" dirty="0">
              <a:solidFill>
                <a:srgbClr val="FF0000"/>
              </a:solidFill>
              <a:latin typeface="微軟正黑體" panose="020B0604030504040204" pitchFamily="34" charset="-120"/>
              <a:ea typeface="微軟正黑體" panose="020B0604030504040204" pitchFamily="34" charset="-120"/>
            </a:endParaRPr>
          </a:p>
        </p:txBody>
      </p:sp>
      <p:sp>
        <p:nvSpPr>
          <p:cNvPr id="7" name="矩形 6">
            <a:extLst>
              <a:ext uri="{FF2B5EF4-FFF2-40B4-BE49-F238E27FC236}">
                <a16:creationId xmlns:a16="http://schemas.microsoft.com/office/drawing/2014/main" id="{F0B3D329-398A-4D95-B713-0727C9CB74FC}"/>
              </a:ext>
            </a:extLst>
          </p:cNvPr>
          <p:cNvSpPr>
            <a:spLocks noChangeArrowheads="1"/>
          </p:cNvSpPr>
          <p:nvPr/>
        </p:nvSpPr>
        <p:spPr bwMode="auto">
          <a:xfrm>
            <a:off x="899592" y="-280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p.202</a:t>
            </a:r>
            <a:endParaRPr lang="zh-TW" altLang="en-US" sz="3600" b="0" dirty="0"/>
          </a:p>
        </p:txBody>
      </p:sp>
    </p:spTree>
    <p:extLst>
      <p:ext uri="{BB962C8B-B14F-4D97-AF65-F5344CB8AC3E}">
        <p14:creationId xmlns:p14="http://schemas.microsoft.com/office/powerpoint/2010/main" val="412728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grpSp>
        <p:nvGrpSpPr>
          <p:cNvPr id="4" name="群組 3"/>
          <p:cNvGrpSpPr/>
          <p:nvPr/>
        </p:nvGrpSpPr>
        <p:grpSpPr>
          <a:xfrm>
            <a:off x="0" y="857250"/>
            <a:ext cx="9144000" cy="5143500"/>
            <a:chOff x="0" y="0"/>
            <a:chExt cx="12192000" cy="685800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矩形 5"/>
            <p:cNvSpPr/>
            <p:nvPr/>
          </p:nvSpPr>
          <p:spPr>
            <a:xfrm>
              <a:off x="10200456" y="6093296"/>
              <a:ext cx="1728192" cy="576064"/>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sp>
        <p:nvSpPr>
          <p:cNvPr id="8" name="Rectangle 3"/>
          <p:cNvSpPr txBox="1">
            <a:spLocks noChangeArrowheads="1"/>
          </p:cNvSpPr>
          <p:nvPr/>
        </p:nvSpPr>
        <p:spPr>
          <a:xfrm>
            <a:off x="251520" y="1001584"/>
            <a:ext cx="6190382" cy="543054"/>
          </a:xfrm>
          <a:prstGeom prst="rect">
            <a:avLst/>
          </a:prstGeom>
          <a:noFill/>
          <a:ln>
            <a:noFill/>
          </a:ln>
        </p:spPr>
        <p:txBody>
          <a:bodyPr wrap="square" lIns="68569" tIns="68569" rIns="68569" bIns="68569"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algn="just"/>
            <a:r>
              <a:rPr lang="en-US" altLang="zh-TW" sz="2800" dirty="0">
                <a:latin typeface="標楷體" pitchFamily="65" charset="-120"/>
                <a:ea typeface="標楷體" pitchFamily="65" charset="-120"/>
              </a:rPr>
              <a:t>1.</a:t>
            </a:r>
            <a:r>
              <a:rPr lang="zh-TW" altLang="en-US" sz="2800" dirty="0">
                <a:latin typeface="標楷體" pitchFamily="65" charset="-120"/>
                <a:ea typeface="標楷體" pitchFamily="65" charset="-120"/>
              </a:rPr>
              <a:t>水稻種植的自然與社會條件：</a:t>
            </a:r>
            <a:endParaRPr lang="en-US" altLang="zh-TW" sz="2800" dirty="0">
              <a:latin typeface="標楷體" pitchFamily="65" charset="-120"/>
              <a:ea typeface="標楷體" pitchFamily="65" charset="-120"/>
            </a:endParaRPr>
          </a:p>
        </p:txBody>
      </p:sp>
      <p:graphicFrame>
        <p:nvGraphicFramePr>
          <p:cNvPr id="9" name="表格 8"/>
          <p:cNvGraphicFramePr>
            <a:graphicFrameLocks noGrp="1"/>
          </p:cNvGraphicFramePr>
          <p:nvPr>
            <p:extLst>
              <p:ext uri="{D42A27DB-BD31-4B8C-83A1-F6EECF244321}">
                <p14:modId xmlns:p14="http://schemas.microsoft.com/office/powerpoint/2010/main" val="1763369850"/>
              </p:ext>
            </p:extLst>
          </p:nvPr>
        </p:nvGraphicFramePr>
        <p:xfrm>
          <a:off x="899592" y="2108800"/>
          <a:ext cx="7776865" cy="3840480"/>
        </p:xfrm>
        <a:graphic>
          <a:graphicData uri="http://schemas.openxmlformats.org/drawingml/2006/table">
            <a:tbl>
              <a:tblPr/>
              <a:tblGrid>
                <a:gridCol w="1008113">
                  <a:extLst>
                    <a:ext uri="{9D8B030D-6E8A-4147-A177-3AD203B41FA5}">
                      <a16:colId xmlns:a16="http://schemas.microsoft.com/office/drawing/2014/main" val="20000"/>
                    </a:ext>
                  </a:extLst>
                </a:gridCol>
                <a:gridCol w="6768752">
                  <a:extLst>
                    <a:ext uri="{9D8B030D-6E8A-4147-A177-3AD203B41FA5}">
                      <a16:colId xmlns:a16="http://schemas.microsoft.com/office/drawing/2014/main" val="20001"/>
                    </a:ext>
                  </a:extLst>
                </a:gridCol>
              </a:tblGrid>
              <a:tr h="151093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rgbClr val="FF0000"/>
                          </a:solidFill>
                          <a:latin typeface="標楷體" pitchFamily="65" charset="-120"/>
                          <a:ea typeface="標楷體" pitchFamily="65" charset="-120"/>
                          <a:cs typeface="Arial"/>
                          <a:sym typeface="Arial"/>
                        </a:rPr>
                        <a:t>自然</a:t>
                      </a:r>
                      <a:endParaRPr lang="en-US" altLang="zh-TW" sz="28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rgbClr val="FF0000"/>
                          </a:solidFill>
                          <a:latin typeface="標楷體" pitchFamily="65" charset="-120"/>
                          <a:ea typeface="標楷體" pitchFamily="65" charset="-120"/>
                          <a:cs typeface="Arial"/>
                          <a:sym typeface="Arial"/>
                        </a:rPr>
                        <a:t>條件</a:t>
                      </a: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solidFill>
                      <a:srgbClr val="C9E7A7"/>
                    </a:solidFill>
                  </a:tcPr>
                </a:tc>
                <a:tc>
                  <a:txBody>
                    <a:bodyPr/>
                    <a:lstStyle/>
                    <a:p>
                      <a:r>
                        <a:rPr lang="zh-TW" altLang="en-US" sz="2800" b="0" i="0" u="none" strike="noStrike" cap="none" dirty="0">
                          <a:solidFill>
                            <a:schemeClr val="dk1"/>
                          </a:solidFill>
                          <a:latin typeface="標楷體" pitchFamily="65" charset="-120"/>
                          <a:ea typeface="標楷體" pitchFamily="65" charset="-120"/>
                          <a:cs typeface="Arial"/>
                          <a:sym typeface="Arial"/>
                        </a:rPr>
                        <a:t>水稻是一種</a:t>
                      </a:r>
                      <a:r>
                        <a:rPr lang="zh-TW" altLang="en-US" sz="2800" b="0" i="0" u="none" strike="noStrike" cap="none" dirty="0">
                          <a:solidFill>
                            <a:srgbClr val="FF0000"/>
                          </a:solidFill>
                          <a:latin typeface="標楷體" pitchFamily="65" charset="-120"/>
                          <a:ea typeface="標楷體" pitchFamily="65" charset="-120"/>
                          <a:cs typeface="Arial"/>
                          <a:sym typeface="Arial"/>
                        </a:rPr>
                        <a:t>熱帶或副熱帶</a:t>
                      </a:r>
                      <a:r>
                        <a:rPr lang="zh-TW" altLang="en-US" sz="2800" b="0" i="0" u="none" strike="noStrike" cap="none" dirty="0">
                          <a:solidFill>
                            <a:schemeClr val="dk1"/>
                          </a:solidFill>
                          <a:latin typeface="標楷體" pitchFamily="65" charset="-120"/>
                          <a:ea typeface="標楷體" pitchFamily="65" charset="-120"/>
                          <a:cs typeface="Arial"/>
                          <a:sym typeface="Arial"/>
                        </a:rPr>
                        <a:t>作物，生長季節最適宜溫度為 </a:t>
                      </a:r>
                      <a:r>
                        <a:rPr lang="en-US" altLang="zh-TW" sz="2800" b="0" i="0" u="none" strike="noStrike" cap="none" dirty="0">
                          <a:solidFill>
                            <a:schemeClr val="dk1"/>
                          </a:solidFill>
                          <a:latin typeface="標楷體" pitchFamily="65" charset="-120"/>
                          <a:ea typeface="標楷體" pitchFamily="65" charset="-120"/>
                          <a:cs typeface="Arial"/>
                          <a:sym typeface="Arial"/>
                        </a:rPr>
                        <a:t>20 </a:t>
                      </a:r>
                      <a:r>
                        <a:rPr lang="zh-TW" altLang="en-US" sz="2800" b="0" i="0" u="none" strike="noStrike" cap="none" dirty="0">
                          <a:solidFill>
                            <a:schemeClr val="dk1"/>
                          </a:solidFill>
                          <a:latin typeface="標楷體" pitchFamily="65" charset="-120"/>
                          <a:ea typeface="標楷體" pitchFamily="65" charset="-120"/>
                          <a:cs typeface="Arial"/>
                          <a:sym typeface="Arial"/>
                        </a:rPr>
                        <a:t>∼ </a:t>
                      </a:r>
                      <a:r>
                        <a:rPr lang="en-US" altLang="zh-TW" sz="2800" b="0" i="0" u="none" strike="noStrike" cap="none" dirty="0">
                          <a:solidFill>
                            <a:schemeClr val="dk1"/>
                          </a:solidFill>
                          <a:latin typeface="標楷體" pitchFamily="65" charset="-120"/>
                          <a:ea typeface="標楷體" pitchFamily="65" charset="-120"/>
                          <a:cs typeface="Arial"/>
                          <a:sym typeface="Arial"/>
                        </a:rPr>
                        <a:t>30°C</a:t>
                      </a:r>
                      <a:r>
                        <a:rPr lang="zh-TW" altLang="en-US" sz="2800" b="0" i="0" u="none" strike="noStrike" cap="none" dirty="0">
                          <a:solidFill>
                            <a:schemeClr val="dk1"/>
                          </a:solidFill>
                          <a:latin typeface="標楷體" pitchFamily="65" charset="-120"/>
                          <a:ea typeface="標楷體" pitchFamily="65" charset="-120"/>
                          <a:cs typeface="Arial"/>
                          <a:sym typeface="Arial"/>
                        </a:rPr>
                        <a:t>，且在</a:t>
                      </a:r>
                      <a:r>
                        <a:rPr lang="zh-TW" altLang="en-US" sz="2800" b="0" i="0" u="none" strike="noStrike" cap="none" dirty="0">
                          <a:solidFill>
                            <a:srgbClr val="FF0000"/>
                          </a:solidFill>
                          <a:latin typeface="標楷體" pitchFamily="65" charset="-120"/>
                          <a:ea typeface="標楷體" pitchFamily="65" charset="-120"/>
                          <a:cs typeface="Arial"/>
                          <a:sym typeface="Arial"/>
                        </a:rPr>
                        <a:t>浸水</a:t>
                      </a:r>
                      <a:r>
                        <a:rPr lang="zh-TW" altLang="en-US" sz="2800" b="0" i="0" u="none" strike="noStrike" cap="none" dirty="0">
                          <a:solidFill>
                            <a:schemeClr val="dk1"/>
                          </a:solidFill>
                          <a:latin typeface="標楷體" pitchFamily="65" charset="-120"/>
                          <a:ea typeface="標楷體" pitchFamily="65" charset="-120"/>
                          <a:cs typeface="Arial"/>
                          <a:sym typeface="Arial"/>
                        </a:rPr>
                        <a:t>環境才能長得好，因此年</a:t>
                      </a:r>
                      <a:r>
                        <a:rPr lang="zh-TW" altLang="en-US" sz="2800" b="0" i="0" u="none" strike="noStrike" cap="none" dirty="0">
                          <a:solidFill>
                            <a:srgbClr val="FF0000"/>
                          </a:solidFill>
                          <a:latin typeface="標楷體" pitchFamily="65" charset="-120"/>
                          <a:ea typeface="標楷體" pitchFamily="65" charset="-120"/>
                          <a:cs typeface="Arial"/>
                          <a:sym typeface="Arial"/>
                        </a:rPr>
                        <a:t>降水量超過 </a:t>
                      </a:r>
                      <a:r>
                        <a:rPr lang="en-US" altLang="zh-TW" sz="2800" b="0" i="0" u="none" strike="noStrike" cap="none" dirty="0">
                          <a:solidFill>
                            <a:srgbClr val="FF0000"/>
                          </a:solidFill>
                          <a:latin typeface="標楷體" pitchFamily="65" charset="-120"/>
                          <a:ea typeface="標楷體" pitchFamily="65" charset="-120"/>
                          <a:cs typeface="Arial"/>
                          <a:sym typeface="Arial"/>
                        </a:rPr>
                        <a:t>1,000 mm </a:t>
                      </a:r>
                      <a:r>
                        <a:rPr lang="zh-TW" altLang="en-US" sz="2800" b="0" i="0" u="none" strike="noStrike" cap="none" dirty="0">
                          <a:solidFill>
                            <a:schemeClr val="dk1"/>
                          </a:solidFill>
                          <a:latin typeface="標楷體" pitchFamily="65" charset="-120"/>
                          <a:ea typeface="標楷體" pitchFamily="65" charset="-120"/>
                          <a:cs typeface="Arial"/>
                          <a:sym typeface="Arial"/>
                        </a:rPr>
                        <a:t>的區域較適宜生長。若氣溫較低，則生長緩慢，收成次數將減少</a:t>
                      </a:r>
                      <a:endParaRPr lang="en-US" altLang="zh-TW" sz="28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208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rgbClr val="FF0000"/>
                          </a:solidFill>
                          <a:latin typeface="標楷體" pitchFamily="65" charset="-120"/>
                          <a:ea typeface="標楷體" pitchFamily="65" charset="-120"/>
                          <a:cs typeface="Arial"/>
                          <a:sym typeface="Arial"/>
                        </a:rPr>
                        <a:t>社會</a:t>
                      </a:r>
                      <a:endParaRPr lang="en-US" altLang="zh-TW" sz="28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rgbClr val="FF0000"/>
                          </a:solidFill>
                          <a:latin typeface="標楷體" pitchFamily="65" charset="-120"/>
                          <a:ea typeface="標楷體" pitchFamily="65" charset="-120"/>
                          <a:cs typeface="Arial"/>
                          <a:sym typeface="Arial"/>
                        </a:rPr>
                        <a:t>條件</a:t>
                      </a: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solidFill>
                      <a:srgbClr val="C9E7A7"/>
                    </a:solidFill>
                  </a:tcPr>
                </a:tc>
                <a:tc>
                  <a:txBody>
                    <a:bodyPr/>
                    <a:lstStyle/>
                    <a:p>
                      <a:r>
                        <a:rPr lang="zh-TW" altLang="en-US" sz="2800" b="0" i="0" u="none" strike="noStrike" cap="none" dirty="0">
                          <a:solidFill>
                            <a:schemeClr val="dk1"/>
                          </a:solidFill>
                          <a:latin typeface="標楷體" pitchFamily="65" charset="-120"/>
                          <a:ea typeface="標楷體" pitchFamily="65" charset="-120"/>
                          <a:cs typeface="Arial"/>
                          <a:sym typeface="Arial"/>
                        </a:rPr>
                        <a:t>水量不足，則需仰賴</a:t>
                      </a:r>
                      <a:r>
                        <a:rPr lang="zh-TW" altLang="en-US" sz="2800" b="0" i="0" u="none" strike="noStrike" cap="none" dirty="0">
                          <a:solidFill>
                            <a:srgbClr val="FF0000"/>
                          </a:solidFill>
                          <a:latin typeface="標楷體" pitchFamily="65" charset="-120"/>
                          <a:ea typeface="標楷體" pitchFamily="65" charset="-120"/>
                          <a:cs typeface="Arial"/>
                          <a:sym typeface="Arial"/>
                        </a:rPr>
                        <a:t>灌溉系統</a:t>
                      </a:r>
                      <a:r>
                        <a:rPr lang="zh-TW" altLang="en-US" sz="2800" b="0" i="0" u="none" strike="noStrike" cap="none" dirty="0">
                          <a:solidFill>
                            <a:schemeClr val="dk1"/>
                          </a:solidFill>
                          <a:latin typeface="標楷體" pitchFamily="65" charset="-120"/>
                          <a:ea typeface="標楷體" pitchFamily="65" charset="-120"/>
                          <a:cs typeface="Arial"/>
                          <a:sym typeface="Arial"/>
                        </a:rPr>
                        <a:t>。水稻的灌溉系統包含蓄水池、連接河川與水田的引排水溝渠和閘門等設施，單一家庭無法建造與管理，</a:t>
                      </a:r>
                      <a:r>
                        <a:rPr lang="zh-TW" altLang="en-US" sz="2800" b="0" i="0" u="none" strike="noStrike" cap="none" dirty="0">
                          <a:solidFill>
                            <a:srgbClr val="FF0000"/>
                          </a:solidFill>
                          <a:latin typeface="標楷體" pitchFamily="65" charset="-120"/>
                          <a:ea typeface="標楷體" pitchFamily="65" charset="-120"/>
                          <a:cs typeface="Arial"/>
                          <a:sym typeface="Arial"/>
                        </a:rPr>
                        <a:t>需仰賴社會組織來運行</a:t>
                      </a:r>
                      <a:endParaRPr lang="en-US" altLang="zh-TW" sz="2800" b="0" i="0" u="none" strike="noStrike" cap="none" dirty="0">
                        <a:solidFill>
                          <a:srgbClr val="FF0000"/>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矩形 9">
            <a:extLst>
              <a:ext uri="{FF2B5EF4-FFF2-40B4-BE49-F238E27FC236}">
                <a16:creationId xmlns:a16="http://schemas.microsoft.com/office/drawing/2014/main" id="{2A9F3622-C1AD-4CBB-B6F9-F92E275A36A9}"/>
              </a:ext>
            </a:extLst>
          </p:cNvPr>
          <p:cNvSpPr>
            <a:spLocks noChangeArrowheads="1"/>
          </p:cNvSpPr>
          <p:nvPr/>
        </p:nvSpPr>
        <p:spPr bwMode="auto">
          <a:xfrm>
            <a:off x="899592" y="-280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p.202</a:t>
            </a:r>
            <a:endParaRPr lang="zh-TW" altLang="en-US" sz="3600" b="0" dirty="0"/>
          </a:p>
        </p:txBody>
      </p:sp>
    </p:spTree>
    <p:extLst>
      <p:ext uri="{BB962C8B-B14F-4D97-AF65-F5344CB8AC3E}">
        <p14:creationId xmlns:p14="http://schemas.microsoft.com/office/powerpoint/2010/main" val="2243496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97209" y="4254897"/>
            <a:ext cx="7772400" cy="1500187"/>
          </a:xfrm>
        </p:spPr>
        <p:txBody>
          <a:bodyPr/>
          <a:lstStyle/>
          <a:p>
            <a:endParaRPr lang="zh-TW" altLang="en-US"/>
          </a:p>
        </p:txBody>
      </p:sp>
      <p:grpSp>
        <p:nvGrpSpPr>
          <p:cNvPr id="4" name="群組 3"/>
          <p:cNvGrpSpPr/>
          <p:nvPr/>
        </p:nvGrpSpPr>
        <p:grpSpPr>
          <a:xfrm>
            <a:off x="36513" y="101336"/>
            <a:ext cx="9144000" cy="6496015"/>
            <a:chOff x="0" y="0"/>
            <a:chExt cx="12192000" cy="6858000"/>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矩形 5"/>
            <p:cNvSpPr/>
            <p:nvPr/>
          </p:nvSpPr>
          <p:spPr>
            <a:xfrm>
              <a:off x="10200456" y="6093296"/>
              <a:ext cx="1728192" cy="576064"/>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sp>
        <p:nvSpPr>
          <p:cNvPr id="8" name="Rectangle 3"/>
          <p:cNvSpPr txBox="1">
            <a:spLocks noChangeArrowheads="1"/>
          </p:cNvSpPr>
          <p:nvPr/>
        </p:nvSpPr>
        <p:spPr>
          <a:xfrm>
            <a:off x="2297651" y="25338"/>
            <a:ext cx="6571238" cy="1054663"/>
          </a:xfrm>
          <a:prstGeom prst="rect">
            <a:avLst/>
          </a:prstGeom>
          <a:noFill/>
          <a:ln>
            <a:noFill/>
          </a:ln>
        </p:spPr>
        <p:txBody>
          <a:bodyPr wrap="square" lIns="68569" tIns="68569" rIns="68569" bIns="68569" anchor="ctr"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sz="2400" spc="-100" dirty="0">
                <a:latin typeface="標楷體" pitchFamily="65" charset="-120"/>
                <a:ea typeface="標楷體" pitchFamily="65" charset="-120"/>
              </a:rPr>
              <a:t>2.</a:t>
            </a:r>
            <a:r>
              <a:rPr lang="zh-TW" altLang="en-US" sz="2400" spc="-100" dirty="0">
                <a:latin typeface="標楷體" pitchFamily="65" charset="-120"/>
                <a:ea typeface="標楷體" pitchFamily="65" charset="-120"/>
              </a:rPr>
              <a:t>米的種類：隨著自然環境的差異形成各地區不同稻米品種的種植，也衍生出各種美味的米製料理。</a:t>
            </a:r>
            <a:endParaRPr lang="en-US" altLang="zh-TW" sz="2400" spc="-100" dirty="0">
              <a:latin typeface="標楷體" pitchFamily="65" charset="-120"/>
              <a:ea typeface="標楷體" pitchFamily="65" charset="-120"/>
            </a:endParaRPr>
          </a:p>
        </p:txBody>
      </p:sp>
      <p:graphicFrame>
        <p:nvGraphicFramePr>
          <p:cNvPr id="12" name="表格 11"/>
          <p:cNvGraphicFramePr>
            <a:graphicFrameLocks noGrp="1"/>
          </p:cNvGraphicFramePr>
          <p:nvPr>
            <p:extLst>
              <p:ext uri="{D42A27DB-BD31-4B8C-83A1-F6EECF244321}">
                <p14:modId xmlns:p14="http://schemas.microsoft.com/office/powerpoint/2010/main" val="3131753629"/>
              </p:ext>
            </p:extLst>
          </p:nvPr>
        </p:nvGraphicFramePr>
        <p:xfrm>
          <a:off x="89756" y="1089025"/>
          <a:ext cx="8964488" cy="1889760"/>
        </p:xfrm>
        <a:graphic>
          <a:graphicData uri="http://schemas.openxmlformats.org/drawingml/2006/table">
            <a:tbl>
              <a:tblPr/>
              <a:tblGrid>
                <a:gridCol w="1026916">
                  <a:extLst>
                    <a:ext uri="{9D8B030D-6E8A-4147-A177-3AD203B41FA5}">
                      <a16:colId xmlns:a16="http://schemas.microsoft.com/office/drawing/2014/main" val="20000"/>
                    </a:ext>
                  </a:extLst>
                </a:gridCol>
                <a:gridCol w="4113560">
                  <a:extLst>
                    <a:ext uri="{9D8B030D-6E8A-4147-A177-3AD203B41FA5}">
                      <a16:colId xmlns:a16="http://schemas.microsoft.com/office/drawing/2014/main" val="20001"/>
                    </a:ext>
                  </a:extLst>
                </a:gridCol>
                <a:gridCol w="3824012">
                  <a:extLst>
                    <a:ext uri="{9D8B030D-6E8A-4147-A177-3AD203B41FA5}">
                      <a16:colId xmlns:a16="http://schemas.microsoft.com/office/drawing/2014/main" val="20002"/>
                    </a:ext>
                  </a:extLst>
                </a:gridCol>
              </a:tblGrid>
              <a:tr h="3519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chemeClr val="dk1"/>
                          </a:solidFill>
                          <a:latin typeface="標楷體" pitchFamily="65" charset="-120"/>
                          <a:ea typeface="標楷體" pitchFamily="65" charset="-120"/>
                          <a:cs typeface="Arial"/>
                          <a:sym typeface="Arial"/>
                        </a:rPr>
                        <a:t>種類</a:t>
                      </a: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solidFill>
                      <a:srgbClr val="C9E7A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chemeClr val="dk1"/>
                          </a:solidFill>
                          <a:latin typeface="標楷體" pitchFamily="65" charset="-120"/>
                          <a:ea typeface="標楷體" pitchFamily="65" charset="-120"/>
                          <a:cs typeface="Arial"/>
                          <a:sym typeface="Arial"/>
                        </a:rPr>
                        <a:t>特徵</a:t>
                      </a:r>
                      <a:endParaRPr lang="en-US" altLang="zh-TW" sz="28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solidFill>
                      <a:srgbClr val="C9E7A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chemeClr val="dk1"/>
                          </a:solidFill>
                          <a:latin typeface="標楷體" pitchFamily="65" charset="-120"/>
                          <a:ea typeface="標楷體" pitchFamily="65" charset="-120"/>
                          <a:cs typeface="Arial"/>
                          <a:sym typeface="Arial"/>
                        </a:rPr>
                        <a:t>圖示</a:t>
                      </a:r>
                      <a:endParaRPr lang="en-US" altLang="zh-TW" sz="28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solidFill>
                      <a:srgbClr val="C9E7A7"/>
                    </a:solidFill>
                  </a:tcPr>
                </a:tc>
                <a:extLst>
                  <a:ext uri="{0D108BD9-81ED-4DB2-BD59-A6C34878D82A}">
                    <a16:rowId xmlns:a16="http://schemas.microsoft.com/office/drawing/2014/main" val="10000"/>
                  </a:ext>
                </a:extLst>
              </a:tr>
              <a:tr h="120651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秈米</a:t>
                      </a:r>
                      <a:endParaRPr lang="en-US" altLang="zh-TW" sz="24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zh-TW" sz="2400" b="0" i="0" u="none" strike="noStrike" cap="none" dirty="0">
                        <a:solidFill>
                          <a:schemeClr val="dk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zh-TW" sz="2400" b="0" i="0" u="none" strike="noStrike" cap="none" dirty="0">
                        <a:solidFill>
                          <a:schemeClr val="dk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24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熱帶、副熱帶</a:t>
                      </a:r>
                      <a:r>
                        <a:rPr lang="zh-TW" altLang="en-US" sz="2400" b="0" i="0" u="none" strike="noStrike" cap="none" dirty="0">
                          <a:solidFill>
                            <a:schemeClr val="dk1"/>
                          </a:solidFill>
                          <a:latin typeface="標楷體" pitchFamily="65" charset="-120"/>
                          <a:ea typeface="標楷體" pitchFamily="65" charset="-120"/>
                          <a:cs typeface="Arial"/>
                          <a:sym typeface="Arial"/>
                        </a:rPr>
                        <a:t>種植，</a:t>
                      </a:r>
                      <a:r>
                        <a:rPr lang="zh-TW" altLang="en-US" sz="2400" b="0" i="0" u="none" strike="noStrike" cap="none" dirty="0">
                          <a:solidFill>
                            <a:srgbClr val="FF0000"/>
                          </a:solidFill>
                          <a:latin typeface="標楷體" pitchFamily="65" charset="-120"/>
                          <a:ea typeface="標楷體" pitchFamily="65" charset="-120"/>
                          <a:cs typeface="Arial"/>
                          <a:sym typeface="Arial"/>
                        </a:rPr>
                        <a:t>一年可多熟</a:t>
                      </a:r>
                      <a:r>
                        <a:rPr lang="zh-TW" altLang="en-US" sz="2400" b="0" i="0" u="none" strike="noStrike" cap="none" dirty="0">
                          <a:solidFill>
                            <a:schemeClr val="dk1"/>
                          </a:solidFill>
                          <a:latin typeface="標楷體" pitchFamily="65" charset="-120"/>
                          <a:ea typeface="標楷體" pitchFamily="65" charset="-120"/>
                          <a:cs typeface="Arial"/>
                          <a:sym typeface="Arial"/>
                        </a:rPr>
                        <a:t>，外觀</a:t>
                      </a:r>
                      <a:r>
                        <a:rPr lang="zh-TW" altLang="en-US" sz="2400" b="0" i="0" u="none" strike="noStrike" cap="none" dirty="0">
                          <a:solidFill>
                            <a:srgbClr val="FF0000"/>
                          </a:solidFill>
                          <a:latin typeface="標楷體" pitchFamily="65" charset="-120"/>
                          <a:ea typeface="標楷體" pitchFamily="65" charset="-120"/>
                          <a:cs typeface="Arial"/>
                          <a:sym typeface="Arial"/>
                        </a:rPr>
                        <a:t>細長黏性低</a:t>
                      </a:r>
                      <a:r>
                        <a:rPr lang="zh-TW" altLang="en-US" sz="2400" b="0" i="0" u="none" strike="noStrike" cap="none" dirty="0">
                          <a:solidFill>
                            <a:schemeClr val="dk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中國南部、東南亞、南亞</a:t>
                      </a:r>
                      <a:r>
                        <a:rPr lang="zh-TW" altLang="en-US" sz="2400" b="0" i="0" u="none" strike="noStrike" cap="none" dirty="0">
                          <a:solidFill>
                            <a:schemeClr val="dk1"/>
                          </a:solidFill>
                          <a:latin typeface="標楷體" pitchFamily="65" charset="-120"/>
                          <a:ea typeface="標楷體" pitchFamily="65" charset="-120"/>
                          <a:cs typeface="Arial"/>
                          <a:sym typeface="Arial"/>
                        </a:rPr>
                        <a:t>主要</a:t>
                      </a:r>
                      <a:r>
                        <a:rPr lang="zh-TW" altLang="en-US" sz="2400" b="0" i="0" u="none" strike="noStrike" cap="none" dirty="0">
                          <a:solidFill>
                            <a:srgbClr val="FF0000"/>
                          </a:solidFill>
                          <a:latin typeface="標楷體" pitchFamily="65" charset="-120"/>
                          <a:ea typeface="標楷體" pitchFamily="65" charset="-120"/>
                          <a:cs typeface="Arial"/>
                          <a:sym typeface="Arial"/>
                        </a:rPr>
                        <a:t>食用米</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endParaRPr lang="en-US" altLang="zh-TW" sz="28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690" y="1923736"/>
            <a:ext cx="716703" cy="723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3270" y="1664465"/>
            <a:ext cx="3116070" cy="106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4" name="表格 13">
            <a:extLst>
              <a:ext uri="{FF2B5EF4-FFF2-40B4-BE49-F238E27FC236}">
                <a16:creationId xmlns:a16="http://schemas.microsoft.com/office/drawing/2014/main" id="{E80CD30C-6E3A-45FF-BA45-F0A2D5FE51B2}"/>
              </a:ext>
            </a:extLst>
          </p:cNvPr>
          <p:cNvGraphicFramePr>
            <a:graphicFrameLocks noGrp="1"/>
          </p:cNvGraphicFramePr>
          <p:nvPr>
            <p:extLst>
              <p:ext uri="{D42A27DB-BD31-4B8C-83A1-F6EECF244321}">
                <p14:modId xmlns:p14="http://schemas.microsoft.com/office/powerpoint/2010/main" val="3649175148"/>
              </p:ext>
            </p:extLst>
          </p:nvPr>
        </p:nvGraphicFramePr>
        <p:xfrm>
          <a:off x="85174" y="4613274"/>
          <a:ext cx="8964488" cy="2088480"/>
        </p:xfrm>
        <a:graphic>
          <a:graphicData uri="http://schemas.openxmlformats.org/drawingml/2006/table">
            <a:tbl>
              <a:tblPr/>
              <a:tblGrid>
                <a:gridCol w="1026916">
                  <a:extLst>
                    <a:ext uri="{9D8B030D-6E8A-4147-A177-3AD203B41FA5}">
                      <a16:colId xmlns:a16="http://schemas.microsoft.com/office/drawing/2014/main" val="20000"/>
                    </a:ext>
                  </a:extLst>
                </a:gridCol>
                <a:gridCol w="4113560">
                  <a:extLst>
                    <a:ext uri="{9D8B030D-6E8A-4147-A177-3AD203B41FA5}">
                      <a16:colId xmlns:a16="http://schemas.microsoft.com/office/drawing/2014/main" val="20001"/>
                    </a:ext>
                  </a:extLst>
                </a:gridCol>
                <a:gridCol w="3824012">
                  <a:extLst>
                    <a:ext uri="{9D8B030D-6E8A-4147-A177-3AD203B41FA5}">
                      <a16:colId xmlns:a16="http://schemas.microsoft.com/office/drawing/2014/main" val="20002"/>
                    </a:ext>
                  </a:extLst>
                </a:gridCol>
              </a:tblGrid>
              <a:tr h="208848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糯米</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51432" marR="51432" marT="0" marB="0"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pPr algn="just"/>
                      <a:r>
                        <a:rPr lang="zh-TW" altLang="en-US" sz="2400" b="0" i="0" u="none" strike="noStrike" cap="none" dirty="0">
                          <a:solidFill>
                            <a:schemeClr val="dk1"/>
                          </a:solidFill>
                          <a:latin typeface="標楷體" pitchFamily="65" charset="-120"/>
                          <a:ea typeface="標楷體" pitchFamily="65" charset="-120"/>
                          <a:cs typeface="Arial"/>
                          <a:sym typeface="Arial"/>
                        </a:rPr>
                        <a:t>分成南方的長糯和北方的圓糯，糯米</a:t>
                      </a:r>
                      <a:r>
                        <a:rPr lang="zh-TW" altLang="en-US" sz="2400" b="0" i="0" u="none" strike="noStrike" cap="none" dirty="0">
                          <a:solidFill>
                            <a:srgbClr val="FF0000"/>
                          </a:solidFill>
                          <a:latin typeface="標楷體" pitchFamily="65" charset="-120"/>
                          <a:ea typeface="標楷體" pitchFamily="65" charset="-120"/>
                          <a:cs typeface="Arial"/>
                          <a:sym typeface="Arial"/>
                        </a:rPr>
                        <a:t>黏性最高</a:t>
                      </a:r>
                      <a:r>
                        <a:rPr lang="zh-TW" altLang="en-US" sz="2400" b="0" i="0" u="none" strike="noStrike" cap="none" dirty="0">
                          <a:solidFill>
                            <a:schemeClr val="dk1"/>
                          </a:solidFill>
                          <a:latin typeface="標楷體" pitchFamily="65" charset="-120"/>
                          <a:ea typeface="標楷體" pitchFamily="65" charset="-120"/>
                          <a:cs typeface="Arial"/>
                          <a:sym typeface="Arial"/>
                        </a:rPr>
                        <a:t>，可加工製成各種米製品</a:t>
                      </a:r>
                      <a:endParaRPr lang="en-US" altLang="zh-TW" sz="24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endParaRPr lang="en-US" altLang="zh-TW" sz="24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5" name="Picture 2">
            <a:extLst>
              <a:ext uri="{FF2B5EF4-FFF2-40B4-BE49-F238E27FC236}">
                <a16:creationId xmlns:a16="http://schemas.microsoft.com/office/drawing/2014/main" id="{0B5A7598-4E07-4A57-9A76-86A610C206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711" y="5048531"/>
            <a:ext cx="782659" cy="1745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a:extLst>
              <a:ext uri="{FF2B5EF4-FFF2-40B4-BE49-F238E27FC236}">
                <a16:creationId xmlns:a16="http://schemas.microsoft.com/office/drawing/2014/main" id="{42F52854-DBF6-4262-B083-7861A57240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6085" y="4379708"/>
            <a:ext cx="3683204" cy="2217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7" name="表格 16">
            <a:extLst>
              <a:ext uri="{FF2B5EF4-FFF2-40B4-BE49-F238E27FC236}">
                <a16:creationId xmlns:a16="http://schemas.microsoft.com/office/drawing/2014/main" id="{16A22E12-9BF5-4AE8-A283-5276BFB75D2B}"/>
              </a:ext>
            </a:extLst>
          </p:cNvPr>
          <p:cNvGraphicFramePr>
            <a:graphicFrameLocks noGrp="1"/>
          </p:cNvGraphicFramePr>
          <p:nvPr>
            <p:extLst>
              <p:ext uri="{D42A27DB-BD31-4B8C-83A1-F6EECF244321}">
                <p14:modId xmlns:p14="http://schemas.microsoft.com/office/powerpoint/2010/main" val="313955270"/>
              </p:ext>
            </p:extLst>
          </p:nvPr>
        </p:nvGraphicFramePr>
        <p:xfrm>
          <a:off x="88178" y="2982643"/>
          <a:ext cx="8935532" cy="1621452"/>
        </p:xfrm>
        <a:graphic>
          <a:graphicData uri="http://schemas.openxmlformats.org/drawingml/2006/table">
            <a:tbl>
              <a:tblPr/>
              <a:tblGrid>
                <a:gridCol w="1023599">
                  <a:extLst>
                    <a:ext uri="{9D8B030D-6E8A-4147-A177-3AD203B41FA5}">
                      <a16:colId xmlns:a16="http://schemas.microsoft.com/office/drawing/2014/main" val="20000"/>
                    </a:ext>
                  </a:extLst>
                </a:gridCol>
                <a:gridCol w="4100273">
                  <a:extLst>
                    <a:ext uri="{9D8B030D-6E8A-4147-A177-3AD203B41FA5}">
                      <a16:colId xmlns:a16="http://schemas.microsoft.com/office/drawing/2014/main" val="20001"/>
                    </a:ext>
                  </a:extLst>
                </a:gridCol>
                <a:gridCol w="3811660">
                  <a:extLst>
                    <a:ext uri="{9D8B030D-6E8A-4147-A177-3AD203B41FA5}">
                      <a16:colId xmlns:a16="http://schemas.microsoft.com/office/drawing/2014/main" val="20002"/>
                    </a:ext>
                  </a:extLst>
                </a:gridCol>
              </a:tblGrid>
              <a:tr h="162145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粳米</a:t>
                      </a:r>
                      <a:endParaRPr lang="en-US" altLang="zh-TW" sz="24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zh-TW" sz="2400" b="0" i="0" u="none" strike="noStrike" cap="none" dirty="0">
                        <a:solidFill>
                          <a:schemeClr val="dk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zh-TW" sz="24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pPr algn="just"/>
                      <a:r>
                        <a:rPr lang="zh-TW" altLang="en-US" sz="2400" b="0" i="0" u="none" strike="noStrike" cap="none" dirty="0">
                          <a:solidFill>
                            <a:schemeClr val="dk1"/>
                          </a:solidFill>
                          <a:latin typeface="標楷體" pitchFamily="65" charset="-120"/>
                          <a:ea typeface="標楷體" pitchFamily="65" charset="-120"/>
                          <a:cs typeface="Arial"/>
                          <a:sym typeface="Arial"/>
                        </a:rPr>
                        <a:t>耐涼冷，可生在</a:t>
                      </a:r>
                      <a:r>
                        <a:rPr lang="zh-TW" altLang="en-US" sz="2400" b="0" i="0" u="none" strike="noStrike" cap="none" dirty="0">
                          <a:solidFill>
                            <a:srgbClr val="FF0000"/>
                          </a:solidFill>
                          <a:latin typeface="標楷體" pitchFamily="65" charset="-120"/>
                          <a:ea typeface="標楷體" pitchFamily="65" charset="-120"/>
                          <a:cs typeface="Arial"/>
                          <a:sym typeface="Arial"/>
                        </a:rPr>
                        <a:t>溫帶、寒帶</a:t>
                      </a:r>
                      <a:r>
                        <a:rPr lang="zh-TW" altLang="en-US" sz="2400" b="0" i="0" u="none" strike="noStrike" cap="none" dirty="0">
                          <a:solidFill>
                            <a:schemeClr val="dk1"/>
                          </a:solidFill>
                          <a:latin typeface="標楷體" pitchFamily="65" charset="-120"/>
                          <a:ea typeface="標楷體" pitchFamily="65" charset="-120"/>
                          <a:cs typeface="Arial"/>
                          <a:sym typeface="Arial"/>
                        </a:rPr>
                        <a:t>，熟成時間長。外觀</a:t>
                      </a:r>
                      <a:r>
                        <a:rPr lang="zh-TW" altLang="en-US" sz="2400" b="0" i="0" u="none" strike="noStrike" cap="none" dirty="0">
                          <a:solidFill>
                            <a:srgbClr val="FF0000"/>
                          </a:solidFill>
                          <a:latin typeface="標楷體" pitchFamily="65" charset="-120"/>
                          <a:ea typeface="標楷體" pitchFamily="65" charset="-120"/>
                          <a:cs typeface="Arial"/>
                          <a:sym typeface="Arial"/>
                        </a:rPr>
                        <a:t>圓短透明</a:t>
                      </a:r>
                      <a:r>
                        <a:rPr lang="zh-TW" altLang="en-US" sz="2400" b="0" i="0" u="none" strike="noStrike" cap="none" dirty="0">
                          <a:solidFill>
                            <a:schemeClr val="dk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黏性</a:t>
                      </a:r>
                      <a:r>
                        <a:rPr lang="zh-TW" altLang="en-US" sz="2400" b="0" i="0" u="none" strike="noStrike" cap="none" dirty="0">
                          <a:solidFill>
                            <a:schemeClr val="dk1"/>
                          </a:solidFill>
                          <a:latin typeface="標楷體" pitchFamily="65" charset="-120"/>
                          <a:ea typeface="標楷體" pitchFamily="65" charset="-120"/>
                          <a:cs typeface="Arial"/>
                          <a:sym typeface="Arial"/>
                        </a:rPr>
                        <a:t>較</a:t>
                      </a:r>
                      <a:r>
                        <a:rPr lang="zh-TW" altLang="en-US" sz="2400" b="0" i="0" u="none" strike="noStrike" cap="none" dirty="0">
                          <a:solidFill>
                            <a:srgbClr val="FF0000"/>
                          </a:solidFill>
                          <a:latin typeface="標楷體" pitchFamily="65" charset="-120"/>
                          <a:ea typeface="標楷體" pitchFamily="65" charset="-120"/>
                          <a:cs typeface="Arial"/>
                          <a:sym typeface="Arial"/>
                        </a:rPr>
                        <a:t>高</a:t>
                      </a:r>
                      <a:r>
                        <a:rPr lang="zh-TW" altLang="en-US" sz="2400" b="0" i="0" u="none" strike="noStrike" cap="none" dirty="0">
                          <a:solidFill>
                            <a:schemeClr val="dk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朝鮮半島、日本、臺灣、中國北部食用米</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endParaRPr lang="en-US" altLang="zh-TW" sz="2400" b="0" i="0" u="none" strike="noStrike" cap="none" dirty="0">
                        <a:solidFill>
                          <a:schemeClr val="dk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8" name="Picture 4">
            <a:extLst>
              <a:ext uri="{FF2B5EF4-FFF2-40B4-BE49-F238E27FC236}">
                <a16:creationId xmlns:a16="http://schemas.microsoft.com/office/drawing/2014/main" id="{DAB1EF74-63B0-4774-B2E2-494B2189D1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748" y="3658206"/>
            <a:ext cx="809928" cy="1004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5">
            <a:extLst>
              <a:ext uri="{FF2B5EF4-FFF2-40B4-BE49-F238E27FC236}">
                <a16:creationId xmlns:a16="http://schemas.microsoft.com/office/drawing/2014/main" id="{2AA4C2B5-98F0-435A-871E-D5C13B9FE0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77133" y="3016214"/>
            <a:ext cx="3728344" cy="1305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19">
            <a:extLst>
              <a:ext uri="{FF2B5EF4-FFF2-40B4-BE49-F238E27FC236}">
                <a16:creationId xmlns:a16="http://schemas.microsoft.com/office/drawing/2014/main" id="{FB819378-8817-4993-BA49-733BE01B9875}"/>
              </a:ext>
            </a:extLst>
          </p:cNvPr>
          <p:cNvSpPr>
            <a:spLocks noChangeArrowheads="1"/>
          </p:cNvSpPr>
          <p:nvPr/>
        </p:nvSpPr>
        <p:spPr bwMode="auto">
          <a:xfrm>
            <a:off x="38946" y="25338"/>
            <a:ext cx="2182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p.202~203</a:t>
            </a:r>
            <a:endParaRPr lang="zh-TW" altLang="en-US" sz="3600" b="0" dirty="0"/>
          </a:p>
        </p:txBody>
      </p:sp>
    </p:spTree>
    <p:extLst>
      <p:ext uri="{BB962C8B-B14F-4D97-AF65-F5344CB8AC3E}">
        <p14:creationId xmlns:p14="http://schemas.microsoft.com/office/powerpoint/2010/main" val="3054971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hape 659"/>
          <p:cNvSpPr/>
          <p:nvPr/>
        </p:nvSpPr>
        <p:spPr>
          <a:xfrm rot="21324055">
            <a:off x="-6581" y="639223"/>
            <a:ext cx="2062435" cy="580546"/>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sz="3600" b="1" i="0" u="none" strike="noStrike" cap="none" dirty="0">
                <a:solidFill>
                  <a:schemeClr val="dk1"/>
                </a:solidFill>
                <a:latin typeface="Arial"/>
                <a:ea typeface="Arial"/>
                <a:cs typeface="Arial"/>
                <a:sym typeface="Arial"/>
              </a:rPr>
              <a:t>第</a:t>
            </a:r>
            <a:r>
              <a:rPr lang="zh-TW" altLang="en-US" sz="3600" b="1" i="0" u="none" strike="noStrike" cap="none" dirty="0">
                <a:solidFill>
                  <a:schemeClr val="dk1"/>
                </a:solidFill>
                <a:latin typeface="Arial"/>
                <a:ea typeface="Arial"/>
                <a:cs typeface="Arial"/>
                <a:sym typeface="Arial"/>
              </a:rPr>
              <a:t>二</a:t>
            </a:r>
            <a:r>
              <a:rPr lang="zh-TW" sz="3600" b="1" i="0" u="none" strike="noStrike" cap="none" dirty="0">
                <a:solidFill>
                  <a:schemeClr val="dk1"/>
                </a:solidFill>
                <a:latin typeface="Arial"/>
                <a:ea typeface="Arial"/>
                <a:cs typeface="Arial"/>
                <a:sym typeface="Arial"/>
              </a:rPr>
              <a:t>節</a:t>
            </a:r>
          </a:p>
        </p:txBody>
      </p:sp>
      <p:sp>
        <p:nvSpPr>
          <p:cNvPr id="5" name="Shape 660"/>
          <p:cNvSpPr/>
          <p:nvPr/>
        </p:nvSpPr>
        <p:spPr>
          <a:xfrm>
            <a:off x="2051468" y="516019"/>
            <a:ext cx="5832648" cy="719708"/>
          </a:xfrm>
          <a:prstGeom prst="rect">
            <a:avLst/>
          </a:prstGeom>
          <a:noFill/>
          <a:ln>
            <a:noFill/>
          </a:ln>
        </p:spPr>
        <p:txBody>
          <a:bodyPr wrap="square" lIns="91425" tIns="45700" rIns="91425" bIns="45700" anchor="ctr" anchorCtr="0">
            <a:noAutofit/>
          </a:bodyPr>
          <a:lstStyle/>
          <a:p>
            <a:pPr lvl="0" algn="ctr">
              <a:buSzPct val="25000"/>
            </a:pPr>
            <a:r>
              <a:rPr lang="zh-TW" altLang="en-US" sz="4000" b="1" dirty="0">
                <a:solidFill>
                  <a:schemeClr val="dk1"/>
                </a:solidFill>
              </a:rPr>
              <a:t>經濟崛起與轉型</a:t>
            </a:r>
            <a:endParaRPr lang="zh-TW" sz="4000" b="1" i="0" u="none" strike="noStrike" cap="none" dirty="0">
              <a:solidFill>
                <a:schemeClr val="dk1"/>
              </a:solidFill>
              <a:latin typeface="Arial"/>
              <a:ea typeface="Arial"/>
              <a:cs typeface="Arial"/>
              <a:sym typeface="Arial"/>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342973"/>
            <a:ext cx="6804405" cy="49575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251520" y="1661954"/>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p.195</a:t>
            </a:r>
            <a:endParaRPr lang="zh-TW" altLang="en-US" sz="3600" b="0" dirty="0"/>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17</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4670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971600" y="18108"/>
            <a:ext cx="734481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solidFill>
                  <a:schemeClr val="tx1"/>
                </a:solidFill>
                <a:latin typeface="微軟正黑體" pitchFamily="34" charset="-120"/>
              </a:rPr>
              <a:t>第二節   </a:t>
            </a:r>
            <a:r>
              <a:rPr lang="zh-TW" altLang="en-US" sz="3600" b="1" dirty="0">
                <a:solidFill>
                  <a:srgbClr val="FF0000"/>
                </a:solidFill>
                <a:latin typeface="微軟正黑體" pitchFamily="34" charset="-120"/>
              </a:rPr>
              <a:t>經濟崛起與轉型</a:t>
            </a:r>
            <a:endParaRPr lang="en-US" altLang="zh-TW" sz="3600" b="1" dirty="0">
              <a:solidFill>
                <a:srgbClr val="FF0000"/>
              </a:solidFill>
              <a:latin typeface="微軟正黑體" pitchFamily="34" charset="-120"/>
            </a:endParaRPr>
          </a:p>
        </p:txBody>
      </p:sp>
      <p:sp>
        <p:nvSpPr>
          <p:cNvPr id="7" name="Rectangle 3"/>
          <p:cNvSpPr txBox="1">
            <a:spLocks noChangeArrowheads="1"/>
          </p:cNvSpPr>
          <p:nvPr/>
        </p:nvSpPr>
        <p:spPr>
          <a:xfrm>
            <a:off x="251520" y="529497"/>
            <a:ext cx="8892480" cy="108012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隨著政治及社會變遷，東亞各國相繼崛起，相較於西方工業化較晚，但</a:t>
            </a:r>
            <a:r>
              <a:rPr lang="zh-TW" altLang="en-US" dirty="0">
                <a:solidFill>
                  <a:srgbClr val="FF0000"/>
                </a:solidFill>
                <a:latin typeface="標楷體" pitchFamily="65" charset="-120"/>
                <a:ea typeface="標楷體" pitchFamily="65" charset="-120"/>
              </a:rPr>
              <a:t>成長極快</a:t>
            </a:r>
            <a:r>
              <a:rPr lang="zh-TW" altLang="en-US" dirty="0">
                <a:latin typeface="標楷體" pitchFamily="65" charset="-120"/>
                <a:ea typeface="標楷體" pitchFamily="65" charset="-120"/>
              </a:rPr>
              <a:t>，短期內歷經工業化的不同階段。</a:t>
            </a:r>
            <a:r>
              <a:rPr lang="zh-TW" altLang="en-US" dirty="0">
                <a:solidFill>
                  <a:srgbClr val="FF0000"/>
                </a:solidFill>
                <a:latin typeface="標楷體" pitchFamily="65" charset="-120"/>
                <a:ea typeface="標楷體" pitchFamily="65" charset="-120"/>
              </a:rPr>
              <a:t>承續日本的經驗，臺灣、南韓</a:t>
            </a:r>
            <a:r>
              <a:rPr lang="zh-TW" altLang="en-US" dirty="0">
                <a:latin typeface="標楷體" pitchFamily="65" charset="-120"/>
                <a:ea typeface="標楷體" pitchFamily="65" charset="-120"/>
              </a:rPr>
              <a:t>循著相同模式而邁向經濟起飛，接著</a:t>
            </a:r>
            <a:r>
              <a:rPr lang="zh-TW" altLang="en-US" dirty="0">
                <a:solidFill>
                  <a:srgbClr val="FF0000"/>
                </a:solidFill>
                <a:latin typeface="標楷體" pitchFamily="65" charset="-120"/>
                <a:ea typeface="標楷體" pitchFamily="65" charset="-120"/>
              </a:rPr>
              <a:t>中國</a:t>
            </a:r>
            <a:r>
              <a:rPr lang="zh-TW" altLang="en-US" dirty="0">
                <a:latin typeface="標楷體" pitchFamily="65" charset="-120"/>
                <a:ea typeface="標楷體" pitchFamily="65" charset="-120"/>
              </a:rPr>
              <a:t>也</a:t>
            </a:r>
            <a:r>
              <a:rPr lang="zh-TW" altLang="en-US" dirty="0">
                <a:solidFill>
                  <a:srgbClr val="FF0000"/>
                </a:solidFill>
                <a:latin typeface="標楷體" pitchFamily="65" charset="-120"/>
                <a:ea typeface="標楷體" pitchFamily="65" charset="-120"/>
              </a:rPr>
              <a:t>以類似方法</a:t>
            </a:r>
            <a:r>
              <a:rPr lang="zh-TW" altLang="en-US" dirty="0">
                <a:latin typeface="標楷體" pitchFamily="65" charset="-120"/>
                <a:ea typeface="標楷體" pitchFamily="65" charset="-120"/>
              </a:rPr>
              <a:t>逐漸</a:t>
            </a:r>
            <a:r>
              <a:rPr lang="zh-TW" altLang="en-US" dirty="0">
                <a:solidFill>
                  <a:srgbClr val="FF0000"/>
                </a:solidFill>
                <a:latin typeface="標楷體" pitchFamily="65" charset="-120"/>
                <a:ea typeface="標楷體" pitchFamily="65" charset="-120"/>
              </a:rPr>
              <a:t>發展</a:t>
            </a:r>
            <a:r>
              <a:rPr lang="zh-TW" altLang="en-US" dirty="0">
                <a:latin typeface="標楷體" pitchFamily="65" charset="-120"/>
                <a:ea typeface="標楷體" pitchFamily="65" charset="-120"/>
              </a:rPr>
              <a:t>。</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52" y="1588641"/>
            <a:ext cx="9865096" cy="5163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18</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0" y="-2070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p.203</a:t>
            </a:r>
            <a:endParaRPr lang="zh-TW" altLang="en-US" sz="3600" b="0" dirty="0"/>
          </a:p>
        </p:txBody>
      </p:sp>
      <p:pic>
        <p:nvPicPr>
          <p:cNvPr id="10" name="Picture 2">
            <a:extLst>
              <a:ext uri="{FF2B5EF4-FFF2-40B4-BE49-F238E27FC236}">
                <a16:creationId xmlns:a16="http://schemas.microsoft.com/office/drawing/2014/main" id="{862570F6-F61D-4FF1-A2E5-5522942287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0" y="4068416"/>
            <a:ext cx="9143999" cy="2802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0280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80135" y="5050678"/>
            <a:ext cx="7772400" cy="1362075"/>
          </a:xfrm>
        </p:spPr>
        <p:txBody>
          <a:bodyPr/>
          <a:lstStyle/>
          <a:p>
            <a:endParaRPr lang="zh-TW" altLang="en-US"/>
          </a:p>
        </p:txBody>
      </p:sp>
      <p:sp>
        <p:nvSpPr>
          <p:cNvPr id="3" name="文字版面配置區 2"/>
          <p:cNvSpPr>
            <a:spLocks noGrp="1"/>
          </p:cNvSpPr>
          <p:nvPr>
            <p:ph type="body" idx="1"/>
          </p:nvPr>
        </p:nvSpPr>
        <p:spPr>
          <a:xfrm>
            <a:off x="680135" y="3550491"/>
            <a:ext cx="7772400" cy="1500187"/>
          </a:xfrm>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132083" y="651668"/>
            <a:ext cx="8149251" cy="175594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dirty="0">
                <a:latin typeface="標楷體" pitchFamily="65" charset="-120"/>
                <a:ea typeface="標楷體" pitchFamily="65" charset="-120"/>
              </a:rPr>
              <a:t>    </a:t>
            </a:r>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latin typeface="標楷體" pitchFamily="65" charset="-120"/>
                <a:ea typeface="標楷體" pitchFamily="65" charset="-120"/>
              </a:rPr>
              <a:t>一、工業的轉型與升級</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戰後東亞各國經濟快速成長，有賴於工業化進展快速，</a:t>
            </a:r>
            <a:br>
              <a:rPr lang="en-US" altLang="zh-TW" sz="2400" dirty="0">
                <a:latin typeface="標楷體" pitchFamily="65" charset="-120"/>
                <a:ea typeface="標楷體" pitchFamily="65" charset="-120"/>
              </a:rPr>
            </a:br>
            <a:r>
              <a:rPr lang="en-US" altLang="zh-TW" sz="2400" dirty="0">
                <a:latin typeface="標楷體" pitchFamily="65" charset="-120"/>
                <a:ea typeface="標楷體" pitchFamily="65" charset="-120"/>
              </a:rPr>
              <a:t> </a:t>
            </a:r>
            <a:r>
              <a:rPr lang="zh-TW" altLang="en-US" sz="2400" dirty="0">
                <a:latin typeface="標楷體" pitchFamily="65" charset="-120"/>
                <a:ea typeface="標楷體" pitchFamily="65" charset="-120"/>
              </a:rPr>
              <a:t>資本快速累積，促進經濟成長。</a:t>
            </a:r>
          </a:p>
          <a:p>
            <a:r>
              <a:rPr lang="en-US" altLang="zh-TW" sz="2400" dirty="0">
                <a:latin typeface="標楷體" pitchFamily="65" charset="-120"/>
                <a:ea typeface="標楷體" pitchFamily="65" charset="-120"/>
              </a:rPr>
              <a:t>2.</a:t>
            </a:r>
            <a:r>
              <a:rPr lang="zh-TW" altLang="en-US" sz="2400" dirty="0">
                <a:latin typeface="標楷體" pitchFamily="65" charset="-120"/>
                <a:ea typeface="標楷體" pitchFamily="65" charset="-120"/>
              </a:rPr>
              <a:t>東亞各國大致</a:t>
            </a:r>
            <a:br>
              <a:rPr lang="en-US" altLang="zh-TW" sz="2400" dirty="0">
                <a:latin typeface="標楷體" pitchFamily="65" charset="-120"/>
                <a:ea typeface="標楷體" pitchFamily="65" charset="-120"/>
              </a:rPr>
            </a:br>
            <a:r>
              <a:rPr lang="zh-TW" altLang="en-US" sz="2400" dirty="0">
                <a:solidFill>
                  <a:srgbClr val="FF0000"/>
                </a:solidFill>
                <a:latin typeface="標楷體" pitchFamily="65" charset="-120"/>
                <a:ea typeface="標楷體" pitchFamily="65" charset="-120"/>
              </a:rPr>
              <a:t>經歷</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  </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zh-TW" altLang="en-US" sz="2400" u="sng" dirty="0">
                <a:solidFill>
                  <a:srgbClr val="FF0000"/>
                </a:solidFill>
                <a:latin typeface="標楷體" pitchFamily="65" charset="-120"/>
                <a:ea typeface="標楷體" pitchFamily="65" charset="-120"/>
              </a:rPr>
              <a:t>             </a:t>
            </a:r>
            <a:r>
              <a:rPr lang="en-US" altLang="zh-TW" sz="2400" dirty="0">
                <a:solidFill>
                  <a:schemeClr val="bg1"/>
                </a:solidFill>
                <a:latin typeface="標楷體" pitchFamily="65" charset="-120"/>
                <a:ea typeface="標楷體" pitchFamily="65" charset="-120"/>
              </a:rPr>
              <a:t>.</a:t>
            </a:r>
            <a:br>
              <a:rPr lang="en-US" altLang="zh-TW" sz="2400" dirty="0">
                <a:solidFill>
                  <a:schemeClr val="bg1"/>
                </a:solidFill>
                <a:latin typeface="標楷體" pitchFamily="65" charset="-120"/>
                <a:ea typeface="標楷體" pitchFamily="65" charset="-120"/>
              </a:rPr>
            </a:br>
            <a:r>
              <a:rPr lang="zh-TW" altLang="en-US" sz="2400" dirty="0">
                <a:latin typeface="標楷體" pitchFamily="65" charset="-120"/>
                <a:ea typeface="標楷體" pitchFamily="65" charset="-120"/>
              </a:rPr>
              <a:t>等工業的轉型和</a:t>
            </a:r>
            <a:r>
              <a:rPr lang="zh-TW" altLang="en-US" sz="2400" dirty="0">
                <a:solidFill>
                  <a:srgbClr val="FF0000"/>
                </a:solidFill>
                <a:latin typeface="標楷體" pitchFamily="65" charset="-120"/>
                <a:ea typeface="標楷體" pitchFamily="65" charset="-120"/>
              </a:rPr>
              <a:t>升級</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歷程</a:t>
            </a:r>
            <a:r>
              <a:rPr lang="zh-TW" altLang="en-US" sz="2400" dirty="0">
                <a:latin typeface="標楷體" pitchFamily="65" charset="-120"/>
                <a:ea typeface="標楷體" pitchFamily="65" charset="-120"/>
              </a:rPr>
              <a:t>。</a:t>
            </a:r>
          </a:p>
        </p:txBody>
      </p:sp>
      <p:sp>
        <p:nvSpPr>
          <p:cNvPr id="8" name="矩形 7"/>
          <p:cNvSpPr>
            <a:spLocks noChangeArrowheads="1"/>
          </p:cNvSpPr>
          <p:nvPr/>
        </p:nvSpPr>
        <p:spPr bwMode="auto">
          <a:xfrm>
            <a:off x="1884678" y="1510436"/>
            <a:ext cx="20882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勞力密集產業</a:t>
            </a:r>
          </a:p>
        </p:txBody>
      </p:sp>
      <p:graphicFrame>
        <p:nvGraphicFramePr>
          <p:cNvPr id="9" name="Group 47"/>
          <p:cNvGraphicFramePr>
            <a:graphicFrameLocks noGrp="1"/>
          </p:cNvGraphicFramePr>
          <p:nvPr>
            <p:extLst>
              <p:ext uri="{D42A27DB-BD31-4B8C-83A1-F6EECF244321}">
                <p14:modId xmlns:p14="http://schemas.microsoft.com/office/powerpoint/2010/main" val="595723599"/>
              </p:ext>
            </p:extLst>
          </p:nvPr>
        </p:nvGraphicFramePr>
        <p:xfrm>
          <a:off x="137334" y="2410683"/>
          <a:ext cx="8869331" cy="4373503"/>
        </p:xfrm>
        <a:graphic>
          <a:graphicData uri="http://schemas.openxmlformats.org/drawingml/2006/table">
            <a:tbl>
              <a:tblPr/>
              <a:tblGrid>
                <a:gridCol w="936104">
                  <a:extLst>
                    <a:ext uri="{9D8B030D-6E8A-4147-A177-3AD203B41FA5}">
                      <a16:colId xmlns:a16="http://schemas.microsoft.com/office/drawing/2014/main" val="20000"/>
                    </a:ext>
                  </a:extLst>
                </a:gridCol>
                <a:gridCol w="7933227">
                  <a:extLst>
                    <a:ext uri="{9D8B030D-6E8A-4147-A177-3AD203B41FA5}">
                      <a16:colId xmlns:a16="http://schemas.microsoft.com/office/drawing/2014/main" val="20001"/>
                    </a:ext>
                  </a:extLst>
                </a:gridCol>
              </a:tblGrid>
              <a:tr h="53302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chemeClr val="tx1"/>
                          </a:solidFill>
                          <a:latin typeface="標楷體" pitchFamily="65" charset="-120"/>
                          <a:ea typeface="標楷體" pitchFamily="65" charset="-120"/>
                          <a:cs typeface="Arial"/>
                          <a:sym typeface="Arial"/>
                        </a:rPr>
                        <a:t>歷程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chemeClr val="tx1"/>
                          </a:solidFill>
                          <a:latin typeface="標楷體" pitchFamily="65" charset="-120"/>
                          <a:ea typeface="標楷體" pitchFamily="65" charset="-120"/>
                          <a:cs typeface="Arial"/>
                          <a:sym typeface="Arial"/>
                        </a:rPr>
                        <a:t>內容</a:t>
                      </a:r>
                      <a:endParaRPr lang="en-US" altLang="zh-TW" sz="2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7493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rgbClr val="FF0000"/>
                          </a:solidFill>
                          <a:latin typeface="標楷體" pitchFamily="65" charset="-120"/>
                          <a:ea typeface="標楷體" pitchFamily="65" charset="-120"/>
                          <a:cs typeface="Arial"/>
                          <a:sym typeface="Arial"/>
                        </a:rPr>
                        <a:t>勞力密集</a:t>
                      </a:r>
                      <a:r>
                        <a:rPr lang="zh-TW" altLang="en-US" sz="2800" b="0" i="0" u="none" strike="noStrike" cap="none" dirty="0">
                          <a:solidFill>
                            <a:schemeClr val="tx1"/>
                          </a:solidFill>
                          <a:latin typeface="標楷體" pitchFamily="65" charset="-120"/>
                          <a:ea typeface="標楷體" pitchFamily="65" charset="-120"/>
                          <a:cs typeface="Arial"/>
                          <a:sym typeface="Arial"/>
                        </a:rPr>
                        <a:t>產業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800" b="0" i="0" u="none" strike="noStrike" cap="none" dirty="0">
                          <a:solidFill>
                            <a:schemeClr val="tx1"/>
                          </a:solidFill>
                          <a:latin typeface="標楷體" pitchFamily="65" charset="-120"/>
                          <a:ea typeface="標楷體" pitchFamily="65" charset="-120"/>
                          <a:cs typeface="Arial"/>
                          <a:sym typeface="Arial"/>
                        </a:rPr>
                        <a:t>(1)</a:t>
                      </a:r>
                      <a:r>
                        <a:rPr lang="zh-TW" altLang="en-US" sz="2800" b="0" i="0" u="none" strike="noStrike" cap="none" dirty="0">
                          <a:solidFill>
                            <a:schemeClr val="tx1"/>
                          </a:solidFill>
                          <a:latin typeface="標楷體" pitchFamily="65" charset="-120"/>
                          <a:ea typeface="標楷體" pitchFamily="65" charset="-120"/>
                          <a:cs typeface="Arial"/>
                          <a:sym typeface="Arial"/>
                        </a:rPr>
                        <a:t>泛指生產中大量依賴勞</a:t>
                      </a:r>
                      <a:endParaRPr lang="en-US" altLang="zh-TW" sz="2800" b="0" i="0" u="none" strike="noStrike" cap="none" dirty="0">
                        <a:solidFill>
                          <a:schemeClr val="tx1"/>
                        </a:solidFill>
                        <a:latin typeface="標楷體" pitchFamily="65" charset="-120"/>
                        <a:ea typeface="標楷體" pitchFamily="65" charset="-120"/>
                        <a:cs typeface="Arial"/>
                        <a:sym typeface="Arial"/>
                      </a:endParaRPr>
                    </a:p>
                    <a:p>
                      <a:r>
                        <a:rPr lang="zh-TW" altLang="en-US" sz="2800" b="0" i="0" u="none" strike="noStrike" cap="none" dirty="0">
                          <a:solidFill>
                            <a:schemeClr val="tx1"/>
                          </a:solidFill>
                          <a:latin typeface="標楷體" pitchFamily="65" charset="-120"/>
                          <a:ea typeface="標楷體" pitchFamily="65" charset="-120"/>
                          <a:cs typeface="Arial"/>
                          <a:sym typeface="Arial"/>
                        </a:rPr>
                        <a:t>動力，對技術及設備仰賴較</a:t>
                      </a:r>
                      <a:endParaRPr lang="en-US" altLang="zh-TW" sz="2800" b="0" i="0" u="none" strike="noStrike" cap="none" dirty="0">
                        <a:solidFill>
                          <a:schemeClr val="tx1"/>
                        </a:solidFill>
                        <a:latin typeface="標楷體" pitchFamily="65" charset="-120"/>
                        <a:ea typeface="標楷體" pitchFamily="65" charset="-120"/>
                        <a:cs typeface="Arial"/>
                        <a:sym typeface="Arial"/>
                      </a:endParaRPr>
                    </a:p>
                    <a:p>
                      <a:r>
                        <a:rPr lang="zh-TW" altLang="en-US" sz="2800" b="0" i="0" u="none" strike="noStrike" cap="none" dirty="0">
                          <a:solidFill>
                            <a:schemeClr val="tx1"/>
                          </a:solidFill>
                          <a:latin typeface="標楷體" pitchFamily="65" charset="-120"/>
                          <a:ea typeface="標楷體" pitchFamily="65" charset="-120"/>
                          <a:cs typeface="Arial"/>
                          <a:sym typeface="Arial"/>
                        </a:rPr>
                        <a:t>低的產業，如</a:t>
                      </a:r>
                      <a:r>
                        <a:rPr lang="zh-TW" altLang="en-US" sz="2800" b="0" i="0" u="none" strike="noStrike" cap="none" dirty="0">
                          <a:solidFill>
                            <a:srgbClr val="FF0000"/>
                          </a:solidFill>
                          <a:latin typeface="標楷體" pitchFamily="65" charset="-120"/>
                          <a:ea typeface="標楷體" pitchFamily="65" charset="-120"/>
                          <a:cs typeface="Arial"/>
                          <a:sym typeface="Arial"/>
                        </a:rPr>
                        <a:t>紡織、玩具</a:t>
                      </a:r>
                      <a:r>
                        <a:rPr lang="zh-TW" altLang="en-US" sz="2800" b="0" i="0" u="none" strike="noStrike" cap="none" dirty="0">
                          <a:solidFill>
                            <a:schemeClr val="tx1"/>
                          </a:solidFill>
                          <a:latin typeface="標楷體" pitchFamily="65" charset="-120"/>
                          <a:ea typeface="標楷體" pitchFamily="65" charset="-120"/>
                          <a:cs typeface="Arial"/>
                          <a:sym typeface="Arial"/>
                        </a:rPr>
                        <a:t>等</a:t>
                      </a:r>
                    </a:p>
                    <a:p>
                      <a:r>
                        <a:rPr lang="en-US" altLang="zh-TW" sz="2800" b="0" i="0" u="none" strike="noStrike" cap="none" dirty="0">
                          <a:solidFill>
                            <a:schemeClr val="tx1"/>
                          </a:solidFill>
                          <a:latin typeface="標楷體" pitchFamily="65" charset="-120"/>
                          <a:ea typeface="標楷體" pitchFamily="65" charset="-120"/>
                          <a:cs typeface="Arial"/>
                          <a:sym typeface="Arial"/>
                        </a:rPr>
                        <a:t>(2)</a:t>
                      </a:r>
                      <a:r>
                        <a:rPr lang="zh-TW" altLang="en-US" sz="2800" b="0" i="0" u="none" strike="noStrike" cap="none" dirty="0">
                          <a:solidFill>
                            <a:srgbClr val="FF0000"/>
                          </a:solidFill>
                          <a:latin typeface="標楷體" pitchFamily="65" charset="-120"/>
                          <a:ea typeface="標楷體" pitchFamily="65" charset="-120"/>
                          <a:cs typeface="Arial"/>
                          <a:sym typeface="Arial"/>
                        </a:rPr>
                        <a:t>勞力密集產業</a:t>
                      </a:r>
                      <a:r>
                        <a:rPr lang="zh-TW" altLang="en-US" sz="2800" b="0" i="0" u="none" strike="noStrike" cap="none" dirty="0">
                          <a:solidFill>
                            <a:schemeClr val="tx1"/>
                          </a:solidFill>
                          <a:latin typeface="標楷體" pitchFamily="65" charset="-120"/>
                          <a:ea typeface="標楷體" pitchFamily="65" charset="-120"/>
                          <a:cs typeface="Arial"/>
                          <a:sym typeface="Arial"/>
                        </a:rPr>
                        <a:t>的產品價</a:t>
                      </a:r>
                      <a:endParaRPr lang="en-US" altLang="zh-TW" sz="2800" b="0" i="0" u="none" strike="noStrike" cap="none" dirty="0">
                        <a:solidFill>
                          <a:schemeClr val="tx1"/>
                        </a:solidFill>
                        <a:latin typeface="標楷體" pitchFamily="65" charset="-120"/>
                        <a:ea typeface="標楷體" pitchFamily="65" charset="-120"/>
                        <a:cs typeface="Arial"/>
                        <a:sym typeface="Arial"/>
                      </a:endParaRPr>
                    </a:p>
                    <a:p>
                      <a:r>
                        <a:rPr lang="zh-TW" altLang="en-US" sz="2800" b="0" i="0" u="none" strike="noStrike" cap="none" dirty="0">
                          <a:solidFill>
                            <a:schemeClr val="tx1"/>
                          </a:solidFill>
                          <a:latin typeface="標楷體" pitchFamily="65" charset="-120"/>
                          <a:ea typeface="標楷體" pitchFamily="65" charset="-120"/>
                          <a:cs typeface="Arial"/>
                          <a:sym typeface="Arial"/>
                        </a:rPr>
                        <a:t>格較為低廉，</a:t>
                      </a:r>
                      <a:r>
                        <a:rPr lang="zh-TW" altLang="en-US" sz="2800" b="0" i="0" u="none" strike="noStrike" cap="none" dirty="0">
                          <a:solidFill>
                            <a:srgbClr val="FF0000"/>
                          </a:solidFill>
                          <a:latin typeface="標楷體" pitchFamily="65" charset="-120"/>
                          <a:ea typeface="標楷體" pitchFamily="65" charset="-120"/>
                          <a:cs typeface="Arial"/>
                          <a:sym typeface="Arial"/>
                        </a:rPr>
                        <a:t>工資占比例高</a:t>
                      </a:r>
                      <a:endParaRPr lang="en-US" altLang="zh-TW" sz="2800" b="0" i="0" u="none" strike="noStrike" cap="none" dirty="0">
                        <a:solidFill>
                          <a:srgbClr val="FF0000"/>
                        </a:solidFill>
                        <a:latin typeface="標楷體" pitchFamily="65" charset="-120"/>
                        <a:ea typeface="標楷體" pitchFamily="65" charset="-120"/>
                        <a:cs typeface="Arial"/>
                        <a:sym typeface="Arial"/>
                      </a:endParaRPr>
                    </a:p>
                    <a:p>
                      <a:r>
                        <a:rPr lang="zh-TW" altLang="en-US" sz="2800" b="0" i="0" u="none" strike="noStrike" cap="none" dirty="0">
                          <a:solidFill>
                            <a:schemeClr val="tx1"/>
                          </a:solidFill>
                          <a:latin typeface="標楷體" pitchFamily="65" charset="-120"/>
                          <a:ea typeface="標楷體" pitchFamily="65" charset="-120"/>
                          <a:cs typeface="Arial"/>
                          <a:sym typeface="Arial"/>
                        </a:rPr>
                        <a:t>，因此會</a:t>
                      </a:r>
                      <a:r>
                        <a:rPr lang="zh-TW" altLang="en-US" sz="2800" b="0" i="0" u="none" strike="noStrike" cap="none" dirty="0">
                          <a:solidFill>
                            <a:srgbClr val="FF0000"/>
                          </a:solidFill>
                          <a:latin typeface="標楷體" pitchFamily="65" charset="-120"/>
                          <a:ea typeface="標楷體" pitchFamily="65" charset="-120"/>
                          <a:cs typeface="Arial"/>
                          <a:sym typeface="Arial"/>
                        </a:rPr>
                        <a:t>設廠於工資低廉的</a:t>
                      </a:r>
                      <a:endParaRPr lang="en-US" altLang="zh-TW" sz="2800" b="0" i="0" u="none" strike="noStrike" cap="none" dirty="0">
                        <a:solidFill>
                          <a:srgbClr val="FF0000"/>
                        </a:solidFill>
                        <a:latin typeface="標楷體" pitchFamily="65" charset="-120"/>
                        <a:ea typeface="標楷體" pitchFamily="65" charset="-120"/>
                        <a:cs typeface="Arial"/>
                        <a:sym typeface="Arial"/>
                      </a:endParaRPr>
                    </a:p>
                    <a:p>
                      <a:r>
                        <a:rPr lang="zh-TW" altLang="en-US" sz="2800" b="0" i="0" u="none" strike="noStrike" cap="none" dirty="0">
                          <a:solidFill>
                            <a:srgbClr val="FF0000"/>
                          </a:solidFill>
                          <a:latin typeface="標楷體" pitchFamily="65" charset="-120"/>
                          <a:ea typeface="標楷體" pitchFamily="65" charset="-120"/>
                          <a:cs typeface="Arial"/>
                          <a:sym typeface="Arial"/>
                        </a:rPr>
                        <a:t>地區</a:t>
                      </a:r>
                      <a:r>
                        <a:rPr lang="zh-TW" altLang="en-US" sz="2800" b="0" i="0" u="none" strike="noStrike" cap="none" dirty="0">
                          <a:solidFill>
                            <a:schemeClr val="tx1"/>
                          </a:solidFill>
                          <a:latin typeface="標楷體" pitchFamily="65" charset="-120"/>
                          <a:ea typeface="標楷體" pitchFamily="65" charset="-120"/>
                          <a:cs typeface="Arial"/>
                          <a:sym typeface="Arial"/>
                        </a:rPr>
                        <a:t>，而成本</a:t>
                      </a:r>
                      <a:r>
                        <a:rPr lang="zh-TW" altLang="en-US" sz="2800" b="0" i="0" u="none" strike="noStrike" cap="none" dirty="0">
                          <a:solidFill>
                            <a:srgbClr val="FF0000"/>
                          </a:solidFill>
                          <a:latin typeface="標楷體" pitchFamily="65" charset="-120"/>
                          <a:ea typeface="標楷體" pitchFamily="65" charset="-120"/>
                          <a:cs typeface="Arial"/>
                          <a:sym typeface="Arial"/>
                        </a:rPr>
                        <a:t>隨</a:t>
                      </a:r>
                      <a:r>
                        <a:rPr lang="zh-TW" altLang="en-US" sz="2800" b="0" i="0" u="none" strike="noStrike" cap="none" dirty="0">
                          <a:solidFill>
                            <a:schemeClr val="tx1"/>
                          </a:solidFill>
                          <a:latin typeface="標楷體" pitchFamily="65" charset="-120"/>
                          <a:ea typeface="標楷體" pitchFamily="65" charset="-120"/>
                          <a:cs typeface="Arial"/>
                          <a:sym typeface="Arial"/>
                        </a:rPr>
                        <a:t>著經濟成長</a:t>
                      </a:r>
                      <a:endParaRPr lang="en-US" altLang="zh-TW" sz="2800" b="0" i="0" u="none" strike="noStrike" cap="none" dirty="0">
                        <a:solidFill>
                          <a:schemeClr val="tx1"/>
                        </a:solidFill>
                        <a:latin typeface="標楷體" pitchFamily="65" charset="-120"/>
                        <a:ea typeface="標楷體" pitchFamily="65" charset="-120"/>
                        <a:cs typeface="Arial"/>
                        <a:sym typeface="Arial"/>
                      </a:endParaRPr>
                    </a:p>
                    <a:p>
                      <a:r>
                        <a:rPr lang="zh-TW" altLang="en-US" sz="2800" b="0" i="0" u="none" strike="noStrike" cap="none" dirty="0">
                          <a:solidFill>
                            <a:schemeClr val="tx1"/>
                          </a:solidFill>
                          <a:latin typeface="標楷體" pitchFamily="65" charset="-120"/>
                          <a:ea typeface="標楷體" pitchFamily="65" charset="-120"/>
                          <a:cs typeface="Arial"/>
                          <a:sym typeface="Arial"/>
                        </a:rPr>
                        <a:t>、</a:t>
                      </a:r>
                      <a:r>
                        <a:rPr lang="zh-TW" altLang="en-US" sz="2800" b="0" i="0" u="none" strike="noStrike" cap="none" dirty="0">
                          <a:solidFill>
                            <a:srgbClr val="FF0000"/>
                          </a:solidFill>
                          <a:latin typeface="標楷體" pitchFamily="65" charset="-120"/>
                          <a:ea typeface="標楷體" pitchFamily="65" charset="-120"/>
                          <a:cs typeface="Arial"/>
                          <a:sym typeface="Arial"/>
                        </a:rPr>
                        <a:t>工資提升</a:t>
                      </a:r>
                      <a:r>
                        <a:rPr lang="zh-TW" altLang="en-US" sz="2800" b="0" i="0" u="none" strike="noStrike" cap="none" dirty="0">
                          <a:solidFill>
                            <a:schemeClr val="tx1"/>
                          </a:solidFill>
                          <a:latin typeface="標楷體" pitchFamily="65" charset="-120"/>
                          <a:ea typeface="標楷體" pitchFamily="65" charset="-120"/>
                          <a:cs typeface="Arial"/>
                          <a:sym typeface="Arial"/>
                        </a:rPr>
                        <a:t>，經常發生</a:t>
                      </a:r>
                      <a:br>
                        <a:rPr lang="en-US" altLang="zh-TW" sz="2800" b="0" i="0" u="none" strike="noStrike" cap="none" dirty="0">
                          <a:solidFill>
                            <a:srgbClr val="FF0000"/>
                          </a:solidFill>
                          <a:latin typeface="標楷體" pitchFamily="65" charset="-120"/>
                          <a:ea typeface="標楷體" pitchFamily="65" charset="-120"/>
                          <a:cs typeface="Arial"/>
                          <a:sym typeface="Arial"/>
                        </a:rPr>
                      </a:br>
                      <a:r>
                        <a:rPr lang="zh-TW" altLang="en-US" sz="2800" b="0" i="0" u="none" strike="noStrike" cap="none" dirty="0">
                          <a:solidFill>
                            <a:srgbClr val="FF0000"/>
                          </a:solidFill>
                          <a:latin typeface="標楷體" pitchFamily="65" charset="-120"/>
                          <a:ea typeface="標楷體" pitchFamily="65" charset="-120"/>
                          <a:cs typeface="Arial"/>
                          <a:sym typeface="Arial"/>
                        </a:rPr>
                        <a:t>空間移轉</a:t>
                      </a:r>
                      <a:r>
                        <a:rPr lang="zh-TW" altLang="en-US" sz="2800" b="0" i="0" u="none" strike="noStrike" cap="none" dirty="0">
                          <a:solidFill>
                            <a:schemeClr val="tx1"/>
                          </a:solidFill>
                          <a:latin typeface="標楷體" pitchFamily="65" charset="-120"/>
                          <a:ea typeface="標楷體" pitchFamily="65" charset="-120"/>
                          <a:cs typeface="Arial"/>
                          <a:sym typeface="Arial"/>
                        </a:rPr>
                        <a:t>現象</a:t>
                      </a:r>
                      <a:endParaRPr lang="en-US" altLang="zh-TW" sz="2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 name="矩形 10"/>
          <p:cNvSpPr>
            <a:spLocks noChangeArrowheads="1"/>
          </p:cNvSpPr>
          <p:nvPr/>
        </p:nvSpPr>
        <p:spPr bwMode="auto">
          <a:xfrm>
            <a:off x="4731794" y="1519127"/>
            <a:ext cx="14123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重化工業</a:t>
            </a:r>
          </a:p>
        </p:txBody>
      </p:sp>
      <p:sp>
        <p:nvSpPr>
          <p:cNvPr id="12" name="矩形 11"/>
          <p:cNvSpPr>
            <a:spLocks noChangeArrowheads="1"/>
          </p:cNvSpPr>
          <p:nvPr/>
        </p:nvSpPr>
        <p:spPr bwMode="auto">
          <a:xfrm>
            <a:off x="6693410" y="1493187"/>
            <a:ext cx="1759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高科技產業</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7934" y="2961718"/>
            <a:ext cx="3384376" cy="38224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投影片編號版面配置區 5"/>
          <p:cNvSpPr>
            <a:spLocks noGrp="1"/>
          </p:cNvSpPr>
          <p:nvPr>
            <p:ph type="sldNum" idx="12"/>
          </p:nvPr>
        </p:nvSpPr>
        <p:spPr>
          <a:xfrm>
            <a:off x="6415865" y="6449885"/>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19</a:t>
            </a:fld>
            <a:endParaRPr lang="zh-TW" sz="1400">
              <a:solidFill>
                <a:schemeClr val="dk1"/>
              </a:solidFill>
              <a:latin typeface="Arial"/>
              <a:ea typeface="Arial"/>
              <a:cs typeface="Arial"/>
              <a:sym typeface="Arial"/>
            </a:endParaRPr>
          </a:p>
        </p:txBody>
      </p:sp>
      <p:sp>
        <p:nvSpPr>
          <p:cNvPr id="13" name="矩形 12"/>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p.204</a:t>
            </a:r>
            <a:endParaRPr lang="zh-TW" altLang="en-US" b="0" dirty="0"/>
          </a:p>
        </p:txBody>
      </p:sp>
    </p:spTree>
    <p:extLst>
      <p:ext uri="{BB962C8B-B14F-4D97-AF65-F5344CB8AC3E}">
        <p14:creationId xmlns:p14="http://schemas.microsoft.com/office/powerpoint/2010/main" val="295861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37525" y="4910955"/>
            <a:ext cx="7772400" cy="1362075"/>
          </a:xfrm>
        </p:spPr>
        <p:txBody>
          <a:bodyPr/>
          <a:lstStyle/>
          <a:p>
            <a:endParaRPr lang="zh-TW" altLang="en-US"/>
          </a:p>
        </p:txBody>
      </p:sp>
      <p:sp>
        <p:nvSpPr>
          <p:cNvPr id="3" name="文字版面配置區 2"/>
          <p:cNvSpPr>
            <a:spLocks noGrp="1"/>
          </p:cNvSpPr>
          <p:nvPr>
            <p:ph type="body" idx="1"/>
          </p:nvPr>
        </p:nvSpPr>
        <p:spPr>
          <a:xfrm>
            <a:off x="737525" y="3410768"/>
            <a:ext cx="7772400" cy="1500187"/>
          </a:xfrm>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12" y="476671"/>
            <a:ext cx="9144000" cy="6858000"/>
          </a:xfrm>
          <a:prstGeom prst="rect">
            <a:avLst/>
          </a:prstGeom>
        </p:spPr>
      </p:pic>
      <p:graphicFrame>
        <p:nvGraphicFramePr>
          <p:cNvPr id="9" name="Group 47"/>
          <p:cNvGraphicFramePr>
            <a:graphicFrameLocks noGrp="1"/>
          </p:cNvGraphicFramePr>
          <p:nvPr>
            <p:extLst>
              <p:ext uri="{D42A27DB-BD31-4B8C-83A1-F6EECF244321}">
                <p14:modId xmlns:p14="http://schemas.microsoft.com/office/powerpoint/2010/main" val="757660761"/>
              </p:ext>
            </p:extLst>
          </p:nvPr>
        </p:nvGraphicFramePr>
        <p:xfrm>
          <a:off x="122716" y="620688"/>
          <a:ext cx="8856984" cy="3528391"/>
        </p:xfrm>
        <a:graphic>
          <a:graphicData uri="http://schemas.openxmlformats.org/drawingml/2006/table">
            <a:tbl>
              <a:tblPr/>
              <a:tblGrid>
                <a:gridCol w="1728192">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6033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歷程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內容</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92505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重化工業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是</a:t>
                      </a:r>
                      <a:r>
                        <a:rPr lang="zh-TW" altLang="en-US" sz="2000" b="0" i="0" u="none" strike="noStrike" cap="none" dirty="0">
                          <a:solidFill>
                            <a:srgbClr val="FF0000"/>
                          </a:solidFill>
                          <a:latin typeface="標楷體" pitchFamily="65" charset="-120"/>
                          <a:ea typeface="標楷體" pitchFamily="65" charset="-120"/>
                          <a:cs typeface="Arial"/>
                          <a:sym typeface="Arial"/>
                        </a:rPr>
                        <a:t>資金</a:t>
                      </a:r>
                      <a:r>
                        <a:rPr lang="zh-TW" altLang="en-US" sz="2000" b="0" i="0" u="none" strike="noStrike" cap="none" dirty="0">
                          <a:solidFill>
                            <a:schemeClr val="tx1"/>
                          </a:solidFill>
                          <a:latin typeface="標楷體" pitchFamily="65" charset="-120"/>
                          <a:ea typeface="標楷體" pitchFamily="65" charset="-120"/>
                          <a:cs typeface="Arial"/>
                          <a:sym typeface="Arial"/>
                        </a:rPr>
                        <a:t>和</a:t>
                      </a:r>
                      <a:r>
                        <a:rPr lang="zh-TW" altLang="en-US" sz="2000" b="0" i="0" u="none" strike="noStrike" cap="none" dirty="0">
                          <a:solidFill>
                            <a:srgbClr val="FF0000"/>
                          </a:solidFill>
                          <a:latin typeface="標楷體" pitchFamily="65" charset="-120"/>
                          <a:ea typeface="標楷體" pitchFamily="65" charset="-120"/>
                          <a:cs typeface="Arial"/>
                          <a:sym typeface="Arial"/>
                        </a:rPr>
                        <a:t>設備比例</a:t>
                      </a:r>
                      <a:r>
                        <a:rPr lang="zh-TW" altLang="en-US" sz="2000" b="0" i="0" u="none" strike="noStrike" cap="none" dirty="0">
                          <a:solidFill>
                            <a:schemeClr val="tx1"/>
                          </a:solidFill>
                          <a:latin typeface="標楷體" pitchFamily="65" charset="-120"/>
                          <a:ea typeface="標楷體" pitchFamily="65" charset="-120"/>
                          <a:cs typeface="Arial"/>
                          <a:sym typeface="Arial"/>
                        </a:rPr>
                        <a:t>較</a:t>
                      </a:r>
                      <a:r>
                        <a:rPr lang="zh-TW" altLang="en-US" sz="2000" b="0" i="0" u="none" strike="noStrike" cap="none" dirty="0">
                          <a:solidFill>
                            <a:srgbClr val="FF0000"/>
                          </a:solidFill>
                          <a:latin typeface="標楷體" pitchFamily="65" charset="-120"/>
                          <a:ea typeface="標楷體" pitchFamily="65" charset="-120"/>
                          <a:cs typeface="Arial"/>
                          <a:sym typeface="Arial"/>
                        </a:rPr>
                        <a:t>高</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基礎原料產業</a:t>
                      </a:r>
                      <a:r>
                        <a:rPr lang="zh-TW" altLang="en-US" sz="2000" b="0" i="0" u="none" strike="noStrike" cap="none" dirty="0">
                          <a:solidFill>
                            <a:schemeClr val="tx1"/>
                          </a:solidFill>
                          <a:latin typeface="標楷體" pitchFamily="65" charset="-120"/>
                          <a:ea typeface="標楷體" pitchFamily="65" charset="-120"/>
                          <a:cs typeface="Arial"/>
                          <a:sym typeface="Arial"/>
                        </a:rPr>
                        <a:t>，如</a:t>
                      </a:r>
                      <a:r>
                        <a:rPr lang="zh-TW" altLang="en-US" sz="2000" b="0" i="0" u="none" strike="noStrike" cap="none" dirty="0">
                          <a:solidFill>
                            <a:srgbClr val="FF0000"/>
                          </a:solidFill>
                          <a:latin typeface="標楷體" pitchFamily="65" charset="-120"/>
                          <a:ea typeface="標楷體" pitchFamily="65" charset="-120"/>
                          <a:cs typeface="Arial"/>
                          <a:sym typeface="Arial"/>
                        </a:rPr>
                        <a:t>電力、</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rgbClr val="FF0000"/>
                          </a:solidFill>
                          <a:latin typeface="標楷體" pitchFamily="65" charset="-120"/>
                          <a:ea typeface="標楷體" pitchFamily="65" charset="-120"/>
                          <a:cs typeface="Arial"/>
                          <a:sym typeface="Arial"/>
                        </a:rPr>
                        <a:t>石化、鋼鐵</a:t>
                      </a:r>
                      <a:r>
                        <a:rPr lang="zh-TW" altLang="en-US" sz="2000" b="0" i="0" u="none" strike="noStrike" cap="none" dirty="0">
                          <a:solidFill>
                            <a:schemeClr val="tx1"/>
                          </a:solidFill>
                          <a:latin typeface="標楷體" pitchFamily="65" charset="-120"/>
                          <a:ea typeface="標楷體" pitchFamily="65" charset="-120"/>
                          <a:cs typeface="Arial"/>
                          <a:sym typeface="Arial"/>
                        </a:rPr>
                        <a:t>等</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生產設備及上游原料仍</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受制於外國供應商。因此發</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展重化工業，透過工業</a:t>
                      </a:r>
                      <a:r>
                        <a:rPr lang="zh-TW" altLang="en-US" sz="2000" b="0" i="0" u="none" strike="noStrike" cap="none" dirty="0">
                          <a:solidFill>
                            <a:srgbClr val="FF0000"/>
                          </a:solidFill>
                          <a:latin typeface="標楷體" pitchFamily="65" charset="-120"/>
                          <a:ea typeface="標楷體" pitchFamily="65" charset="-120"/>
                          <a:cs typeface="Arial"/>
                          <a:sym typeface="Arial"/>
                        </a:rPr>
                        <a:t>上游</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rgbClr val="FF0000"/>
                          </a:solidFill>
                          <a:latin typeface="標楷體" pitchFamily="65" charset="-120"/>
                          <a:ea typeface="標楷體" pitchFamily="65" charset="-120"/>
                          <a:cs typeface="Arial"/>
                          <a:sym typeface="Arial"/>
                        </a:rPr>
                        <a:t>原料</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自給</a:t>
                      </a:r>
                      <a:r>
                        <a:rPr lang="zh-TW" altLang="en-US" sz="2000" b="0" i="0" u="none" strike="noStrike" cap="none" dirty="0">
                          <a:solidFill>
                            <a:schemeClr val="tx1"/>
                          </a:solidFill>
                          <a:latin typeface="標楷體" pitchFamily="65" charset="-120"/>
                          <a:ea typeface="標楷體" pitchFamily="65" charset="-120"/>
                          <a:cs typeface="Arial"/>
                          <a:sym typeface="Arial"/>
                        </a:rPr>
                        <a:t>，能</a:t>
                      </a:r>
                      <a:r>
                        <a:rPr lang="zh-TW" altLang="en-US" sz="2000" b="0" i="0" u="none" strike="noStrike" cap="none" dirty="0">
                          <a:solidFill>
                            <a:srgbClr val="FF0000"/>
                          </a:solidFill>
                          <a:latin typeface="標楷體" pitchFamily="65" charset="-120"/>
                          <a:ea typeface="標楷體" pitchFamily="65" charset="-120"/>
                          <a:cs typeface="Arial"/>
                          <a:sym typeface="Arial"/>
                        </a:rPr>
                        <a:t>帶動</a:t>
                      </a:r>
                      <a:r>
                        <a:rPr lang="zh-TW" altLang="en-US" sz="2000" b="0" i="0" u="none" strike="noStrike" cap="none" dirty="0">
                          <a:solidFill>
                            <a:schemeClr val="tx1"/>
                          </a:solidFill>
                          <a:latin typeface="標楷體" pitchFamily="65" charset="-120"/>
                          <a:ea typeface="標楷體" pitchFamily="65" charset="-120"/>
                          <a:cs typeface="Arial"/>
                          <a:sym typeface="Arial"/>
                        </a:rPr>
                        <a:t>工業</a:t>
                      </a:r>
                      <a:r>
                        <a:rPr lang="zh-TW" altLang="en-US" sz="2000" b="0" i="0" u="none" strike="noStrike" cap="none" dirty="0">
                          <a:solidFill>
                            <a:srgbClr val="FF0000"/>
                          </a:solidFill>
                          <a:latin typeface="標楷體" pitchFamily="65" charset="-120"/>
                          <a:ea typeface="標楷體" pitchFamily="65" charset="-120"/>
                          <a:cs typeface="Arial"/>
                          <a:sym typeface="Arial"/>
                        </a:rPr>
                        <a:t>中</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r>
                        <a:rPr lang="zh-TW" altLang="en-US" sz="2000" b="0" i="0" u="none" strike="noStrike" cap="none" dirty="0">
                          <a:solidFill>
                            <a:srgbClr val="FF0000"/>
                          </a:solidFill>
                          <a:latin typeface="標楷體" pitchFamily="65" charset="-120"/>
                          <a:ea typeface="標楷體" pitchFamily="65" charset="-120"/>
                          <a:cs typeface="Arial"/>
                          <a:sym typeface="Arial"/>
                        </a:rPr>
                        <a:t>下游</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發展</a:t>
                      </a:r>
                      <a:r>
                        <a:rPr lang="zh-TW" altLang="en-US" sz="2000" b="0" i="0" u="none" strike="noStrike" cap="none" dirty="0">
                          <a:solidFill>
                            <a:schemeClr val="tx1"/>
                          </a:solidFill>
                          <a:latin typeface="標楷體" pitchFamily="65" charset="-120"/>
                          <a:ea typeface="標楷體" pitchFamily="65" charset="-120"/>
                          <a:cs typeface="Arial"/>
                          <a:sym typeface="Arial"/>
                        </a:rPr>
                        <a:t>，將提升工業發</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展的價值</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259" y="1268759"/>
            <a:ext cx="3838327"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投影片編號版面配置區 5"/>
          <p:cNvSpPr>
            <a:spLocks noGrp="1"/>
          </p:cNvSpPr>
          <p:nvPr>
            <p:ph type="sldNum" idx="12"/>
          </p:nvPr>
        </p:nvSpPr>
        <p:spPr>
          <a:xfrm>
            <a:off x="6568412" y="6749280"/>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20</a:t>
            </a:fld>
            <a:endParaRPr lang="zh-TW" sz="1400">
              <a:solidFill>
                <a:schemeClr val="dk1"/>
              </a:solidFill>
              <a:latin typeface="Arial"/>
              <a:ea typeface="Arial"/>
              <a:cs typeface="Arial"/>
              <a:sym typeface="Arial"/>
            </a:endParaRPr>
          </a:p>
        </p:txBody>
      </p:sp>
      <p:graphicFrame>
        <p:nvGraphicFramePr>
          <p:cNvPr id="10" name="表格 9"/>
          <p:cNvGraphicFramePr>
            <a:graphicFrameLocks noGrp="1"/>
          </p:cNvGraphicFramePr>
          <p:nvPr>
            <p:extLst>
              <p:ext uri="{D42A27DB-BD31-4B8C-83A1-F6EECF244321}">
                <p14:modId xmlns:p14="http://schemas.microsoft.com/office/powerpoint/2010/main" val="1203064870"/>
              </p:ext>
            </p:extLst>
          </p:nvPr>
        </p:nvGraphicFramePr>
        <p:xfrm>
          <a:off x="122716" y="4149080"/>
          <a:ext cx="8856984" cy="1080120"/>
        </p:xfrm>
        <a:graphic>
          <a:graphicData uri="http://schemas.openxmlformats.org/drawingml/2006/table">
            <a:tbl>
              <a:tblPr/>
              <a:tblGrid>
                <a:gridCol w="1728192">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10801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高科技產業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仰賴</a:t>
                      </a:r>
                      <a:r>
                        <a:rPr lang="zh-TW" altLang="en-US" sz="2000" b="0" i="0" u="none" strike="noStrike" cap="none" dirty="0">
                          <a:solidFill>
                            <a:schemeClr val="tx1"/>
                          </a:solidFill>
                          <a:latin typeface="標楷體" pitchFamily="65" charset="-120"/>
                          <a:ea typeface="標楷體" pitchFamily="65" charset="-120"/>
                          <a:cs typeface="Arial"/>
                          <a:sym typeface="Arial"/>
                        </a:rPr>
                        <a:t>大量</a:t>
                      </a:r>
                      <a:r>
                        <a:rPr lang="zh-TW" altLang="en-US" sz="2000" b="0" i="0" u="none" strike="noStrike" cap="none" dirty="0">
                          <a:solidFill>
                            <a:srgbClr val="FF0000"/>
                          </a:solidFill>
                          <a:latin typeface="標楷體" pitchFamily="65" charset="-120"/>
                          <a:ea typeface="標楷體" pitchFamily="65" charset="-120"/>
                          <a:cs typeface="Arial"/>
                          <a:sym typeface="Arial"/>
                        </a:rPr>
                        <a:t>資金</a:t>
                      </a:r>
                      <a:r>
                        <a:rPr lang="zh-TW" altLang="en-US" sz="2000" b="0" i="0" u="none" strike="noStrike" cap="none" dirty="0">
                          <a:solidFill>
                            <a:schemeClr val="tx1"/>
                          </a:solidFill>
                          <a:latin typeface="標楷體" pitchFamily="65" charset="-120"/>
                          <a:ea typeface="標楷體" pitchFamily="65" charset="-120"/>
                          <a:cs typeface="Arial"/>
                          <a:sym typeface="Arial"/>
                        </a:rPr>
                        <a:t>及</a:t>
                      </a:r>
                      <a:r>
                        <a:rPr lang="zh-TW" altLang="en-US" sz="2000" b="0" i="0" u="none" strike="noStrike" cap="none" dirty="0">
                          <a:solidFill>
                            <a:srgbClr val="FF0000"/>
                          </a:solidFill>
                          <a:latin typeface="標楷體" pitchFamily="65" charset="-120"/>
                          <a:ea typeface="標楷體" pitchFamily="65" charset="-120"/>
                          <a:cs typeface="Arial"/>
                          <a:sym typeface="Arial"/>
                        </a:rPr>
                        <a:t>研發</a:t>
                      </a:r>
                      <a:r>
                        <a:rPr lang="zh-TW" altLang="en-US" sz="2000" b="0" i="0" u="none" strike="noStrike" cap="none" dirty="0">
                          <a:solidFill>
                            <a:schemeClr val="tx1"/>
                          </a:solidFill>
                          <a:latin typeface="標楷體" pitchFamily="65" charset="-120"/>
                          <a:ea typeface="標楷體" pitchFamily="65" charset="-120"/>
                          <a:cs typeface="Arial"/>
                          <a:sym typeface="Arial"/>
                        </a:rPr>
                        <a:t>及</a:t>
                      </a:r>
                      <a:r>
                        <a:rPr lang="zh-TW" altLang="en-US" sz="2000" b="0" i="0" u="none" strike="noStrike" cap="none" dirty="0">
                          <a:solidFill>
                            <a:srgbClr val="FF0000"/>
                          </a:solidFill>
                          <a:latin typeface="標楷體" pitchFamily="65" charset="-120"/>
                          <a:ea typeface="標楷體" pitchFamily="65" charset="-120"/>
                          <a:cs typeface="Arial"/>
                          <a:sym typeface="Arial"/>
                        </a:rPr>
                        <a:t>科技人員</a:t>
                      </a:r>
                      <a:r>
                        <a:rPr lang="zh-TW" altLang="en-US" sz="2000" b="0" i="0" u="none" strike="noStrike" cap="none" dirty="0">
                          <a:solidFill>
                            <a:schemeClr val="tx1"/>
                          </a:solidFill>
                          <a:latin typeface="標楷體" pitchFamily="65" charset="-120"/>
                          <a:ea typeface="標楷體" pitchFamily="65" charset="-120"/>
                          <a:cs typeface="Arial"/>
                          <a:sym typeface="Arial"/>
                        </a:rPr>
                        <a:t>高度投入的產業，如半導體、奈米科技等</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產品附加價值高，屬於</a:t>
                      </a:r>
                      <a:r>
                        <a:rPr lang="zh-TW" altLang="en-US" sz="2000" b="0" i="0" u="none" strike="noStrike" cap="none" dirty="0">
                          <a:solidFill>
                            <a:srgbClr val="FF0000"/>
                          </a:solidFill>
                          <a:latin typeface="標楷體" pitchFamily="65" charset="-120"/>
                          <a:ea typeface="標楷體" pitchFamily="65" charset="-120"/>
                          <a:cs typeface="Arial"/>
                          <a:sym typeface="Arial"/>
                        </a:rPr>
                        <a:t>知識經濟</a:t>
                      </a:r>
                      <a:r>
                        <a:rPr lang="zh-TW" altLang="en-US" sz="2000" b="0" i="0" u="none" strike="noStrike" cap="none" dirty="0">
                          <a:solidFill>
                            <a:schemeClr val="tx1"/>
                          </a:solidFill>
                          <a:latin typeface="標楷體" pitchFamily="65" charset="-120"/>
                          <a:ea typeface="標楷體" pitchFamily="65" charset="-120"/>
                          <a:cs typeface="Arial"/>
                          <a:sym typeface="Arial"/>
                        </a:rPr>
                        <a:t>的一環</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4" name="Rectangle 3"/>
          <p:cNvSpPr txBox="1">
            <a:spLocks noChangeArrowheads="1"/>
          </p:cNvSpPr>
          <p:nvPr/>
        </p:nvSpPr>
        <p:spPr>
          <a:xfrm>
            <a:off x="343049" y="5387205"/>
            <a:ext cx="8149251" cy="1425885"/>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solidFill>
                  <a:srgbClr val="FF0000"/>
                </a:solidFill>
                <a:latin typeface="標楷體" pitchFamily="65" charset="-120"/>
                <a:ea typeface="標楷體" pitchFamily="65" charset="-120"/>
              </a:rPr>
              <a:t>    </a:t>
            </a:r>
            <a:endParaRPr lang="en-US" altLang="zh-TW" dirty="0">
              <a:solidFill>
                <a:srgbClr val="FF0000"/>
              </a:solidFill>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國際政治經濟</a:t>
            </a:r>
            <a:r>
              <a:rPr lang="zh-TW" altLang="en-US" dirty="0">
                <a:latin typeface="標楷體" pitchFamily="65" charset="-120"/>
                <a:ea typeface="標楷體" pitchFamily="65" charset="-120"/>
              </a:rPr>
              <a:t>發展</a:t>
            </a:r>
            <a:r>
              <a:rPr lang="zh-TW" altLang="en-US" dirty="0">
                <a:solidFill>
                  <a:srgbClr val="FF0000"/>
                </a:solidFill>
                <a:latin typeface="標楷體" pitchFamily="65" charset="-120"/>
                <a:ea typeface="標楷體" pitchFamily="65" charset="-120"/>
              </a:rPr>
              <a:t>影響</a:t>
            </a:r>
            <a:r>
              <a:rPr lang="zh-TW" altLang="en-US" dirty="0">
                <a:latin typeface="標楷體" pitchFamily="65" charset="-120"/>
                <a:ea typeface="標楷體" pitchFamily="65" charset="-120"/>
              </a:rPr>
              <a:t>：如</a:t>
            </a:r>
            <a:r>
              <a:rPr lang="zh-TW" altLang="en-US" dirty="0">
                <a:solidFill>
                  <a:srgbClr val="FF0000"/>
                </a:solidFill>
                <a:latin typeface="標楷體" pitchFamily="65" charset="-120"/>
                <a:ea typeface="標楷體" pitchFamily="65" charset="-120"/>
              </a:rPr>
              <a:t>二戰後</a:t>
            </a:r>
            <a:r>
              <a:rPr lang="zh-TW" altLang="en-US" u="sng" dirty="0">
                <a:solidFill>
                  <a:srgbClr val="FF0000"/>
                </a:solidFill>
                <a:latin typeface="標楷體" pitchFamily="65" charset="-120"/>
                <a:ea typeface="標楷體" pitchFamily="65" charset="-120"/>
              </a:rPr>
              <a:t>        </a:t>
            </a:r>
            <a:r>
              <a:rPr lang="zh-TW" altLang="en-US" dirty="0">
                <a:latin typeface="標楷體" pitchFamily="65" charset="-120"/>
                <a:ea typeface="標楷體" pitchFamily="65" charset="-120"/>
              </a:rPr>
              <a:t>提供大量外銷訂單及技術轉移透至日、韓、臺等國，透過</a:t>
            </a:r>
            <a:r>
              <a:rPr lang="zh-TW" altLang="en-US" dirty="0">
                <a:solidFill>
                  <a:srgbClr val="FF0000"/>
                </a:solidFill>
                <a:latin typeface="標楷體" pitchFamily="65" charset="-120"/>
                <a:ea typeface="標楷體" pitchFamily="65" charset="-120"/>
              </a:rPr>
              <a:t>經濟扶持  防堵共產勢力</a:t>
            </a:r>
            <a:r>
              <a:rPr lang="zh-TW" altLang="en-US" dirty="0">
                <a:latin typeface="標楷體" pitchFamily="65" charset="-120"/>
                <a:ea typeface="標楷體" pitchFamily="65" charset="-120"/>
              </a:rPr>
              <a:t>，促成工業化早期階段的催化動力。而 </a:t>
            </a:r>
            <a:r>
              <a:rPr lang="en-US" altLang="zh-TW" dirty="0">
                <a:solidFill>
                  <a:srgbClr val="FF0000"/>
                </a:solidFill>
                <a:latin typeface="標楷體" pitchFamily="65" charset="-120"/>
                <a:ea typeface="標楷體" pitchFamily="65" charset="-120"/>
              </a:rPr>
              <a:t>1970 </a:t>
            </a:r>
            <a:r>
              <a:rPr lang="zh-TW" altLang="en-US" dirty="0">
                <a:solidFill>
                  <a:srgbClr val="FF0000"/>
                </a:solidFill>
                <a:latin typeface="標楷體" pitchFamily="65" charset="-120"/>
                <a:ea typeface="標楷體" pitchFamily="65" charset="-120"/>
              </a:rPr>
              <a:t>年代</a:t>
            </a:r>
            <a:r>
              <a:rPr lang="zh-TW" altLang="en-US" dirty="0">
                <a:latin typeface="標楷體" pitchFamily="65" charset="-120"/>
                <a:ea typeface="標楷體" pitchFamily="65" charset="-120"/>
              </a:rPr>
              <a:t>發生的國際</a:t>
            </a:r>
            <a:r>
              <a:rPr lang="zh-TW" altLang="en-US" u="sng" dirty="0">
                <a:solidFill>
                  <a:srgbClr val="FF0000"/>
                </a:solidFill>
                <a:latin typeface="標楷體" pitchFamily="65" charset="-120"/>
                <a:ea typeface="標楷體" pitchFamily="65" charset="-120"/>
              </a:rPr>
              <a:t>            </a:t>
            </a:r>
            <a:r>
              <a:rPr lang="zh-TW" altLang="en-US" dirty="0">
                <a:latin typeface="標楷體" pitchFamily="65" charset="-120"/>
                <a:ea typeface="標楷體" pitchFamily="65" charset="-120"/>
              </a:rPr>
              <a:t>衝擊世界景氣，也讓東亞各國加速各階段的工業升級來因應。</a:t>
            </a:r>
          </a:p>
        </p:txBody>
      </p:sp>
      <p:sp>
        <p:nvSpPr>
          <p:cNvPr id="15" name="矩形 14"/>
          <p:cNvSpPr>
            <a:spLocks noChangeArrowheads="1"/>
          </p:cNvSpPr>
          <p:nvPr/>
        </p:nvSpPr>
        <p:spPr bwMode="auto">
          <a:xfrm>
            <a:off x="4656991" y="5444938"/>
            <a:ext cx="7167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美國</a:t>
            </a:r>
          </a:p>
        </p:txBody>
      </p:sp>
      <p:sp>
        <p:nvSpPr>
          <p:cNvPr id="16" name="矩形 15"/>
          <p:cNvSpPr>
            <a:spLocks noChangeArrowheads="1"/>
          </p:cNvSpPr>
          <p:nvPr/>
        </p:nvSpPr>
        <p:spPr bwMode="auto">
          <a:xfrm>
            <a:off x="5920079" y="6063634"/>
            <a:ext cx="12966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石油危機</a:t>
            </a:r>
          </a:p>
        </p:txBody>
      </p:sp>
      <p:sp>
        <p:nvSpPr>
          <p:cNvPr id="12" name="矩形 11">
            <a:extLst>
              <a:ext uri="{FF2B5EF4-FFF2-40B4-BE49-F238E27FC236}">
                <a16:creationId xmlns:a16="http://schemas.microsoft.com/office/drawing/2014/main" id="{15FBCFE4-6AA6-4A81-8A9C-AF6DFBB7ADCE}"/>
              </a:ext>
            </a:extLst>
          </p:cNvPr>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p.204</a:t>
            </a:r>
            <a:endParaRPr lang="zh-TW" altLang="en-US" b="0" dirty="0"/>
          </a:p>
        </p:txBody>
      </p:sp>
    </p:spTree>
    <p:extLst>
      <p:ext uri="{BB962C8B-B14F-4D97-AF65-F5344CB8AC3E}">
        <p14:creationId xmlns:p14="http://schemas.microsoft.com/office/powerpoint/2010/main" val="151343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17470" y="4691774"/>
            <a:ext cx="7772400" cy="1362075"/>
          </a:xfrm>
        </p:spPr>
        <p:txBody>
          <a:bodyPr/>
          <a:lstStyle/>
          <a:p>
            <a:endParaRPr lang="zh-TW" altLang="en-US"/>
          </a:p>
        </p:txBody>
      </p:sp>
      <p:sp>
        <p:nvSpPr>
          <p:cNvPr id="3" name="文字版面配置區 2"/>
          <p:cNvSpPr>
            <a:spLocks noGrp="1"/>
          </p:cNvSpPr>
          <p:nvPr>
            <p:ph type="body" idx="1"/>
          </p:nvPr>
        </p:nvSpPr>
        <p:spPr>
          <a:xfrm>
            <a:off x="817470" y="319158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1670" y="188640"/>
            <a:ext cx="9144000"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一、工業的轉型與升級</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9" name="Group 47"/>
          <p:cNvGraphicFramePr>
            <a:graphicFrameLocks noGrp="1"/>
          </p:cNvGraphicFramePr>
          <p:nvPr>
            <p:extLst>
              <p:ext uri="{D42A27DB-BD31-4B8C-83A1-F6EECF244321}">
                <p14:modId xmlns:p14="http://schemas.microsoft.com/office/powerpoint/2010/main" val="2146576012"/>
              </p:ext>
            </p:extLst>
          </p:nvPr>
        </p:nvGraphicFramePr>
        <p:xfrm>
          <a:off x="202661" y="977570"/>
          <a:ext cx="8941339" cy="2913422"/>
        </p:xfrm>
        <a:graphic>
          <a:graphicData uri="http://schemas.openxmlformats.org/drawingml/2006/table">
            <a:tbl>
              <a:tblPr/>
              <a:tblGrid>
                <a:gridCol w="2088232">
                  <a:extLst>
                    <a:ext uri="{9D8B030D-6E8A-4147-A177-3AD203B41FA5}">
                      <a16:colId xmlns:a16="http://schemas.microsoft.com/office/drawing/2014/main" val="20000"/>
                    </a:ext>
                  </a:extLst>
                </a:gridCol>
                <a:gridCol w="6853107">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日本現代化的腳步較早，工業及人力水準高，成為美國外移勞力密集產業的主要承接者，產品出口美國得以賺取大量外匯</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韓戰期間，更因生產美軍軍需而獲得部分工業技術</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出口累積大量外匯成為產業升級的資本，政府政策轉向發展鋼鐵、造船、電機為主的重化工業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自給外亦大量出口，同一時期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21</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extLst>
              <p:ext uri="{D42A27DB-BD31-4B8C-83A1-F6EECF244321}">
                <p14:modId xmlns:p14="http://schemas.microsoft.com/office/powerpoint/2010/main" val="3408090169"/>
              </p:ext>
            </p:extLst>
          </p:nvPr>
        </p:nvGraphicFramePr>
        <p:xfrm>
          <a:off x="202661" y="3929898"/>
          <a:ext cx="8928992" cy="2852896"/>
        </p:xfrm>
        <a:graphic>
          <a:graphicData uri="http://schemas.openxmlformats.org/drawingml/2006/table">
            <a:tbl>
              <a:tblPr/>
              <a:tblGrid>
                <a:gridCol w="2088232">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重化工業高度仰賴石油，在油價暴漲後，日本出現戰後首度經濟負成長，因此具低耗能特性的半導體、電子產業急遽成長</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隨著</a:t>
                      </a:r>
                      <a:r>
                        <a:rPr lang="zh-TW" altLang="en-US" sz="1800" b="0" i="0" u="none" strike="noStrike" cap="none" dirty="0">
                          <a:solidFill>
                            <a:srgbClr val="FF0000"/>
                          </a:solidFill>
                          <a:latin typeface="標楷體" pitchFamily="65" charset="-120"/>
                          <a:ea typeface="標楷體" pitchFamily="65" charset="-120"/>
                          <a:cs typeface="Arial"/>
                          <a:sym typeface="Arial"/>
                        </a:rPr>
                        <a:t>工資</a:t>
                      </a:r>
                      <a:r>
                        <a:rPr lang="zh-TW" altLang="en-US" sz="1800" b="0" i="0" u="none" strike="noStrike" cap="none" dirty="0">
                          <a:solidFill>
                            <a:schemeClr val="tx1"/>
                          </a:solidFill>
                          <a:latin typeface="標楷體" pitchFamily="65" charset="-120"/>
                          <a:ea typeface="標楷體" pitchFamily="65" charset="-120"/>
                          <a:cs typeface="Arial"/>
                          <a:sym typeface="Arial"/>
                        </a:rPr>
                        <a:t>不斷</a:t>
                      </a:r>
                      <a:r>
                        <a:rPr lang="zh-TW" altLang="en-US" sz="1800" b="0" i="0" u="none" strike="noStrike" cap="none" dirty="0">
                          <a:solidFill>
                            <a:srgbClr val="FF0000"/>
                          </a:solidFill>
                          <a:latin typeface="標楷體" pitchFamily="65" charset="-120"/>
                          <a:ea typeface="標楷體" pitchFamily="65" charset="-120"/>
                          <a:cs typeface="Arial"/>
                          <a:sym typeface="Arial"/>
                        </a:rPr>
                        <a:t>提升，環境</a:t>
                      </a:r>
                      <a:r>
                        <a:rPr lang="zh-TW" altLang="en-US" sz="1800" b="0" i="0" u="none" strike="noStrike" cap="none" dirty="0">
                          <a:solidFill>
                            <a:schemeClr val="tx1"/>
                          </a:solidFill>
                          <a:latin typeface="標楷體" pitchFamily="65" charset="-120"/>
                          <a:ea typeface="標楷體" pitchFamily="65" charset="-120"/>
                          <a:cs typeface="Arial"/>
                          <a:sym typeface="Arial"/>
                        </a:rPr>
                        <a:t>公害</a:t>
                      </a:r>
                      <a:r>
                        <a:rPr lang="zh-TW" altLang="en-US" sz="1800" b="0" i="0" u="none" strike="noStrike" cap="none" dirty="0">
                          <a:solidFill>
                            <a:srgbClr val="FF0000"/>
                          </a:solidFill>
                          <a:latin typeface="標楷體" pitchFamily="65" charset="-120"/>
                          <a:ea typeface="標楷體" pitchFamily="65" charset="-120"/>
                          <a:cs typeface="Arial"/>
                          <a:sym typeface="Arial"/>
                        </a:rPr>
                        <a:t>受</a:t>
                      </a:r>
                      <a:r>
                        <a:rPr lang="zh-TW" altLang="en-US" sz="1800" b="0" i="0" u="none" strike="noStrike" cap="none" dirty="0">
                          <a:solidFill>
                            <a:schemeClr val="tx1"/>
                          </a:solidFill>
                          <a:latin typeface="標楷體" pitchFamily="65" charset="-120"/>
                          <a:ea typeface="標楷體" pitchFamily="65" charset="-120"/>
                          <a:cs typeface="Arial"/>
                          <a:sym typeface="Arial"/>
                        </a:rPr>
                        <a:t>到</a:t>
                      </a:r>
                      <a:r>
                        <a:rPr lang="zh-TW" altLang="en-US" sz="1800" b="0" i="0" u="none" strike="noStrike" cap="none" dirty="0">
                          <a:solidFill>
                            <a:srgbClr val="FF0000"/>
                          </a:solidFill>
                          <a:latin typeface="標楷體" pitchFamily="65" charset="-120"/>
                          <a:ea typeface="標楷體" pitchFamily="65" charset="-120"/>
                          <a:cs typeface="Arial"/>
                          <a:sym typeface="Arial"/>
                        </a:rPr>
                        <a:t>重視</a:t>
                      </a:r>
                      <a:r>
                        <a:rPr lang="zh-TW" altLang="en-US" sz="1800" b="0" i="0" u="none" strike="noStrike" cap="none" dirty="0">
                          <a:solidFill>
                            <a:schemeClr val="tx1"/>
                          </a:solidFill>
                          <a:latin typeface="標楷體" pitchFamily="65" charset="-120"/>
                          <a:ea typeface="標楷體" pitchFamily="65" charset="-120"/>
                          <a:cs typeface="Arial"/>
                          <a:sym typeface="Arial"/>
                        </a:rPr>
                        <a:t>，工業生產</a:t>
                      </a:r>
                      <a:r>
                        <a:rPr lang="zh-TW" altLang="en-US" sz="1800" b="0" i="0" u="none" strike="noStrike" cap="none" dirty="0">
                          <a:solidFill>
                            <a:srgbClr val="FF0000"/>
                          </a:solidFill>
                          <a:latin typeface="標楷體" pitchFamily="65" charset="-120"/>
                          <a:ea typeface="標楷體" pitchFamily="65" charset="-120"/>
                          <a:cs typeface="Arial"/>
                          <a:sym typeface="Arial"/>
                        </a:rPr>
                        <a:t>成本提升</a:t>
                      </a:r>
                      <a:r>
                        <a:rPr lang="zh-TW" altLang="en-US" sz="1800" b="0" i="0" u="none" strike="noStrike" cap="none" dirty="0">
                          <a:solidFill>
                            <a:schemeClr val="tx1"/>
                          </a:solidFill>
                          <a:latin typeface="標楷體" pitchFamily="65" charset="-120"/>
                          <a:ea typeface="標楷體" pitchFamily="65" charset="-120"/>
                          <a:cs typeface="Arial"/>
                          <a:sym typeface="Arial"/>
                        </a:rPr>
                        <a:t>，經濟</a:t>
                      </a:r>
                      <a:r>
                        <a:rPr lang="zh-TW" altLang="en-US" sz="1800" b="0" i="0" u="none" strike="noStrike" cap="none" dirty="0">
                          <a:solidFill>
                            <a:srgbClr val="FF0000"/>
                          </a:solidFill>
                          <a:latin typeface="標楷體" pitchFamily="65" charset="-120"/>
                          <a:ea typeface="標楷體" pitchFamily="65" charset="-120"/>
                          <a:cs typeface="Arial"/>
                          <a:sym typeface="Arial"/>
                        </a:rPr>
                        <a:t>成長速度趨緩</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a:t>
                      </a:r>
                      <a:r>
                        <a:rPr lang="zh-TW" altLang="en-US" sz="1800" b="0" i="0" u="none" strike="noStrike" cap="none" dirty="0">
                          <a:solidFill>
                            <a:srgbClr val="FF0000"/>
                          </a:solidFill>
                          <a:latin typeface="標楷體" pitchFamily="65" charset="-120"/>
                          <a:ea typeface="標楷體" pitchFamily="65" charset="-120"/>
                          <a:cs typeface="Arial"/>
                          <a:sym typeface="Arial"/>
                        </a:rPr>
                        <a:t>長期對美國貿易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，造成貿易摩擦，</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使日圓</a:t>
                      </a:r>
                      <a:r>
                        <a:rPr lang="zh-TW" altLang="en-US" sz="1800" b="0" i="0" u="none" strike="noStrike" cap="none" dirty="0">
                          <a:solidFill>
                            <a:srgbClr val="FF0000"/>
                          </a:solidFill>
                          <a:latin typeface="標楷體" pitchFamily="65" charset="-120"/>
                          <a:ea typeface="標楷體" pitchFamily="65" charset="-120"/>
                          <a:cs typeface="Arial"/>
                          <a:sym typeface="Arial"/>
                        </a:rPr>
                        <a:t>被迫</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出口重挫</a:t>
                      </a:r>
                      <a:r>
                        <a:rPr lang="zh-TW" altLang="en-US" sz="1800" b="0" i="0" u="none" strike="noStrike" cap="none" dirty="0">
                          <a:solidFill>
                            <a:schemeClr val="tx1"/>
                          </a:solidFill>
                          <a:latin typeface="標楷體" pitchFamily="65" charset="-120"/>
                          <a:ea typeface="標楷體" pitchFamily="65" charset="-120"/>
                          <a:cs typeface="Arial"/>
                          <a:sym typeface="Arial"/>
                        </a:rPr>
                        <a:t>，國內</a:t>
                      </a:r>
                      <a:r>
                        <a:rPr lang="zh-TW" altLang="en-US" sz="1800" b="0" i="0" u="none" strike="noStrike" cap="none" dirty="0">
                          <a:solidFill>
                            <a:srgbClr val="FF0000"/>
                          </a:solidFill>
                          <a:latin typeface="標楷體" pitchFamily="65" charset="-120"/>
                          <a:ea typeface="標楷體" pitchFamily="65" charset="-120"/>
                          <a:cs typeface="Arial"/>
                          <a:sym typeface="Arial"/>
                        </a:rPr>
                        <a:t>經濟轉以內需為主</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經濟持續低迷，轉而</a:t>
                      </a:r>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 name="矩形 12"/>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1" name="矩形 10">
            <a:extLst>
              <a:ext uri="{FF2B5EF4-FFF2-40B4-BE49-F238E27FC236}">
                <a16:creationId xmlns:a16="http://schemas.microsoft.com/office/drawing/2014/main" id="{5459D8AF-D00F-4C10-A090-CE6071AE19F4}"/>
              </a:ext>
            </a:extLst>
          </p:cNvPr>
          <p:cNvSpPr>
            <a:spLocks noChangeArrowheads="1"/>
          </p:cNvSpPr>
          <p:nvPr/>
        </p:nvSpPr>
        <p:spPr bwMode="auto">
          <a:xfrm>
            <a:off x="4883181" y="5298050"/>
            <a:ext cx="716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順差</a:t>
            </a:r>
          </a:p>
        </p:txBody>
      </p:sp>
      <p:sp>
        <p:nvSpPr>
          <p:cNvPr id="12" name="矩形 11">
            <a:extLst>
              <a:ext uri="{FF2B5EF4-FFF2-40B4-BE49-F238E27FC236}">
                <a16:creationId xmlns:a16="http://schemas.microsoft.com/office/drawing/2014/main" id="{2E4F8B74-CBA7-4488-8136-FAF24899A3BA}"/>
              </a:ext>
            </a:extLst>
          </p:cNvPr>
          <p:cNvSpPr>
            <a:spLocks noChangeArrowheads="1"/>
          </p:cNvSpPr>
          <p:nvPr/>
        </p:nvSpPr>
        <p:spPr bwMode="auto">
          <a:xfrm>
            <a:off x="3185198" y="5864323"/>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
        <p:nvSpPr>
          <p:cNvPr id="15" name="矩形 14">
            <a:extLst>
              <a:ext uri="{FF2B5EF4-FFF2-40B4-BE49-F238E27FC236}">
                <a16:creationId xmlns:a16="http://schemas.microsoft.com/office/drawing/2014/main" id="{057E7128-43C9-4BE9-A3AB-FC0FD3D00E18}"/>
              </a:ext>
            </a:extLst>
          </p:cNvPr>
          <p:cNvSpPr/>
          <p:nvPr/>
        </p:nvSpPr>
        <p:spPr>
          <a:xfrm>
            <a:off x="202661" y="5260631"/>
            <a:ext cx="7969739" cy="155509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41054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39937" y="4905711"/>
            <a:ext cx="7772400" cy="1362075"/>
          </a:xfrm>
        </p:spPr>
        <p:txBody>
          <a:bodyPr/>
          <a:lstStyle/>
          <a:p>
            <a:endParaRPr lang="zh-TW" altLang="en-US" dirty="0"/>
          </a:p>
        </p:txBody>
      </p:sp>
      <p:sp>
        <p:nvSpPr>
          <p:cNvPr id="3" name="文字版面配置區 2"/>
          <p:cNvSpPr>
            <a:spLocks noGrp="1"/>
          </p:cNvSpPr>
          <p:nvPr>
            <p:ph type="body" idx="1"/>
          </p:nvPr>
        </p:nvSpPr>
        <p:spPr>
          <a:xfrm>
            <a:off x="5139937" y="3405524"/>
            <a:ext cx="7772400" cy="1500187"/>
          </a:xfrm>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5868145" y="188640"/>
            <a:ext cx="3326128" cy="83362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4.</a:t>
            </a:r>
            <a:r>
              <a:rPr lang="zh-TW" altLang="en-US" dirty="0">
                <a:solidFill>
                  <a:srgbClr val="FF0000"/>
                </a:solidFill>
                <a:latin typeface="標楷體" pitchFamily="65" charset="-120"/>
                <a:ea typeface="標楷體" pitchFamily="65" charset="-120"/>
              </a:rPr>
              <a:t>臺灣、南韓</a:t>
            </a:r>
            <a:r>
              <a:rPr lang="zh-TW" altLang="en-US" dirty="0">
                <a:latin typeface="標楷體" pitchFamily="65" charset="-120"/>
                <a:ea typeface="標楷體" pitchFamily="65" charset="-120"/>
              </a:rPr>
              <a:t>經濟</a:t>
            </a:r>
            <a:r>
              <a:rPr lang="zh-TW" altLang="en-US" dirty="0">
                <a:solidFill>
                  <a:srgbClr val="FF0000"/>
                </a:solidFill>
                <a:latin typeface="標楷體" pitchFamily="65" charset="-120"/>
                <a:ea typeface="標楷體" pitchFamily="65" charset="-120"/>
              </a:rPr>
              <a:t>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勞力密集型產業轉移。</a:t>
            </a:r>
          </a:p>
        </p:txBody>
      </p:sp>
      <p:graphicFrame>
        <p:nvGraphicFramePr>
          <p:cNvPr id="9" name="Group 47"/>
          <p:cNvGraphicFramePr>
            <a:graphicFrameLocks noGrp="1"/>
          </p:cNvGraphicFramePr>
          <p:nvPr/>
        </p:nvGraphicFramePr>
        <p:xfrm>
          <a:off x="4571999" y="1087089"/>
          <a:ext cx="8856984" cy="4289575"/>
        </p:xfrm>
        <a:graphic>
          <a:graphicData uri="http://schemas.openxmlformats.org/drawingml/2006/table">
            <a:tbl>
              <a:tblPr/>
              <a:tblGrid>
                <a:gridCol w="1368153">
                  <a:extLst>
                    <a:ext uri="{9D8B030D-6E8A-4147-A177-3AD203B41FA5}">
                      <a16:colId xmlns:a16="http://schemas.microsoft.com/office/drawing/2014/main" val="20000"/>
                    </a:ext>
                  </a:extLst>
                </a:gridCol>
                <a:gridCol w="7488831">
                  <a:extLst>
                    <a:ext uri="{9D8B030D-6E8A-4147-A177-3AD203B41FA5}">
                      <a16:colId xmlns:a16="http://schemas.microsoft.com/office/drawing/2014/main" val="20001"/>
                    </a:ext>
                  </a:extLst>
                </a:gridCol>
              </a:tblGrid>
              <a:tr h="25367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說明</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125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1950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0" i="0" u="none" strike="noStrike" cap="none" dirty="0">
                          <a:solidFill>
                            <a:srgbClr val="FF0000"/>
                          </a:solidFill>
                          <a:latin typeface="標楷體" pitchFamily="65" charset="-120"/>
                          <a:ea typeface="標楷體" pitchFamily="65" charset="-120"/>
                          <a:cs typeface="Arial"/>
                          <a:sym typeface="Arial"/>
                        </a:rPr>
                        <a:t>農產加工</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en-US" altLang="zh-TW" sz="1800" b="0" i="0" u="none" strike="noStrike" cap="none" dirty="0">
                          <a:solidFill>
                            <a:schemeClr val="tx1"/>
                          </a:solidFill>
                          <a:latin typeface="標楷體" pitchFamily="65" charset="-120"/>
                          <a:ea typeface="標楷體" pitchFamily="65" charset="-120"/>
                          <a:cs typeface="Arial"/>
                          <a:sym typeface="Arial"/>
                        </a:rPr>
                        <a:t>ex</a:t>
                      </a:r>
                      <a:r>
                        <a:rPr lang="zh-TW" altLang="en-US" sz="1800" b="0" i="0" u="none" strike="noStrike" cap="none" dirty="0">
                          <a:solidFill>
                            <a:schemeClr val="tx1"/>
                          </a:solidFill>
                          <a:latin typeface="標楷體" pitchFamily="65" charset="-120"/>
                          <a:ea typeface="標楷體" pitchFamily="65" charset="-120"/>
                          <a:cs typeface="Arial"/>
                          <a:sym typeface="Arial"/>
                        </a:rPr>
                        <a:t>鳳梨罐頭工廠。</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工業化水準較低，以農產加工</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生產、初級工業製品為出口大</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宗，</a:t>
                      </a:r>
                      <a:r>
                        <a:rPr lang="zh-TW" altLang="en-US" sz="1800" b="0" i="0" u="none" strike="noStrike" cap="none" dirty="0">
                          <a:solidFill>
                            <a:srgbClr val="FF0000"/>
                          </a:solidFill>
                          <a:latin typeface="標楷體" pitchFamily="65" charset="-120"/>
                          <a:ea typeface="標楷體" pitchFamily="65" charset="-120"/>
                          <a:cs typeface="Arial"/>
                          <a:sym typeface="Arial"/>
                        </a:rPr>
                        <a:t>逐漸累積外匯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14310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（接受日本勞力密集型產業</a:t>
                      </a:r>
                      <a:r>
                        <a:rPr lang="zh-TW" altLang="en-US" sz="1800" b="0" i="0" u="none" strike="noStrike" cap="none" dirty="0">
                          <a:solidFill>
                            <a:schemeClr val="tx1"/>
                          </a:solidFill>
                          <a:latin typeface="標楷體" pitchFamily="65" charset="-120"/>
                          <a:ea typeface="標楷體" pitchFamily="65" charset="-120"/>
                          <a:cs typeface="Arial"/>
                          <a:sym typeface="Arial"/>
                        </a:rPr>
                        <a:t>空間移轉）</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zh-TW" altLang="en-US" sz="1800" b="0" i="0" u="none" strike="noStrike" cap="none" dirty="0">
                          <a:solidFill>
                            <a:schemeClr val="tx1"/>
                          </a:solidFill>
                          <a:latin typeface="標楷體" pitchFamily="65" charset="-120"/>
                          <a:ea typeface="標楷體" pitchFamily="65" charset="-120"/>
                          <a:cs typeface="Arial"/>
                          <a:sym typeface="Arial"/>
                        </a:rPr>
                        <a:t>承接日本外移的勞力密集產業，</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臺、韓得以</a:t>
                      </a:r>
                      <a:r>
                        <a:rPr lang="zh-TW" altLang="en-US" sz="1800" b="0" i="0" u="none" strike="noStrike" cap="none" dirty="0">
                          <a:solidFill>
                            <a:srgbClr val="FF0000"/>
                          </a:solidFill>
                          <a:latin typeface="標楷體" pitchFamily="65" charset="-120"/>
                          <a:ea typeface="標楷體" pitchFamily="65" charset="-120"/>
                          <a:cs typeface="Arial"/>
                          <a:sym typeface="Arial"/>
                        </a:rPr>
                        <a:t>開始大量出口</a:t>
                      </a:r>
                      <a:r>
                        <a:rPr lang="zh-TW" altLang="en-US" sz="1800" b="0" i="0" u="none" strike="noStrike" cap="none" dirty="0">
                          <a:solidFill>
                            <a:schemeClr val="tx1"/>
                          </a:solidFill>
                          <a:latin typeface="標楷體" pitchFamily="65" charset="-120"/>
                          <a:ea typeface="標楷體" pitchFamily="65" charset="-120"/>
                          <a:cs typeface="Arial"/>
                          <a:sym typeface="Arial"/>
                        </a:rPr>
                        <a:t>換匯，</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rgbClr val="FF0000"/>
                          </a:solidFill>
                          <a:latin typeface="標楷體" pitchFamily="65" charset="-120"/>
                          <a:ea typeface="標楷體" pitchFamily="65" charset="-120"/>
                          <a:cs typeface="Arial"/>
                          <a:sym typeface="Arial"/>
                        </a:rPr>
                        <a:t>經濟開始快速成長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665649475"/>
                  </a:ext>
                </a:extLst>
              </a:tr>
              <a:tr h="13400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兩國</a:t>
                      </a:r>
                      <a:r>
                        <a:rPr lang="zh-TW" altLang="en-US" sz="1800" b="0" i="0" u="none" strike="noStrike" cap="none" dirty="0">
                          <a:solidFill>
                            <a:srgbClr val="FF0000"/>
                          </a:solidFill>
                          <a:latin typeface="標楷體" pitchFamily="65" charset="-120"/>
                          <a:ea typeface="標楷體" pitchFamily="65" charset="-120"/>
                          <a:cs typeface="Arial"/>
                          <a:sym typeface="Arial"/>
                        </a:rPr>
                        <a:t>承襲日本重化工業</a:t>
                      </a:r>
                      <a:r>
                        <a:rPr lang="zh-TW" altLang="en-US" sz="1800" b="0" i="0" u="none" strike="noStrike" cap="none" dirty="0">
                          <a:solidFill>
                            <a:schemeClr val="tx1"/>
                          </a:solidFill>
                          <a:latin typeface="標楷體" pitchFamily="65" charset="-120"/>
                          <a:ea typeface="標楷體" pitchFamily="65" charset="-120"/>
                          <a:cs typeface="Arial"/>
                          <a:sym typeface="Arial"/>
                        </a:rPr>
                        <a:t>，</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rgbClr val="FF0000"/>
                          </a:solidFill>
                          <a:latin typeface="標楷體" pitchFamily="65" charset="-120"/>
                          <a:ea typeface="標楷體" pitchFamily="65" charset="-120"/>
                          <a:cs typeface="Arial"/>
                          <a:sym typeface="Arial"/>
                        </a:rPr>
                        <a:t>讓國內生產材料得以自給</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產業升級，鋼鐵、造船產</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業日漸</a:t>
                      </a:r>
                      <a:r>
                        <a:rPr lang="zh-TW" altLang="en-US" sz="1800" b="0" i="0" u="none" strike="noStrike" cap="none" dirty="0">
                          <a:solidFill>
                            <a:srgbClr val="FF0000"/>
                          </a:solidFill>
                          <a:latin typeface="標楷體" pitchFamily="65" charset="-120"/>
                          <a:ea typeface="標楷體" pitchFamily="65" charset="-120"/>
                          <a:cs typeface="Arial"/>
                          <a:sym typeface="Arial"/>
                        </a:rPr>
                        <a:t>搶食日本</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出口市場</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a:xfrm>
            <a:off x="6581754" y="6487804"/>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22</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extLst>
              <p:ext uri="{D42A27DB-BD31-4B8C-83A1-F6EECF244321}">
                <p14:modId xmlns:p14="http://schemas.microsoft.com/office/powerpoint/2010/main" val="1723055145"/>
              </p:ext>
            </p:extLst>
          </p:nvPr>
        </p:nvGraphicFramePr>
        <p:xfrm>
          <a:off x="4584826" y="5375950"/>
          <a:ext cx="8856984" cy="1145018"/>
        </p:xfrm>
        <a:graphic>
          <a:graphicData uri="http://schemas.openxmlformats.org/drawingml/2006/table">
            <a:tbl>
              <a:tblPr/>
              <a:tblGrid>
                <a:gridCol w="1342507">
                  <a:extLst>
                    <a:ext uri="{9D8B030D-6E8A-4147-A177-3AD203B41FA5}">
                      <a16:colId xmlns:a16="http://schemas.microsoft.com/office/drawing/2014/main" val="20000"/>
                    </a:ext>
                  </a:extLst>
                </a:gridCol>
                <a:gridCol w="7514477">
                  <a:extLst>
                    <a:ext uri="{9D8B030D-6E8A-4147-A177-3AD203B41FA5}">
                      <a16:colId xmlns:a16="http://schemas.microsoft.com/office/drawing/2014/main" val="20001"/>
                    </a:ext>
                  </a:extLst>
                </a:gridCol>
              </a:tblGrid>
              <a:tr h="11450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a:t>
                      </a:r>
                      <a:r>
                        <a:rPr lang="zh-TW" altLang="en-US" sz="1800" b="0" i="0" u="none" strike="noStrike" cap="none" dirty="0">
                          <a:solidFill>
                            <a:schemeClr val="tx1"/>
                          </a:solidFill>
                          <a:latin typeface="標楷體" pitchFamily="65" charset="-120"/>
                          <a:ea typeface="標楷體" pitchFamily="65" charset="-120"/>
                          <a:cs typeface="Arial"/>
                          <a:sym typeface="Arial"/>
                        </a:rPr>
                        <a:t>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rgbClr val="FF0000"/>
                          </a:solidFill>
                          <a:latin typeface="標楷體" pitchFamily="65" charset="-120"/>
                          <a:ea typeface="標楷體" pitchFamily="65" charset="-120"/>
                          <a:cs typeface="Arial"/>
                          <a:sym typeface="Arial"/>
                        </a:rPr>
                        <a:t>臺</a:t>
                      </a:r>
                      <a:r>
                        <a:rPr lang="zh-TW" altLang="en-US" sz="1800" b="0" i="0" u="none" strike="noStrike" cap="none" dirty="0">
                          <a:solidFill>
                            <a:schemeClr val="tx1"/>
                          </a:solidFill>
                          <a:latin typeface="標楷體" pitchFamily="65" charset="-120"/>
                          <a:ea typeface="標楷體" pitchFamily="65" charset="-120"/>
                          <a:cs typeface="Arial"/>
                          <a:sym typeface="Arial"/>
                        </a:rPr>
                        <a:t>灣建立</a:t>
                      </a:r>
                      <a:r>
                        <a:rPr lang="zh-TW" altLang="en-US" sz="1800" b="0" i="0" u="none" strike="noStrike" cap="none" dirty="0">
                          <a:solidFill>
                            <a:srgbClr val="FF0000"/>
                          </a:solidFill>
                          <a:latin typeface="標楷體" pitchFamily="65" charset="-120"/>
                          <a:ea typeface="標楷體" pitchFamily="65" charset="-120"/>
                          <a:cs typeface="Arial"/>
                          <a:sym typeface="Arial"/>
                        </a:rPr>
                        <a:t>科學工業園區</a:t>
                      </a:r>
                      <a:r>
                        <a:rPr lang="zh-TW" altLang="en-US" sz="1800" b="0" i="0" u="none" strike="noStrike" cap="none" dirty="0">
                          <a:solidFill>
                            <a:schemeClr val="tx1"/>
                          </a:solidFill>
                          <a:latin typeface="標楷體" pitchFamily="65" charset="-120"/>
                          <a:ea typeface="標楷體" pitchFamily="65" charset="-120"/>
                          <a:cs typeface="Arial"/>
                          <a:sym typeface="Arial"/>
                        </a:rPr>
                        <a:t>發展</a:t>
                      </a:r>
                      <a:r>
                        <a:rPr lang="zh-TW" altLang="en-US" sz="1800" b="0" i="0" u="none" strike="noStrike" cap="none" dirty="0">
                          <a:solidFill>
                            <a:srgbClr val="FF0000"/>
                          </a:solidFill>
                          <a:latin typeface="標楷體" pitchFamily="65" charset="-120"/>
                          <a:ea typeface="標楷體" pitchFamily="65" charset="-120"/>
                          <a:cs typeface="Arial"/>
                          <a:sym typeface="Arial"/>
                        </a:rPr>
                        <a:t>半導體</a:t>
                      </a:r>
                      <a:r>
                        <a:rPr lang="zh-TW" altLang="en-US" sz="1800" b="0" i="0" u="none" strike="noStrike" cap="none" dirty="0">
                          <a:solidFill>
                            <a:schemeClr val="tx1"/>
                          </a:solidFill>
                          <a:latin typeface="標楷體" pitchFamily="65" charset="-120"/>
                          <a:ea typeface="標楷體" pitchFamily="65" charset="-120"/>
                          <a:cs typeface="Arial"/>
                          <a:sym typeface="Arial"/>
                        </a:rPr>
                        <a:t>產業聚落</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南韓</a:t>
                      </a:r>
                      <a:r>
                        <a:rPr lang="zh-TW" altLang="en-US" sz="1800" b="0" i="0" u="none" strike="noStrike" cap="none" dirty="0">
                          <a:solidFill>
                            <a:schemeClr val="tx1"/>
                          </a:solidFill>
                          <a:latin typeface="標楷體" pitchFamily="65" charset="-120"/>
                          <a:ea typeface="標楷體" pitchFamily="65" charset="-120"/>
                          <a:cs typeface="Arial"/>
                          <a:sym typeface="Arial"/>
                        </a:rPr>
                        <a:t>透過</a:t>
                      </a:r>
                      <a:r>
                        <a:rPr lang="zh-TW" altLang="en-US" sz="1800" b="0" i="0" u="none" strike="noStrike" cap="none" dirty="0">
                          <a:solidFill>
                            <a:srgbClr val="FF0000"/>
                          </a:solidFill>
                          <a:latin typeface="標楷體" pitchFamily="65" charset="-120"/>
                          <a:ea typeface="標楷體" pitchFamily="65" charset="-120"/>
                          <a:cs typeface="Arial"/>
                          <a:sym typeface="Arial"/>
                        </a:rPr>
                        <a:t>財閥三星集團</a:t>
                      </a:r>
                      <a:r>
                        <a:rPr lang="zh-TW" altLang="en-US" sz="1800" b="0" i="0" u="none" strike="noStrike" cap="none" dirty="0">
                          <a:solidFill>
                            <a:schemeClr val="tx1"/>
                          </a:solidFill>
                          <a:latin typeface="標楷體" pitchFamily="65" charset="-120"/>
                          <a:ea typeface="標楷體" pitchFamily="65" charset="-120"/>
                          <a:cs typeface="Arial"/>
                          <a:sym typeface="Arial"/>
                        </a:rPr>
                        <a:t>逐步展開世界</a:t>
                      </a:r>
                      <a:r>
                        <a:rPr lang="zh-TW" altLang="en-US" sz="1800" b="0" i="0" u="none" strike="noStrike" cap="none" dirty="0">
                          <a:solidFill>
                            <a:srgbClr val="FF0000"/>
                          </a:solidFill>
                          <a:latin typeface="標楷體" pitchFamily="65" charset="-120"/>
                          <a:ea typeface="標楷體" pitchFamily="65" charset="-120"/>
                          <a:cs typeface="Arial"/>
                          <a:sym typeface="Arial"/>
                        </a:rPr>
                        <a:t>電子業</a:t>
                      </a:r>
                      <a:r>
                        <a:rPr lang="zh-TW" altLang="en-US" sz="1800" b="0" i="0" u="none" strike="noStrike" cap="none" dirty="0">
                          <a:solidFill>
                            <a:schemeClr val="tx1"/>
                          </a:solidFill>
                          <a:latin typeface="標楷體" pitchFamily="65" charset="-120"/>
                          <a:ea typeface="標楷體" pitchFamily="65" charset="-120"/>
                          <a:cs typeface="Arial"/>
                          <a:sym typeface="Arial"/>
                        </a:rPr>
                        <a:t>大國的版圖</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bl>
          </a:graphicData>
        </a:graphic>
      </p:graphicFrame>
      <p:sp>
        <p:nvSpPr>
          <p:cNvPr id="10" name="矩形 9"/>
          <p:cNvSpPr>
            <a:spLocks noChangeArrowheads="1"/>
          </p:cNvSpPr>
          <p:nvPr/>
        </p:nvSpPr>
        <p:spPr bwMode="auto">
          <a:xfrm>
            <a:off x="4760350" y="-54956"/>
            <a:ext cx="113043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None/>
            </a:pPr>
            <a:r>
              <a:rPr lang="en-US" altLang="zh-TW" sz="3200" dirty="0" err="1">
                <a:solidFill>
                  <a:srgbClr val="FF0000"/>
                </a:solidFill>
              </a:rPr>
              <a:t>p.179</a:t>
            </a:r>
            <a:endParaRPr lang="zh-TW" altLang="en-US" sz="3200" b="0" dirty="0"/>
          </a:p>
          <a:p>
            <a:pPr eaLnBrk="1" hangingPunct="1">
              <a:spcBef>
                <a:spcPct val="0"/>
              </a:spcBef>
              <a:buFontTx/>
              <a:buNone/>
            </a:pPr>
            <a:r>
              <a:rPr lang="en-US" altLang="zh-TW" dirty="0" err="1">
                <a:solidFill>
                  <a:srgbClr val="FF0000"/>
                </a:solidFill>
              </a:rPr>
              <a:t>p.206</a:t>
            </a:r>
            <a:endParaRPr lang="zh-TW" altLang="en-US" b="0" dirty="0"/>
          </a:p>
        </p:txBody>
      </p:sp>
      <p:sp>
        <p:nvSpPr>
          <p:cNvPr id="11" name="矩形 10">
            <a:extLst>
              <a:ext uri="{FF2B5EF4-FFF2-40B4-BE49-F238E27FC236}">
                <a16:creationId xmlns:a16="http://schemas.microsoft.com/office/drawing/2014/main" id="{A3E4E45B-DF22-41F7-B4CA-B5264CA62C89}"/>
              </a:ext>
            </a:extLst>
          </p:cNvPr>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2" name="Rectangle 3">
            <a:extLst>
              <a:ext uri="{FF2B5EF4-FFF2-40B4-BE49-F238E27FC236}">
                <a16:creationId xmlns:a16="http://schemas.microsoft.com/office/drawing/2014/main" id="{743039B2-1BA9-43F3-BCEC-8F5569038F34}"/>
              </a:ext>
            </a:extLst>
          </p:cNvPr>
          <p:cNvSpPr txBox="1">
            <a:spLocks noChangeArrowheads="1"/>
          </p:cNvSpPr>
          <p:nvPr/>
        </p:nvSpPr>
        <p:spPr>
          <a:xfrm>
            <a:off x="1130438" y="379494"/>
            <a:ext cx="4169994"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13" name="Group 47">
            <a:extLst>
              <a:ext uri="{FF2B5EF4-FFF2-40B4-BE49-F238E27FC236}">
                <a16:creationId xmlns:a16="http://schemas.microsoft.com/office/drawing/2014/main" id="{7BB305F9-4305-49F5-A165-1E44B74D7075}"/>
              </a:ext>
            </a:extLst>
          </p:cNvPr>
          <p:cNvGraphicFramePr>
            <a:graphicFrameLocks noGrp="1"/>
          </p:cNvGraphicFramePr>
          <p:nvPr/>
        </p:nvGraphicFramePr>
        <p:xfrm>
          <a:off x="1" y="1094993"/>
          <a:ext cx="4571999" cy="2913422"/>
        </p:xfrm>
        <a:graphic>
          <a:graphicData uri="http://schemas.openxmlformats.org/drawingml/2006/table">
            <a:tbl>
              <a:tblPr/>
              <a:tblGrid>
                <a:gridCol w="2051719">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4" name="表格 13">
            <a:extLst>
              <a:ext uri="{FF2B5EF4-FFF2-40B4-BE49-F238E27FC236}">
                <a16:creationId xmlns:a16="http://schemas.microsoft.com/office/drawing/2014/main" id="{5C0BB99D-35B9-46DC-9438-3085C37FCFB5}"/>
              </a:ext>
            </a:extLst>
          </p:cNvPr>
          <p:cNvGraphicFramePr>
            <a:graphicFrameLocks noGrp="1"/>
          </p:cNvGraphicFramePr>
          <p:nvPr>
            <p:extLst>
              <p:ext uri="{D42A27DB-BD31-4B8C-83A1-F6EECF244321}">
                <p14:modId xmlns:p14="http://schemas.microsoft.com/office/powerpoint/2010/main" val="601443889"/>
              </p:ext>
            </p:extLst>
          </p:nvPr>
        </p:nvGraphicFramePr>
        <p:xfrm>
          <a:off x="-12823" y="3991754"/>
          <a:ext cx="4571999" cy="2591167"/>
        </p:xfrm>
        <a:graphic>
          <a:graphicData uri="http://schemas.openxmlformats.org/drawingml/2006/table">
            <a:tbl>
              <a:tblPr/>
              <a:tblGrid>
                <a:gridCol w="2051720">
                  <a:extLst>
                    <a:ext uri="{9D8B030D-6E8A-4147-A177-3AD203B41FA5}">
                      <a16:colId xmlns:a16="http://schemas.microsoft.com/office/drawing/2014/main" val="20000"/>
                    </a:ext>
                  </a:extLst>
                </a:gridCol>
                <a:gridCol w="2520279">
                  <a:extLst>
                    <a:ext uri="{9D8B030D-6E8A-4147-A177-3AD203B41FA5}">
                      <a16:colId xmlns:a16="http://schemas.microsoft.com/office/drawing/2014/main" val="20001"/>
                    </a:ext>
                  </a:extLst>
                </a:gridCol>
              </a:tblGrid>
              <a:tr h="110987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低耗能特性的半導體、電子產業急遽成長</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 name="矩形 16">
            <a:extLst>
              <a:ext uri="{FF2B5EF4-FFF2-40B4-BE49-F238E27FC236}">
                <a16:creationId xmlns:a16="http://schemas.microsoft.com/office/drawing/2014/main" id="{96775E72-ABC1-41BC-968A-53A493035B43}"/>
              </a:ext>
            </a:extLst>
          </p:cNvPr>
          <p:cNvSpPr>
            <a:spLocks noChangeArrowheads="1"/>
          </p:cNvSpPr>
          <p:nvPr/>
        </p:nvSpPr>
        <p:spPr bwMode="auto">
          <a:xfrm>
            <a:off x="2925656" y="5248541"/>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Tree>
    <p:extLst>
      <p:ext uri="{BB962C8B-B14F-4D97-AF65-F5344CB8AC3E}">
        <p14:creationId xmlns:p14="http://schemas.microsoft.com/office/powerpoint/2010/main" val="342487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17470" y="4691774"/>
            <a:ext cx="7772400" cy="1362075"/>
          </a:xfrm>
        </p:spPr>
        <p:txBody>
          <a:bodyPr/>
          <a:lstStyle/>
          <a:p>
            <a:endParaRPr lang="zh-TW" altLang="en-US"/>
          </a:p>
        </p:txBody>
      </p:sp>
      <p:sp>
        <p:nvSpPr>
          <p:cNvPr id="3" name="文字版面配置區 2"/>
          <p:cNvSpPr>
            <a:spLocks noGrp="1"/>
          </p:cNvSpPr>
          <p:nvPr>
            <p:ph type="body" idx="1"/>
          </p:nvPr>
        </p:nvSpPr>
        <p:spPr>
          <a:xfrm>
            <a:off x="817470" y="319158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1670" y="188640"/>
            <a:ext cx="9144000"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一、工業的轉型與升級</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9" name="Group 47"/>
          <p:cNvGraphicFramePr>
            <a:graphicFrameLocks noGrp="1"/>
          </p:cNvGraphicFramePr>
          <p:nvPr/>
        </p:nvGraphicFramePr>
        <p:xfrm>
          <a:off x="202661" y="977570"/>
          <a:ext cx="8941339" cy="2913422"/>
        </p:xfrm>
        <a:graphic>
          <a:graphicData uri="http://schemas.openxmlformats.org/drawingml/2006/table">
            <a:tbl>
              <a:tblPr/>
              <a:tblGrid>
                <a:gridCol w="2088232">
                  <a:extLst>
                    <a:ext uri="{9D8B030D-6E8A-4147-A177-3AD203B41FA5}">
                      <a16:colId xmlns:a16="http://schemas.microsoft.com/office/drawing/2014/main" val="20000"/>
                    </a:ext>
                  </a:extLst>
                </a:gridCol>
                <a:gridCol w="6853107">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日本現代化的腳步較早，工業及人力水準高，成為美國外移勞力密集產業的主要承接者，產品出口美國得以賺取大量外匯</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韓戰期間，更因生產美軍軍需而獲得部分工業技術</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出口累積大量外匯成為產業升級的資本，政府政策轉向發展鋼鐵、造船、電機為主的重化工業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自給外亦大量出口，同一時期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23</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nvGraphicFramePr>
        <p:xfrm>
          <a:off x="202661" y="3929898"/>
          <a:ext cx="8928992" cy="2852896"/>
        </p:xfrm>
        <a:graphic>
          <a:graphicData uri="http://schemas.openxmlformats.org/drawingml/2006/table">
            <a:tbl>
              <a:tblPr/>
              <a:tblGrid>
                <a:gridCol w="2088232">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重化工業高度仰賴石油，在油價暴漲後，日本出現戰後首度經濟負成長，因此具低耗能特性的半導體、電子產業急遽成長</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隨著</a:t>
                      </a:r>
                      <a:r>
                        <a:rPr lang="zh-TW" altLang="en-US" sz="1800" b="0" i="0" u="none" strike="noStrike" cap="none" dirty="0">
                          <a:solidFill>
                            <a:srgbClr val="FF0000"/>
                          </a:solidFill>
                          <a:latin typeface="標楷體" pitchFamily="65" charset="-120"/>
                          <a:ea typeface="標楷體" pitchFamily="65" charset="-120"/>
                          <a:cs typeface="Arial"/>
                          <a:sym typeface="Arial"/>
                        </a:rPr>
                        <a:t>工資</a:t>
                      </a:r>
                      <a:r>
                        <a:rPr lang="zh-TW" altLang="en-US" sz="1800" b="0" i="0" u="none" strike="noStrike" cap="none" dirty="0">
                          <a:solidFill>
                            <a:schemeClr val="tx1"/>
                          </a:solidFill>
                          <a:latin typeface="標楷體" pitchFamily="65" charset="-120"/>
                          <a:ea typeface="標楷體" pitchFamily="65" charset="-120"/>
                          <a:cs typeface="Arial"/>
                          <a:sym typeface="Arial"/>
                        </a:rPr>
                        <a:t>不斷</a:t>
                      </a:r>
                      <a:r>
                        <a:rPr lang="zh-TW" altLang="en-US" sz="1800" b="0" i="0" u="none" strike="noStrike" cap="none" dirty="0">
                          <a:solidFill>
                            <a:srgbClr val="FF0000"/>
                          </a:solidFill>
                          <a:latin typeface="標楷體" pitchFamily="65" charset="-120"/>
                          <a:ea typeface="標楷體" pitchFamily="65" charset="-120"/>
                          <a:cs typeface="Arial"/>
                          <a:sym typeface="Arial"/>
                        </a:rPr>
                        <a:t>提升，環境</a:t>
                      </a:r>
                      <a:r>
                        <a:rPr lang="zh-TW" altLang="en-US" sz="1800" b="0" i="0" u="none" strike="noStrike" cap="none" dirty="0">
                          <a:solidFill>
                            <a:schemeClr val="tx1"/>
                          </a:solidFill>
                          <a:latin typeface="標楷體" pitchFamily="65" charset="-120"/>
                          <a:ea typeface="標楷體" pitchFamily="65" charset="-120"/>
                          <a:cs typeface="Arial"/>
                          <a:sym typeface="Arial"/>
                        </a:rPr>
                        <a:t>公害</a:t>
                      </a:r>
                      <a:r>
                        <a:rPr lang="zh-TW" altLang="en-US" sz="1800" b="0" i="0" u="none" strike="noStrike" cap="none" dirty="0">
                          <a:solidFill>
                            <a:srgbClr val="FF0000"/>
                          </a:solidFill>
                          <a:latin typeface="標楷體" pitchFamily="65" charset="-120"/>
                          <a:ea typeface="標楷體" pitchFamily="65" charset="-120"/>
                          <a:cs typeface="Arial"/>
                          <a:sym typeface="Arial"/>
                        </a:rPr>
                        <a:t>受</a:t>
                      </a:r>
                      <a:r>
                        <a:rPr lang="zh-TW" altLang="en-US" sz="1800" b="0" i="0" u="none" strike="noStrike" cap="none" dirty="0">
                          <a:solidFill>
                            <a:schemeClr val="tx1"/>
                          </a:solidFill>
                          <a:latin typeface="標楷體" pitchFamily="65" charset="-120"/>
                          <a:ea typeface="標楷體" pitchFamily="65" charset="-120"/>
                          <a:cs typeface="Arial"/>
                          <a:sym typeface="Arial"/>
                        </a:rPr>
                        <a:t>到</a:t>
                      </a:r>
                      <a:r>
                        <a:rPr lang="zh-TW" altLang="en-US" sz="1800" b="0" i="0" u="none" strike="noStrike" cap="none" dirty="0">
                          <a:solidFill>
                            <a:srgbClr val="FF0000"/>
                          </a:solidFill>
                          <a:latin typeface="標楷體" pitchFamily="65" charset="-120"/>
                          <a:ea typeface="標楷體" pitchFamily="65" charset="-120"/>
                          <a:cs typeface="Arial"/>
                          <a:sym typeface="Arial"/>
                        </a:rPr>
                        <a:t>重視</a:t>
                      </a:r>
                      <a:r>
                        <a:rPr lang="zh-TW" altLang="en-US" sz="1800" b="0" i="0" u="none" strike="noStrike" cap="none" dirty="0">
                          <a:solidFill>
                            <a:schemeClr val="tx1"/>
                          </a:solidFill>
                          <a:latin typeface="標楷體" pitchFamily="65" charset="-120"/>
                          <a:ea typeface="標楷體" pitchFamily="65" charset="-120"/>
                          <a:cs typeface="Arial"/>
                          <a:sym typeface="Arial"/>
                        </a:rPr>
                        <a:t>，工業生產</a:t>
                      </a:r>
                      <a:r>
                        <a:rPr lang="zh-TW" altLang="en-US" sz="1800" b="0" i="0" u="none" strike="noStrike" cap="none" dirty="0">
                          <a:solidFill>
                            <a:srgbClr val="FF0000"/>
                          </a:solidFill>
                          <a:latin typeface="標楷體" pitchFamily="65" charset="-120"/>
                          <a:ea typeface="標楷體" pitchFamily="65" charset="-120"/>
                          <a:cs typeface="Arial"/>
                          <a:sym typeface="Arial"/>
                        </a:rPr>
                        <a:t>成本提升</a:t>
                      </a:r>
                      <a:r>
                        <a:rPr lang="zh-TW" altLang="en-US" sz="1800" b="0" i="0" u="none" strike="noStrike" cap="none" dirty="0">
                          <a:solidFill>
                            <a:schemeClr val="tx1"/>
                          </a:solidFill>
                          <a:latin typeface="標楷體" pitchFamily="65" charset="-120"/>
                          <a:ea typeface="標楷體" pitchFamily="65" charset="-120"/>
                          <a:cs typeface="Arial"/>
                          <a:sym typeface="Arial"/>
                        </a:rPr>
                        <a:t>，經濟</a:t>
                      </a:r>
                      <a:r>
                        <a:rPr lang="zh-TW" altLang="en-US" sz="1800" b="0" i="0" u="none" strike="noStrike" cap="none" dirty="0">
                          <a:solidFill>
                            <a:srgbClr val="FF0000"/>
                          </a:solidFill>
                          <a:latin typeface="標楷體" pitchFamily="65" charset="-120"/>
                          <a:ea typeface="標楷體" pitchFamily="65" charset="-120"/>
                          <a:cs typeface="Arial"/>
                          <a:sym typeface="Arial"/>
                        </a:rPr>
                        <a:t>成長速度趨緩</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a:t>
                      </a:r>
                      <a:r>
                        <a:rPr lang="zh-TW" altLang="en-US" sz="1800" b="0" i="0" u="none" strike="noStrike" cap="none" dirty="0">
                          <a:solidFill>
                            <a:srgbClr val="FF0000"/>
                          </a:solidFill>
                          <a:latin typeface="標楷體" pitchFamily="65" charset="-120"/>
                          <a:ea typeface="標楷體" pitchFamily="65" charset="-120"/>
                          <a:cs typeface="Arial"/>
                          <a:sym typeface="Arial"/>
                        </a:rPr>
                        <a:t>長期對美國貿易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，造成貿易摩擦，</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使日圓</a:t>
                      </a:r>
                      <a:r>
                        <a:rPr lang="zh-TW" altLang="en-US" sz="1800" b="0" i="0" u="none" strike="noStrike" cap="none" dirty="0">
                          <a:solidFill>
                            <a:srgbClr val="FF0000"/>
                          </a:solidFill>
                          <a:latin typeface="標楷體" pitchFamily="65" charset="-120"/>
                          <a:ea typeface="標楷體" pitchFamily="65" charset="-120"/>
                          <a:cs typeface="Arial"/>
                          <a:sym typeface="Arial"/>
                        </a:rPr>
                        <a:t>被迫</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出口重挫</a:t>
                      </a:r>
                      <a:r>
                        <a:rPr lang="zh-TW" altLang="en-US" sz="1800" b="0" i="0" u="none" strike="noStrike" cap="none" dirty="0">
                          <a:solidFill>
                            <a:schemeClr val="tx1"/>
                          </a:solidFill>
                          <a:latin typeface="標楷體" pitchFamily="65" charset="-120"/>
                          <a:ea typeface="標楷體" pitchFamily="65" charset="-120"/>
                          <a:cs typeface="Arial"/>
                          <a:sym typeface="Arial"/>
                        </a:rPr>
                        <a:t>，國內</a:t>
                      </a:r>
                      <a:r>
                        <a:rPr lang="zh-TW" altLang="en-US" sz="1800" b="0" i="0" u="none" strike="noStrike" cap="none" dirty="0">
                          <a:solidFill>
                            <a:srgbClr val="FF0000"/>
                          </a:solidFill>
                          <a:latin typeface="標楷體" pitchFamily="65" charset="-120"/>
                          <a:ea typeface="標楷體" pitchFamily="65" charset="-120"/>
                          <a:cs typeface="Arial"/>
                          <a:sym typeface="Arial"/>
                        </a:rPr>
                        <a:t>經濟轉以內需為主</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經濟持續低迷，轉而</a:t>
                      </a:r>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 name="矩形 12"/>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4" name="矩形 13">
            <a:extLst>
              <a:ext uri="{FF2B5EF4-FFF2-40B4-BE49-F238E27FC236}">
                <a16:creationId xmlns:a16="http://schemas.microsoft.com/office/drawing/2014/main" id="{575217A8-D06E-4167-9BA8-B014E5C045D1}"/>
              </a:ext>
            </a:extLst>
          </p:cNvPr>
          <p:cNvSpPr/>
          <p:nvPr/>
        </p:nvSpPr>
        <p:spPr>
          <a:xfrm>
            <a:off x="202661" y="5260631"/>
            <a:ext cx="7969739" cy="98459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5459D8AF-D00F-4C10-A090-CE6071AE19F4}"/>
              </a:ext>
            </a:extLst>
          </p:cNvPr>
          <p:cNvSpPr>
            <a:spLocks noChangeArrowheads="1"/>
          </p:cNvSpPr>
          <p:nvPr/>
        </p:nvSpPr>
        <p:spPr bwMode="auto">
          <a:xfrm>
            <a:off x="4883181" y="5298050"/>
            <a:ext cx="716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順差</a:t>
            </a:r>
          </a:p>
        </p:txBody>
      </p:sp>
    </p:spTree>
    <p:extLst>
      <p:ext uri="{BB962C8B-B14F-4D97-AF65-F5344CB8AC3E}">
        <p14:creationId xmlns:p14="http://schemas.microsoft.com/office/powerpoint/2010/main" val="363001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5">
            <a:extLst>
              <a:ext uri="{FF2B5EF4-FFF2-40B4-BE49-F238E27FC236}">
                <a16:creationId xmlns:a16="http://schemas.microsoft.com/office/drawing/2014/main" id="{D6A9ABD5-BF44-4CF7-AD57-1AC3CA55F26C}"/>
              </a:ext>
            </a:extLst>
          </p:cNvPr>
          <p:cNvSpPr>
            <a:spLocks noGrp="1"/>
          </p:cNvSpPr>
          <p:nvPr>
            <p:ph type="sldNum" sz="quarter" idx="12"/>
          </p:nvPr>
        </p:nvSpPr>
        <p:spPr/>
        <p:txBody>
          <a:bodyPr/>
          <a:lstStyle/>
          <a:p>
            <a:fld id="{6CE1A663-85C0-4620-A93F-56E1F13614EE}" type="slidenum">
              <a:rPr lang="en-US" altLang="zh-TW"/>
              <a:pPr/>
              <a:t>24</a:t>
            </a:fld>
            <a:endParaRPr lang="en-US" altLang="zh-TW"/>
          </a:p>
        </p:txBody>
      </p:sp>
      <p:sp>
        <p:nvSpPr>
          <p:cNvPr id="499714" name="Rectangle 2">
            <a:extLst>
              <a:ext uri="{FF2B5EF4-FFF2-40B4-BE49-F238E27FC236}">
                <a16:creationId xmlns:a16="http://schemas.microsoft.com/office/drawing/2014/main" id="{5CBBEC82-9021-4DD6-AD7A-674FD8362ECE}"/>
              </a:ext>
            </a:extLst>
          </p:cNvPr>
          <p:cNvSpPr>
            <a:spLocks noGrp="1" noChangeArrowheads="1"/>
          </p:cNvSpPr>
          <p:nvPr>
            <p:ph type="title"/>
          </p:nvPr>
        </p:nvSpPr>
        <p:spPr>
          <a:xfrm>
            <a:off x="0" y="0"/>
            <a:ext cx="9144000" cy="762000"/>
          </a:xfrm>
        </p:spPr>
        <p:txBody>
          <a:bodyPr/>
          <a:lstStyle/>
          <a:p>
            <a:r>
              <a:rPr lang="zh-TW" altLang="en-US" dirty="0"/>
              <a:t>貨幣 升貶值 </a:t>
            </a:r>
            <a:r>
              <a:rPr lang="en-US" altLang="zh-TW" dirty="0"/>
              <a:t>vs </a:t>
            </a:r>
            <a:r>
              <a:rPr lang="zh-TW" altLang="en-US" dirty="0"/>
              <a:t>貿易 進出口</a:t>
            </a:r>
            <a:endParaRPr lang="en-US" altLang="zh-TW" dirty="0"/>
          </a:p>
        </p:txBody>
      </p:sp>
      <p:sp>
        <p:nvSpPr>
          <p:cNvPr id="499715" name="Rectangle 3">
            <a:extLst>
              <a:ext uri="{FF2B5EF4-FFF2-40B4-BE49-F238E27FC236}">
                <a16:creationId xmlns:a16="http://schemas.microsoft.com/office/drawing/2014/main" id="{C234C03D-49CD-47AB-9F8D-55168127701E}"/>
              </a:ext>
            </a:extLst>
          </p:cNvPr>
          <p:cNvSpPr>
            <a:spLocks noGrp="1" noChangeArrowheads="1"/>
          </p:cNvSpPr>
          <p:nvPr>
            <p:ph type="body" idx="1"/>
          </p:nvPr>
        </p:nvSpPr>
        <p:spPr>
          <a:xfrm>
            <a:off x="0" y="762000"/>
            <a:ext cx="9144000" cy="6096000"/>
          </a:xfrm>
        </p:spPr>
        <p:txBody>
          <a:bodyPr/>
          <a:lstStyle/>
          <a:p>
            <a:r>
              <a:rPr lang="zh-TW" altLang="en-US" dirty="0"/>
              <a:t>一國</a:t>
            </a:r>
            <a:r>
              <a:rPr lang="en-US" altLang="zh-TW" dirty="0"/>
              <a:t>’</a:t>
            </a:r>
            <a:r>
              <a:rPr lang="zh-TW" altLang="en-US" dirty="0"/>
              <a:t>貿易 如 </a:t>
            </a:r>
            <a:r>
              <a:rPr lang="zh-TW" altLang="en-US" dirty="0">
                <a:solidFill>
                  <a:srgbClr val="FF0000"/>
                </a:solidFill>
              </a:rPr>
              <a:t>出口</a:t>
            </a:r>
            <a:r>
              <a:rPr lang="en-US" altLang="zh-TW" dirty="0">
                <a:solidFill>
                  <a:srgbClr val="FF0000"/>
                </a:solidFill>
              </a:rPr>
              <a:t>&gt;</a:t>
            </a:r>
            <a:r>
              <a:rPr lang="zh-TW" altLang="en-US" dirty="0">
                <a:solidFill>
                  <a:srgbClr val="FF0000"/>
                </a:solidFill>
              </a:rPr>
              <a:t>進口</a:t>
            </a:r>
            <a:r>
              <a:rPr lang="zh-TW" altLang="en-US" dirty="0"/>
              <a:t>，則</a:t>
            </a:r>
          </a:p>
          <a:p>
            <a:r>
              <a:rPr lang="en-US" altLang="zh-TW" dirty="0"/>
              <a:t>1 </a:t>
            </a:r>
            <a:r>
              <a:rPr lang="zh-TW" altLang="en-US" dirty="0"/>
              <a:t>稱 </a:t>
            </a:r>
            <a:r>
              <a:rPr lang="zh-TW" altLang="en-US" dirty="0">
                <a:solidFill>
                  <a:srgbClr val="FF0000"/>
                </a:solidFill>
              </a:rPr>
              <a:t>出超</a:t>
            </a:r>
          </a:p>
          <a:p>
            <a:r>
              <a:rPr lang="en-US" altLang="zh-TW" dirty="0"/>
              <a:t>2 </a:t>
            </a:r>
            <a:r>
              <a:rPr lang="zh-TW" altLang="en-US" dirty="0"/>
              <a:t>稱 </a:t>
            </a:r>
            <a:r>
              <a:rPr lang="zh-TW" altLang="en-US" dirty="0">
                <a:solidFill>
                  <a:srgbClr val="FF0000"/>
                </a:solidFill>
              </a:rPr>
              <a:t>順差</a:t>
            </a:r>
          </a:p>
          <a:p>
            <a:r>
              <a:rPr lang="en-US" altLang="zh-TW" dirty="0"/>
              <a:t>3 </a:t>
            </a:r>
            <a:r>
              <a:rPr lang="zh-TW" altLang="en-US" dirty="0"/>
              <a:t>可累積</a:t>
            </a:r>
            <a:r>
              <a:rPr lang="zh-TW" altLang="en-US" dirty="0">
                <a:solidFill>
                  <a:srgbClr val="FF0000"/>
                </a:solidFill>
              </a:rPr>
              <a:t>外匯</a:t>
            </a:r>
            <a:r>
              <a:rPr lang="zh-TW" altLang="en-US" dirty="0"/>
              <a:t>存底；</a:t>
            </a:r>
          </a:p>
          <a:p>
            <a:r>
              <a:rPr lang="en-US" altLang="zh-TW" dirty="0"/>
              <a:t>4 </a:t>
            </a:r>
            <a:r>
              <a:rPr lang="zh-TW" altLang="en-US" dirty="0"/>
              <a:t>本國貨幣</a:t>
            </a:r>
            <a:r>
              <a:rPr lang="zh-TW" altLang="en-US" dirty="0">
                <a:solidFill>
                  <a:srgbClr val="FF0000"/>
                </a:solidFill>
              </a:rPr>
              <a:t>升值</a:t>
            </a:r>
            <a:r>
              <a:rPr lang="zh-TW" altLang="en-US" dirty="0"/>
              <a:t>有</a:t>
            </a:r>
            <a:r>
              <a:rPr lang="zh-TW" altLang="en-US" dirty="0">
                <a:solidFill>
                  <a:srgbClr val="FF0000"/>
                </a:solidFill>
              </a:rPr>
              <a:t>利進口，不利出口</a:t>
            </a:r>
            <a:r>
              <a:rPr lang="en-US" altLang="zh-TW" dirty="0">
                <a:solidFill>
                  <a:srgbClr val="FF0000"/>
                </a:solidFill>
              </a:rPr>
              <a:t>(</a:t>
            </a:r>
            <a:r>
              <a:rPr lang="zh-TW" altLang="en-US" dirty="0">
                <a:solidFill>
                  <a:srgbClr val="FF0000"/>
                </a:solidFill>
              </a:rPr>
              <a:t>貶值反之</a:t>
            </a:r>
            <a:r>
              <a:rPr lang="en-US" altLang="zh-TW" dirty="0">
                <a:solidFill>
                  <a:srgbClr val="FF0000"/>
                </a:solidFill>
              </a:rPr>
              <a:t>)</a:t>
            </a:r>
            <a:endParaRPr lang="en-US" altLang="zh-TW" dirty="0"/>
          </a:p>
          <a:p>
            <a:r>
              <a:rPr lang="en-US" altLang="zh-TW" dirty="0"/>
              <a:t>5 </a:t>
            </a:r>
            <a:r>
              <a:rPr lang="zh-TW" altLang="en-US" dirty="0">
                <a:solidFill>
                  <a:srgbClr val="FF0000"/>
                </a:solidFill>
              </a:rPr>
              <a:t>為求</a:t>
            </a:r>
            <a:r>
              <a:rPr lang="zh-TW" altLang="en-US" dirty="0"/>
              <a:t>貿易</a:t>
            </a:r>
            <a:r>
              <a:rPr lang="zh-TW" altLang="en-US" dirty="0">
                <a:solidFill>
                  <a:srgbClr val="FF0000"/>
                </a:solidFill>
              </a:rPr>
              <a:t>平衡</a:t>
            </a:r>
            <a:r>
              <a:rPr lang="zh-TW" altLang="en-US" dirty="0"/>
              <a:t>，本國貨幣</a:t>
            </a:r>
            <a:r>
              <a:rPr lang="zh-TW" altLang="en-US" dirty="0">
                <a:solidFill>
                  <a:srgbClr val="FF00FF"/>
                </a:solidFill>
              </a:rPr>
              <a:t>易受</a:t>
            </a:r>
            <a:r>
              <a:rPr lang="zh-TW" altLang="en-US" dirty="0">
                <a:solidFill>
                  <a:srgbClr val="FF0000"/>
                </a:solidFill>
              </a:rPr>
              <a:t>升值</a:t>
            </a:r>
            <a:r>
              <a:rPr lang="zh-TW" altLang="en-US" dirty="0">
                <a:solidFill>
                  <a:srgbClr val="FF00FF"/>
                </a:solidFill>
              </a:rPr>
              <a:t>壓力</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17470" y="4691774"/>
            <a:ext cx="7772400" cy="1362075"/>
          </a:xfrm>
        </p:spPr>
        <p:txBody>
          <a:bodyPr/>
          <a:lstStyle/>
          <a:p>
            <a:endParaRPr lang="zh-TW" altLang="en-US"/>
          </a:p>
        </p:txBody>
      </p:sp>
      <p:sp>
        <p:nvSpPr>
          <p:cNvPr id="3" name="文字版面配置區 2"/>
          <p:cNvSpPr>
            <a:spLocks noGrp="1"/>
          </p:cNvSpPr>
          <p:nvPr>
            <p:ph type="body" idx="1"/>
          </p:nvPr>
        </p:nvSpPr>
        <p:spPr>
          <a:xfrm>
            <a:off x="817470" y="319158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1670" y="188640"/>
            <a:ext cx="9144000"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一、工業的轉型與升級</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9" name="Group 47"/>
          <p:cNvGraphicFramePr>
            <a:graphicFrameLocks noGrp="1"/>
          </p:cNvGraphicFramePr>
          <p:nvPr/>
        </p:nvGraphicFramePr>
        <p:xfrm>
          <a:off x="202661" y="977570"/>
          <a:ext cx="8941339" cy="2913422"/>
        </p:xfrm>
        <a:graphic>
          <a:graphicData uri="http://schemas.openxmlformats.org/drawingml/2006/table">
            <a:tbl>
              <a:tblPr/>
              <a:tblGrid>
                <a:gridCol w="2088232">
                  <a:extLst>
                    <a:ext uri="{9D8B030D-6E8A-4147-A177-3AD203B41FA5}">
                      <a16:colId xmlns:a16="http://schemas.microsoft.com/office/drawing/2014/main" val="20000"/>
                    </a:ext>
                  </a:extLst>
                </a:gridCol>
                <a:gridCol w="6853107">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日本現代化的腳步較早，工業及人力水準高，成為美國外移勞力密集產業的主要承接者，產品出口美國得以賺取大量外匯</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韓戰期間，更因生產美軍軍需而獲得部分工業技術</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出口累積大量外匯成為產業升級的資本，政府政策轉向發展鋼鐵、造船、電機為主的重化工業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自給外亦大量出口，同一時期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25</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nvGraphicFramePr>
        <p:xfrm>
          <a:off x="202661" y="3929898"/>
          <a:ext cx="8928992" cy="2852896"/>
        </p:xfrm>
        <a:graphic>
          <a:graphicData uri="http://schemas.openxmlformats.org/drawingml/2006/table">
            <a:tbl>
              <a:tblPr/>
              <a:tblGrid>
                <a:gridCol w="2088232">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重化工業高度仰賴石油，在油價暴漲後，日本出現戰後首度經濟負成長，因此具低耗能特性的半導體、電子產業急遽成長</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隨著</a:t>
                      </a:r>
                      <a:r>
                        <a:rPr lang="zh-TW" altLang="en-US" sz="1800" b="0" i="0" u="none" strike="noStrike" cap="none" dirty="0">
                          <a:solidFill>
                            <a:srgbClr val="FF0000"/>
                          </a:solidFill>
                          <a:latin typeface="標楷體" pitchFamily="65" charset="-120"/>
                          <a:ea typeface="標楷體" pitchFamily="65" charset="-120"/>
                          <a:cs typeface="Arial"/>
                          <a:sym typeface="Arial"/>
                        </a:rPr>
                        <a:t>工資</a:t>
                      </a:r>
                      <a:r>
                        <a:rPr lang="zh-TW" altLang="en-US" sz="1800" b="0" i="0" u="none" strike="noStrike" cap="none" dirty="0">
                          <a:solidFill>
                            <a:schemeClr val="tx1"/>
                          </a:solidFill>
                          <a:latin typeface="標楷體" pitchFamily="65" charset="-120"/>
                          <a:ea typeface="標楷體" pitchFamily="65" charset="-120"/>
                          <a:cs typeface="Arial"/>
                          <a:sym typeface="Arial"/>
                        </a:rPr>
                        <a:t>不斷</a:t>
                      </a:r>
                      <a:r>
                        <a:rPr lang="zh-TW" altLang="en-US" sz="1800" b="0" i="0" u="none" strike="noStrike" cap="none" dirty="0">
                          <a:solidFill>
                            <a:srgbClr val="FF0000"/>
                          </a:solidFill>
                          <a:latin typeface="標楷體" pitchFamily="65" charset="-120"/>
                          <a:ea typeface="標楷體" pitchFamily="65" charset="-120"/>
                          <a:cs typeface="Arial"/>
                          <a:sym typeface="Arial"/>
                        </a:rPr>
                        <a:t>提升，環境</a:t>
                      </a:r>
                      <a:r>
                        <a:rPr lang="zh-TW" altLang="en-US" sz="1800" b="0" i="0" u="none" strike="noStrike" cap="none" dirty="0">
                          <a:solidFill>
                            <a:schemeClr val="tx1"/>
                          </a:solidFill>
                          <a:latin typeface="標楷體" pitchFamily="65" charset="-120"/>
                          <a:ea typeface="標楷體" pitchFamily="65" charset="-120"/>
                          <a:cs typeface="Arial"/>
                          <a:sym typeface="Arial"/>
                        </a:rPr>
                        <a:t>公害</a:t>
                      </a:r>
                      <a:r>
                        <a:rPr lang="zh-TW" altLang="en-US" sz="1800" b="0" i="0" u="none" strike="noStrike" cap="none" dirty="0">
                          <a:solidFill>
                            <a:srgbClr val="FF0000"/>
                          </a:solidFill>
                          <a:latin typeface="標楷體" pitchFamily="65" charset="-120"/>
                          <a:ea typeface="標楷體" pitchFamily="65" charset="-120"/>
                          <a:cs typeface="Arial"/>
                          <a:sym typeface="Arial"/>
                        </a:rPr>
                        <a:t>受</a:t>
                      </a:r>
                      <a:r>
                        <a:rPr lang="zh-TW" altLang="en-US" sz="1800" b="0" i="0" u="none" strike="noStrike" cap="none" dirty="0">
                          <a:solidFill>
                            <a:schemeClr val="tx1"/>
                          </a:solidFill>
                          <a:latin typeface="標楷體" pitchFamily="65" charset="-120"/>
                          <a:ea typeface="標楷體" pitchFamily="65" charset="-120"/>
                          <a:cs typeface="Arial"/>
                          <a:sym typeface="Arial"/>
                        </a:rPr>
                        <a:t>到</a:t>
                      </a:r>
                      <a:r>
                        <a:rPr lang="zh-TW" altLang="en-US" sz="1800" b="0" i="0" u="none" strike="noStrike" cap="none" dirty="0">
                          <a:solidFill>
                            <a:srgbClr val="FF0000"/>
                          </a:solidFill>
                          <a:latin typeface="標楷體" pitchFamily="65" charset="-120"/>
                          <a:ea typeface="標楷體" pitchFamily="65" charset="-120"/>
                          <a:cs typeface="Arial"/>
                          <a:sym typeface="Arial"/>
                        </a:rPr>
                        <a:t>重視</a:t>
                      </a:r>
                      <a:r>
                        <a:rPr lang="zh-TW" altLang="en-US" sz="1800" b="0" i="0" u="none" strike="noStrike" cap="none" dirty="0">
                          <a:solidFill>
                            <a:schemeClr val="tx1"/>
                          </a:solidFill>
                          <a:latin typeface="標楷體" pitchFamily="65" charset="-120"/>
                          <a:ea typeface="標楷體" pitchFamily="65" charset="-120"/>
                          <a:cs typeface="Arial"/>
                          <a:sym typeface="Arial"/>
                        </a:rPr>
                        <a:t>，工業生產</a:t>
                      </a:r>
                      <a:r>
                        <a:rPr lang="zh-TW" altLang="en-US" sz="1800" b="0" i="0" u="none" strike="noStrike" cap="none" dirty="0">
                          <a:solidFill>
                            <a:srgbClr val="FF0000"/>
                          </a:solidFill>
                          <a:latin typeface="標楷體" pitchFamily="65" charset="-120"/>
                          <a:ea typeface="標楷體" pitchFamily="65" charset="-120"/>
                          <a:cs typeface="Arial"/>
                          <a:sym typeface="Arial"/>
                        </a:rPr>
                        <a:t>成本提升</a:t>
                      </a:r>
                      <a:r>
                        <a:rPr lang="zh-TW" altLang="en-US" sz="1800" b="0" i="0" u="none" strike="noStrike" cap="none" dirty="0">
                          <a:solidFill>
                            <a:schemeClr val="tx1"/>
                          </a:solidFill>
                          <a:latin typeface="標楷體" pitchFamily="65" charset="-120"/>
                          <a:ea typeface="標楷體" pitchFamily="65" charset="-120"/>
                          <a:cs typeface="Arial"/>
                          <a:sym typeface="Arial"/>
                        </a:rPr>
                        <a:t>，經濟</a:t>
                      </a:r>
                      <a:r>
                        <a:rPr lang="zh-TW" altLang="en-US" sz="1800" b="0" i="0" u="none" strike="noStrike" cap="none" dirty="0">
                          <a:solidFill>
                            <a:srgbClr val="FF0000"/>
                          </a:solidFill>
                          <a:latin typeface="標楷體" pitchFamily="65" charset="-120"/>
                          <a:ea typeface="標楷體" pitchFamily="65" charset="-120"/>
                          <a:cs typeface="Arial"/>
                          <a:sym typeface="Arial"/>
                        </a:rPr>
                        <a:t>成長速度趨緩</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a:t>
                      </a:r>
                      <a:r>
                        <a:rPr lang="zh-TW" altLang="en-US" sz="1800" b="0" i="0" u="none" strike="noStrike" cap="none" dirty="0">
                          <a:solidFill>
                            <a:srgbClr val="FF0000"/>
                          </a:solidFill>
                          <a:latin typeface="標楷體" pitchFamily="65" charset="-120"/>
                          <a:ea typeface="標楷體" pitchFamily="65" charset="-120"/>
                          <a:cs typeface="Arial"/>
                          <a:sym typeface="Arial"/>
                        </a:rPr>
                        <a:t>長期對美國貿易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，造成貿易摩擦，</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使日圓</a:t>
                      </a:r>
                      <a:r>
                        <a:rPr lang="zh-TW" altLang="en-US" sz="1800" b="0" i="0" u="none" strike="noStrike" cap="none" dirty="0">
                          <a:solidFill>
                            <a:srgbClr val="FF0000"/>
                          </a:solidFill>
                          <a:latin typeface="標楷體" pitchFamily="65" charset="-120"/>
                          <a:ea typeface="標楷體" pitchFamily="65" charset="-120"/>
                          <a:cs typeface="Arial"/>
                          <a:sym typeface="Arial"/>
                        </a:rPr>
                        <a:t>被迫</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出口重挫</a:t>
                      </a:r>
                      <a:r>
                        <a:rPr lang="zh-TW" altLang="en-US" sz="1800" b="0" i="0" u="none" strike="noStrike" cap="none" dirty="0">
                          <a:solidFill>
                            <a:schemeClr val="tx1"/>
                          </a:solidFill>
                          <a:latin typeface="標楷體" pitchFamily="65" charset="-120"/>
                          <a:ea typeface="標楷體" pitchFamily="65" charset="-120"/>
                          <a:cs typeface="Arial"/>
                          <a:sym typeface="Arial"/>
                        </a:rPr>
                        <a:t>，國內</a:t>
                      </a:r>
                      <a:r>
                        <a:rPr lang="zh-TW" altLang="en-US" sz="1800" b="0" i="0" u="none" strike="noStrike" cap="none" dirty="0">
                          <a:solidFill>
                            <a:srgbClr val="FF0000"/>
                          </a:solidFill>
                          <a:latin typeface="標楷體" pitchFamily="65" charset="-120"/>
                          <a:ea typeface="標楷體" pitchFamily="65" charset="-120"/>
                          <a:cs typeface="Arial"/>
                          <a:sym typeface="Arial"/>
                        </a:rPr>
                        <a:t>經濟轉以內需為主</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經濟持續低迷，轉而</a:t>
                      </a:r>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矩形 9"/>
          <p:cNvSpPr>
            <a:spLocks noChangeArrowheads="1"/>
          </p:cNvSpPr>
          <p:nvPr/>
        </p:nvSpPr>
        <p:spPr bwMode="auto">
          <a:xfrm>
            <a:off x="4883181" y="5298050"/>
            <a:ext cx="716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順差</a:t>
            </a:r>
          </a:p>
        </p:txBody>
      </p:sp>
      <p:sp>
        <p:nvSpPr>
          <p:cNvPr id="11" name="矩形 10"/>
          <p:cNvSpPr>
            <a:spLocks noChangeArrowheads="1"/>
          </p:cNvSpPr>
          <p:nvPr/>
        </p:nvSpPr>
        <p:spPr bwMode="auto">
          <a:xfrm>
            <a:off x="3587037" y="5559680"/>
            <a:ext cx="792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升值</a:t>
            </a:r>
          </a:p>
        </p:txBody>
      </p:sp>
      <p:sp>
        <p:nvSpPr>
          <p:cNvPr id="12" name="矩形 11"/>
          <p:cNvSpPr>
            <a:spLocks noChangeArrowheads="1"/>
          </p:cNvSpPr>
          <p:nvPr/>
        </p:nvSpPr>
        <p:spPr bwMode="auto">
          <a:xfrm>
            <a:off x="3226997" y="5857103"/>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
        <p:nvSpPr>
          <p:cNvPr id="13" name="矩形 12"/>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Tree>
    <p:extLst>
      <p:ext uri="{BB962C8B-B14F-4D97-AF65-F5344CB8AC3E}">
        <p14:creationId xmlns:p14="http://schemas.microsoft.com/office/powerpoint/2010/main" val="195651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611380" y="1340768"/>
            <a:ext cx="8199959" cy="6480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fontAlgn="base">
              <a:spcBef>
                <a:spcPct val="0"/>
              </a:spcBef>
              <a:spcAft>
                <a:spcPct val="0"/>
              </a:spcAft>
              <a:buClrTx/>
              <a:buSzTx/>
            </a:pPr>
            <a:endParaRPr lang="en-US" altLang="zh-TW" sz="3200" dirty="0">
              <a:solidFill>
                <a:schemeClr val="bg2">
                  <a:lumMod val="75000"/>
                </a:schemeClr>
              </a:solidFill>
              <a:latin typeface="標楷體" pitchFamily="65" charset="-120"/>
              <a:ea typeface="標楷體" pitchFamily="65" charset="-120"/>
            </a:endParaRPr>
          </a:p>
          <a:p>
            <a:pPr fontAlgn="base">
              <a:spcBef>
                <a:spcPct val="0"/>
              </a:spcBef>
              <a:spcAft>
                <a:spcPct val="0"/>
              </a:spcAft>
              <a:buClrTx/>
              <a:buSzTx/>
            </a:pPr>
            <a:r>
              <a:rPr lang="zh-TW" altLang="en-US" sz="3200" dirty="0">
                <a:solidFill>
                  <a:schemeClr val="bg2">
                    <a:lumMod val="75000"/>
                  </a:schemeClr>
                </a:solidFill>
                <a:latin typeface="標楷體" pitchFamily="65" charset="-120"/>
                <a:ea typeface="標楷體" pitchFamily="65" charset="-120"/>
              </a:rPr>
              <a:t>日本</a:t>
            </a:r>
            <a:r>
              <a:rPr lang="zh-TW" altLang="en-US" sz="3200" dirty="0">
                <a:solidFill>
                  <a:srgbClr val="FF0000"/>
                </a:solidFill>
                <a:latin typeface="標楷體" pitchFamily="65" charset="-120"/>
                <a:ea typeface="標楷體" pitchFamily="65" charset="-120"/>
              </a:rPr>
              <a:t>泡沫經濟</a:t>
            </a:r>
            <a:r>
              <a:rPr lang="zh-TW" altLang="en-US" sz="3200" dirty="0">
                <a:solidFill>
                  <a:schemeClr val="bg2">
                    <a:lumMod val="75000"/>
                  </a:schemeClr>
                </a:solidFill>
                <a:latin typeface="標楷體" pitchFamily="65" charset="-120"/>
                <a:ea typeface="標楷體" pitchFamily="65" charset="-120"/>
              </a:rPr>
              <a:t>（</a:t>
            </a:r>
            <a:r>
              <a:rPr lang="en-US" altLang="zh-TW" sz="3200" dirty="0">
                <a:solidFill>
                  <a:schemeClr val="bg2">
                    <a:lumMod val="75000"/>
                  </a:schemeClr>
                </a:solidFill>
                <a:latin typeface="標楷體" pitchFamily="65" charset="-120"/>
                <a:ea typeface="標楷體" pitchFamily="65" charset="-120"/>
              </a:rPr>
              <a:t>1986 </a:t>
            </a:r>
            <a:r>
              <a:rPr lang="zh-TW" altLang="en-US" sz="3200" dirty="0">
                <a:solidFill>
                  <a:schemeClr val="bg2">
                    <a:lumMod val="75000"/>
                  </a:schemeClr>
                </a:solidFill>
                <a:latin typeface="標楷體" pitchFamily="65" charset="-120"/>
                <a:ea typeface="標楷體" pitchFamily="65" charset="-120"/>
              </a:rPr>
              <a:t>～ </a:t>
            </a:r>
            <a:r>
              <a:rPr lang="en-US" altLang="zh-TW" sz="3200" dirty="0">
                <a:solidFill>
                  <a:schemeClr val="bg2">
                    <a:lumMod val="75000"/>
                  </a:schemeClr>
                </a:solidFill>
                <a:latin typeface="標楷體" pitchFamily="65" charset="-120"/>
                <a:ea typeface="標楷體" pitchFamily="65" charset="-120"/>
              </a:rPr>
              <a:t>1991 </a:t>
            </a:r>
            <a:r>
              <a:rPr lang="zh-TW" altLang="en-US" sz="3200" dirty="0">
                <a:solidFill>
                  <a:schemeClr val="bg2">
                    <a:lumMod val="75000"/>
                  </a:schemeClr>
                </a:solidFill>
                <a:latin typeface="標楷體" pitchFamily="65" charset="-120"/>
                <a:ea typeface="標楷體" pitchFamily="65" charset="-120"/>
              </a:rPr>
              <a:t>年）</a:t>
            </a:r>
            <a:endParaRPr lang="en-US" altLang="zh-TW" sz="3200" dirty="0">
              <a:solidFill>
                <a:schemeClr val="bg2">
                  <a:lumMod val="75000"/>
                </a:schemeClr>
              </a:solidFill>
              <a:latin typeface="標楷體" pitchFamily="65" charset="-120"/>
              <a:ea typeface="標楷體" pitchFamily="65" charset="-120"/>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696" y="260648"/>
            <a:ext cx="2464875" cy="605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a:xfrm>
            <a:off x="523516" y="3338806"/>
            <a:ext cx="7955162" cy="178847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3200" kern="1200" dirty="0">
                <a:solidFill>
                  <a:schemeClr val="tx1"/>
                </a:solidFill>
                <a:latin typeface="標楷體" pitchFamily="65" charset="-120"/>
                <a:ea typeface="標楷體" pitchFamily="65" charset="-120"/>
                <a:cs typeface="+mj-cs"/>
              </a:rPr>
              <a:t>    因廣場協議</a:t>
            </a:r>
            <a:r>
              <a:rPr lang="zh-TW" altLang="en-US" sz="3200" kern="1200" dirty="0">
                <a:solidFill>
                  <a:srgbClr val="FF0000"/>
                </a:solidFill>
                <a:latin typeface="標楷體" pitchFamily="65" charset="-120"/>
                <a:ea typeface="標楷體" pitchFamily="65" charset="-120"/>
                <a:cs typeface="+mj-cs"/>
              </a:rPr>
              <a:t>日圓被迫升值重創經濟</a:t>
            </a:r>
            <a:r>
              <a:rPr lang="zh-TW" altLang="en-US" sz="3200" kern="1200" dirty="0">
                <a:solidFill>
                  <a:schemeClr val="tx1"/>
                </a:solidFill>
                <a:latin typeface="標楷體" pitchFamily="65" charset="-120"/>
                <a:ea typeface="標楷體" pitchFamily="65" charset="-120"/>
                <a:cs typeface="+mj-cs"/>
              </a:rPr>
              <a:t>，日本政府</a:t>
            </a:r>
            <a:r>
              <a:rPr lang="zh-TW" altLang="en-US" sz="3200" kern="1200" dirty="0">
                <a:solidFill>
                  <a:srgbClr val="FF0000"/>
                </a:solidFill>
                <a:latin typeface="標楷體" pitchFamily="65" charset="-120"/>
                <a:ea typeface="標楷體" pitchFamily="65" charset="-120"/>
                <a:cs typeface="+mj-cs"/>
              </a:rPr>
              <a:t>為振興經濟而調降利率</a:t>
            </a:r>
            <a:r>
              <a:rPr lang="zh-TW" altLang="en-US" sz="3200" kern="1200" dirty="0">
                <a:solidFill>
                  <a:schemeClr val="tx1"/>
                </a:solidFill>
                <a:latin typeface="標楷體" pitchFamily="65" charset="-120"/>
                <a:ea typeface="標楷體" pitchFamily="65" charset="-120"/>
                <a:cs typeface="+mj-cs"/>
              </a:rPr>
              <a:t>，產生大量</a:t>
            </a:r>
            <a:r>
              <a:rPr lang="zh-TW" altLang="en-US" sz="3200" kern="1200" dirty="0">
                <a:solidFill>
                  <a:srgbClr val="FF0000"/>
                </a:solidFill>
                <a:latin typeface="標楷體" pitchFamily="65" charset="-120"/>
                <a:ea typeface="標楷體" pitchFamily="65" charset="-120"/>
                <a:cs typeface="+mj-cs"/>
              </a:rPr>
              <a:t>資金流入股市、房地產</a:t>
            </a:r>
            <a:r>
              <a:rPr lang="zh-TW" altLang="en-US" sz="3200" kern="1200" dirty="0">
                <a:solidFill>
                  <a:schemeClr val="tx1"/>
                </a:solidFill>
                <a:latin typeface="標楷體" pitchFamily="65" charset="-120"/>
                <a:ea typeface="標楷體" pitchFamily="65" charset="-120"/>
                <a:cs typeface="+mj-cs"/>
              </a:rPr>
              <a:t>。</a:t>
            </a:r>
            <a:endParaRPr lang="en-US" altLang="zh-TW" sz="3200" kern="1200" dirty="0">
              <a:solidFill>
                <a:schemeClr val="tx1"/>
              </a:solidFill>
              <a:latin typeface="標楷體" pitchFamily="65" charset="-120"/>
              <a:ea typeface="標楷體" pitchFamily="65" charset="-120"/>
              <a:cs typeface="+mj-cs"/>
            </a:endParaRPr>
          </a:p>
          <a:p>
            <a:r>
              <a:rPr lang="zh-TW" altLang="en-US" sz="3200" kern="1200" dirty="0">
                <a:solidFill>
                  <a:schemeClr val="tx1"/>
                </a:solidFill>
                <a:latin typeface="標楷體" pitchFamily="65" charset="-120"/>
                <a:ea typeface="標楷體" pitchFamily="65" charset="-120"/>
                <a:cs typeface="+mj-cs"/>
              </a:rPr>
              <a:t>因</a:t>
            </a:r>
            <a:r>
              <a:rPr lang="zh-TW" altLang="en-US" sz="3200" kern="1200" dirty="0">
                <a:solidFill>
                  <a:srgbClr val="FF0000"/>
                </a:solidFill>
                <a:latin typeface="標楷體" pitchFamily="65" charset="-120"/>
                <a:ea typeface="標楷體" pitchFamily="65" charset="-120"/>
                <a:cs typeface="+mj-cs"/>
              </a:rPr>
              <a:t>投機</a:t>
            </a:r>
            <a:r>
              <a:rPr lang="zh-TW" altLang="en-US" sz="3200" kern="1200" dirty="0">
                <a:solidFill>
                  <a:schemeClr val="tx1"/>
                </a:solidFill>
                <a:latin typeface="標楷體" pitchFamily="65" charset="-120"/>
                <a:ea typeface="標楷體" pitchFamily="65" charset="-120"/>
                <a:cs typeface="+mj-cs"/>
              </a:rPr>
              <a:t>行為</a:t>
            </a:r>
            <a:r>
              <a:rPr lang="zh-TW" altLang="en-US" sz="3200" kern="1200" dirty="0">
                <a:solidFill>
                  <a:srgbClr val="FF0000"/>
                </a:solidFill>
                <a:latin typeface="標楷體" pitchFamily="65" charset="-120"/>
                <a:ea typeface="標楷體" pitchFamily="65" charset="-120"/>
                <a:cs typeface="+mj-cs"/>
              </a:rPr>
              <a:t>形成的經濟蓬勃</a:t>
            </a:r>
            <a:r>
              <a:rPr lang="zh-TW" altLang="en-US" sz="3200" kern="1200" dirty="0">
                <a:solidFill>
                  <a:schemeClr val="tx1"/>
                </a:solidFill>
                <a:latin typeface="標楷體" pitchFamily="65" charset="-120"/>
                <a:ea typeface="標楷體" pitchFamily="65" charset="-120"/>
                <a:cs typeface="+mj-cs"/>
              </a:rPr>
              <a:t>現象</a:t>
            </a:r>
            <a:r>
              <a:rPr lang="zh-TW" altLang="en-US" sz="3200" kern="1200" dirty="0">
                <a:solidFill>
                  <a:srgbClr val="FF0000"/>
                </a:solidFill>
                <a:latin typeface="標楷體" pitchFamily="65" charset="-120"/>
                <a:ea typeface="標楷體" pitchFamily="65" charset="-120"/>
                <a:cs typeface="+mj-cs"/>
              </a:rPr>
              <a:t>缺乏實體經濟的支撐</a:t>
            </a:r>
            <a:r>
              <a:rPr lang="zh-TW" altLang="en-US" sz="3200" kern="1200" dirty="0">
                <a:solidFill>
                  <a:schemeClr val="tx1"/>
                </a:solidFill>
                <a:latin typeface="標楷體" pitchFamily="65" charset="-120"/>
                <a:ea typeface="標楷體" pitchFamily="65" charset="-120"/>
                <a:cs typeface="+mj-cs"/>
              </a:rPr>
              <a:t>，因此極易幻滅損及本體經濟。</a:t>
            </a:r>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26</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523516" y="226250"/>
            <a:ext cx="12330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 205</a:t>
            </a:r>
            <a:endParaRPr lang="zh-TW" altLang="en-US" b="0" dirty="0"/>
          </a:p>
        </p:txBody>
      </p:sp>
    </p:spTree>
    <p:extLst>
      <p:ext uri="{BB962C8B-B14F-4D97-AF65-F5344CB8AC3E}">
        <p14:creationId xmlns:p14="http://schemas.microsoft.com/office/powerpoint/2010/main" val="131242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17470" y="4691774"/>
            <a:ext cx="7772400" cy="1362075"/>
          </a:xfrm>
        </p:spPr>
        <p:txBody>
          <a:bodyPr/>
          <a:lstStyle/>
          <a:p>
            <a:endParaRPr lang="zh-TW" altLang="en-US"/>
          </a:p>
        </p:txBody>
      </p:sp>
      <p:sp>
        <p:nvSpPr>
          <p:cNvPr id="3" name="文字版面配置區 2"/>
          <p:cNvSpPr>
            <a:spLocks noGrp="1"/>
          </p:cNvSpPr>
          <p:nvPr>
            <p:ph type="body" idx="1"/>
          </p:nvPr>
        </p:nvSpPr>
        <p:spPr>
          <a:xfrm>
            <a:off x="817470" y="319158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1670" y="188640"/>
            <a:ext cx="9144000"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一、工業的轉型與升級</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9" name="Group 47"/>
          <p:cNvGraphicFramePr>
            <a:graphicFrameLocks noGrp="1"/>
          </p:cNvGraphicFramePr>
          <p:nvPr/>
        </p:nvGraphicFramePr>
        <p:xfrm>
          <a:off x="202661" y="977570"/>
          <a:ext cx="8941339" cy="2913422"/>
        </p:xfrm>
        <a:graphic>
          <a:graphicData uri="http://schemas.openxmlformats.org/drawingml/2006/table">
            <a:tbl>
              <a:tblPr/>
              <a:tblGrid>
                <a:gridCol w="2088232">
                  <a:extLst>
                    <a:ext uri="{9D8B030D-6E8A-4147-A177-3AD203B41FA5}">
                      <a16:colId xmlns:a16="http://schemas.microsoft.com/office/drawing/2014/main" val="20000"/>
                    </a:ext>
                  </a:extLst>
                </a:gridCol>
                <a:gridCol w="6853107">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日本現代化的腳步較早，工業及人力水準高，成為美國外移勞力密集產業的主要承接者，產品出口美國得以賺取大量外匯</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韓戰期間，更因生產美軍軍需而獲得部分工業技術</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出口累積大量外匯成為產業升級的資本，政府政策轉向發展鋼鐵、造船、電機為主的重化工業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自給外亦大量出口，同一時期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27</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nvGraphicFramePr>
        <p:xfrm>
          <a:off x="202661" y="3929898"/>
          <a:ext cx="8928992" cy="2852896"/>
        </p:xfrm>
        <a:graphic>
          <a:graphicData uri="http://schemas.openxmlformats.org/drawingml/2006/table">
            <a:tbl>
              <a:tblPr/>
              <a:tblGrid>
                <a:gridCol w="2088232">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重化工業高度仰賴石油，在油價暴漲後，日本出現戰後首度經濟負成長，因此具低耗能特性的半導體、電子產業急遽成長</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隨著</a:t>
                      </a:r>
                      <a:r>
                        <a:rPr lang="zh-TW" altLang="en-US" sz="1800" b="0" i="0" u="none" strike="noStrike" cap="none" dirty="0">
                          <a:solidFill>
                            <a:srgbClr val="FF0000"/>
                          </a:solidFill>
                          <a:latin typeface="標楷體" pitchFamily="65" charset="-120"/>
                          <a:ea typeface="標楷體" pitchFamily="65" charset="-120"/>
                          <a:cs typeface="Arial"/>
                          <a:sym typeface="Arial"/>
                        </a:rPr>
                        <a:t>工資</a:t>
                      </a:r>
                      <a:r>
                        <a:rPr lang="zh-TW" altLang="en-US" sz="1800" b="0" i="0" u="none" strike="noStrike" cap="none" dirty="0">
                          <a:solidFill>
                            <a:schemeClr val="tx1"/>
                          </a:solidFill>
                          <a:latin typeface="標楷體" pitchFamily="65" charset="-120"/>
                          <a:ea typeface="標楷體" pitchFamily="65" charset="-120"/>
                          <a:cs typeface="Arial"/>
                          <a:sym typeface="Arial"/>
                        </a:rPr>
                        <a:t>不斷</a:t>
                      </a:r>
                      <a:r>
                        <a:rPr lang="zh-TW" altLang="en-US" sz="1800" b="0" i="0" u="none" strike="noStrike" cap="none" dirty="0">
                          <a:solidFill>
                            <a:srgbClr val="FF0000"/>
                          </a:solidFill>
                          <a:latin typeface="標楷體" pitchFamily="65" charset="-120"/>
                          <a:ea typeface="標楷體" pitchFamily="65" charset="-120"/>
                          <a:cs typeface="Arial"/>
                          <a:sym typeface="Arial"/>
                        </a:rPr>
                        <a:t>提升，環境</a:t>
                      </a:r>
                      <a:r>
                        <a:rPr lang="zh-TW" altLang="en-US" sz="1800" b="0" i="0" u="none" strike="noStrike" cap="none" dirty="0">
                          <a:solidFill>
                            <a:schemeClr val="tx1"/>
                          </a:solidFill>
                          <a:latin typeface="標楷體" pitchFamily="65" charset="-120"/>
                          <a:ea typeface="標楷體" pitchFamily="65" charset="-120"/>
                          <a:cs typeface="Arial"/>
                          <a:sym typeface="Arial"/>
                        </a:rPr>
                        <a:t>公害</a:t>
                      </a:r>
                      <a:r>
                        <a:rPr lang="zh-TW" altLang="en-US" sz="1800" b="0" i="0" u="none" strike="noStrike" cap="none" dirty="0">
                          <a:solidFill>
                            <a:srgbClr val="FF0000"/>
                          </a:solidFill>
                          <a:latin typeface="標楷體" pitchFamily="65" charset="-120"/>
                          <a:ea typeface="標楷體" pitchFamily="65" charset="-120"/>
                          <a:cs typeface="Arial"/>
                          <a:sym typeface="Arial"/>
                        </a:rPr>
                        <a:t>受</a:t>
                      </a:r>
                      <a:r>
                        <a:rPr lang="zh-TW" altLang="en-US" sz="1800" b="0" i="0" u="none" strike="noStrike" cap="none" dirty="0">
                          <a:solidFill>
                            <a:schemeClr val="tx1"/>
                          </a:solidFill>
                          <a:latin typeface="標楷體" pitchFamily="65" charset="-120"/>
                          <a:ea typeface="標楷體" pitchFamily="65" charset="-120"/>
                          <a:cs typeface="Arial"/>
                          <a:sym typeface="Arial"/>
                        </a:rPr>
                        <a:t>到</a:t>
                      </a:r>
                      <a:r>
                        <a:rPr lang="zh-TW" altLang="en-US" sz="1800" b="0" i="0" u="none" strike="noStrike" cap="none" dirty="0">
                          <a:solidFill>
                            <a:srgbClr val="FF0000"/>
                          </a:solidFill>
                          <a:latin typeface="標楷體" pitchFamily="65" charset="-120"/>
                          <a:ea typeface="標楷體" pitchFamily="65" charset="-120"/>
                          <a:cs typeface="Arial"/>
                          <a:sym typeface="Arial"/>
                        </a:rPr>
                        <a:t>重視</a:t>
                      </a:r>
                      <a:r>
                        <a:rPr lang="zh-TW" altLang="en-US" sz="1800" b="0" i="0" u="none" strike="noStrike" cap="none" dirty="0">
                          <a:solidFill>
                            <a:schemeClr val="tx1"/>
                          </a:solidFill>
                          <a:latin typeface="標楷體" pitchFamily="65" charset="-120"/>
                          <a:ea typeface="標楷體" pitchFamily="65" charset="-120"/>
                          <a:cs typeface="Arial"/>
                          <a:sym typeface="Arial"/>
                        </a:rPr>
                        <a:t>，工業生產</a:t>
                      </a:r>
                      <a:r>
                        <a:rPr lang="zh-TW" altLang="en-US" sz="1800" b="0" i="0" u="none" strike="noStrike" cap="none" dirty="0">
                          <a:solidFill>
                            <a:srgbClr val="FF0000"/>
                          </a:solidFill>
                          <a:latin typeface="標楷體" pitchFamily="65" charset="-120"/>
                          <a:ea typeface="標楷體" pitchFamily="65" charset="-120"/>
                          <a:cs typeface="Arial"/>
                          <a:sym typeface="Arial"/>
                        </a:rPr>
                        <a:t>成本提升</a:t>
                      </a:r>
                      <a:r>
                        <a:rPr lang="zh-TW" altLang="en-US" sz="1800" b="0" i="0" u="none" strike="noStrike" cap="none" dirty="0">
                          <a:solidFill>
                            <a:schemeClr val="tx1"/>
                          </a:solidFill>
                          <a:latin typeface="標楷體" pitchFamily="65" charset="-120"/>
                          <a:ea typeface="標楷體" pitchFamily="65" charset="-120"/>
                          <a:cs typeface="Arial"/>
                          <a:sym typeface="Arial"/>
                        </a:rPr>
                        <a:t>，經濟</a:t>
                      </a:r>
                      <a:r>
                        <a:rPr lang="zh-TW" altLang="en-US" sz="1800" b="0" i="0" u="none" strike="noStrike" cap="none" dirty="0">
                          <a:solidFill>
                            <a:srgbClr val="FF0000"/>
                          </a:solidFill>
                          <a:latin typeface="標楷體" pitchFamily="65" charset="-120"/>
                          <a:ea typeface="標楷體" pitchFamily="65" charset="-120"/>
                          <a:cs typeface="Arial"/>
                          <a:sym typeface="Arial"/>
                        </a:rPr>
                        <a:t>成長速度趨緩</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a:t>
                      </a:r>
                      <a:r>
                        <a:rPr lang="zh-TW" altLang="en-US" sz="1800" b="0" i="0" u="none" strike="noStrike" cap="none" dirty="0">
                          <a:solidFill>
                            <a:srgbClr val="FF0000"/>
                          </a:solidFill>
                          <a:latin typeface="標楷體" pitchFamily="65" charset="-120"/>
                          <a:ea typeface="標楷體" pitchFamily="65" charset="-120"/>
                          <a:cs typeface="Arial"/>
                          <a:sym typeface="Arial"/>
                        </a:rPr>
                        <a:t>長期對美國貿易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，造成貿易摩擦，</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使日圓</a:t>
                      </a:r>
                      <a:r>
                        <a:rPr lang="zh-TW" altLang="en-US" sz="1800" b="0" i="0" u="none" strike="noStrike" cap="none" dirty="0">
                          <a:solidFill>
                            <a:srgbClr val="FF0000"/>
                          </a:solidFill>
                          <a:latin typeface="標楷體" pitchFamily="65" charset="-120"/>
                          <a:ea typeface="標楷體" pitchFamily="65" charset="-120"/>
                          <a:cs typeface="Arial"/>
                          <a:sym typeface="Arial"/>
                        </a:rPr>
                        <a:t>被迫</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出口重挫</a:t>
                      </a:r>
                      <a:r>
                        <a:rPr lang="zh-TW" altLang="en-US" sz="1800" b="0" i="0" u="none" strike="noStrike" cap="none" dirty="0">
                          <a:solidFill>
                            <a:schemeClr val="tx1"/>
                          </a:solidFill>
                          <a:latin typeface="標楷體" pitchFamily="65" charset="-120"/>
                          <a:ea typeface="標楷體" pitchFamily="65" charset="-120"/>
                          <a:cs typeface="Arial"/>
                          <a:sym typeface="Arial"/>
                        </a:rPr>
                        <a:t>，國內</a:t>
                      </a:r>
                      <a:r>
                        <a:rPr lang="zh-TW" altLang="en-US" sz="1800" b="0" i="0" u="none" strike="noStrike" cap="none" dirty="0">
                          <a:solidFill>
                            <a:srgbClr val="FF0000"/>
                          </a:solidFill>
                          <a:latin typeface="標楷體" pitchFamily="65" charset="-120"/>
                          <a:ea typeface="標楷體" pitchFamily="65" charset="-120"/>
                          <a:cs typeface="Arial"/>
                          <a:sym typeface="Arial"/>
                        </a:rPr>
                        <a:t>經濟轉以內需為主</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經濟持續低迷，轉而</a:t>
                      </a:r>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矩形 9"/>
          <p:cNvSpPr>
            <a:spLocks noChangeArrowheads="1"/>
          </p:cNvSpPr>
          <p:nvPr/>
        </p:nvSpPr>
        <p:spPr bwMode="auto">
          <a:xfrm>
            <a:off x="4883181" y="5298050"/>
            <a:ext cx="716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順差</a:t>
            </a:r>
          </a:p>
        </p:txBody>
      </p:sp>
      <p:sp>
        <p:nvSpPr>
          <p:cNvPr id="11" name="矩形 10"/>
          <p:cNvSpPr>
            <a:spLocks noChangeArrowheads="1"/>
          </p:cNvSpPr>
          <p:nvPr/>
        </p:nvSpPr>
        <p:spPr bwMode="auto">
          <a:xfrm>
            <a:off x="3587037" y="5559680"/>
            <a:ext cx="792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升值</a:t>
            </a:r>
          </a:p>
        </p:txBody>
      </p:sp>
      <p:sp>
        <p:nvSpPr>
          <p:cNvPr id="12" name="矩形 11"/>
          <p:cNvSpPr>
            <a:spLocks noChangeArrowheads="1"/>
          </p:cNvSpPr>
          <p:nvPr/>
        </p:nvSpPr>
        <p:spPr bwMode="auto">
          <a:xfrm>
            <a:off x="3226997" y="5857103"/>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
        <p:nvSpPr>
          <p:cNvPr id="13" name="矩形 12"/>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4" name="矩形 13">
            <a:extLst>
              <a:ext uri="{FF2B5EF4-FFF2-40B4-BE49-F238E27FC236}">
                <a16:creationId xmlns:a16="http://schemas.microsoft.com/office/drawing/2014/main" id="{771709AE-430E-4E6B-90F6-FE6CBED3A892}"/>
              </a:ext>
            </a:extLst>
          </p:cNvPr>
          <p:cNvSpPr/>
          <p:nvPr/>
        </p:nvSpPr>
        <p:spPr>
          <a:xfrm>
            <a:off x="202661" y="6226435"/>
            <a:ext cx="6457571" cy="57706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443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475656" y="27856"/>
            <a:ext cx="8149251" cy="43204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4.</a:t>
            </a:r>
            <a:r>
              <a:rPr lang="zh-TW" altLang="en-US" dirty="0">
                <a:solidFill>
                  <a:srgbClr val="FF0000"/>
                </a:solidFill>
                <a:latin typeface="標楷體" pitchFamily="65" charset="-120"/>
                <a:ea typeface="標楷體" pitchFamily="65" charset="-120"/>
              </a:rPr>
              <a:t>臺灣、南韓</a:t>
            </a:r>
            <a:r>
              <a:rPr lang="zh-TW" altLang="en-US" dirty="0">
                <a:latin typeface="標楷體" pitchFamily="65" charset="-120"/>
                <a:ea typeface="標楷體" pitchFamily="65" charset="-120"/>
              </a:rPr>
              <a:t>經濟</a:t>
            </a:r>
            <a:r>
              <a:rPr lang="zh-TW" altLang="en-US" dirty="0">
                <a:solidFill>
                  <a:srgbClr val="FF0000"/>
                </a:solidFill>
                <a:latin typeface="標楷體" pitchFamily="65" charset="-120"/>
                <a:ea typeface="標楷體" pitchFamily="65" charset="-120"/>
              </a:rPr>
              <a:t>轉型歷程</a:t>
            </a:r>
            <a:r>
              <a:rPr lang="zh-TW" altLang="en-US" dirty="0">
                <a:latin typeface="標楷體" pitchFamily="65" charset="-120"/>
                <a:ea typeface="標楷體" pitchFamily="65" charset="-120"/>
              </a:rPr>
              <a:t>：勞力密集型產業轉移。</a:t>
            </a:r>
          </a:p>
        </p:txBody>
      </p:sp>
      <p:graphicFrame>
        <p:nvGraphicFramePr>
          <p:cNvPr id="9" name="Group 47"/>
          <p:cNvGraphicFramePr>
            <a:graphicFrameLocks noGrp="1"/>
          </p:cNvGraphicFramePr>
          <p:nvPr>
            <p:extLst>
              <p:ext uri="{D42A27DB-BD31-4B8C-83A1-F6EECF244321}">
                <p14:modId xmlns:p14="http://schemas.microsoft.com/office/powerpoint/2010/main" val="3750469412"/>
              </p:ext>
            </p:extLst>
          </p:nvPr>
        </p:nvGraphicFramePr>
        <p:xfrm>
          <a:off x="179512" y="560214"/>
          <a:ext cx="8856984" cy="3168650"/>
        </p:xfrm>
        <a:graphic>
          <a:graphicData uri="http://schemas.openxmlformats.org/drawingml/2006/table">
            <a:tbl>
              <a:tblPr/>
              <a:tblGrid>
                <a:gridCol w="1728192">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4103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343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1960 </a:t>
                      </a:r>
                      <a:r>
                        <a:rPr lang="zh-TW" altLang="en-US" sz="20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（接受日本</a:t>
                      </a:r>
                      <a:r>
                        <a:rPr lang="zh-TW" altLang="en-US" sz="2000" b="0" i="0" u="none" strike="noStrike" cap="none" dirty="0">
                          <a:solidFill>
                            <a:srgbClr val="FF0000"/>
                          </a:solidFill>
                          <a:highlight>
                            <a:srgbClr val="FFFF00"/>
                          </a:highlight>
                          <a:latin typeface="標楷體" pitchFamily="65" charset="-120"/>
                          <a:ea typeface="標楷體" pitchFamily="65" charset="-120"/>
                          <a:cs typeface="Arial"/>
                          <a:sym typeface="Arial"/>
                        </a:rPr>
                        <a:t>勞力密集型</a:t>
                      </a:r>
                      <a:r>
                        <a:rPr lang="zh-TW" altLang="en-US" sz="2000" b="0" i="0" u="none" strike="noStrike" cap="none" dirty="0">
                          <a:solidFill>
                            <a:srgbClr val="FF0000"/>
                          </a:solidFill>
                          <a:latin typeface="標楷體" pitchFamily="65" charset="-120"/>
                          <a:ea typeface="標楷體" pitchFamily="65" charset="-120"/>
                          <a:cs typeface="Arial"/>
                          <a:sym typeface="Arial"/>
                        </a:rPr>
                        <a:t>產業</a:t>
                      </a:r>
                      <a:r>
                        <a:rPr lang="zh-TW" altLang="en-US" sz="2000" b="0" i="0" u="none" strike="noStrike" cap="none" dirty="0">
                          <a:solidFill>
                            <a:schemeClr val="tx1"/>
                          </a:solidFill>
                          <a:latin typeface="標楷體" pitchFamily="65" charset="-120"/>
                          <a:ea typeface="標楷體" pitchFamily="65" charset="-120"/>
                          <a:cs typeface="Arial"/>
                          <a:sym typeface="Arial"/>
                        </a:rPr>
                        <a:t>空間移轉）</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重點產業：勞力密集型產業</a:t>
                      </a:r>
                    </a:p>
                    <a:p>
                      <a:r>
                        <a:rPr lang="zh-TW" altLang="en-US" sz="2000" b="0" i="0" u="none" strike="noStrike" cap="none" dirty="0">
                          <a:solidFill>
                            <a:schemeClr val="tx1"/>
                          </a:solidFill>
                          <a:latin typeface="標楷體" pitchFamily="65" charset="-120"/>
                          <a:ea typeface="標楷體" pitchFamily="65" charset="-120"/>
                          <a:cs typeface="Arial"/>
                          <a:sym typeface="Arial"/>
                        </a:rPr>
                        <a:t>承接日本外移的勞力密集產業，臺灣、南韓政府提出</a:t>
                      </a:r>
                      <a:r>
                        <a:rPr lang="zh-TW" altLang="en-US" sz="2000" b="0" i="0" u="none" strike="noStrike" cap="none" dirty="0">
                          <a:solidFill>
                            <a:srgbClr val="FF0000"/>
                          </a:solidFill>
                          <a:latin typeface="標楷體" pitchFamily="65" charset="-120"/>
                          <a:ea typeface="標楷體" pitchFamily="65" charset="-120"/>
                          <a:cs typeface="Arial"/>
                          <a:sym typeface="Arial"/>
                        </a:rPr>
                        <a:t>優惠政策吸引外資</a:t>
                      </a:r>
                      <a:r>
                        <a:rPr lang="zh-TW" altLang="en-US" sz="2000" b="0" i="0" u="none" strike="noStrike" cap="none" dirty="0">
                          <a:solidFill>
                            <a:schemeClr val="tx1"/>
                          </a:solidFill>
                          <a:latin typeface="標楷體" pitchFamily="65" charset="-120"/>
                          <a:ea typeface="標楷體" pitchFamily="65" charset="-120"/>
                          <a:cs typeface="Arial"/>
                          <a:sym typeface="Arial"/>
                        </a:rPr>
                        <a:t>，使兩國得以</a:t>
                      </a:r>
                      <a:r>
                        <a:rPr lang="zh-TW" altLang="en-US" sz="2000" b="0" i="0" u="none" strike="noStrike" cap="none" dirty="0">
                          <a:solidFill>
                            <a:srgbClr val="FF0000"/>
                          </a:solidFill>
                          <a:latin typeface="標楷體" pitchFamily="65" charset="-120"/>
                          <a:ea typeface="標楷體" pitchFamily="65" charset="-120"/>
                          <a:cs typeface="Arial"/>
                          <a:sym typeface="Arial"/>
                        </a:rPr>
                        <a:t>開始大量出口</a:t>
                      </a:r>
                      <a:r>
                        <a:rPr lang="zh-TW" altLang="en-US" sz="2000" b="0" i="0" u="none" strike="noStrike" cap="none" dirty="0">
                          <a:solidFill>
                            <a:schemeClr val="tx1"/>
                          </a:solidFill>
                          <a:latin typeface="標楷體" pitchFamily="65" charset="-120"/>
                          <a:ea typeface="標楷體" pitchFamily="65" charset="-120"/>
                          <a:cs typeface="Arial"/>
                          <a:sym typeface="Arial"/>
                        </a:rPr>
                        <a:t>換匯，</a:t>
                      </a:r>
                      <a:r>
                        <a:rPr lang="zh-TW" altLang="en-US" sz="2000" b="0" i="0" u="none" strike="noStrike" cap="none" dirty="0">
                          <a:solidFill>
                            <a:srgbClr val="FF0000"/>
                          </a:solidFill>
                          <a:latin typeface="標楷體" pitchFamily="65" charset="-120"/>
                          <a:ea typeface="標楷體" pitchFamily="65" charset="-120"/>
                          <a:cs typeface="Arial"/>
                          <a:sym typeface="Arial"/>
                        </a:rPr>
                        <a:t>經濟開始快速成長</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1970 </a:t>
                      </a:r>
                      <a:r>
                        <a:rPr lang="zh-TW" altLang="en-US" sz="20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（石油危機</a:t>
                      </a:r>
                      <a:r>
                        <a:rPr lang="zh-TW" altLang="en-US" sz="2000" b="0" i="0" u="none" strike="noStrike" cap="none" dirty="0">
                          <a:solidFill>
                            <a:schemeClr val="tx1"/>
                          </a:solidFill>
                          <a:latin typeface="標楷體" pitchFamily="65" charset="-120"/>
                          <a:ea typeface="標楷體" pitchFamily="65" charset="-120"/>
                          <a:cs typeface="Arial"/>
                          <a:sym typeface="Arial"/>
                        </a:rPr>
                        <a:t>：國際原油價格大漲，使全球經濟重創）</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重點產業：</a:t>
                      </a:r>
                      <a:r>
                        <a:rPr lang="zh-TW" altLang="en-US" sz="2000" b="0" i="0" u="none" strike="noStrike" cap="none" dirty="0">
                          <a:solidFill>
                            <a:srgbClr val="FF0000"/>
                          </a:solidFill>
                          <a:highlight>
                            <a:srgbClr val="FFFF00"/>
                          </a:highlight>
                          <a:latin typeface="標楷體" pitchFamily="65" charset="-120"/>
                          <a:ea typeface="標楷體" pitchFamily="65" charset="-120"/>
                          <a:cs typeface="Arial"/>
                          <a:sym typeface="Arial"/>
                        </a:rPr>
                        <a:t>重化工業</a:t>
                      </a:r>
                    </a:p>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全球景氣凍結，減緩了臺灣、南韓的出口買氣，兩國</a:t>
                      </a:r>
                      <a:r>
                        <a:rPr lang="zh-TW" altLang="en-US" sz="2000" b="0" i="0" u="none" strike="noStrike" cap="none" dirty="0">
                          <a:solidFill>
                            <a:srgbClr val="FF0000"/>
                          </a:solidFill>
                          <a:latin typeface="標楷體" pitchFamily="65" charset="-120"/>
                          <a:ea typeface="標楷體" pitchFamily="65" charset="-120"/>
                          <a:cs typeface="Arial"/>
                          <a:sym typeface="Arial"/>
                        </a:rPr>
                        <a:t>承襲日本重化工業</a:t>
                      </a:r>
                      <a:r>
                        <a:rPr lang="zh-TW" altLang="en-US" sz="2000" b="0" i="0" u="none" strike="noStrike" cap="none" dirty="0">
                          <a:solidFill>
                            <a:schemeClr val="tx1"/>
                          </a:solidFill>
                          <a:latin typeface="標楷體" pitchFamily="65" charset="-120"/>
                          <a:ea typeface="標楷體" pitchFamily="65" charset="-120"/>
                          <a:cs typeface="Arial"/>
                          <a:sym typeface="Arial"/>
                        </a:rPr>
                        <a:t>並加強相關投資，</a:t>
                      </a:r>
                      <a:r>
                        <a:rPr lang="zh-TW" altLang="en-US" sz="2000" b="0" i="0" u="none" strike="noStrike" cap="none" dirty="0">
                          <a:solidFill>
                            <a:srgbClr val="FF0000"/>
                          </a:solidFill>
                          <a:latin typeface="標楷體" pitchFamily="65" charset="-120"/>
                          <a:ea typeface="標楷體" pitchFamily="65" charset="-120"/>
                          <a:cs typeface="Arial"/>
                          <a:sym typeface="Arial"/>
                        </a:rPr>
                        <a:t>讓國內生產材料得以自給</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擴大內需，刺激經濟，產業升級，鋼鐵、造船產業日漸</a:t>
                      </a:r>
                      <a:r>
                        <a:rPr lang="zh-TW" altLang="en-US" sz="2000" b="0" i="0" u="none" strike="noStrike" cap="none" dirty="0">
                          <a:solidFill>
                            <a:srgbClr val="FF0000"/>
                          </a:solidFill>
                          <a:latin typeface="標楷體" pitchFamily="65" charset="-120"/>
                          <a:ea typeface="標楷體" pitchFamily="65" charset="-120"/>
                          <a:cs typeface="Arial"/>
                          <a:sym typeface="Arial"/>
                        </a:rPr>
                        <a:t>搶食日本</a:t>
                      </a:r>
                      <a:r>
                        <a:rPr lang="zh-TW" altLang="en-US" sz="2000" b="0" i="0" u="none" strike="noStrike" cap="none" dirty="0">
                          <a:solidFill>
                            <a:schemeClr val="tx1"/>
                          </a:solidFill>
                          <a:latin typeface="標楷體" pitchFamily="65" charset="-120"/>
                          <a:ea typeface="標楷體" pitchFamily="65" charset="-120"/>
                          <a:cs typeface="Arial"/>
                          <a:sym typeface="Arial"/>
                        </a:rPr>
                        <a:t>國際</a:t>
                      </a:r>
                      <a:r>
                        <a:rPr lang="zh-TW" altLang="en-US" sz="2000" b="0" i="0" u="none" strike="noStrike" cap="none" dirty="0">
                          <a:solidFill>
                            <a:srgbClr val="FF0000"/>
                          </a:solidFill>
                          <a:latin typeface="標楷體" pitchFamily="65" charset="-120"/>
                          <a:ea typeface="標楷體" pitchFamily="65" charset="-120"/>
                          <a:cs typeface="Arial"/>
                          <a:sym typeface="Arial"/>
                        </a:rPr>
                        <a:t>出口市場</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28</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extLst>
              <p:ext uri="{D42A27DB-BD31-4B8C-83A1-F6EECF244321}">
                <p14:modId xmlns:p14="http://schemas.microsoft.com/office/powerpoint/2010/main" val="3723528624"/>
              </p:ext>
            </p:extLst>
          </p:nvPr>
        </p:nvGraphicFramePr>
        <p:xfrm>
          <a:off x="179512" y="3717032"/>
          <a:ext cx="8856984" cy="2528193"/>
        </p:xfrm>
        <a:graphic>
          <a:graphicData uri="http://schemas.openxmlformats.org/drawingml/2006/table">
            <a:tbl>
              <a:tblPr/>
              <a:tblGrid>
                <a:gridCol w="1728192">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1342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1980 </a:t>
                      </a:r>
                      <a:r>
                        <a:rPr lang="zh-TW" altLang="en-US" sz="20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重點產業：</a:t>
                      </a:r>
                      <a:r>
                        <a:rPr lang="zh-TW" altLang="en-US" sz="2000" b="0" i="0" u="none" strike="noStrike" cap="none" dirty="0">
                          <a:solidFill>
                            <a:srgbClr val="FF0000"/>
                          </a:solidFill>
                          <a:highlight>
                            <a:srgbClr val="FFFF00"/>
                          </a:highlight>
                          <a:latin typeface="標楷體" pitchFamily="65" charset="-120"/>
                          <a:ea typeface="標楷體" pitchFamily="65" charset="-120"/>
                          <a:cs typeface="Arial"/>
                          <a:sym typeface="Arial"/>
                        </a:rPr>
                        <a:t>高科技</a:t>
                      </a:r>
                      <a:r>
                        <a:rPr lang="zh-TW" altLang="en-US" sz="2000" b="0" i="0" u="none" strike="noStrike" cap="none" dirty="0">
                          <a:solidFill>
                            <a:schemeClr val="tx1"/>
                          </a:solidFill>
                          <a:latin typeface="標楷體" pitchFamily="65" charset="-120"/>
                          <a:ea typeface="標楷體" pitchFamily="65" charset="-120"/>
                          <a:cs typeface="Arial"/>
                          <a:sym typeface="Arial"/>
                        </a:rPr>
                        <a:t>產業</a:t>
                      </a:r>
                    </a:p>
                    <a:p>
                      <a:r>
                        <a:rPr lang="zh-TW" altLang="en-US" sz="2000" b="0" i="0" u="none" strike="noStrike" cap="none" dirty="0">
                          <a:solidFill>
                            <a:schemeClr val="tx1"/>
                          </a:solidFill>
                          <a:latin typeface="標楷體" pitchFamily="65" charset="-120"/>
                          <a:ea typeface="標楷體" pitchFamily="65" charset="-120"/>
                          <a:cs typeface="Arial"/>
                          <a:sym typeface="Arial"/>
                        </a:rPr>
                        <a:t>臺灣、南韓政府調整工業策略，轉而發展高科技產業：</a:t>
                      </a:r>
                    </a:p>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臺</a:t>
                      </a:r>
                      <a:r>
                        <a:rPr lang="zh-TW" altLang="en-US" sz="2000" b="0" i="0" u="none" strike="noStrike" cap="none" dirty="0">
                          <a:solidFill>
                            <a:schemeClr val="tx1"/>
                          </a:solidFill>
                          <a:latin typeface="標楷體" pitchFamily="65" charset="-120"/>
                          <a:ea typeface="標楷體" pitchFamily="65" charset="-120"/>
                          <a:cs typeface="Arial"/>
                          <a:sym typeface="Arial"/>
                        </a:rPr>
                        <a:t>灣建立</a:t>
                      </a:r>
                      <a:r>
                        <a:rPr lang="zh-TW" altLang="en-US" sz="2000" b="0" i="0" u="none" strike="noStrike" cap="none" dirty="0">
                          <a:solidFill>
                            <a:srgbClr val="FF0000"/>
                          </a:solidFill>
                          <a:latin typeface="標楷體" pitchFamily="65" charset="-120"/>
                          <a:ea typeface="標楷體" pitchFamily="65" charset="-120"/>
                          <a:cs typeface="Arial"/>
                          <a:sym typeface="Arial"/>
                        </a:rPr>
                        <a:t>科學工業園區</a:t>
                      </a:r>
                      <a:r>
                        <a:rPr lang="zh-TW" altLang="en-US" sz="2000" b="0" i="0" u="none" strike="noStrike" cap="none" dirty="0">
                          <a:solidFill>
                            <a:schemeClr val="tx1"/>
                          </a:solidFill>
                          <a:latin typeface="標楷體" pitchFamily="65" charset="-120"/>
                          <a:ea typeface="標楷體" pitchFamily="65" charset="-120"/>
                          <a:cs typeface="Arial"/>
                          <a:sym typeface="Arial"/>
                        </a:rPr>
                        <a:t>發展</a:t>
                      </a:r>
                      <a:r>
                        <a:rPr lang="zh-TW" altLang="en-US" sz="2000" b="0" i="0" u="none" strike="noStrike" cap="none" dirty="0">
                          <a:solidFill>
                            <a:srgbClr val="FF0000"/>
                          </a:solidFill>
                          <a:latin typeface="標楷體" pitchFamily="65" charset="-120"/>
                          <a:ea typeface="標楷體" pitchFamily="65" charset="-120"/>
                          <a:cs typeface="Arial"/>
                          <a:sym typeface="Arial"/>
                        </a:rPr>
                        <a:t>半導體</a:t>
                      </a:r>
                      <a:r>
                        <a:rPr lang="zh-TW" altLang="en-US" sz="2000" b="0" i="0" u="none" strike="noStrike" cap="none" dirty="0">
                          <a:solidFill>
                            <a:schemeClr val="tx1"/>
                          </a:solidFill>
                          <a:latin typeface="標楷體" pitchFamily="65" charset="-120"/>
                          <a:ea typeface="標楷體" pitchFamily="65" charset="-120"/>
                          <a:cs typeface="Arial"/>
                          <a:sym typeface="Arial"/>
                        </a:rPr>
                        <a:t>產業聚落</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rgbClr val="FF0000"/>
                          </a:solidFill>
                          <a:latin typeface="標楷體" pitchFamily="65" charset="-120"/>
                          <a:ea typeface="標楷體" pitchFamily="65" charset="-120"/>
                          <a:cs typeface="Arial"/>
                          <a:sym typeface="Arial"/>
                        </a:rPr>
                        <a:t>南韓</a:t>
                      </a:r>
                      <a:r>
                        <a:rPr lang="zh-TW" altLang="en-US" sz="2000" b="0" i="0" u="none" strike="noStrike" cap="none" dirty="0">
                          <a:solidFill>
                            <a:schemeClr val="tx1"/>
                          </a:solidFill>
                          <a:latin typeface="標楷體" pitchFamily="65" charset="-120"/>
                          <a:ea typeface="標楷體" pitchFamily="65" charset="-120"/>
                          <a:cs typeface="Arial"/>
                          <a:sym typeface="Arial"/>
                        </a:rPr>
                        <a:t>透過</a:t>
                      </a:r>
                      <a:r>
                        <a:rPr lang="zh-TW" altLang="en-US" sz="2000" b="0" i="0" u="none" strike="noStrike" cap="none" dirty="0">
                          <a:solidFill>
                            <a:srgbClr val="FF0000"/>
                          </a:solidFill>
                          <a:latin typeface="標楷體" pitchFamily="65" charset="-120"/>
                          <a:ea typeface="標楷體" pitchFamily="65" charset="-120"/>
                          <a:cs typeface="Arial"/>
                          <a:sym typeface="Arial"/>
                        </a:rPr>
                        <a:t>財閥三星集團</a:t>
                      </a:r>
                      <a:r>
                        <a:rPr lang="zh-TW" altLang="en-US" sz="2000" b="0" i="0" u="none" strike="noStrike" cap="none" dirty="0">
                          <a:solidFill>
                            <a:schemeClr val="tx1"/>
                          </a:solidFill>
                          <a:latin typeface="標楷體" pitchFamily="65" charset="-120"/>
                          <a:ea typeface="標楷體" pitchFamily="65" charset="-120"/>
                          <a:cs typeface="Arial"/>
                          <a:sym typeface="Arial"/>
                        </a:rPr>
                        <a:t>逐步展開世界</a:t>
                      </a:r>
                      <a:r>
                        <a:rPr lang="zh-TW" altLang="en-US" sz="2000" b="0" i="0" u="none" strike="noStrike" cap="none" dirty="0">
                          <a:solidFill>
                            <a:srgbClr val="FF0000"/>
                          </a:solidFill>
                          <a:latin typeface="標楷體" pitchFamily="65" charset="-120"/>
                          <a:ea typeface="標楷體" pitchFamily="65" charset="-120"/>
                          <a:cs typeface="Arial"/>
                          <a:sym typeface="Arial"/>
                        </a:rPr>
                        <a:t>電子業</a:t>
                      </a:r>
                      <a:r>
                        <a:rPr lang="zh-TW" altLang="en-US" sz="2000" b="0" i="0" u="none" strike="noStrike" cap="none" dirty="0">
                          <a:solidFill>
                            <a:schemeClr val="tx1"/>
                          </a:solidFill>
                          <a:latin typeface="標楷體" pitchFamily="65" charset="-120"/>
                          <a:ea typeface="標楷體" pitchFamily="65" charset="-120"/>
                          <a:cs typeface="Arial"/>
                          <a:sym typeface="Arial"/>
                        </a:rPr>
                        <a:t>大國的版圖</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553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1990 </a:t>
                      </a:r>
                      <a:r>
                        <a:rPr lang="zh-TW" altLang="en-US" sz="2000" b="0" i="0" u="none" strike="noStrike" cap="none" dirty="0">
                          <a:solidFill>
                            <a:srgbClr val="FF0000"/>
                          </a:solidFill>
                          <a:latin typeface="標楷體" pitchFamily="65" charset="-120"/>
                          <a:ea typeface="標楷體" pitchFamily="65" charset="-120"/>
                          <a:cs typeface="Arial"/>
                          <a:sym typeface="Arial"/>
                        </a:rPr>
                        <a:t>年代∼ </a:t>
                      </a:r>
                      <a:br>
                        <a:rPr lang="zh-TW" altLang="en-US" sz="2000" b="0" i="0" u="none" strike="noStrike" cap="none" dirty="0">
                          <a:solidFill>
                            <a:srgbClr val="FF0000"/>
                          </a:solidFill>
                          <a:latin typeface="標楷體" pitchFamily="65" charset="-120"/>
                          <a:ea typeface="標楷體" pitchFamily="65" charset="-120"/>
                          <a:cs typeface="Arial"/>
                          <a:sym typeface="Arial"/>
                        </a:rPr>
                      </a:br>
                      <a:r>
                        <a:rPr lang="zh-TW" altLang="en-US" sz="2000" b="0" i="0" u="none" strike="noStrike" cap="none" dirty="0">
                          <a:solidFill>
                            <a:srgbClr val="FF0000"/>
                          </a:solidFill>
                          <a:latin typeface="標楷體" pitchFamily="65" charset="-120"/>
                          <a:ea typeface="標楷體" pitchFamily="65" charset="-120"/>
                          <a:cs typeface="Arial"/>
                          <a:sym typeface="Arial"/>
                        </a:rPr>
                        <a:t>（亞洲金融危機）</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製造業</a:t>
                      </a:r>
                      <a:r>
                        <a:rPr lang="zh-TW" altLang="en-US" sz="2000" b="0" i="0" u="none" strike="noStrike" cap="none" dirty="0">
                          <a:solidFill>
                            <a:schemeClr val="tx1"/>
                          </a:solidFill>
                          <a:latin typeface="標楷體" pitchFamily="65" charset="-120"/>
                          <a:ea typeface="標楷體" pitchFamily="65" charset="-120"/>
                          <a:cs typeface="Arial"/>
                          <a:sym typeface="Arial"/>
                        </a:rPr>
                        <a:t>持續</a:t>
                      </a:r>
                      <a:r>
                        <a:rPr lang="zh-TW" altLang="en-US" sz="2000" b="0" i="0" u="none" strike="noStrike" cap="none" dirty="0">
                          <a:solidFill>
                            <a:srgbClr val="FF0000"/>
                          </a:solidFill>
                          <a:latin typeface="標楷體" pitchFamily="65" charset="-120"/>
                          <a:ea typeface="標楷體" pitchFamily="65" charset="-120"/>
                          <a:cs typeface="Arial"/>
                          <a:sym typeface="Arial"/>
                        </a:rPr>
                        <a:t>西進中國，臺灣、南韓</a:t>
                      </a:r>
                      <a:r>
                        <a:rPr lang="zh-TW" altLang="en-US" sz="2000" b="0" i="0" u="none" strike="noStrike" cap="none" dirty="0">
                          <a:solidFill>
                            <a:schemeClr val="tx1"/>
                          </a:solidFill>
                          <a:latin typeface="標楷體" pitchFamily="65" charset="-120"/>
                          <a:ea typeface="標楷體" pitchFamily="65" charset="-120"/>
                          <a:cs typeface="Arial"/>
                          <a:sym typeface="Arial"/>
                        </a:rPr>
                        <a:t>經濟</a:t>
                      </a:r>
                      <a:r>
                        <a:rPr lang="zh-TW" altLang="en-US" sz="2000" b="0" i="0" u="none" strike="noStrike" cap="none" dirty="0">
                          <a:solidFill>
                            <a:srgbClr val="FF0000"/>
                          </a:solidFill>
                          <a:latin typeface="標楷體" pitchFamily="65" charset="-120"/>
                          <a:ea typeface="標楷體" pitchFamily="65" charset="-120"/>
                          <a:cs typeface="Arial"/>
                          <a:sym typeface="Arial"/>
                        </a:rPr>
                        <a:t>成長</a:t>
                      </a:r>
                      <a:r>
                        <a:rPr lang="zh-TW" altLang="en-US" sz="2000" b="0" i="0" u="none" strike="noStrike" cap="none" dirty="0">
                          <a:solidFill>
                            <a:schemeClr val="tx1"/>
                          </a:solidFill>
                          <a:latin typeface="標楷體" pitchFamily="65" charset="-120"/>
                          <a:ea typeface="標楷體" pitchFamily="65" charset="-120"/>
                          <a:cs typeface="Arial"/>
                          <a:sym typeface="Arial"/>
                        </a:rPr>
                        <a:t>明顯</a:t>
                      </a:r>
                      <a:r>
                        <a:rPr lang="zh-TW" altLang="en-US" sz="2000" b="0" i="0" u="none" strike="noStrike" cap="none" dirty="0">
                          <a:solidFill>
                            <a:srgbClr val="FF0000"/>
                          </a:solidFill>
                          <a:latin typeface="標楷體" pitchFamily="65" charset="-120"/>
                          <a:ea typeface="標楷體" pitchFamily="65" charset="-120"/>
                          <a:cs typeface="Arial"/>
                          <a:sym typeface="Arial"/>
                        </a:rPr>
                        <a:t>趨緩</a:t>
                      </a:r>
                    </a:p>
                    <a:p>
                      <a:r>
                        <a:rPr lang="en-US" altLang="zh-TW" sz="2000" b="0" i="0" u="none" strike="noStrike" cap="none" dirty="0">
                          <a:solidFill>
                            <a:schemeClr val="tx1"/>
                          </a:solidFill>
                          <a:latin typeface="標楷體" pitchFamily="65" charset="-120"/>
                          <a:ea typeface="標楷體" pitchFamily="65" charset="-120"/>
                          <a:cs typeface="Arial"/>
                          <a:sym typeface="Arial"/>
                        </a:rPr>
                        <a:t>(</a:t>
                      </a:r>
                      <a:r>
                        <a:rPr lang="en-US" altLang="zh-TW" sz="2000" b="0" i="0" u="none" strike="noStrike" cap="none" dirty="0">
                          <a:solidFill>
                            <a:srgbClr val="FF0000"/>
                          </a:solidFill>
                          <a:latin typeface="標楷體" pitchFamily="65" charset="-120"/>
                          <a:ea typeface="標楷體" pitchFamily="65" charset="-120"/>
                          <a:cs typeface="Arial"/>
                          <a:sym typeface="Arial"/>
                        </a:rPr>
                        <a:t>2)1997</a:t>
                      </a:r>
                      <a:r>
                        <a:rPr lang="zh-TW" altLang="en-US" sz="2000" b="0" i="0" u="none" strike="noStrike" cap="none" dirty="0">
                          <a:solidFill>
                            <a:srgbClr val="FF0000"/>
                          </a:solidFill>
                          <a:latin typeface="標楷體" pitchFamily="65" charset="-120"/>
                          <a:ea typeface="標楷體" pitchFamily="65" charset="-120"/>
                          <a:cs typeface="Arial"/>
                          <a:sym typeface="Arial"/>
                        </a:rPr>
                        <a:t>年亞洲金融危機，南韓財閥倒閉，國家瀕臨破產</a:t>
                      </a:r>
                      <a:r>
                        <a:rPr lang="zh-TW" altLang="en-US" sz="2000" b="0" i="0" u="none" strike="noStrike" cap="none" dirty="0">
                          <a:solidFill>
                            <a:schemeClr val="tx1"/>
                          </a:solidFill>
                          <a:latin typeface="標楷體" pitchFamily="65" charset="-120"/>
                          <a:ea typeface="標楷體" pitchFamily="65" charset="-120"/>
                          <a:cs typeface="Arial"/>
                          <a:sym typeface="Arial"/>
                        </a:rPr>
                        <a:t>，政府</a:t>
                      </a:r>
                      <a:r>
                        <a:rPr lang="zh-TW" altLang="en-US" sz="2000" b="0" i="0" u="none" strike="noStrike" cap="none" dirty="0">
                          <a:solidFill>
                            <a:srgbClr val="FF0000"/>
                          </a:solidFill>
                          <a:latin typeface="標楷體" pitchFamily="65" charset="-120"/>
                          <a:ea typeface="標楷體" pitchFamily="65" charset="-120"/>
                          <a:cs typeface="Arial"/>
                          <a:sym typeface="Arial"/>
                        </a:rPr>
                        <a:t>藉機改革</a:t>
                      </a:r>
                      <a:r>
                        <a:rPr lang="zh-TW" altLang="en-US" sz="2000" b="0" i="0" u="none" strike="noStrike" cap="none" dirty="0">
                          <a:solidFill>
                            <a:schemeClr val="tx1"/>
                          </a:solidFill>
                          <a:latin typeface="標楷體" pitchFamily="65" charset="-120"/>
                          <a:ea typeface="標楷體" pitchFamily="65" charset="-120"/>
                          <a:cs typeface="Arial"/>
                          <a:sym typeface="Arial"/>
                        </a:rPr>
                        <a:t>弊端，重組財閥、改善投資環境，</a:t>
                      </a:r>
                      <a:r>
                        <a:rPr lang="zh-TW" altLang="en-US" sz="2000" b="0" i="0" u="none" strike="noStrike" cap="none" dirty="0">
                          <a:solidFill>
                            <a:srgbClr val="FF0000"/>
                          </a:solidFill>
                          <a:latin typeface="標楷體" pitchFamily="65" charset="-120"/>
                          <a:ea typeface="標楷體" pitchFamily="65" charset="-120"/>
                          <a:cs typeface="Arial"/>
                          <a:sym typeface="Arial"/>
                        </a:rPr>
                        <a:t>經濟成長再創高峰</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矩形 9"/>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p.206</a:t>
            </a:r>
            <a:endParaRPr lang="zh-TW" altLang="en-US" b="0" dirty="0"/>
          </a:p>
        </p:txBody>
      </p:sp>
    </p:spTree>
    <p:extLst>
      <p:ext uri="{BB962C8B-B14F-4D97-AF65-F5344CB8AC3E}">
        <p14:creationId xmlns:p14="http://schemas.microsoft.com/office/powerpoint/2010/main" val="4233014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472020" y="897672"/>
            <a:ext cx="8199959" cy="6480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fontAlgn="base">
              <a:spcBef>
                <a:spcPct val="0"/>
              </a:spcBef>
              <a:spcAft>
                <a:spcPct val="0"/>
              </a:spcAft>
              <a:buClrTx/>
              <a:buSzTx/>
            </a:pPr>
            <a:endParaRPr lang="en-US" altLang="zh-TW" sz="2400" dirty="0">
              <a:solidFill>
                <a:schemeClr val="bg2">
                  <a:lumMod val="75000"/>
                </a:schemeClr>
              </a:solidFill>
              <a:latin typeface="標楷體" pitchFamily="65" charset="-120"/>
              <a:ea typeface="標楷體" pitchFamily="65" charset="-120"/>
            </a:endParaRPr>
          </a:p>
          <a:p>
            <a:pPr fontAlgn="base">
              <a:spcBef>
                <a:spcPct val="0"/>
              </a:spcBef>
              <a:spcAft>
                <a:spcPct val="0"/>
              </a:spcAft>
              <a:buClrTx/>
              <a:buSzTx/>
            </a:pPr>
            <a:r>
              <a:rPr lang="zh-TW" altLang="en-US" sz="2400" dirty="0">
                <a:solidFill>
                  <a:schemeClr val="bg2">
                    <a:lumMod val="75000"/>
                  </a:schemeClr>
                </a:solidFill>
                <a:latin typeface="標楷體" pitchFamily="65" charset="-120"/>
                <a:ea typeface="標楷體" pitchFamily="65" charset="-120"/>
              </a:rPr>
              <a:t>三星共和國？！財閥式經濟的代表</a:t>
            </a:r>
            <a:endParaRPr lang="en-US" altLang="zh-TW" sz="2400" dirty="0">
              <a:solidFill>
                <a:schemeClr val="bg2">
                  <a:lumMod val="75000"/>
                </a:schemeClr>
              </a:solidFill>
              <a:latin typeface="標楷體" pitchFamily="65" charset="-120"/>
              <a:ea typeface="標楷體" pitchFamily="65" charset="-120"/>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696" y="260648"/>
            <a:ext cx="2464875" cy="605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a:xfrm>
            <a:off x="287506" y="1031660"/>
            <a:ext cx="5704667" cy="47313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kern="1200" dirty="0">
                <a:solidFill>
                  <a:schemeClr val="tx1"/>
                </a:solidFill>
                <a:latin typeface="標楷體" pitchFamily="65" charset="-120"/>
                <a:ea typeface="標楷體" pitchFamily="65" charset="-120"/>
                <a:cs typeface="+mj-cs"/>
              </a:rPr>
              <a:t>    東亞為達快速發展，由</a:t>
            </a:r>
            <a:r>
              <a:rPr lang="zh-TW" altLang="en-US" sz="2400" kern="1200" dirty="0">
                <a:solidFill>
                  <a:srgbClr val="FF0000"/>
                </a:solidFill>
                <a:latin typeface="標楷體" pitchFamily="65" charset="-120"/>
                <a:ea typeface="標楷體" pitchFamily="65" charset="-120"/>
                <a:cs typeface="+mj-cs"/>
              </a:rPr>
              <a:t>政府扶植特定企業</a:t>
            </a:r>
            <a:r>
              <a:rPr lang="zh-TW" altLang="en-US" sz="2400" kern="1200" dirty="0">
                <a:solidFill>
                  <a:schemeClr val="tx1"/>
                </a:solidFill>
                <a:latin typeface="標楷體" pitchFamily="65" charset="-120"/>
                <a:ea typeface="標楷體" pitchFamily="65" charset="-120"/>
                <a:cs typeface="+mj-cs"/>
              </a:rPr>
              <a:t>，給予各項資源及政策補助使這些企業得以擴張其規模。企業的成功也帶動國家成長。</a:t>
            </a:r>
            <a:r>
              <a:rPr lang="zh-TW" altLang="en-US" sz="2400" kern="1200" dirty="0">
                <a:solidFill>
                  <a:srgbClr val="FF0000"/>
                </a:solidFill>
                <a:latin typeface="標楷體" pitchFamily="65" charset="-120"/>
                <a:ea typeface="標楷體" pitchFamily="65" charset="-120"/>
                <a:cs typeface="+mj-cs"/>
              </a:rPr>
              <a:t>南韓</a:t>
            </a:r>
            <a:r>
              <a:rPr lang="zh-TW" altLang="en-US" sz="2400" kern="1200" dirty="0">
                <a:solidFill>
                  <a:schemeClr val="tx1"/>
                </a:solidFill>
                <a:latin typeface="標楷體" pitchFamily="65" charset="-120"/>
                <a:ea typeface="標楷體" pitchFamily="65" charset="-120"/>
                <a:cs typeface="+mj-cs"/>
              </a:rPr>
              <a:t>為其中之最，</a:t>
            </a:r>
            <a:r>
              <a:rPr lang="zh-TW" altLang="en-US" sz="2400" kern="1200" dirty="0">
                <a:solidFill>
                  <a:srgbClr val="FF0000"/>
                </a:solidFill>
                <a:latin typeface="標楷體" pitchFamily="65" charset="-120"/>
                <a:ea typeface="標楷體" pitchFamily="65" charset="-120"/>
                <a:cs typeface="+mj-cs"/>
              </a:rPr>
              <a:t>國內最大財閥三星集團</a:t>
            </a:r>
            <a:r>
              <a:rPr lang="zh-TW" altLang="en-US" sz="2400" kern="1200" dirty="0">
                <a:solidFill>
                  <a:schemeClr val="tx1"/>
                </a:solidFill>
                <a:latin typeface="標楷體" pitchFamily="65" charset="-120"/>
                <a:ea typeface="標楷體" pitchFamily="65" charset="-120"/>
                <a:cs typeface="+mj-cs"/>
              </a:rPr>
              <a:t>旗下跨足各行各業，總</a:t>
            </a:r>
            <a:r>
              <a:rPr lang="zh-TW" altLang="en-US" sz="2400" kern="1200" dirty="0">
                <a:solidFill>
                  <a:srgbClr val="FF0000"/>
                </a:solidFill>
                <a:latin typeface="標楷體" pitchFamily="65" charset="-120"/>
                <a:ea typeface="標楷體" pitchFamily="65" charset="-120"/>
                <a:cs typeface="+mj-cs"/>
              </a:rPr>
              <a:t>產值占南韓 </a:t>
            </a:r>
            <a:r>
              <a:rPr lang="en-US" altLang="zh-TW" sz="2400" kern="1200" dirty="0">
                <a:solidFill>
                  <a:srgbClr val="FF0000"/>
                </a:solidFill>
                <a:latin typeface="標楷體" pitchFamily="65" charset="-120"/>
                <a:ea typeface="標楷體" pitchFamily="65" charset="-120"/>
                <a:cs typeface="+mj-cs"/>
              </a:rPr>
              <a:t>GDP </a:t>
            </a:r>
            <a:r>
              <a:rPr lang="zh-TW" altLang="en-US" sz="2400" kern="1200" dirty="0">
                <a:solidFill>
                  <a:srgbClr val="FF0000"/>
                </a:solidFill>
                <a:latin typeface="標楷體" pitchFamily="65" charset="-120"/>
                <a:ea typeface="標楷體" pitchFamily="65" charset="-120"/>
                <a:cs typeface="+mj-cs"/>
              </a:rPr>
              <a:t>的 </a:t>
            </a:r>
            <a:r>
              <a:rPr lang="en-US" altLang="zh-TW" sz="2400" kern="1200" dirty="0">
                <a:solidFill>
                  <a:srgbClr val="FF0000"/>
                </a:solidFill>
                <a:latin typeface="標楷體" pitchFamily="65" charset="-120"/>
                <a:ea typeface="標楷體" pitchFamily="65" charset="-120"/>
                <a:cs typeface="+mj-cs"/>
              </a:rPr>
              <a:t>21.9 %</a:t>
            </a:r>
            <a:r>
              <a:rPr lang="zh-TW" altLang="en-US" sz="2400" kern="1200" dirty="0">
                <a:solidFill>
                  <a:schemeClr val="tx1"/>
                </a:solidFill>
                <a:latin typeface="標楷體" pitchFamily="65" charset="-120"/>
                <a:ea typeface="標楷體" pitchFamily="65" charset="-120"/>
                <a:cs typeface="+mj-cs"/>
              </a:rPr>
              <a:t>，幾乎主宰南韓經濟動脈，而</a:t>
            </a:r>
            <a:r>
              <a:rPr lang="zh-TW" altLang="en-US" sz="2400" kern="1200" dirty="0">
                <a:solidFill>
                  <a:srgbClr val="FF0000"/>
                </a:solidFill>
                <a:latin typeface="標楷體" pitchFamily="65" charset="-120"/>
                <a:ea typeface="標楷體" pitchFamily="65" charset="-120"/>
                <a:cs typeface="+mj-cs"/>
              </a:rPr>
              <a:t>有「三星共和國」之稱</a:t>
            </a:r>
            <a:r>
              <a:rPr lang="zh-TW" altLang="en-US" sz="2400" kern="1200" dirty="0">
                <a:solidFill>
                  <a:schemeClr val="tx1"/>
                </a:solidFill>
                <a:latin typeface="標楷體" pitchFamily="65" charset="-120"/>
                <a:ea typeface="標楷體" pitchFamily="65" charset="-120"/>
                <a:cs typeface="+mj-cs"/>
              </a:rPr>
              <a:t>。</a:t>
            </a:r>
          </a:p>
          <a:p>
            <a:r>
              <a:rPr lang="zh-TW" altLang="en-US" sz="2400" kern="1200" dirty="0">
                <a:solidFill>
                  <a:schemeClr val="tx1"/>
                </a:solidFill>
                <a:latin typeface="標楷體" pitchFamily="65" charset="-120"/>
                <a:ea typeface="標楷體" pitchFamily="65" charset="-120"/>
                <a:cs typeface="+mj-cs"/>
              </a:rPr>
              <a:t>　　財閥企業雖然帶動經濟發展，但</a:t>
            </a:r>
            <a:r>
              <a:rPr lang="zh-TW" altLang="en-US" sz="2400" kern="1200" dirty="0">
                <a:solidFill>
                  <a:srgbClr val="FF0000"/>
                </a:solidFill>
                <a:latin typeface="標楷體" pitchFamily="65" charset="-120"/>
                <a:ea typeface="標楷體" pitchFamily="65" charset="-120"/>
                <a:cs typeface="+mj-cs"/>
              </a:rPr>
              <a:t>政商</a:t>
            </a:r>
            <a:r>
              <a:rPr lang="zh-TW" altLang="en-US" sz="2400" kern="1200" dirty="0">
                <a:solidFill>
                  <a:schemeClr val="tx1"/>
                </a:solidFill>
                <a:latin typeface="標楷體" pitchFamily="65" charset="-120"/>
                <a:ea typeface="標楷體" pitchFamily="65" charset="-120"/>
                <a:cs typeface="+mj-cs"/>
              </a:rPr>
              <a:t>之間裙帶關係和</a:t>
            </a:r>
            <a:r>
              <a:rPr lang="zh-TW" altLang="en-US" sz="2400" kern="1200" dirty="0">
                <a:solidFill>
                  <a:srgbClr val="FF0000"/>
                </a:solidFill>
                <a:latin typeface="標楷體" pitchFamily="65" charset="-120"/>
                <a:ea typeface="標楷體" pitchFamily="65" charset="-120"/>
                <a:cs typeface="+mj-cs"/>
              </a:rPr>
              <a:t>貪腐</a:t>
            </a:r>
            <a:r>
              <a:rPr lang="zh-TW" altLang="en-US" sz="2400" kern="1200" dirty="0">
                <a:solidFill>
                  <a:schemeClr val="tx1"/>
                </a:solidFill>
                <a:latin typeface="標楷體" pitchFamily="65" charset="-120"/>
                <a:ea typeface="標楷體" pitchFamily="65" charset="-120"/>
                <a:cs typeface="+mj-cs"/>
              </a:rPr>
              <a:t>醜聞為百姓厭惡，也</a:t>
            </a:r>
            <a:r>
              <a:rPr lang="zh-TW" altLang="en-US" sz="2400" kern="1200" dirty="0">
                <a:solidFill>
                  <a:srgbClr val="FF0000"/>
                </a:solidFill>
                <a:latin typeface="標楷體" pitchFamily="65" charset="-120"/>
                <a:ea typeface="標楷體" pitchFamily="65" charset="-120"/>
                <a:cs typeface="+mj-cs"/>
              </a:rPr>
              <a:t>壓迫中小企業</a:t>
            </a:r>
            <a:r>
              <a:rPr lang="zh-TW" altLang="en-US" sz="2400" kern="1200" dirty="0">
                <a:solidFill>
                  <a:schemeClr val="tx1"/>
                </a:solidFill>
                <a:latin typeface="標楷體" pitchFamily="65" charset="-120"/>
                <a:ea typeface="標楷體" pitchFamily="65" charset="-120"/>
                <a:cs typeface="+mj-cs"/>
              </a:rPr>
              <a:t>的發展，壟斷市場，造成物價高漲，</a:t>
            </a:r>
            <a:r>
              <a:rPr lang="zh-TW" altLang="en-US" sz="2400" kern="1200" dirty="0">
                <a:solidFill>
                  <a:srgbClr val="FF0000"/>
                </a:solidFill>
                <a:latin typeface="標楷體" pitchFamily="65" charset="-120"/>
                <a:ea typeface="標楷體" pitchFamily="65" charset="-120"/>
                <a:cs typeface="+mj-cs"/>
              </a:rPr>
              <a:t>使貧富差距擴大</a:t>
            </a:r>
            <a:r>
              <a:rPr lang="zh-TW" altLang="en-US" sz="2400" kern="1200" dirty="0">
                <a:solidFill>
                  <a:schemeClr val="tx1"/>
                </a:solidFill>
                <a:latin typeface="標楷體" pitchFamily="65" charset="-120"/>
                <a:ea typeface="標楷體" pitchFamily="65" charset="-120"/>
                <a:cs typeface="+mj-cs"/>
              </a:rPr>
              <a:t>。</a:t>
            </a:r>
          </a:p>
        </p:txBody>
      </p:sp>
      <p:pic>
        <p:nvPicPr>
          <p:cNvPr id="174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8183" y="260648"/>
            <a:ext cx="2915816" cy="6460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29</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614795" y="156449"/>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p.206</a:t>
            </a:r>
            <a:endParaRPr lang="zh-TW" altLang="en-US" b="0" dirty="0"/>
          </a:p>
        </p:txBody>
      </p:sp>
    </p:spTree>
    <p:extLst>
      <p:ext uri="{BB962C8B-B14F-4D97-AF65-F5344CB8AC3E}">
        <p14:creationId xmlns:p14="http://schemas.microsoft.com/office/powerpoint/2010/main" val="3862107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971600" y="1"/>
            <a:ext cx="8172400" cy="170080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solidFill>
                  <a:srgbClr val="FF0000"/>
                </a:solidFill>
                <a:latin typeface="標楷體" pitchFamily="65" charset="-120"/>
                <a:ea typeface="標楷體" pitchFamily="65" charset="-120"/>
              </a:rPr>
              <a:t>二、工業化</a:t>
            </a:r>
            <a:r>
              <a:rPr lang="zh-TW" altLang="en-US" dirty="0">
                <a:latin typeface="標楷體" pitchFamily="65" charset="-120"/>
                <a:ea typeface="標楷體" pitchFamily="65" charset="-120"/>
              </a:rPr>
              <a:t>發展歷程</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第二次世界大戰後，中華民國政府積極重建日治時期的工業基礎，並延續過去的貿易出口，工業製品乃逐漸成為臺灣出口主力，因應國內外情勢形成不同階段的發展歷程。臺灣</a:t>
            </a:r>
            <a:r>
              <a:rPr lang="zh-TW" altLang="en-US" dirty="0">
                <a:solidFill>
                  <a:srgbClr val="FF0000"/>
                </a:solidFill>
                <a:latin typeface="標楷體" pitchFamily="65" charset="-120"/>
                <a:ea typeface="標楷體" pitchFamily="65" charset="-120"/>
              </a:rPr>
              <a:t>過去曾</a:t>
            </a:r>
            <a:r>
              <a:rPr lang="zh-TW" altLang="en-US" dirty="0">
                <a:latin typeface="標楷體" pitchFamily="65" charset="-120"/>
                <a:ea typeface="標楷體" pitchFamily="65" charset="-120"/>
              </a:rPr>
              <a:t>以</a:t>
            </a:r>
            <a:r>
              <a:rPr lang="zh-TW" altLang="en-US" dirty="0">
                <a:solidFill>
                  <a:srgbClr val="FF0000"/>
                </a:solidFill>
                <a:latin typeface="標楷體" pitchFamily="65" charset="-120"/>
                <a:ea typeface="標楷體" pitchFamily="65" charset="-120"/>
              </a:rPr>
              <a:t>廉價</a:t>
            </a:r>
            <a:r>
              <a:rPr lang="zh-TW" altLang="en-US" dirty="0">
                <a:latin typeface="標楷體" pitchFamily="65" charset="-120"/>
                <a:ea typeface="標楷體" pitchFamily="65" charset="-120"/>
              </a:rPr>
              <a:t>的</a:t>
            </a:r>
            <a:r>
              <a:rPr lang="zh-TW" altLang="en-US" dirty="0">
                <a:solidFill>
                  <a:srgbClr val="FF0000"/>
                </a:solidFill>
                <a:latin typeface="標楷體" pitchFamily="65" charset="-120"/>
                <a:ea typeface="標楷體" pitchFamily="65" charset="-120"/>
              </a:rPr>
              <a:t>勞力</a:t>
            </a:r>
            <a:r>
              <a:rPr lang="zh-TW" altLang="en-US" dirty="0">
                <a:latin typeface="標楷體" pitchFamily="65" charset="-120"/>
                <a:ea typeface="標楷體" pitchFamily="65" charset="-120"/>
              </a:rPr>
              <a:t>，製造大量工業產品外銷世界，透過</a:t>
            </a:r>
            <a:r>
              <a:rPr lang="zh-TW" altLang="en-US" dirty="0">
                <a:solidFill>
                  <a:srgbClr val="FF0000"/>
                </a:solidFill>
                <a:latin typeface="標楷體" pitchFamily="65" charset="-120"/>
                <a:ea typeface="標楷體" pitchFamily="65" charset="-120"/>
              </a:rPr>
              <a:t>產業升級</a:t>
            </a:r>
            <a:r>
              <a:rPr lang="zh-TW" altLang="en-US" dirty="0">
                <a:latin typeface="標楷體" pitchFamily="65" charset="-120"/>
                <a:ea typeface="標楷體" pitchFamily="65" charset="-120"/>
              </a:rPr>
              <a:t>，逐步轉變在全球分工鏈中所扮演的角色。</a:t>
            </a:r>
            <a:endParaRPr lang="en-US" altLang="zh-TW" dirty="0">
              <a:latin typeface="標楷體" pitchFamily="65" charset="-120"/>
              <a:ea typeface="標楷體" pitchFamily="65" charset="-120"/>
            </a:endParaRPr>
          </a:p>
        </p:txBody>
      </p:sp>
      <p:graphicFrame>
        <p:nvGraphicFramePr>
          <p:cNvPr id="12" name="Group 47"/>
          <p:cNvGraphicFramePr>
            <a:graphicFrameLocks noGrp="1"/>
          </p:cNvGraphicFramePr>
          <p:nvPr/>
        </p:nvGraphicFramePr>
        <p:xfrm>
          <a:off x="4472" y="1693082"/>
          <a:ext cx="9139527" cy="2352288"/>
        </p:xfrm>
        <a:graphic>
          <a:graphicData uri="http://schemas.openxmlformats.org/drawingml/2006/table">
            <a:tbl>
              <a:tblPr/>
              <a:tblGrid>
                <a:gridCol w="895120">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6732239">
                  <a:extLst>
                    <a:ext uri="{9D8B030D-6E8A-4147-A177-3AD203B41FA5}">
                      <a16:colId xmlns:a16="http://schemas.microsoft.com/office/drawing/2014/main" val="20002"/>
                    </a:ext>
                  </a:extLst>
                </a:gridCol>
              </a:tblGrid>
              <a:tr h="4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產業發展階段</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舉例</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1900 ∼ 1930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製糖</a:t>
                      </a:r>
                      <a:r>
                        <a:rPr lang="zh-TW" altLang="en-US" sz="1800" b="0" i="0" u="none" strike="noStrike" cap="none" dirty="0">
                          <a:solidFill>
                            <a:schemeClr val="tx1"/>
                          </a:solidFill>
                          <a:latin typeface="標楷體" pitchFamily="65" charset="-120"/>
                          <a:ea typeface="標楷體" pitchFamily="65" charset="-120"/>
                          <a:cs typeface="Arial"/>
                          <a:sym typeface="Arial"/>
                        </a:rPr>
                        <a:t>及</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後期軍需工業</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橋仔頭糖廠（後改稱橋頭）。</a:t>
                      </a:r>
                      <a:r>
                        <a:rPr lang="zh-TW" altLang="en-US" sz="1800" b="0" i="0" u="none" strike="noStrike" cap="none" dirty="0">
                          <a:solidFill>
                            <a:srgbClr val="FF0000"/>
                          </a:solidFill>
                          <a:latin typeface="標楷體" pitchFamily="65" charset="-120"/>
                          <a:ea typeface="標楷體" pitchFamily="65" charset="-120"/>
                          <a:cs typeface="Arial"/>
                          <a:sym typeface="Arial"/>
                        </a:rPr>
                        <a:t>臺灣第一座新式糖廠，象徵臺灣工業化的開端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1950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農產加工</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鳳梨罐頭工廠。工業化水準較低，以農產加工生產、初級工業製品為出口大宗，</a:t>
                      </a:r>
                      <a:r>
                        <a:rPr lang="zh-TW" altLang="en-US" sz="1800" b="0" i="0" u="none" strike="noStrike" cap="none" dirty="0">
                          <a:solidFill>
                            <a:srgbClr val="FF0000"/>
                          </a:solidFill>
                          <a:latin typeface="標楷體" pitchFamily="65" charset="-120"/>
                          <a:ea typeface="標楷體" pitchFamily="65" charset="-120"/>
                          <a:cs typeface="Arial"/>
                          <a:sym typeface="Arial"/>
                        </a:rPr>
                        <a:t>逐漸累積外匯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1960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國際加工</a:t>
                      </a:r>
                      <a:r>
                        <a:rPr lang="zh-TW" altLang="en-US" sz="1800" b="0" i="0" u="none" strike="noStrike" cap="none" dirty="0">
                          <a:solidFill>
                            <a:schemeClr val="tx1"/>
                          </a:solidFill>
                          <a:latin typeface="標楷體" pitchFamily="65" charset="-120"/>
                          <a:ea typeface="標楷體" pitchFamily="65" charset="-120"/>
                          <a:cs typeface="Arial"/>
                          <a:sym typeface="Arial"/>
                        </a:rPr>
                        <a:t>基地</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加工出口區的成衣廠。設立</a:t>
                      </a:r>
                      <a:r>
                        <a:rPr lang="zh-TW" altLang="en-US" sz="1800" b="0" i="0" u="none" strike="noStrike" cap="none" dirty="0">
                          <a:solidFill>
                            <a:srgbClr val="FF0000"/>
                          </a:solidFill>
                          <a:latin typeface="標楷體" pitchFamily="65" charset="-120"/>
                          <a:ea typeface="標楷體" pitchFamily="65" charset="-120"/>
                          <a:cs typeface="Arial"/>
                          <a:sym typeface="Arial"/>
                        </a:rPr>
                        <a:t>加工出口區</a:t>
                      </a:r>
                      <a:r>
                        <a:rPr lang="zh-TW" altLang="en-US" sz="1800" b="0" i="0" u="none" strike="noStrike" cap="none" dirty="0">
                          <a:solidFill>
                            <a:schemeClr val="tx1"/>
                          </a:solidFill>
                          <a:latin typeface="標楷體" pitchFamily="65" charset="-120"/>
                          <a:ea typeface="標楷體" pitchFamily="65" charset="-120"/>
                          <a:cs typeface="Arial"/>
                          <a:sym typeface="Arial"/>
                        </a:rPr>
                        <a:t>發展</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產業，大量出口成為世界工廠。雨傘、自行車、水龍頭、玻璃、螺絲等，多項產品出口占世界比重名列前茅</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 name="矩形 12"/>
          <p:cNvSpPr>
            <a:spLocks noChangeArrowheads="1"/>
          </p:cNvSpPr>
          <p:nvPr/>
        </p:nvSpPr>
        <p:spPr bwMode="auto">
          <a:xfrm>
            <a:off x="6876256" y="318463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勞力密集</a:t>
            </a:r>
          </a:p>
        </p:txBody>
      </p:sp>
      <p:graphicFrame>
        <p:nvGraphicFramePr>
          <p:cNvPr id="5" name="表格 4"/>
          <p:cNvGraphicFramePr>
            <a:graphicFrameLocks noGrp="1"/>
          </p:cNvGraphicFramePr>
          <p:nvPr/>
        </p:nvGraphicFramePr>
        <p:xfrm>
          <a:off x="0" y="4077072"/>
          <a:ext cx="9144000" cy="2592288"/>
        </p:xfrm>
        <a:graphic>
          <a:graphicData uri="http://schemas.openxmlformats.org/drawingml/2006/table">
            <a:tbl>
              <a:tblPr/>
              <a:tblGrid>
                <a:gridCol w="89959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6732240">
                  <a:extLst>
                    <a:ext uri="{9D8B030D-6E8A-4147-A177-3AD203B41FA5}">
                      <a16:colId xmlns:a16="http://schemas.microsoft.com/office/drawing/2014/main" val="20002"/>
                    </a:ext>
                  </a:extLst>
                </a:gridCol>
              </a:tblGrid>
              <a:tr h="648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1970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endParaRPr lang="en-US" altLang="zh-TW" sz="1800" b="0" i="0" u="none" strike="noStrike" cap="none" dirty="0">
                        <a:solidFill>
                          <a:srgbClr val="FF0000"/>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產業升級</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中油煉油廠。國際</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衝擊，政府推行</a:t>
                      </a:r>
                      <a:r>
                        <a:rPr lang="zh-TW" altLang="en-US" sz="1800" b="0" i="0" u="none" strike="noStrike" cap="none" dirty="0">
                          <a:solidFill>
                            <a:srgbClr val="FF0000"/>
                          </a:solidFill>
                          <a:latin typeface="標楷體" pitchFamily="65" charset="-120"/>
                          <a:ea typeface="標楷體" pitchFamily="65" charset="-120"/>
                          <a:cs typeface="Arial"/>
                          <a:sym typeface="Arial"/>
                        </a:rPr>
                        <a:t>十大建設</a:t>
                      </a:r>
                      <a:r>
                        <a:rPr lang="zh-TW" altLang="en-US" sz="1800" b="0" i="0" u="none" strike="noStrike" cap="none" dirty="0">
                          <a:solidFill>
                            <a:schemeClr val="tx1"/>
                          </a:solidFill>
                          <a:latin typeface="標楷體" pitchFamily="65" charset="-120"/>
                          <a:ea typeface="標楷體" pitchFamily="65" charset="-120"/>
                          <a:cs typeface="Arial"/>
                          <a:sym typeface="Arial"/>
                        </a:rPr>
                        <a:t>振興經濟，</a:t>
                      </a:r>
                      <a:r>
                        <a:rPr lang="zh-TW" altLang="en-US" sz="1800" b="0" i="0" u="none" strike="noStrike" cap="none" dirty="0">
                          <a:solidFill>
                            <a:srgbClr val="FF0000"/>
                          </a:solidFill>
                          <a:latin typeface="標楷體" pitchFamily="65" charset="-120"/>
                          <a:ea typeface="標楷體" pitchFamily="65" charset="-120"/>
                          <a:cs typeface="Arial"/>
                          <a:sym typeface="Arial"/>
                        </a:rPr>
                        <a:t>國內工業原料得以自給並出口</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8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1980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a:t>
                      </a:r>
                      <a:r>
                        <a:rPr lang="zh-TW" altLang="en-US" sz="1800" b="0" i="0" u="none" strike="noStrike" cap="none" dirty="0">
                          <a:solidFill>
                            <a:schemeClr val="tx1"/>
                          </a:solidFill>
                          <a:latin typeface="標楷體" pitchFamily="65" charset="-120"/>
                          <a:ea typeface="標楷體" pitchFamily="65" charset="-120"/>
                          <a:cs typeface="Arial"/>
                          <a:sym typeface="Arial"/>
                        </a:rPr>
                        <a:t>工業</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筆電生產王國</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筆電組裝工廠。</a:t>
                      </a:r>
                      <a:r>
                        <a:rPr lang="zh-TW" altLang="en-US" sz="1800" b="0" i="0" u="none" strike="noStrike" cap="none" dirty="0">
                          <a:solidFill>
                            <a:srgbClr val="FF0000"/>
                          </a:solidFill>
                          <a:latin typeface="標楷體" pitchFamily="65" charset="-120"/>
                          <a:ea typeface="標楷體" pitchFamily="65" charset="-120"/>
                          <a:cs typeface="Arial"/>
                          <a:sym typeface="Arial"/>
                        </a:rPr>
                        <a:t>工資上升</a:t>
                      </a:r>
                      <a:r>
                        <a:rPr lang="zh-TW" altLang="en-US" sz="1800" b="0" i="0" u="none" strike="noStrike" cap="none" dirty="0">
                          <a:solidFill>
                            <a:schemeClr val="tx1"/>
                          </a:solidFill>
                          <a:latin typeface="標楷體" pitchFamily="65" charset="-120"/>
                          <a:ea typeface="標楷體" pitchFamily="65" charset="-120"/>
                          <a:cs typeface="Arial"/>
                          <a:sym typeface="Arial"/>
                        </a:rPr>
                        <a:t>致使</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en-US" altLang="zh-TW" sz="1800" b="0" i="0" u="none" strike="noStrike" cap="none" dirty="0">
                          <a:solidFill>
                            <a:schemeClr val="bg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外移</a:t>
                      </a:r>
                      <a:r>
                        <a:rPr lang="zh-TW" altLang="en-US" sz="1800" b="0" i="0" u="none" strike="noStrike" cap="none" dirty="0">
                          <a:solidFill>
                            <a:schemeClr val="tx1"/>
                          </a:solidFill>
                          <a:latin typeface="標楷體" pitchFamily="65" charset="-120"/>
                          <a:ea typeface="標楷體" pitchFamily="65" charset="-120"/>
                          <a:cs typeface="Arial"/>
                          <a:sym typeface="Arial"/>
                        </a:rPr>
                        <a:t>，政府開始</a:t>
                      </a:r>
                      <a:r>
                        <a:rPr lang="zh-TW" altLang="en-US" sz="1800" b="0" i="0" u="none" strike="noStrike" cap="none" dirty="0">
                          <a:solidFill>
                            <a:srgbClr val="FF0000"/>
                          </a:solidFill>
                          <a:latin typeface="標楷體" pitchFamily="65" charset="-120"/>
                          <a:ea typeface="標楷體" pitchFamily="65" charset="-120"/>
                          <a:cs typeface="Arial"/>
                          <a:sym typeface="Arial"/>
                        </a:rPr>
                        <a:t>發展高科技產業</a:t>
                      </a:r>
                      <a:r>
                        <a:rPr lang="zh-TW" altLang="en-US" sz="1800" b="0" i="0" u="none" strike="noStrike" cap="none" dirty="0">
                          <a:solidFill>
                            <a:schemeClr val="tx1"/>
                          </a:solidFill>
                          <a:latin typeface="標楷體" pitchFamily="65" charset="-120"/>
                          <a:ea typeface="標楷體" pitchFamily="65" charset="-120"/>
                          <a:cs typeface="Arial"/>
                          <a:sym typeface="Arial"/>
                        </a:rPr>
                        <a:t>，形成</a:t>
                      </a:r>
                      <a:r>
                        <a:rPr lang="zh-TW" altLang="en-US" sz="1800" b="0" i="0" u="none" strike="noStrike" cap="none" dirty="0">
                          <a:solidFill>
                            <a:srgbClr val="FF0000"/>
                          </a:solidFill>
                          <a:latin typeface="標楷體" pitchFamily="65" charset="-120"/>
                          <a:ea typeface="標楷體" pitchFamily="65" charset="-120"/>
                          <a:cs typeface="Arial"/>
                          <a:sym typeface="Arial"/>
                        </a:rPr>
                        <a:t>資訊產品</a:t>
                      </a:r>
                      <a:r>
                        <a:rPr lang="zh-TW" altLang="en-US" sz="1800" b="0" i="0" u="none" strike="noStrike" cap="none" dirty="0">
                          <a:solidFill>
                            <a:schemeClr val="tx1"/>
                          </a:solidFill>
                          <a:latin typeface="標楷體" pitchFamily="65" charset="-120"/>
                          <a:ea typeface="標楷體" pitchFamily="65" charset="-120"/>
                          <a:cs typeface="Arial"/>
                          <a:sym typeface="Arial"/>
                        </a:rPr>
                        <a:t>製造王國</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961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1990 ∼</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全球化</a:t>
                      </a:r>
                      <a:r>
                        <a:rPr lang="zh-TW" altLang="en-US" sz="1800" b="0" i="0" u="none" strike="noStrike" cap="none" dirty="0">
                          <a:solidFill>
                            <a:schemeClr val="tx1"/>
                          </a:solidFill>
                          <a:latin typeface="標楷體" pitchFamily="65" charset="-120"/>
                          <a:ea typeface="標楷體" pitchFamily="65" charset="-120"/>
                          <a:cs typeface="Arial"/>
                          <a:sym typeface="Arial"/>
                        </a:rPr>
                        <a:t>時代</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台</a:t>
                      </a:r>
                      <a:r>
                        <a:rPr lang="zh-TW" altLang="en-US" sz="1800" b="0" i="0" u="none" strike="noStrike" cap="none" dirty="0">
                          <a:solidFill>
                            <a:schemeClr val="tx1"/>
                          </a:solidFill>
                          <a:latin typeface="標楷體" pitchFamily="65" charset="-120"/>
                          <a:ea typeface="標楷體" pitchFamily="65" charset="-120"/>
                          <a:cs typeface="Arial"/>
                          <a:sym typeface="Arial"/>
                        </a:rPr>
                        <a:t>灣</a:t>
                      </a:r>
                      <a:r>
                        <a:rPr lang="zh-TW" altLang="en-US" sz="1800" b="0" i="0" u="none" strike="noStrike" cap="none" dirty="0">
                          <a:solidFill>
                            <a:srgbClr val="FF0000"/>
                          </a:solidFill>
                          <a:latin typeface="標楷體" pitchFamily="65" charset="-120"/>
                          <a:ea typeface="標楷體" pitchFamily="65" charset="-120"/>
                          <a:cs typeface="Arial"/>
                          <a:sym typeface="Arial"/>
                        </a:rPr>
                        <a:t>積</a:t>
                      </a:r>
                      <a:r>
                        <a:rPr lang="zh-TW" altLang="en-US" sz="1800" b="0" i="0" u="none" strike="noStrike" cap="none" dirty="0">
                          <a:solidFill>
                            <a:schemeClr val="tx1"/>
                          </a:solidFill>
                          <a:latin typeface="標楷體" pitchFamily="65" charset="-120"/>
                          <a:ea typeface="標楷體" pitchFamily="65" charset="-120"/>
                          <a:cs typeface="Arial"/>
                          <a:sym typeface="Arial"/>
                        </a:rPr>
                        <a:t>體</a:t>
                      </a:r>
                      <a:r>
                        <a:rPr lang="zh-TW" altLang="en-US" sz="1800" b="0" i="0" u="none" strike="noStrike" cap="none" dirty="0">
                          <a:solidFill>
                            <a:srgbClr val="FF0000"/>
                          </a:solidFill>
                          <a:latin typeface="標楷體" pitchFamily="65" charset="-120"/>
                          <a:ea typeface="標楷體" pitchFamily="65" charset="-120"/>
                          <a:cs typeface="Arial"/>
                          <a:sym typeface="Arial"/>
                        </a:rPr>
                        <a:t>電</a:t>
                      </a:r>
                      <a:r>
                        <a:rPr lang="zh-TW" altLang="en-US" sz="1800" b="0" i="0" u="none" strike="noStrike" cap="none" dirty="0">
                          <a:solidFill>
                            <a:schemeClr val="tx1"/>
                          </a:solidFill>
                          <a:latin typeface="標楷體" pitchFamily="65" charset="-120"/>
                          <a:ea typeface="標楷體" pitchFamily="65" charset="-120"/>
                          <a:cs typeface="Arial"/>
                          <a:sym typeface="Arial"/>
                        </a:rPr>
                        <a:t>路製造（</a:t>
                      </a:r>
                      <a:r>
                        <a:rPr lang="en-US" altLang="zh-TW" sz="1800" b="0" i="0" u="none" strike="noStrike" cap="none" dirty="0" err="1">
                          <a:solidFill>
                            <a:schemeClr val="tx1"/>
                          </a:solidFill>
                          <a:latin typeface="標楷體" pitchFamily="65" charset="-120"/>
                          <a:ea typeface="標楷體" pitchFamily="65" charset="-120"/>
                          <a:cs typeface="Arial"/>
                          <a:sym typeface="Arial"/>
                        </a:rPr>
                        <a:t>TSMC</a:t>
                      </a:r>
                      <a:r>
                        <a:rPr lang="zh-TW" altLang="en-US" sz="1800" b="0" i="0" u="none" strike="noStrike" cap="none" dirty="0">
                          <a:solidFill>
                            <a:schemeClr val="tx1"/>
                          </a:solidFill>
                          <a:latin typeface="標楷體" pitchFamily="65" charset="-120"/>
                          <a:ea typeface="標楷體" pitchFamily="65" charset="-120"/>
                          <a:cs typeface="Arial"/>
                          <a:sym typeface="Arial"/>
                        </a:rPr>
                        <a:t>）。    </a:t>
                      </a:r>
                      <a:r>
                        <a:rPr lang="zh-TW" altLang="en-US" sz="1800" b="0" i="0" u="none" strike="noStrike" cap="none" dirty="0">
                          <a:solidFill>
                            <a:srgbClr val="FF0000"/>
                          </a:solidFill>
                          <a:latin typeface="標楷體" pitchFamily="65" charset="-120"/>
                          <a:ea typeface="標楷體" pitchFamily="65" charset="-120"/>
                          <a:cs typeface="Arial"/>
                          <a:sym typeface="Arial"/>
                        </a:rPr>
                        <a:t>世界和區域貿易組織</a:t>
                      </a:r>
                      <a:r>
                        <a:rPr lang="zh-TW" altLang="en-US" sz="1800" b="0" i="0" u="none" strike="noStrike" cap="none" dirty="0">
                          <a:solidFill>
                            <a:schemeClr val="tx1"/>
                          </a:solidFill>
                          <a:latin typeface="標楷體" pitchFamily="65" charset="-120"/>
                          <a:ea typeface="標楷體" pitchFamily="65" charset="-120"/>
                          <a:cs typeface="Arial"/>
                          <a:sym typeface="Arial"/>
                        </a:rPr>
                        <a:t>相繼</a:t>
                      </a:r>
                      <a:r>
                        <a:rPr lang="zh-TW" altLang="en-US" sz="1800" b="0" i="0" u="none" strike="noStrike" cap="none" dirty="0">
                          <a:solidFill>
                            <a:srgbClr val="FF0000"/>
                          </a:solidFill>
                          <a:latin typeface="標楷體" pitchFamily="65" charset="-120"/>
                          <a:ea typeface="標楷體" pitchFamily="65" charset="-120"/>
                          <a:cs typeface="Arial"/>
                          <a:sym typeface="Arial"/>
                        </a:rPr>
                        <a:t>成立</a:t>
                      </a:r>
                      <a:r>
                        <a:rPr lang="zh-TW" altLang="en-US" sz="1800" b="0" i="0" u="none" strike="noStrike" cap="none" dirty="0">
                          <a:solidFill>
                            <a:schemeClr val="tx1"/>
                          </a:solidFill>
                          <a:latin typeface="標楷體" pitchFamily="65" charset="-120"/>
                          <a:ea typeface="標楷體" pitchFamily="65" charset="-120"/>
                          <a:cs typeface="Arial"/>
                          <a:sym typeface="Arial"/>
                        </a:rPr>
                        <a:t>，企業</a:t>
                      </a:r>
                      <a:r>
                        <a:rPr lang="zh-TW" altLang="en-US" sz="1800" b="0" i="0" u="none" strike="noStrike" cap="none" dirty="0">
                          <a:solidFill>
                            <a:srgbClr val="FF0000"/>
                          </a:solidFill>
                          <a:latin typeface="標楷體" pitchFamily="65" charset="-120"/>
                          <a:ea typeface="標楷體" pitchFamily="65" charset="-120"/>
                          <a:cs typeface="Arial"/>
                          <a:sym typeface="Arial"/>
                        </a:rPr>
                        <a:t>因應</a:t>
                      </a:r>
                      <a:r>
                        <a:rPr lang="zh-TW" altLang="en-US" sz="1800" b="0" i="0" u="none" strike="noStrike" cap="none" dirty="0">
                          <a:solidFill>
                            <a:schemeClr val="tx1"/>
                          </a:solidFill>
                          <a:latin typeface="標楷體" pitchFamily="65" charset="-120"/>
                          <a:ea typeface="標楷體" pitchFamily="65" charset="-120"/>
                          <a:cs typeface="Arial"/>
                          <a:sym typeface="Arial"/>
                        </a:rPr>
                        <a:t>各國貿易</a:t>
                      </a:r>
                      <a:r>
                        <a:rPr lang="zh-TW" altLang="en-US" sz="1800" b="0" i="0" u="none" strike="noStrike" cap="none" dirty="0">
                          <a:solidFill>
                            <a:srgbClr val="FF0000"/>
                          </a:solidFill>
                          <a:latin typeface="標楷體" pitchFamily="65" charset="-120"/>
                          <a:ea typeface="標楷體" pitchFamily="65" charset="-120"/>
                          <a:cs typeface="Arial"/>
                          <a:sym typeface="Arial"/>
                        </a:rPr>
                        <a:t>關稅限制及各地市場而走向全球布局</a:t>
                      </a:r>
                      <a:r>
                        <a:rPr lang="zh-TW" altLang="en-US" sz="1800" b="0" i="0" u="none" strike="noStrike" cap="none" dirty="0">
                          <a:solidFill>
                            <a:schemeClr val="tx1"/>
                          </a:solidFill>
                          <a:latin typeface="標楷體" pitchFamily="65" charset="-120"/>
                          <a:ea typeface="標楷體" pitchFamily="65" charset="-120"/>
                          <a:cs typeface="Arial"/>
                          <a:sym typeface="Arial"/>
                        </a:rPr>
                        <a:t>，但通常會</a:t>
                      </a:r>
                      <a:r>
                        <a:rPr lang="zh-TW" altLang="en-US" sz="1800" b="0" i="0" u="none" strike="noStrike" cap="none" dirty="0">
                          <a:solidFill>
                            <a:srgbClr val="FF0000"/>
                          </a:solidFill>
                          <a:latin typeface="標楷體" pitchFamily="65" charset="-120"/>
                          <a:ea typeface="標楷體" pitchFamily="65" charset="-120"/>
                          <a:cs typeface="Arial"/>
                          <a:sym typeface="Arial"/>
                        </a:rPr>
                        <a:t>在臺灣保留核心研發製程</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矩形 9"/>
          <p:cNvSpPr>
            <a:spLocks noChangeArrowheads="1"/>
          </p:cNvSpPr>
          <p:nvPr/>
        </p:nvSpPr>
        <p:spPr bwMode="auto">
          <a:xfrm>
            <a:off x="4432151" y="4076383"/>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石油危機</a:t>
            </a:r>
          </a:p>
        </p:txBody>
      </p:sp>
      <p:sp>
        <p:nvSpPr>
          <p:cNvPr id="14" name="矩形 13"/>
          <p:cNvSpPr>
            <a:spLocks noChangeArrowheads="1"/>
          </p:cNvSpPr>
          <p:nvPr/>
        </p:nvSpPr>
        <p:spPr bwMode="auto">
          <a:xfrm>
            <a:off x="5535980" y="4710728"/>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傳統產業</a:t>
            </a:r>
          </a:p>
        </p:txBody>
      </p:sp>
      <p:sp>
        <p:nvSpPr>
          <p:cNvPr id="15" name="矩形 14"/>
          <p:cNvSpPr>
            <a:spLocks noChangeArrowheads="1"/>
          </p:cNvSpPr>
          <p:nvPr/>
        </p:nvSpPr>
        <p:spPr bwMode="auto">
          <a:xfrm>
            <a:off x="28624" y="-28647"/>
            <a:ext cx="10134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2800" dirty="0">
                <a:solidFill>
                  <a:srgbClr val="FF0000"/>
                </a:solidFill>
              </a:rPr>
              <a:t>p.179</a:t>
            </a:r>
            <a:endParaRPr lang="zh-TW" altLang="en-US" sz="2800" b="0" dirty="0"/>
          </a:p>
        </p:txBody>
      </p:sp>
      <p:sp>
        <p:nvSpPr>
          <p:cNvPr id="16" name="矩形 15"/>
          <p:cNvSpPr>
            <a:spLocks noChangeArrowheads="1"/>
          </p:cNvSpPr>
          <p:nvPr/>
        </p:nvSpPr>
        <p:spPr bwMode="auto">
          <a:xfrm>
            <a:off x="-50566" y="3749774"/>
            <a:ext cx="10134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2800" dirty="0">
                <a:solidFill>
                  <a:srgbClr val="FF0000"/>
                </a:solidFill>
              </a:rPr>
              <a:t>p.180</a:t>
            </a:r>
            <a:endParaRPr lang="zh-TW" altLang="en-US" sz="2800" b="0" dirty="0"/>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30</a:t>
            </a:fld>
            <a:endParaRPr lang="zh-TW" sz="1400">
              <a:solidFill>
                <a:schemeClr val="dk1"/>
              </a:solidFill>
              <a:latin typeface="Arial"/>
              <a:ea typeface="Arial"/>
              <a:cs typeface="Arial"/>
              <a:sym typeface="Arial"/>
            </a:endParaRPr>
          </a:p>
        </p:txBody>
      </p:sp>
      <p:sp>
        <p:nvSpPr>
          <p:cNvPr id="8" name="矩形 7">
            <a:extLst>
              <a:ext uri="{FF2B5EF4-FFF2-40B4-BE49-F238E27FC236}">
                <a16:creationId xmlns:a16="http://schemas.microsoft.com/office/drawing/2014/main" id="{0359379E-C493-4274-BA5F-FC834F4E08EF}"/>
              </a:ext>
            </a:extLst>
          </p:cNvPr>
          <p:cNvSpPr/>
          <p:nvPr/>
        </p:nvSpPr>
        <p:spPr>
          <a:xfrm>
            <a:off x="28624" y="3184631"/>
            <a:ext cx="9115376" cy="353684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E694B06C-F96D-45FD-8105-09C46C37C8C0}"/>
              </a:ext>
            </a:extLst>
          </p:cNvPr>
          <p:cNvSpPr/>
          <p:nvPr/>
        </p:nvSpPr>
        <p:spPr>
          <a:xfrm>
            <a:off x="24152" y="2638478"/>
            <a:ext cx="9115376" cy="55388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4435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39937" y="4905711"/>
            <a:ext cx="7772400" cy="1362075"/>
          </a:xfrm>
        </p:spPr>
        <p:txBody>
          <a:bodyPr/>
          <a:lstStyle/>
          <a:p>
            <a:endParaRPr lang="zh-TW" altLang="en-US" dirty="0"/>
          </a:p>
        </p:txBody>
      </p:sp>
      <p:sp>
        <p:nvSpPr>
          <p:cNvPr id="3" name="文字版面配置區 2"/>
          <p:cNvSpPr>
            <a:spLocks noGrp="1"/>
          </p:cNvSpPr>
          <p:nvPr>
            <p:ph type="body" idx="1"/>
          </p:nvPr>
        </p:nvSpPr>
        <p:spPr>
          <a:xfrm>
            <a:off x="5139937" y="3405524"/>
            <a:ext cx="7772400" cy="1500187"/>
          </a:xfrm>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5868145" y="188640"/>
            <a:ext cx="3326128" cy="83362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4.</a:t>
            </a:r>
            <a:r>
              <a:rPr lang="zh-TW" altLang="en-US" dirty="0">
                <a:solidFill>
                  <a:srgbClr val="FF0000"/>
                </a:solidFill>
                <a:latin typeface="標楷體" pitchFamily="65" charset="-120"/>
                <a:ea typeface="標楷體" pitchFamily="65" charset="-120"/>
              </a:rPr>
              <a:t>臺灣、南韓</a:t>
            </a:r>
            <a:r>
              <a:rPr lang="zh-TW" altLang="en-US" dirty="0">
                <a:latin typeface="標楷體" pitchFamily="65" charset="-120"/>
                <a:ea typeface="標楷體" pitchFamily="65" charset="-120"/>
              </a:rPr>
              <a:t>經濟</a:t>
            </a:r>
            <a:r>
              <a:rPr lang="zh-TW" altLang="en-US" dirty="0">
                <a:solidFill>
                  <a:srgbClr val="FF0000"/>
                </a:solidFill>
                <a:latin typeface="標楷體" pitchFamily="65" charset="-120"/>
                <a:ea typeface="標楷體" pitchFamily="65" charset="-120"/>
              </a:rPr>
              <a:t>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勞力密集型產業轉移。</a:t>
            </a:r>
          </a:p>
        </p:txBody>
      </p:sp>
      <p:graphicFrame>
        <p:nvGraphicFramePr>
          <p:cNvPr id="9" name="Group 47"/>
          <p:cNvGraphicFramePr>
            <a:graphicFrameLocks noGrp="1"/>
          </p:cNvGraphicFramePr>
          <p:nvPr>
            <p:extLst>
              <p:ext uri="{D42A27DB-BD31-4B8C-83A1-F6EECF244321}">
                <p14:modId xmlns:p14="http://schemas.microsoft.com/office/powerpoint/2010/main" val="2871768616"/>
              </p:ext>
            </p:extLst>
          </p:nvPr>
        </p:nvGraphicFramePr>
        <p:xfrm>
          <a:off x="4571999" y="1087089"/>
          <a:ext cx="8856984" cy="4289575"/>
        </p:xfrm>
        <a:graphic>
          <a:graphicData uri="http://schemas.openxmlformats.org/drawingml/2006/table">
            <a:tbl>
              <a:tblPr/>
              <a:tblGrid>
                <a:gridCol w="1368153">
                  <a:extLst>
                    <a:ext uri="{9D8B030D-6E8A-4147-A177-3AD203B41FA5}">
                      <a16:colId xmlns:a16="http://schemas.microsoft.com/office/drawing/2014/main" val="20000"/>
                    </a:ext>
                  </a:extLst>
                </a:gridCol>
                <a:gridCol w="7488831">
                  <a:extLst>
                    <a:ext uri="{9D8B030D-6E8A-4147-A177-3AD203B41FA5}">
                      <a16:colId xmlns:a16="http://schemas.microsoft.com/office/drawing/2014/main" val="20001"/>
                    </a:ext>
                  </a:extLst>
                </a:gridCol>
              </a:tblGrid>
              <a:tr h="25367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說明</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125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1950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0" i="0" u="none" strike="noStrike" cap="none" dirty="0">
                          <a:solidFill>
                            <a:srgbClr val="FF0000"/>
                          </a:solidFill>
                          <a:latin typeface="標楷體" pitchFamily="65" charset="-120"/>
                          <a:ea typeface="標楷體" pitchFamily="65" charset="-120"/>
                          <a:cs typeface="Arial"/>
                          <a:sym typeface="Arial"/>
                        </a:rPr>
                        <a:t>農產加工</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en-US" altLang="zh-TW" sz="1800" b="0" i="0" u="none" strike="noStrike" cap="none" dirty="0">
                          <a:solidFill>
                            <a:schemeClr val="tx1"/>
                          </a:solidFill>
                          <a:latin typeface="標楷體" pitchFamily="65" charset="-120"/>
                          <a:ea typeface="標楷體" pitchFamily="65" charset="-120"/>
                          <a:cs typeface="Arial"/>
                          <a:sym typeface="Arial"/>
                        </a:rPr>
                        <a:t>ex</a:t>
                      </a:r>
                      <a:r>
                        <a:rPr lang="zh-TW" altLang="en-US" sz="1800" b="0" i="0" u="none" strike="noStrike" cap="none" dirty="0">
                          <a:solidFill>
                            <a:schemeClr val="tx1"/>
                          </a:solidFill>
                          <a:latin typeface="標楷體" pitchFamily="65" charset="-120"/>
                          <a:ea typeface="標楷體" pitchFamily="65" charset="-120"/>
                          <a:cs typeface="Arial"/>
                          <a:sym typeface="Arial"/>
                        </a:rPr>
                        <a:t>鳳梨罐頭工廠。</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工業化水準較低，以農產加工</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生產、初級工業製品為出口大</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宗，</a:t>
                      </a:r>
                      <a:r>
                        <a:rPr lang="zh-TW" altLang="en-US" sz="1800" b="0" i="0" u="none" strike="noStrike" cap="none" dirty="0">
                          <a:solidFill>
                            <a:srgbClr val="FF0000"/>
                          </a:solidFill>
                          <a:latin typeface="標楷體" pitchFamily="65" charset="-120"/>
                          <a:ea typeface="標楷體" pitchFamily="65" charset="-120"/>
                          <a:cs typeface="Arial"/>
                          <a:sym typeface="Arial"/>
                        </a:rPr>
                        <a:t>逐漸累積外匯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14310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（接受日本勞力密集型產業</a:t>
                      </a:r>
                      <a:r>
                        <a:rPr lang="zh-TW" altLang="en-US" sz="1800" b="0" i="0" u="none" strike="noStrike" cap="none" dirty="0">
                          <a:solidFill>
                            <a:schemeClr val="tx1"/>
                          </a:solidFill>
                          <a:latin typeface="標楷體" pitchFamily="65" charset="-120"/>
                          <a:ea typeface="標楷體" pitchFamily="65" charset="-120"/>
                          <a:cs typeface="Arial"/>
                          <a:sym typeface="Arial"/>
                        </a:rPr>
                        <a:t>空間移轉）</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zh-TW" altLang="en-US" sz="1800" b="0" i="0" u="none" strike="noStrike" cap="none" dirty="0">
                          <a:solidFill>
                            <a:schemeClr val="tx1"/>
                          </a:solidFill>
                          <a:latin typeface="標楷體" pitchFamily="65" charset="-120"/>
                          <a:ea typeface="標楷體" pitchFamily="65" charset="-120"/>
                          <a:cs typeface="Arial"/>
                          <a:sym typeface="Arial"/>
                        </a:rPr>
                        <a:t>承接日本外移的勞力密集產業，</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臺、韓得以</a:t>
                      </a:r>
                      <a:r>
                        <a:rPr lang="zh-TW" altLang="en-US" sz="1800" b="0" i="0" u="none" strike="noStrike" cap="none" dirty="0">
                          <a:solidFill>
                            <a:srgbClr val="FF0000"/>
                          </a:solidFill>
                          <a:latin typeface="標楷體" pitchFamily="65" charset="-120"/>
                          <a:ea typeface="標楷體" pitchFamily="65" charset="-120"/>
                          <a:cs typeface="Arial"/>
                          <a:sym typeface="Arial"/>
                        </a:rPr>
                        <a:t>開始大量出口</a:t>
                      </a:r>
                      <a:r>
                        <a:rPr lang="zh-TW" altLang="en-US" sz="1800" b="0" i="0" u="none" strike="noStrike" cap="none" dirty="0">
                          <a:solidFill>
                            <a:schemeClr val="tx1"/>
                          </a:solidFill>
                          <a:latin typeface="標楷體" pitchFamily="65" charset="-120"/>
                          <a:ea typeface="標楷體" pitchFamily="65" charset="-120"/>
                          <a:cs typeface="Arial"/>
                          <a:sym typeface="Arial"/>
                        </a:rPr>
                        <a:t>換匯，</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rgbClr val="FF0000"/>
                          </a:solidFill>
                          <a:latin typeface="標楷體" pitchFamily="65" charset="-120"/>
                          <a:ea typeface="標楷體" pitchFamily="65" charset="-120"/>
                          <a:cs typeface="Arial"/>
                          <a:sym typeface="Arial"/>
                        </a:rPr>
                        <a:t>經濟開始快速成長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665649475"/>
                  </a:ext>
                </a:extLst>
              </a:tr>
              <a:tr h="13400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兩國</a:t>
                      </a:r>
                      <a:r>
                        <a:rPr lang="zh-TW" altLang="en-US" sz="1800" b="0" i="0" u="none" strike="noStrike" cap="none" dirty="0">
                          <a:solidFill>
                            <a:srgbClr val="FF0000"/>
                          </a:solidFill>
                          <a:latin typeface="標楷體" pitchFamily="65" charset="-120"/>
                          <a:ea typeface="標楷體" pitchFamily="65" charset="-120"/>
                          <a:cs typeface="Arial"/>
                          <a:sym typeface="Arial"/>
                        </a:rPr>
                        <a:t>承襲日本重化工業</a:t>
                      </a:r>
                      <a:r>
                        <a:rPr lang="zh-TW" altLang="en-US" sz="1800" b="0" i="0" u="none" strike="noStrike" cap="none" dirty="0">
                          <a:solidFill>
                            <a:schemeClr val="tx1"/>
                          </a:solidFill>
                          <a:latin typeface="標楷體" pitchFamily="65" charset="-120"/>
                          <a:ea typeface="標楷體" pitchFamily="65" charset="-120"/>
                          <a:cs typeface="Arial"/>
                          <a:sym typeface="Arial"/>
                        </a:rPr>
                        <a:t>，</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rgbClr val="FF0000"/>
                          </a:solidFill>
                          <a:latin typeface="標楷體" pitchFamily="65" charset="-120"/>
                          <a:ea typeface="標楷體" pitchFamily="65" charset="-120"/>
                          <a:cs typeface="Arial"/>
                          <a:sym typeface="Arial"/>
                        </a:rPr>
                        <a:t>讓國內生產材料得以自給</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產業升級，鋼鐵、造船產</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業日漸</a:t>
                      </a:r>
                      <a:r>
                        <a:rPr lang="zh-TW" altLang="en-US" sz="1800" b="0" i="0" u="none" strike="noStrike" cap="none" dirty="0">
                          <a:solidFill>
                            <a:srgbClr val="FF0000"/>
                          </a:solidFill>
                          <a:latin typeface="標楷體" pitchFamily="65" charset="-120"/>
                          <a:ea typeface="標楷體" pitchFamily="65" charset="-120"/>
                          <a:cs typeface="Arial"/>
                          <a:sym typeface="Arial"/>
                        </a:rPr>
                        <a:t>搶食日本</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出口市場</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a:xfrm>
            <a:off x="6581754" y="6487804"/>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31</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extLst>
              <p:ext uri="{D42A27DB-BD31-4B8C-83A1-F6EECF244321}">
                <p14:modId xmlns:p14="http://schemas.microsoft.com/office/powerpoint/2010/main" val="3099856958"/>
              </p:ext>
            </p:extLst>
          </p:nvPr>
        </p:nvGraphicFramePr>
        <p:xfrm>
          <a:off x="4597645" y="5375950"/>
          <a:ext cx="8856984" cy="1145018"/>
        </p:xfrm>
        <a:graphic>
          <a:graphicData uri="http://schemas.openxmlformats.org/drawingml/2006/table">
            <a:tbl>
              <a:tblPr/>
              <a:tblGrid>
                <a:gridCol w="1342507">
                  <a:extLst>
                    <a:ext uri="{9D8B030D-6E8A-4147-A177-3AD203B41FA5}">
                      <a16:colId xmlns:a16="http://schemas.microsoft.com/office/drawing/2014/main" val="20000"/>
                    </a:ext>
                  </a:extLst>
                </a:gridCol>
                <a:gridCol w="7514477">
                  <a:extLst>
                    <a:ext uri="{9D8B030D-6E8A-4147-A177-3AD203B41FA5}">
                      <a16:colId xmlns:a16="http://schemas.microsoft.com/office/drawing/2014/main" val="20001"/>
                    </a:ext>
                  </a:extLst>
                </a:gridCol>
              </a:tblGrid>
              <a:tr h="11450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a:t>
                      </a:r>
                      <a:r>
                        <a:rPr lang="zh-TW" altLang="en-US" sz="1800" b="0" i="0" u="none" strike="noStrike" cap="none" dirty="0">
                          <a:solidFill>
                            <a:schemeClr val="tx1"/>
                          </a:solidFill>
                          <a:latin typeface="標楷體" pitchFamily="65" charset="-120"/>
                          <a:ea typeface="標楷體" pitchFamily="65" charset="-120"/>
                          <a:cs typeface="Arial"/>
                          <a:sym typeface="Arial"/>
                        </a:rPr>
                        <a:t>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rgbClr val="FF0000"/>
                          </a:solidFill>
                          <a:latin typeface="標楷體" pitchFamily="65" charset="-120"/>
                          <a:ea typeface="標楷體" pitchFamily="65" charset="-120"/>
                          <a:cs typeface="Arial"/>
                          <a:sym typeface="Arial"/>
                        </a:rPr>
                        <a:t>臺</a:t>
                      </a:r>
                      <a:r>
                        <a:rPr lang="zh-TW" altLang="en-US" sz="1800" b="0" i="0" u="none" strike="noStrike" cap="none" dirty="0">
                          <a:solidFill>
                            <a:schemeClr val="tx1"/>
                          </a:solidFill>
                          <a:latin typeface="標楷體" pitchFamily="65" charset="-120"/>
                          <a:ea typeface="標楷體" pitchFamily="65" charset="-120"/>
                          <a:cs typeface="Arial"/>
                          <a:sym typeface="Arial"/>
                        </a:rPr>
                        <a:t>灣建立</a:t>
                      </a:r>
                      <a:r>
                        <a:rPr lang="zh-TW" altLang="en-US" sz="1800" b="0" i="0" u="none" strike="noStrike" cap="none" dirty="0">
                          <a:solidFill>
                            <a:srgbClr val="FF0000"/>
                          </a:solidFill>
                          <a:latin typeface="標楷體" pitchFamily="65" charset="-120"/>
                          <a:ea typeface="標楷體" pitchFamily="65" charset="-120"/>
                          <a:cs typeface="Arial"/>
                          <a:sym typeface="Arial"/>
                        </a:rPr>
                        <a:t>科學工業園區</a:t>
                      </a:r>
                      <a:r>
                        <a:rPr lang="zh-TW" altLang="en-US" sz="1800" b="0" i="0" u="none" strike="noStrike" cap="none" dirty="0">
                          <a:solidFill>
                            <a:schemeClr val="tx1"/>
                          </a:solidFill>
                          <a:latin typeface="標楷體" pitchFamily="65" charset="-120"/>
                          <a:ea typeface="標楷體" pitchFamily="65" charset="-120"/>
                          <a:cs typeface="Arial"/>
                          <a:sym typeface="Arial"/>
                        </a:rPr>
                        <a:t>發展</a:t>
                      </a:r>
                      <a:r>
                        <a:rPr lang="zh-TW" altLang="en-US" sz="1800" b="0" i="0" u="none" strike="noStrike" cap="none" dirty="0">
                          <a:solidFill>
                            <a:srgbClr val="FF0000"/>
                          </a:solidFill>
                          <a:latin typeface="標楷體" pitchFamily="65" charset="-120"/>
                          <a:ea typeface="標楷體" pitchFamily="65" charset="-120"/>
                          <a:cs typeface="Arial"/>
                          <a:sym typeface="Arial"/>
                        </a:rPr>
                        <a:t>半導體</a:t>
                      </a:r>
                      <a:r>
                        <a:rPr lang="zh-TW" altLang="en-US" sz="1800" b="0" i="0" u="none" strike="noStrike" cap="none" dirty="0">
                          <a:solidFill>
                            <a:schemeClr val="tx1"/>
                          </a:solidFill>
                          <a:latin typeface="標楷體" pitchFamily="65" charset="-120"/>
                          <a:ea typeface="標楷體" pitchFamily="65" charset="-120"/>
                          <a:cs typeface="Arial"/>
                          <a:sym typeface="Arial"/>
                        </a:rPr>
                        <a:t>產業聚落</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南韓</a:t>
                      </a:r>
                      <a:r>
                        <a:rPr lang="zh-TW" altLang="en-US" sz="1800" b="0" i="0" u="none" strike="noStrike" cap="none" dirty="0">
                          <a:solidFill>
                            <a:schemeClr val="tx1"/>
                          </a:solidFill>
                          <a:latin typeface="標楷體" pitchFamily="65" charset="-120"/>
                          <a:ea typeface="標楷體" pitchFamily="65" charset="-120"/>
                          <a:cs typeface="Arial"/>
                          <a:sym typeface="Arial"/>
                        </a:rPr>
                        <a:t>透過</a:t>
                      </a:r>
                      <a:r>
                        <a:rPr lang="zh-TW" altLang="en-US" sz="1800" b="0" i="0" u="none" strike="noStrike" cap="none" dirty="0">
                          <a:solidFill>
                            <a:srgbClr val="FF0000"/>
                          </a:solidFill>
                          <a:latin typeface="標楷體" pitchFamily="65" charset="-120"/>
                          <a:ea typeface="標楷體" pitchFamily="65" charset="-120"/>
                          <a:cs typeface="Arial"/>
                          <a:sym typeface="Arial"/>
                        </a:rPr>
                        <a:t>財閥三星集團</a:t>
                      </a:r>
                      <a:r>
                        <a:rPr lang="zh-TW" altLang="en-US" sz="1800" b="0" i="0" u="none" strike="noStrike" cap="none" dirty="0">
                          <a:solidFill>
                            <a:schemeClr val="tx1"/>
                          </a:solidFill>
                          <a:latin typeface="標楷體" pitchFamily="65" charset="-120"/>
                          <a:ea typeface="標楷體" pitchFamily="65" charset="-120"/>
                          <a:cs typeface="Arial"/>
                          <a:sym typeface="Arial"/>
                        </a:rPr>
                        <a:t>逐步展開世界</a:t>
                      </a:r>
                      <a:r>
                        <a:rPr lang="zh-TW" altLang="en-US" sz="1800" b="0" i="0" u="none" strike="noStrike" cap="none" dirty="0">
                          <a:solidFill>
                            <a:srgbClr val="FF0000"/>
                          </a:solidFill>
                          <a:latin typeface="標楷體" pitchFamily="65" charset="-120"/>
                          <a:ea typeface="標楷體" pitchFamily="65" charset="-120"/>
                          <a:cs typeface="Arial"/>
                          <a:sym typeface="Arial"/>
                        </a:rPr>
                        <a:t>電子業</a:t>
                      </a:r>
                      <a:r>
                        <a:rPr lang="zh-TW" altLang="en-US" sz="1800" b="0" i="0" u="none" strike="noStrike" cap="none" dirty="0">
                          <a:solidFill>
                            <a:schemeClr val="tx1"/>
                          </a:solidFill>
                          <a:latin typeface="標楷體" pitchFamily="65" charset="-120"/>
                          <a:ea typeface="標楷體" pitchFamily="65" charset="-120"/>
                          <a:cs typeface="Arial"/>
                          <a:sym typeface="Arial"/>
                        </a:rPr>
                        <a:t>大國的版圖</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bl>
          </a:graphicData>
        </a:graphic>
      </p:graphicFrame>
      <p:sp>
        <p:nvSpPr>
          <p:cNvPr id="10" name="矩形 9"/>
          <p:cNvSpPr>
            <a:spLocks noChangeArrowheads="1"/>
          </p:cNvSpPr>
          <p:nvPr/>
        </p:nvSpPr>
        <p:spPr bwMode="auto">
          <a:xfrm>
            <a:off x="4760350" y="-54956"/>
            <a:ext cx="113043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None/>
            </a:pPr>
            <a:r>
              <a:rPr lang="en-US" altLang="zh-TW" sz="3200" dirty="0" err="1">
                <a:solidFill>
                  <a:srgbClr val="FF0000"/>
                </a:solidFill>
              </a:rPr>
              <a:t>p.179</a:t>
            </a:r>
            <a:endParaRPr lang="zh-TW" altLang="en-US" sz="3200" b="0" dirty="0"/>
          </a:p>
          <a:p>
            <a:pPr eaLnBrk="1" hangingPunct="1">
              <a:spcBef>
                <a:spcPct val="0"/>
              </a:spcBef>
              <a:buFontTx/>
              <a:buNone/>
            </a:pPr>
            <a:r>
              <a:rPr lang="en-US" altLang="zh-TW" dirty="0" err="1">
                <a:solidFill>
                  <a:srgbClr val="FF0000"/>
                </a:solidFill>
              </a:rPr>
              <a:t>p.206</a:t>
            </a:r>
            <a:endParaRPr lang="zh-TW" altLang="en-US" b="0" dirty="0"/>
          </a:p>
        </p:txBody>
      </p:sp>
      <p:sp>
        <p:nvSpPr>
          <p:cNvPr id="11" name="矩形 10">
            <a:extLst>
              <a:ext uri="{FF2B5EF4-FFF2-40B4-BE49-F238E27FC236}">
                <a16:creationId xmlns:a16="http://schemas.microsoft.com/office/drawing/2014/main" id="{A3E4E45B-DF22-41F7-B4CA-B5264CA62C89}"/>
              </a:ext>
            </a:extLst>
          </p:cNvPr>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2" name="Rectangle 3">
            <a:extLst>
              <a:ext uri="{FF2B5EF4-FFF2-40B4-BE49-F238E27FC236}">
                <a16:creationId xmlns:a16="http://schemas.microsoft.com/office/drawing/2014/main" id="{743039B2-1BA9-43F3-BCEC-8F5569038F34}"/>
              </a:ext>
            </a:extLst>
          </p:cNvPr>
          <p:cNvSpPr txBox="1">
            <a:spLocks noChangeArrowheads="1"/>
          </p:cNvSpPr>
          <p:nvPr/>
        </p:nvSpPr>
        <p:spPr>
          <a:xfrm>
            <a:off x="1130438" y="379494"/>
            <a:ext cx="4169994"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13" name="Group 47">
            <a:extLst>
              <a:ext uri="{FF2B5EF4-FFF2-40B4-BE49-F238E27FC236}">
                <a16:creationId xmlns:a16="http://schemas.microsoft.com/office/drawing/2014/main" id="{7BB305F9-4305-49F5-A165-1E44B74D7075}"/>
              </a:ext>
            </a:extLst>
          </p:cNvPr>
          <p:cNvGraphicFramePr>
            <a:graphicFrameLocks noGrp="1"/>
          </p:cNvGraphicFramePr>
          <p:nvPr>
            <p:extLst>
              <p:ext uri="{D42A27DB-BD31-4B8C-83A1-F6EECF244321}">
                <p14:modId xmlns:p14="http://schemas.microsoft.com/office/powerpoint/2010/main" val="1895150834"/>
              </p:ext>
            </p:extLst>
          </p:nvPr>
        </p:nvGraphicFramePr>
        <p:xfrm>
          <a:off x="1" y="1094993"/>
          <a:ext cx="4571999" cy="2913422"/>
        </p:xfrm>
        <a:graphic>
          <a:graphicData uri="http://schemas.openxmlformats.org/drawingml/2006/table">
            <a:tbl>
              <a:tblPr/>
              <a:tblGrid>
                <a:gridCol w="2051719">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4" name="表格 13">
            <a:extLst>
              <a:ext uri="{FF2B5EF4-FFF2-40B4-BE49-F238E27FC236}">
                <a16:creationId xmlns:a16="http://schemas.microsoft.com/office/drawing/2014/main" id="{5C0BB99D-35B9-46DC-9438-3085C37FCFB5}"/>
              </a:ext>
            </a:extLst>
          </p:cNvPr>
          <p:cNvGraphicFramePr>
            <a:graphicFrameLocks noGrp="1"/>
          </p:cNvGraphicFramePr>
          <p:nvPr>
            <p:extLst>
              <p:ext uri="{D42A27DB-BD31-4B8C-83A1-F6EECF244321}">
                <p14:modId xmlns:p14="http://schemas.microsoft.com/office/powerpoint/2010/main" val="2785020780"/>
              </p:ext>
            </p:extLst>
          </p:nvPr>
        </p:nvGraphicFramePr>
        <p:xfrm>
          <a:off x="0" y="4047321"/>
          <a:ext cx="4571999" cy="2591167"/>
        </p:xfrm>
        <a:graphic>
          <a:graphicData uri="http://schemas.openxmlformats.org/drawingml/2006/table">
            <a:tbl>
              <a:tblPr/>
              <a:tblGrid>
                <a:gridCol w="2051720">
                  <a:extLst>
                    <a:ext uri="{9D8B030D-6E8A-4147-A177-3AD203B41FA5}">
                      <a16:colId xmlns:a16="http://schemas.microsoft.com/office/drawing/2014/main" val="20000"/>
                    </a:ext>
                  </a:extLst>
                </a:gridCol>
                <a:gridCol w="2520279">
                  <a:extLst>
                    <a:ext uri="{9D8B030D-6E8A-4147-A177-3AD203B41FA5}">
                      <a16:colId xmlns:a16="http://schemas.microsoft.com/office/drawing/2014/main" val="20001"/>
                    </a:ext>
                  </a:extLst>
                </a:gridCol>
              </a:tblGrid>
              <a:tr h="110987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低耗能特性的半導體、電子產業急遽成長</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 name="矩形 16">
            <a:extLst>
              <a:ext uri="{FF2B5EF4-FFF2-40B4-BE49-F238E27FC236}">
                <a16:creationId xmlns:a16="http://schemas.microsoft.com/office/drawing/2014/main" id="{96775E72-ABC1-41BC-968A-53A493035B43}"/>
              </a:ext>
            </a:extLst>
          </p:cNvPr>
          <p:cNvSpPr>
            <a:spLocks noChangeArrowheads="1"/>
          </p:cNvSpPr>
          <p:nvPr/>
        </p:nvSpPr>
        <p:spPr bwMode="auto">
          <a:xfrm>
            <a:off x="2987824" y="5287338"/>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Tree>
    <p:extLst>
      <p:ext uri="{BB962C8B-B14F-4D97-AF65-F5344CB8AC3E}">
        <p14:creationId xmlns:p14="http://schemas.microsoft.com/office/powerpoint/2010/main" val="2793442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sz="3200"/>
          </a:p>
        </p:txBody>
      </p:sp>
      <p:sp>
        <p:nvSpPr>
          <p:cNvPr id="3" name="文字版面配置區 2"/>
          <p:cNvSpPr>
            <a:spLocks noGrp="1"/>
          </p:cNvSpPr>
          <p:nvPr>
            <p:ph type="body" idx="1"/>
          </p:nvPr>
        </p:nvSpPr>
        <p:spPr/>
        <p:txBody>
          <a:bodyPr/>
          <a:lstStyle/>
          <a:p>
            <a:endParaRPr lang="zh-TW" altLang="en-US" sz="320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907705" y="89965"/>
            <a:ext cx="4464496" cy="678673"/>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3200" dirty="0">
                <a:latin typeface="標楷體" pitchFamily="65" charset="-120"/>
                <a:ea typeface="標楷體" pitchFamily="65" charset="-120"/>
              </a:rPr>
              <a:t>    </a:t>
            </a:r>
            <a:endParaRPr lang="en-US" altLang="zh-TW" sz="3200" dirty="0">
              <a:latin typeface="標楷體" pitchFamily="65" charset="-120"/>
              <a:ea typeface="標楷體" pitchFamily="65" charset="-120"/>
            </a:endParaRPr>
          </a:p>
          <a:p>
            <a:r>
              <a:rPr lang="en-US" altLang="zh-TW" sz="3200" dirty="0">
                <a:latin typeface="標楷體" pitchFamily="65" charset="-120"/>
                <a:ea typeface="標楷體" pitchFamily="65" charset="-120"/>
              </a:rPr>
              <a:t>5.</a:t>
            </a:r>
            <a:r>
              <a:rPr lang="zh-TW" altLang="en-US" sz="3200" dirty="0">
                <a:solidFill>
                  <a:srgbClr val="FF0000"/>
                </a:solidFill>
                <a:latin typeface="標楷體" pitchFamily="65" charset="-120"/>
                <a:ea typeface="標楷體" pitchFamily="65" charset="-120"/>
              </a:rPr>
              <a:t>中國經濟轉型</a:t>
            </a:r>
            <a:r>
              <a:rPr lang="zh-TW" altLang="en-US" sz="3200" dirty="0">
                <a:latin typeface="標楷體" pitchFamily="65" charset="-120"/>
                <a:ea typeface="標楷體" pitchFamily="65" charset="-120"/>
              </a:rPr>
              <a:t>歷程：</a:t>
            </a:r>
          </a:p>
        </p:txBody>
      </p:sp>
      <p:graphicFrame>
        <p:nvGraphicFramePr>
          <p:cNvPr id="9" name="Group 47"/>
          <p:cNvGraphicFramePr>
            <a:graphicFrameLocks noGrp="1"/>
          </p:cNvGraphicFramePr>
          <p:nvPr>
            <p:extLst>
              <p:ext uri="{D42A27DB-BD31-4B8C-83A1-F6EECF244321}">
                <p14:modId xmlns:p14="http://schemas.microsoft.com/office/powerpoint/2010/main" val="3391125673"/>
              </p:ext>
            </p:extLst>
          </p:nvPr>
        </p:nvGraphicFramePr>
        <p:xfrm>
          <a:off x="204564" y="1150990"/>
          <a:ext cx="8734871" cy="4799463"/>
        </p:xfrm>
        <a:graphic>
          <a:graphicData uri="http://schemas.openxmlformats.org/drawingml/2006/table">
            <a:tbl>
              <a:tblPr/>
              <a:tblGrid>
                <a:gridCol w="1824798">
                  <a:extLst>
                    <a:ext uri="{9D8B030D-6E8A-4147-A177-3AD203B41FA5}">
                      <a16:colId xmlns:a16="http://schemas.microsoft.com/office/drawing/2014/main" val="20000"/>
                    </a:ext>
                  </a:extLst>
                </a:gridCol>
                <a:gridCol w="6910073">
                  <a:extLst>
                    <a:ext uri="{9D8B030D-6E8A-4147-A177-3AD203B41FA5}">
                      <a16:colId xmlns:a16="http://schemas.microsoft.com/office/drawing/2014/main" val="20001"/>
                    </a:ext>
                  </a:extLst>
                </a:gridCol>
              </a:tblGrid>
              <a:tr h="4103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說明</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4679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400" b="0" i="0" u="none" strike="noStrike" cap="none" dirty="0">
                          <a:solidFill>
                            <a:srgbClr val="FF0000"/>
                          </a:solidFill>
                          <a:latin typeface="標楷體" pitchFamily="65" charset="-120"/>
                          <a:ea typeface="標楷體" pitchFamily="65" charset="-120"/>
                          <a:cs typeface="Arial"/>
                          <a:sym typeface="Arial"/>
                        </a:rPr>
                        <a:t>1980 </a:t>
                      </a:r>
                      <a:r>
                        <a:rPr lang="zh-TW" altLang="en-US" sz="24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（接受臺灣、南韓勞力密集型產業</a:t>
                      </a:r>
                      <a:r>
                        <a:rPr lang="zh-TW" altLang="en-US" sz="2400" b="0" i="0" u="none" strike="noStrike" cap="none" dirty="0">
                          <a:solidFill>
                            <a:schemeClr val="tx1"/>
                          </a:solidFill>
                          <a:latin typeface="標楷體" pitchFamily="65" charset="-120"/>
                          <a:ea typeface="標楷體" pitchFamily="65" charset="-120"/>
                          <a:cs typeface="Arial"/>
                          <a:sym typeface="Arial"/>
                        </a:rPr>
                        <a:t>空間移轉）</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400" b="0" i="0" u="none" strike="noStrike" cap="none" dirty="0">
                          <a:solidFill>
                            <a:schemeClr val="tx1"/>
                          </a:solidFill>
                          <a:latin typeface="標楷體" pitchFamily="65" charset="-120"/>
                          <a:ea typeface="標楷體" pitchFamily="65" charset="-120"/>
                          <a:cs typeface="Arial"/>
                          <a:sym typeface="Arial"/>
                        </a:rPr>
                        <a:t>重點產業：勞力密集型產業</a:t>
                      </a:r>
                    </a:p>
                    <a:p>
                      <a:r>
                        <a:rPr lang="zh-TW" altLang="en-US" sz="2400" b="0" i="0" u="none" strike="noStrike" cap="none" dirty="0">
                          <a:solidFill>
                            <a:schemeClr val="tx1"/>
                          </a:solidFill>
                          <a:latin typeface="標楷體" pitchFamily="65" charset="-120"/>
                          <a:ea typeface="標楷體" pitchFamily="65" charset="-120"/>
                          <a:cs typeface="Arial"/>
                          <a:sym typeface="Arial"/>
                        </a:rPr>
                        <a:t>中國積極推動</a:t>
                      </a:r>
                      <a:r>
                        <a:rPr lang="zh-TW" altLang="en-US" sz="2400" b="0" i="0" u="none" strike="noStrike" cap="none" dirty="0">
                          <a:solidFill>
                            <a:srgbClr val="FF0000"/>
                          </a:solidFill>
                          <a:latin typeface="標楷體" pitchFamily="65" charset="-120"/>
                          <a:ea typeface="標楷體" pitchFamily="65" charset="-120"/>
                          <a:cs typeface="Arial"/>
                          <a:sym typeface="Arial"/>
                        </a:rPr>
                        <a:t>改革開放</a:t>
                      </a:r>
                      <a:r>
                        <a:rPr lang="en-US" altLang="zh-TW" sz="2400" b="0" i="0" u="none" strike="noStrike" cap="none" dirty="0">
                          <a:solidFill>
                            <a:schemeClr val="tx1"/>
                          </a:solidFill>
                          <a:latin typeface="標楷體" pitchFamily="65" charset="-120"/>
                          <a:ea typeface="標楷體" pitchFamily="65" charset="-120"/>
                          <a:cs typeface="Arial"/>
                          <a:sym typeface="Arial"/>
                        </a:rPr>
                        <a:t>(1978</a:t>
                      </a:r>
                      <a:r>
                        <a:rPr lang="zh-TW" altLang="en-US" sz="2400" b="0" i="0" u="none" strike="noStrike" cap="none" dirty="0">
                          <a:solidFill>
                            <a:schemeClr val="tx1"/>
                          </a:solidFill>
                          <a:latin typeface="標楷體" pitchFamily="65" charset="-120"/>
                          <a:ea typeface="標楷體" pitchFamily="65" charset="-120"/>
                          <a:cs typeface="Arial"/>
                          <a:sym typeface="Arial"/>
                        </a:rPr>
                        <a:t>年</a:t>
                      </a:r>
                      <a:r>
                        <a:rPr lang="en-US" altLang="zh-TW"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chemeClr val="tx1"/>
                          </a:solidFill>
                          <a:latin typeface="標楷體" pitchFamily="65" charset="-120"/>
                          <a:ea typeface="標楷體" pitchFamily="65" charset="-120"/>
                          <a:cs typeface="Arial"/>
                          <a:sym typeface="Arial"/>
                        </a:rPr>
                        <a:t>，在</a:t>
                      </a:r>
                      <a:r>
                        <a:rPr lang="zh-TW" altLang="en-US" sz="2400" b="0" i="0" u="none" strike="noStrike" cap="none" dirty="0">
                          <a:solidFill>
                            <a:srgbClr val="FF0000"/>
                          </a:solidFill>
                          <a:latin typeface="標楷體" pitchFamily="65" charset="-120"/>
                          <a:ea typeface="標楷體" pitchFamily="65" charset="-120"/>
                          <a:cs typeface="Arial"/>
                          <a:sym typeface="Arial"/>
                        </a:rPr>
                        <a:t>東南沿海成立經濟特區</a:t>
                      </a:r>
                      <a:r>
                        <a:rPr lang="zh-TW" altLang="en-US" sz="2400" b="0" i="0" u="none" strike="noStrike" cap="none" dirty="0">
                          <a:solidFill>
                            <a:schemeClr val="tx1"/>
                          </a:solidFill>
                          <a:latin typeface="標楷體" pitchFamily="65" charset="-120"/>
                          <a:ea typeface="標楷體" pitchFamily="65" charset="-120"/>
                          <a:cs typeface="Arial"/>
                          <a:sym typeface="Arial"/>
                        </a:rPr>
                        <a:t>，以龐大廉價的勞動力，吸引各國的</a:t>
                      </a:r>
                      <a:r>
                        <a:rPr lang="zh-TW" altLang="en-US" sz="2400" b="0" i="0" u="none" strike="noStrike" cap="none" dirty="0">
                          <a:solidFill>
                            <a:srgbClr val="FF0000"/>
                          </a:solidFill>
                          <a:latin typeface="標楷體" pitchFamily="65" charset="-120"/>
                          <a:ea typeface="標楷體" pitchFamily="65" charset="-120"/>
                          <a:cs typeface="Arial"/>
                          <a:sym typeface="Arial"/>
                        </a:rPr>
                        <a:t>勞力密集產業</a:t>
                      </a:r>
                      <a:r>
                        <a:rPr lang="zh-TW" altLang="en-US" sz="2400" b="0" i="0" u="none" strike="noStrike" cap="none" dirty="0">
                          <a:solidFill>
                            <a:schemeClr val="tx1"/>
                          </a:solidFill>
                          <a:latin typeface="標楷體" pitchFamily="65" charset="-120"/>
                          <a:ea typeface="標楷體" pitchFamily="65" charset="-120"/>
                          <a:cs typeface="Arial"/>
                          <a:sym typeface="Arial"/>
                        </a:rPr>
                        <a:t>前來投資設廠，出口經濟快速成長</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41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400" b="0" i="0" u="none" strike="noStrike" cap="none" dirty="0">
                          <a:solidFill>
                            <a:srgbClr val="FF0000"/>
                          </a:solidFill>
                          <a:latin typeface="標楷體" pitchFamily="65" charset="-120"/>
                          <a:ea typeface="標楷體" pitchFamily="65" charset="-120"/>
                          <a:cs typeface="Arial"/>
                          <a:sym typeface="Arial"/>
                        </a:rPr>
                        <a:t>1990</a:t>
                      </a:r>
                      <a:r>
                        <a:rPr lang="zh-TW" altLang="en-US" sz="2400" b="0" i="0" u="none" strike="noStrike" cap="none" dirty="0">
                          <a:solidFill>
                            <a:srgbClr val="FF0000"/>
                          </a:solidFill>
                          <a:latin typeface="標楷體" pitchFamily="65" charset="-120"/>
                          <a:ea typeface="標楷體" pitchFamily="65" charset="-120"/>
                          <a:cs typeface="Arial"/>
                          <a:sym typeface="Arial"/>
                        </a:rPr>
                        <a:t>年代 </a:t>
                      </a:r>
                      <a:r>
                        <a:rPr lang="en-US" altLang="zh-TW" sz="2400" b="0" i="0" u="none" strike="noStrike" cap="none" dirty="0">
                          <a:solidFill>
                            <a:srgbClr val="FF0000"/>
                          </a:solidFill>
                          <a:latin typeface="標楷體" pitchFamily="65" charset="-120"/>
                          <a:ea typeface="標楷體" pitchFamily="65" charset="-120"/>
                          <a:cs typeface="Arial"/>
                          <a:sym typeface="Arial"/>
                        </a:rPr>
                        <a:t>∼  </a:t>
                      </a:r>
                      <a:r>
                        <a:rPr lang="zh-TW" altLang="en-US" sz="2400" b="0" i="0" u="none" strike="noStrike" cap="none" dirty="0">
                          <a:solidFill>
                            <a:srgbClr val="FF0000"/>
                          </a:solidFill>
                          <a:latin typeface="標楷體" pitchFamily="65" charset="-120"/>
                          <a:ea typeface="標楷體" pitchFamily="65" charset="-120"/>
                          <a:cs typeface="Arial"/>
                          <a:sym typeface="Arial"/>
                        </a:rPr>
                        <a:t>（亞洲金融危機）</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400" b="0" i="0" u="none" strike="noStrike" cap="none" dirty="0">
                          <a:solidFill>
                            <a:schemeClr val="tx1"/>
                          </a:solidFill>
                          <a:latin typeface="標楷體" pitchFamily="65" charset="-120"/>
                          <a:ea typeface="標楷體" pitchFamily="65" charset="-120"/>
                          <a:cs typeface="Arial"/>
                          <a:sym typeface="Arial"/>
                        </a:rPr>
                        <a:t>重點產業：</a:t>
                      </a:r>
                      <a:r>
                        <a:rPr lang="zh-TW" altLang="en-US" sz="2400" b="0" i="0" u="none" strike="noStrike" cap="none" dirty="0">
                          <a:solidFill>
                            <a:srgbClr val="FF0000"/>
                          </a:solidFill>
                          <a:latin typeface="標楷體" pitchFamily="65" charset="-120"/>
                          <a:ea typeface="標楷體" pitchFamily="65" charset="-120"/>
                          <a:cs typeface="Arial"/>
                          <a:sym typeface="Arial"/>
                        </a:rPr>
                        <a:t>重化工業、高科技產業</a:t>
                      </a:r>
                    </a:p>
                    <a:p>
                      <a:r>
                        <a:rPr lang="zh-TW" altLang="en-US" sz="2400" b="0" i="0" u="none" strike="noStrike" cap="none" dirty="0">
                          <a:solidFill>
                            <a:schemeClr val="tx1"/>
                          </a:solidFill>
                          <a:latin typeface="標楷體" pitchFamily="65" charset="-120"/>
                          <a:ea typeface="標楷體" pitchFamily="65" charset="-120"/>
                          <a:cs typeface="Arial"/>
                          <a:sym typeface="Arial"/>
                        </a:rPr>
                        <a:t>將經濟特區成功經驗擴大為</a:t>
                      </a:r>
                      <a:r>
                        <a:rPr lang="zh-TW" altLang="en-US" sz="2400" b="0" i="0" u="none" strike="noStrike" cap="none" dirty="0">
                          <a:solidFill>
                            <a:srgbClr val="FF0000"/>
                          </a:solidFill>
                          <a:latin typeface="標楷體" pitchFamily="65" charset="-120"/>
                          <a:ea typeface="標楷體" pitchFamily="65" charset="-120"/>
                          <a:cs typeface="Arial"/>
                          <a:sym typeface="Arial"/>
                        </a:rPr>
                        <a:t>三大經濟圈：</a:t>
                      </a:r>
                    </a:p>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rgbClr val="FF0000"/>
                          </a:solidFill>
                          <a:latin typeface="標楷體" pitchFamily="65" charset="-120"/>
                          <a:ea typeface="標楷體" pitchFamily="65" charset="-120"/>
                          <a:cs typeface="Arial"/>
                          <a:sym typeface="Arial"/>
                        </a:rPr>
                        <a:t>珠三角：勞力密集</a:t>
                      </a:r>
                      <a:r>
                        <a:rPr lang="zh-TW" altLang="en-US" sz="2400" b="0" i="0" u="none" strike="noStrike" cap="none" dirty="0">
                          <a:solidFill>
                            <a:schemeClr val="tx1"/>
                          </a:solidFill>
                          <a:latin typeface="標楷體" pitchFamily="65" charset="-120"/>
                          <a:ea typeface="標楷體" pitchFamily="65" charset="-120"/>
                          <a:cs typeface="Arial"/>
                          <a:sym typeface="Arial"/>
                        </a:rPr>
                        <a:t>產業</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rgbClr val="FF0000"/>
                          </a:solidFill>
                          <a:latin typeface="標楷體" pitchFamily="65" charset="-120"/>
                          <a:ea typeface="標楷體" pitchFamily="65" charset="-120"/>
                          <a:cs typeface="Arial"/>
                          <a:sym typeface="Arial"/>
                        </a:rPr>
                        <a:t>長三角：資金、技術密集</a:t>
                      </a:r>
                      <a:r>
                        <a:rPr lang="zh-TW" altLang="en-US" sz="2400" b="0" i="0" u="none" strike="noStrike" cap="none" dirty="0">
                          <a:solidFill>
                            <a:schemeClr val="tx1"/>
                          </a:solidFill>
                          <a:latin typeface="標楷體" pitchFamily="65" charset="-120"/>
                          <a:ea typeface="標楷體" pitchFamily="65" charset="-120"/>
                          <a:cs typeface="Arial"/>
                          <a:sym typeface="Arial"/>
                        </a:rPr>
                        <a:t>的</a:t>
                      </a:r>
                      <a:r>
                        <a:rPr lang="zh-TW" altLang="en-US" sz="2400" b="0" i="0" u="none" strike="noStrike" cap="none" dirty="0">
                          <a:solidFill>
                            <a:srgbClr val="FF0000"/>
                          </a:solidFill>
                          <a:latin typeface="標楷體" pitchFamily="65" charset="-120"/>
                          <a:ea typeface="標楷體" pitchFamily="65" charset="-120"/>
                          <a:cs typeface="Arial"/>
                          <a:sym typeface="Arial"/>
                        </a:rPr>
                        <a:t>電子業</a:t>
                      </a:r>
                    </a:p>
                    <a:p>
                      <a:r>
                        <a:rPr lang="en-US" altLang="zh-TW" sz="2400" b="0" i="0" u="none" strike="noStrike" cap="none" dirty="0">
                          <a:solidFill>
                            <a:schemeClr val="tx1"/>
                          </a:solidFill>
                          <a:latin typeface="標楷體" pitchFamily="65" charset="-120"/>
                          <a:ea typeface="標楷體" pitchFamily="65" charset="-120"/>
                          <a:cs typeface="Arial"/>
                          <a:sym typeface="Arial"/>
                        </a:rPr>
                        <a:t>(3)</a:t>
                      </a:r>
                      <a:r>
                        <a:rPr lang="zh-TW" altLang="en-US" sz="2400" b="0" i="0" u="none" strike="noStrike" cap="none" dirty="0">
                          <a:solidFill>
                            <a:srgbClr val="FF0000"/>
                          </a:solidFill>
                          <a:latin typeface="標楷體" pitchFamily="65" charset="-120"/>
                          <a:ea typeface="標楷體" pitchFamily="65" charset="-120"/>
                          <a:cs typeface="Arial"/>
                          <a:sym typeface="Arial"/>
                        </a:rPr>
                        <a:t>渤三角</a:t>
                      </a:r>
                      <a:r>
                        <a:rPr lang="zh-TW" altLang="en-US" sz="2400" b="0" i="0" u="none" strike="noStrike" cap="none" dirty="0">
                          <a:solidFill>
                            <a:schemeClr val="tx1"/>
                          </a:solidFill>
                          <a:latin typeface="標楷體" pitchFamily="65" charset="-120"/>
                          <a:ea typeface="標楷體" pitchFamily="65" charset="-120"/>
                          <a:cs typeface="Arial"/>
                          <a:sym typeface="Arial"/>
                        </a:rPr>
                        <a:t>：以</a:t>
                      </a:r>
                      <a:r>
                        <a:rPr lang="zh-TW" altLang="en-US" sz="2400" b="0" i="0" u="none" strike="noStrike" cap="none" dirty="0">
                          <a:solidFill>
                            <a:srgbClr val="FF0000"/>
                          </a:solidFill>
                          <a:latin typeface="標楷體" pitchFamily="65" charset="-120"/>
                          <a:ea typeface="標楷體" pitchFamily="65" charset="-120"/>
                          <a:cs typeface="Arial"/>
                          <a:sym typeface="Arial"/>
                        </a:rPr>
                        <a:t>重化工業</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資訊研發</a:t>
                      </a:r>
                      <a:r>
                        <a:rPr lang="zh-TW" altLang="en-US" sz="2400" b="0" i="0" u="none" strike="noStrike" cap="none" dirty="0">
                          <a:solidFill>
                            <a:schemeClr val="tx1"/>
                          </a:solidFill>
                          <a:latin typeface="標楷體" pitchFamily="65" charset="-120"/>
                          <a:ea typeface="標楷體" pitchFamily="65" charset="-120"/>
                          <a:cs typeface="Arial"/>
                          <a:sym typeface="Arial"/>
                        </a:rPr>
                        <a:t>為主</a:t>
                      </a:r>
                    </a:p>
                    <a:p>
                      <a:r>
                        <a:rPr lang="zh-TW" altLang="en-US" sz="2400" b="0" i="0" u="none" strike="noStrike" cap="none" dirty="0">
                          <a:solidFill>
                            <a:schemeClr val="tx1"/>
                          </a:solidFill>
                          <a:latin typeface="標楷體" pitchFamily="65" charset="-120"/>
                          <a:ea typeface="標楷體" pitchFamily="65" charset="-120"/>
                          <a:cs typeface="Arial"/>
                          <a:sym typeface="Arial"/>
                        </a:rPr>
                        <a:t>→ 社會經濟水準提升，形成</a:t>
                      </a:r>
                      <a:r>
                        <a:rPr lang="zh-TW" altLang="en-US" sz="2400" b="0" i="0" u="none" strike="noStrike" cap="none" dirty="0">
                          <a:solidFill>
                            <a:srgbClr val="FF0000"/>
                          </a:solidFill>
                          <a:latin typeface="標楷體" pitchFamily="65" charset="-120"/>
                          <a:ea typeface="標楷體" pitchFamily="65" charset="-120"/>
                          <a:cs typeface="Arial"/>
                          <a:sym typeface="Arial"/>
                        </a:rPr>
                        <a:t>龐大的消費市場</a:t>
                      </a:r>
                      <a:br>
                        <a:rPr lang="en-US" altLang="zh-TW" sz="2400" b="0" i="0" u="none" strike="noStrike" cap="none" dirty="0">
                          <a:solidFill>
                            <a:srgbClr val="FF0000"/>
                          </a:solidFill>
                          <a:latin typeface="標楷體" pitchFamily="65" charset="-120"/>
                          <a:ea typeface="標楷體" pitchFamily="65" charset="-120"/>
                          <a:cs typeface="Arial"/>
                          <a:sym typeface="Arial"/>
                        </a:rPr>
                      </a:br>
                      <a:r>
                        <a:rPr lang="zh-TW" altLang="en-US" sz="2400" b="0" i="0" u="none" strike="noStrike" cap="none" dirty="0">
                          <a:solidFill>
                            <a:srgbClr val="FF0000"/>
                          </a:solidFill>
                          <a:latin typeface="標楷體" pitchFamily="65" charset="-120"/>
                          <a:ea typeface="標楷體" pitchFamily="65" charset="-120"/>
                          <a:cs typeface="Arial"/>
                          <a:sym typeface="Arial"/>
                        </a:rPr>
                        <a:t>帶動全球原物料價格上揚</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32</a:t>
            </a:fld>
            <a:endParaRPr lang="zh-TW" sz="1400">
              <a:solidFill>
                <a:schemeClr val="dk1"/>
              </a:solidFill>
              <a:latin typeface="Arial"/>
              <a:ea typeface="Arial"/>
              <a:cs typeface="Arial"/>
              <a:sym typeface="Arial"/>
            </a:endParaRPr>
          </a:p>
        </p:txBody>
      </p:sp>
      <p:sp>
        <p:nvSpPr>
          <p:cNvPr id="10" name="矩形 9"/>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p.207</a:t>
            </a:r>
            <a:endParaRPr lang="zh-TW" altLang="en-US" b="0" dirty="0"/>
          </a:p>
        </p:txBody>
      </p:sp>
    </p:spTree>
    <p:extLst>
      <p:ext uri="{BB962C8B-B14F-4D97-AF65-F5344CB8AC3E}">
        <p14:creationId xmlns:p14="http://schemas.microsoft.com/office/powerpoint/2010/main" val="2838786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584" y="993607"/>
            <a:ext cx="9828584" cy="790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33</a:t>
            </a:fld>
            <a:endParaRPr lang="zh-TW" sz="1400">
              <a:solidFill>
                <a:schemeClr val="dk1"/>
              </a:solidFill>
              <a:latin typeface="Arial"/>
              <a:ea typeface="Arial"/>
              <a:cs typeface="Arial"/>
              <a:sym typeface="Arial"/>
            </a:endParaRPr>
          </a:p>
        </p:txBody>
      </p:sp>
      <p:sp>
        <p:nvSpPr>
          <p:cNvPr id="13" name="矩形 12"/>
          <p:cNvSpPr>
            <a:spLocks noChangeArrowheads="1"/>
          </p:cNvSpPr>
          <p:nvPr/>
        </p:nvSpPr>
        <p:spPr bwMode="auto">
          <a:xfrm>
            <a:off x="323528" y="1686104"/>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p.198</a:t>
            </a:r>
            <a:endParaRPr lang="zh-TW" altLang="en-US" sz="3600" b="0" dirty="0"/>
          </a:p>
        </p:txBody>
      </p:sp>
      <p:sp>
        <p:nvSpPr>
          <p:cNvPr id="14" name="文字方塊 13">
            <a:extLst>
              <a:ext uri="{FF2B5EF4-FFF2-40B4-BE49-F238E27FC236}">
                <a16:creationId xmlns:a16="http://schemas.microsoft.com/office/drawing/2014/main" id="{CF74FC40-36D4-45DA-AA65-F5FDCC124FBF}"/>
              </a:ext>
            </a:extLst>
          </p:cNvPr>
          <p:cNvSpPr txBox="1"/>
          <p:nvPr/>
        </p:nvSpPr>
        <p:spPr>
          <a:xfrm>
            <a:off x="0" y="-22056"/>
            <a:ext cx="4913376" cy="1015663"/>
          </a:xfrm>
          <a:prstGeom prst="rect">
            <a:avLst/>
          </a:prstGeom>
          <a:noFill/>
        </p:spPr>
        <p:txBody>
          <a:bodyPr wrap="square">
            <a:spAutoFit/>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珠三角：勞力密集</a:t>
            </a:r>
            <a:r>
              <a:rPr lang="zh-TW" altLang="en-US" sz="2000" b="0" i="0" u="none" strike="noStrike" cap="none" dirty="0">
                <a:solidFill>
                  <a:schemeClr val="tx1"/>
                </a:solidFill>
                <a:latin typeface="標楷體" pitchFamily="65" charset="-120"/>
                <a:ea typeface="標楷體" pitchFamily="65" charset="-120"/>
                <a:cs typeface="Arial"/>
                <a:sym typeface="Arial"/>
              </a:rPr>
              <a:t>產業</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rgbClr val="FF0000"/>
                </a:solidFill>
                <a:latin typeface="標楷體" pitchFamily="65" charset="-120"/>
                <a:ea typeface="標楷體" pitchFamily="65" charset="-120"/>
                <a:cs typeface="Arial"/>
                <a:sym typeface="Arial"/>
              </a:rPr>
              <a:t>長三角：資金、技術密集</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電子業</a:t>
            </a:r>
          </a:p>
          <a:p>
            <a:r>
              <a:rPr lang="en-US" altLang="zh-TW" sz="2000" b="0" i="0" u="none" strike="noStrike" cap="none" dirty="0">
                <a:solidFill>
                  <a:schemeClr val="tx1"/>
                </a:solidFill>
                <a:latin typeface="標楷體" pitchFamily="65" charset="-120"/>
                <a:ea typeface="標楷體" pitchFamily="65" charset="-120"/>
                <a:cs typeface="Arial"/>
                <a:sym typeface="Arial"/>
              </a:rPr>
              <a:t>(3)</a:t>
            </a:r>
            <a:r>
              <a:rPr lang="zh-TW" altLang="en-US" sz="2000" b="0" i="0" u="none" strike="noStrike" cap="none" dirty="0">
                <a:solidFill>
                  <a:srgbClr val="FF0000"/>
                </a:solidFill>
                <a:latin typeface="標楷體" pitchFamily="65" charset="-120"/>
                <a:ea typeface="標楷體" pitchFamily="65" charset="-120"/>
                <a:cs typeface="Arial"/>
                <a:sym typeface="Arial"/>
              </a:rPr>
              <a:t>渤三角</a:t>
            </a:r>
            <a:r>
              <a:rPr lang="zh-TW" altLang="en-US" sz="2000" b="0" i="0" u="none" strike="noStrike" cap="none" dirty="0">
                <a:solidFill>
                  <a:schemeClr val="tx1"/>
                </a:solidFill>
                <a:latin typeface="標楷體" pitchFamily="65" charset="-120"/>
                <a:ea typeface="標楷體" pitchFamily="65" charset="-120"/>
                <a:cs typeface="Arial"/>
                <a:sym typeface="Arial"/>
              </a:rPr>
              <a:t>：以</a:t>
            </a:r>
            <a:r>
              <a:rPr lang="zh-TW" altLang="en-US" sz="2000" b="0" i="0" u="none" strike="noStrike" cap="none" dirty="0">
                <a:solidFill>
                  <a:srgbClr val="FF0000"/>
                </a:solidFill>
                <a:latin typeface="標楷體" pitchFamily="65" charset="-120"/>
                <a:ea typeface="標楷體" pitchFamily="65" charset="-120"/>
                <a:cs typeface="Arial"/>
                <a:sym typeface="Arial"/>
              </a:rPr>
              <a:t>重化工業</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資訊研發</a:t>
            </a:r>
            <a:r>
              <a:rPr lang="zh-TW" altLang="en-US" sz="2000" b="0" i="0" u="none" strike="noStrike" cap="none" dirty="0">
                <a:solidFill>
                  <a:schemeClr val="tx1"/>
                </a:solidFill>
                <a:latin typeface="標楷體" pitchFamily="65" charset="-120"/>
                <a:ea typeface="標楷體" pitchFamily="65" charset="-120"/>
                <a:cs typeface="Arial"/>
                <a:sym typeface="Arial"/>
              </a:rPr>
              <a:t>為主</a:t>
            </a:r>
          </a:p>
        </p:txBody>
      </p:sp>
      <p:sp>
        <p:nvSpPr>
          <p:cNvPr id="4" name="橢圓 3">
            <a:extLst>
              <a:ext uri="{FF2B5EF4-FFF2-40B4-BE49-F238E27FC236}">
                <a16:creationId xmlns:a16="http://schemas.microsoft.com/office/drawing/2014/main" id="{3022E57B-3F03-43B5-BE95-B09224E80D90}"/>
              </a:ext>
            </a:extLst>
          </p:cNvPr>
          <p:cNvSpPr/>
          <p:nvPr/>
        </p:nvSpPr>
        <p:spPr>
          <a:xfrm>
            <a:off x="5028973" y="5661248"/>
            <a:ext cx="1055196" cy="7920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C39FB392-D1E9-4BDC-B409-7A753A01BC49}"/>
              </a:ext>
            </a:extLst>
          </p:cNvPr>
          <p:cNvSpPr/>
          <p:nvPr/>
        </p:nvSpPr>
        <p:spPr>
          <a:xfrm>
            <a:off x="5796136" y="4469521"/>
            <a:ext cx="829072" cy="57606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125EF272-CF68-40DA-BBA3-469F7D3F1A11}"/>
              </a:ext>
            </a:extLst>
          </p:cNvPr>
          <p:cNvSpPr/>
          <p:nvPr/>
        </p:nvSpPr>
        <p:spPr>
          <a:xfrm>
            <a:off x="5436096" y="3210697"/>
            <a:ext cx="829072" cy="7920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508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a:xfrm>
            <a:off x="228656" y="210302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1243409" y="-42122"/>
            <a:ext cx="432048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TW" altLang="en-US" sz="3600" dirty="0">
                <a:latin typeface="標楷體" pitchFamily="65" charset="-120"/>
                <a:ea typeface="標楷體" pitchFamily="65" charset="-120"/>
              </a:rPr>
              <a:t>二、</a:t>
            </a:r>
            <a:r>
              <a:rPr lang="zh-TW" altLang="en-US" sz="3600" dirty="0">
                <a:solidFill>
                  <a:srgbClr val="FF0000"/>
                </a:solidFill>
                <a:latin typeface="標楷體" pitchFamily="65" charset="-120"/>
                <a:ea typeface="標楷體" pitchFamily="65" charset="-120"/>
              </a:rPr>
              <a:t>文化產業興起</a:t>
            </a:r>
            <a:endParaRPr lang="en-US" altLang="zh-TW" sz="3600" dirty="0">
              <a:solidFill>
                <a:srgbClr val="FF0000"/>
              </a:solidFill>
              <a:latin typeface="標楷體" pitchFamily="65" charset="-120"/>
              <a:ea typeface="標楷體" pitchFamily="65" charset="-120"/>
            </a:endParaRPr>
          </a:p>
        </p:txBody>
      </p:sp>
      <p:sp>
        <p:nvSpPr>
          <p:cNvPr id="7" name="Rectangle 3"/>
          <p:cNvSpPr txBox="1">
            <a:spLocks noChangeArrowheads="1"/>
          </p:cNvSpPr>
          <p:nvPr/>
        </p:nvSpPr>
        <p:spPr>
          <a:xfrm>
            <a:off x="46341" y="627327"/>
            <a:ext cx="9097659" cy="107175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東亞國家</a:t>
            </a:r>
            <a:r>
              <a:rPr lang="zh-TW" altLang="en-US" dirty="0">
                <a:solidFill>
                  <a:srgbClr val="FF0000"/>
                </a:solidFill>
                <a:latin typeface="標楷體" pitchFamily="65" charset="-120"/>
                <a:ea typeface="標楷體" pitchFamily="65" charset="-120"/>
              </a:rPr>
              <a:t>先後</a:t>
            </a:r>
            <a:r>
              <a:rPr lang="zh-TW" altLang="en-US" dirty="0">
                <a:latin typeface="標楷體" pitchFamily="65" charset="-120"/>
                <a:ea typeface="標楷體" pitchFamily="65" charset="-120"/>
              </a:rPr>
              <a:t>面臨</a:t>
            </a:r>
            <a:r>
              <a:rPr lang="zh-TW" altLang="en-US" dirty="0">
                <a:solidFill>
                  <a:srgbClr val="FF0000"/>
                </a:solidFill>
                <a:latin typeface="標楷體" pitchFamily="65" charset="-120"/>
                <a:ea typeface="標楷體" pitchFamily="65" charset="-120"/>
              </a:rPr>
              <a:t>製造業衰退</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進入後工業化</a:t>
            </a:r>
            <a:r>
              <a:rPr lang="zh-TW" altLang="en-US" dirty="0">
                <a:latin typeface="標楷體" pitchFamily="65" charset="-120"/>
                <a:ea typeface="標楷體" pitchFamily="65" charset="-120"/>
              </a:rPr>
              <a:t>歷程。</a:t>
            </a:r>
            <a:r>
              <a:rPr lang="en-US" altLang="zh-TW" dirty="0">
                <a:solidFill>
                  <a:srgbClr val="FF0000"/>
                </a:solidFill>
                <a:latin typeface="標楷體" pitchFamily="65" charset="-120"/>
                <a:ea typeface="標楷體" pitchFamily="65" charset="-120"/>
              </a:rPr>
              <a:t>1990 </a:t>
            </a:r>
            <a:r>
              <a:rPr lang="zh-TW" altLang="en-US" dirty="0">
                <a:solidFill>
                  <a:srgbClr val="FF0000"/>
                </a:solidFill>
                <a:latin typeface="標楷體" pitchFamily="65" charset="-120"/>
                <a:ea typeface="標楷體" pitchFamily="65" charset="-120"/>
              </a:rPr>
              <a:t>年代，日本、南韓皆喊出文化立國</a:t>
            </a:r>
            <a:r>
              <a:rPr lang="zh-TW" altLang="en-US" dirty="0">
                <a:latin typeface="標楷體" pitchFamily="65" charset="-120"/>
                <a:ea typeface="標楷體" pitchFamily="65" charset="-120"/>
              </a:rPr>
              <a:t>，發展出各自強項影響世界，並藉由輸出海外以賺取外匯，支撐國內經濟。</a:t>
            </a:r>
          </a:p>
        </p:txBody>
      </p:sp>
      <p:graphicFrame>
        <p:nvGraphicFramePr>
          <p:cNvPr id="9" name="Group 47"/>
          <p:cNvGraphicFramePr>
            <a:graphicFrameLocks noGrp="1"/>
          </p:cNvGraphicFramePr>
          <p:nvPr>
            <p:extLst>
              <p:ext uri="{D42A27DB-BD31-4B8C-83A1-F6EECF244321}">
                <p14:modId xmlns:p14="http://schemas.microsoft.com/office/powerpoint/2010/main" val="2513372606"/>
              </p:ext>
            </p:extLst>
          </p:nvPr>
        </p:nvGraphicFramePr>
        <p:xfrm>
          <a:off x="248763" y="1728319"/>
          <a:ext cx="8712968" cy="1614312"/>
        </p:xfrm>
        <a:graphic>
          <a:graphicData uri="http://schemas.openxmlformats.org/drawingml/2006/table">
            <a:tbl>
              <a:tblPr/>
              <a:tblGrid>
                <a:gridCol w="650829">
                  <a:extLst>
                    <a:ext uri="{9D8B030D-6E8A-4147-A177-3AD203B41FA5}">
                      <a16:colId xmlns:a16="http://schemas.microsoft.com/office/drawing/2014/main" val="20000"/>
                    </a:ext>
                  </a:extLst>
                </a:gridCol>
                <a:gridCol w="8062139">
                  <a:extLst>
                    <a:ext uri="{9D8B030D-6E8A-4147-A177-3AD203B41FA5}">
                      <a16:colId xmlns:a16="http://schemas.microsoft.com/office/drawing/2014/main" val="20001"/>
                    </a:ext>
                  </a:extLst>
                </a:gridCol>
              </a:tblGrid>
              <a:tr h="352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國家</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發展策略</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616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日本</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以</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為核心，發展出龐大的商業鏈，從熱門漫畫、動畫，衍生出轉製的</a:t>
                      </a:r>
                      <a:r>
                        <a:rPr lang="zh-TW" altLang="en-US" sz="2000" b="0" i="0" u="none" strike="noStrike" cap="none" dirty="0">
                          <a:solidFill>
                            <a:srgbClr val="FF0000"/>
                          </a:solidFill>
                          <a:latin typeface="標楷體" pitchFamily="65" charset="-120"/>
                          <a:ea typeface="標楷體" pitchFamily="65" charset="-120"/>
                          <a:cs typeface="Arial"/>
                          <a:sym typeface="Arial"/>
                        </a:rPr>
                        <a:t>電玩、電影</a:t>
                      </a:r>
                      <a:r>
                        <a:rPr lang="zh-TW" altLang="en-US" sz="2000" b="0" i="0" u="none" strike="noStrike" cap="none" dirty="0">
                          <a:solidFill>
                            <a:schemeClr val="tx1"/>
                          </a:solidFill>
                          <a:latin typeface="標楷體" pitchFamily="65" charset="-120"/>
                          <a:ea typeface="標楷體" pitchFamily="65" charset="-120"/>
                          <a:cs typeface="Arial"/>
                          <a:sym typeface="Arial"/>
                        </a:rPr>
                        <a:t>，並透過商業授權周邊商品等方式進行加值</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總計相關年產值超過 </a:t>
                      </a:r>
                      <a:r>
                        <a:rPr lang="en-US" altLang="zh-TW" sz="2000" b="0" i="0" u="none" strike="noStrike" cap="none" dirty="0">
                          <a:solidFill>
                            <a:schemeClr val="tx1"/>
                          </a:solidFill>
                          <a:latin typeface="標楷體" pitchFamily="65" charset="-120"/>
                          <a:ea typeface="標楷體" pitchFamily="65" charset="-120"/>
                          <a:cs typeface="Arial"/>
                          <a:sym typeface="Arial"/>
                        </a:rPr>
                        <a:t>240 </a:t>
                      </a:r>
                      <a:r>
                        <a:rPr lang="zh-TW" altLang="en-US" sz="2000" b="0" i="0" u="none" strike="noStrike" cap="none" dirty="0">
                          <a:solidFill>
                            <a:schemeClr val="tx1"/>
                          </a:solidFill>
                          <a:latin typeface="標楷體" pitchFamily="65" charset="-120"/>
                          <a:ea typeface="標楷體" pitchFamily="65" charset="-120"/>
                          <a:cs typeface="Arial"/>
                          <a:sym typeface="Arial"/>
                        </a:rPr>
                        <a:t>兆日圓，</a:t>
                      </a:r>
                      <a:r>
                        <a:rPr lang="zh-TW" altLang="en-US" sz="2000" b="0" i="0" u="none" strike="noStrike" cap="none" dirty="0">
                          <a:solidFill>
                            <a:srgbClr val="FF00FF"/>
                          </a:solidFill>
                          <a:latin typeface="標楷體" pitchFamily="65" charset="-120"/>
                          <a:ea typeface="標楷體" pitchFamily="65" charset="-120"/>
                          <a:cs typeface="Arial"/>
                          <a:sym typeface="Arial"/>
                        </a:rPr>
                        <a:t>占全球產量 </a:t>
                      </a:r>
                      <a:r>
                        <a:rPr lang="en-US" altLang="zh-TW" sz="2000" b="0" i="0" u="none" strike="noStrike" cap="none" dirty="0">
                          <a:solidFill>
                            <a:srgbClr val="FF00FF"/>
                          </a:solidFill>
                          <a:latin typeface="標楷體" pitchFamily="65" charset="-120"/>
                          <a:ea typeface="標楷體" pitchFamily="65" charset="-120"/>
                          <a:cs typeface="Arial"/>
                          <a:sym typeface="Arial"/>
                        </a:rPr>
                        <a:t>6 </a:t>
                      </a:r>
                      <a:r>
                        <a:rPr lang="zh-TW" altLang="en-US" sz="2000" b="0" i="0" u="none" strike="noStrike" cap="none" dirty="0">
                          <a:solidFill>
                            <a:srgbClr val="FF00FF"/>
                          </a:solidFill>
                          <a:latin typeface="標楷體" pitchFamily="65" charset="-120"/>
                          <a:ea typeface="標楷體" pitchFamily="65" charset="-120"/>
                          <a:cs typeface="Arial"/>
                          <a:sym typeface="Arial"/>
                        </a:rPr>
                        <a:t>成，為日本第三大產業，成為繼美國之後另一個文化輸出大國</a:t>
                      </a:r>
                      <a:endParaRPr lang="en-US" altLang="zh-TW" sz="2000" b="0" i="0" u="none" strike="noStrike" cap="none" dirty="0">
                        <a:solidFill>
                          <a:srgbClr val="FF00FF"/>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p:cNvSpPr>
            <a:spLocks noChangeArrowheads="1"/>
          </p:cNvSpPr>
          <p:nvPr/>
        </p:nvSpPr>
        <p:spPr bwMode="auto">
          <a:xfrm>
            <a:off x="1839747" y="2049250"/>
            <a:ext cx="8704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動漫</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34</a:t>
            </a:fld>
            <a:endParaRPr lang="zh-TW" sz="1400">
              <a:solidFill>
                <a:schemeClr val="dk1"/>
              </a:solidFill>
              <a:latin typeface="Arial"/>
              <a:ea typeface="Arial"/>
              <a:cs typeface="Arial"/>
              <a:sym typeface="Arial"/>
            </a:endParaRPr>
          </a:p>
        </p:txBody>
      </p:sp>
      <p:graphicFrame>
        <p:nvGraphicFramePr>
          <p:cNvPr id="11" name="Group 47"/>
          <p:cNvGraphicFramePr>
            <a:graphicFrameLocks noGrp="1"/>
          </p:cNvGraphicFramePr>
          <p:nvPr>
            <p:extLst>
              <p:ext uri="{D42A27DB-BD31-4B8C-83A1-F6EECF244321}">
                <p14:modId xmlns:p14="http://schemas.microsoft.com/office/powerpoint/2010/main" val="3971078183"/>
              </p:ext>
            </p:extLst>
          </p:nvPr>
        </p:nvGraphicFramePr>
        <p:xfrm>
          <a:off x="226153" y="3355180"/>
          <a:ext cx="8735578" cy="1970633"/>
        </p:xfrm>
        <a:graphic>
          <a:graphicData uri="http://schemas.openxmlformats.org/drawingml/2006/table">
            <a:tbl>
              <a:tblPr/>
              <a:tblGrid>
                <a:gridCol w="670936">
                  <a:extLst>
                    <a:ext uri="{9D8B030D-6E8A-4147-A177-3AD203B41FA5}">
                      <a16:colId xmlns:a16="http://schemas.microsoft.com/office/drawing/2014/main" val="20000"/>
                    </a:ext>
                  </a:extLst>
                </a:gridCol>
                <a:gridCol w="8064642">
                  <a:extLst>
                    <a:ext uri="{9D8B030D-6E8A-4147-A177-3AD203B41FA5}">
                      <a16:colId xmlns:a16="http://schemas.microsoft.com/office/drawing/2014/main" val="20001"/>
                    </a:ext>
                  </a:extLst>
                </a:gridCol>
              </a:tblGrid>
              <a:tr h="19706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韓</a:t>
                      </a:r>
                      <a:r>
                        <a:rPr lang="zh-TW" altLang="en-US" sz="2000" b="0" i="0" u="none" strike="noStrike" cap="none" dirty="0">
                          <a:solidFill>
                            <a:schemeClr val="tx1"/>
                          </a:solidFill>
                          <a:latin typeface="標楷體" pitchFamily="65" charset="-120"/>
                          <a:ea typeface="標楷體" pitchFamily="65" charset="-120"/>
                          <a:cs typeface="Arial"/>
                          <a:sym typeface="Arial"/>
                        </a:rPr>
                        <a:t>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致力</a:t>
                      </a:r>
                      <a:r>
                        <a:rPr lang="zh-TW" altLang="en-US" sz="2000" b="0" i="0" u="none" strike="noStrike" cap="none" dirty="0">
                          <a:solidFill>
                            <a:srgbClr val="FF0000"/>
                          </a:solidFill>
                          <a:latin typeface="標楷體" pitchFamily="65" charset="-120"/>
                          <a:ea typeface="標楷體" pitchFamily="65" charset="-120"/>
                          <a:cs typeface="Arial"/>
                          <a:sym typeface="Arial"/>
                        </a:rPr>
                        <a:t>扶植</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產業，透過銀幕配額保護韓片消費市場，並提供拍片獎勵及協助籌措資金等</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en-US" altLang="zh-TW" sz="2000" b="0" i="0" u="none" strike="noStrike" cap="none" dirty="0">
                          <a:solidFill>
                            <a:schemeClr val="tx1"/>
                          </a:solidFill>
                          <a:latin typeface="標楷體" pitchFamily="65" charset="-120"/>
                          <a:ea typeface="標楷體" pitchFamily="65" charset="-120"/>
                          <a:cs typeface="Arial"/>
                          <a:sym typeface="Arial"/>
                        </a:rPr>
                        <a:t>2.K-pop </a:t>
                      </a:r>
                      <a:r>
                        <a:rPr lang="zh-TW" altLang="en-US" sz="2000" b="0" i="0" u="none" strike="noStrike" cap="none" dirty="0">
                          <a:solidFill>
                            <a:srgbClr val="FF0000"/>
                          </a:solidFill>
                          <a:latin typeface="標楷體" pitchFamily="65" charset="-120"/>
                          <a:ea typeface="標楷體" pitchFamily="65" charset="-120"/>
                          <a:cs typeface="Arial"/>
                          <a:sym typeface="Arial"/>
                        </a:rPr>
                        <a:t>流行音樂打入國際</a:t>
                      </a:r>
                      <a:r>
                        <a:rPr lang="zh-TW" altLang="en-US" sz="2000" b="0" i="0" u="none" strike="noStrike" cap="none" dirty="0">
                          <a:solidFill>
                            <a:schemeClr val="tx1"/>
                          </a:solidFill>
                          <a:latin typeface="標楷體" pitchFamily="65" charset="-120"/>
                          <a:ea typeface="標楷體" pitchFamily="65" charset="-120"/>
                          <a:cs typeface="Arial"/>
                          <a:sym typeface="Arial"/>
                        </a:rPr>
                        <a:t>，透過跨國遴選練習生，推動韓團進軍海外</a:t>
                      </a:r>
                    </a:p>
                    <a:p>
                      <a:r>
                        <a:rPr lang="en-US" altLang="zh-TW" sz="2000" b="0" i="0" u="none" strike="noStrike" cap="none" dirty="0">
                          <a:solidFill>
                            <a:schemeClr val="tx1"/>
                          </a:solidFill>
                          <a:latin typeface="標楷體" pitchFamily="65" charset="-120"/>
                          <a:ea typeface="標楷體" pitchFamily="65" charset="-120"/>
                          <a:cs typeface="Arial"/>
                          <a:sym typeface="Arial"/>
                        </a:rPr>
                        <a:t>3.</a:t>
                      </a:r>
                      <a:r>
                        <a:rPr lang="zh-TW" altLang="en-US" sz="2000" b="0" i="0" u="none" strike="noStrike" cap="none" dirty="0">
                          <a:solidFill>
                            <a:schemeClr val="tx1"/>
                          </a:solidFill>
                          <a:latin typeface="標楷體" pitchFamily="65" charset="-120"/>
                          <a:ea typeface="標楷體" pitchFamily="65" charset="-120"/>
                          <a:cs typeface="Arial"/>
                          <a:sym typeface="Arial"/>
                        </a:rPr>
                        <a:t>推動</a:t>
                      </a:r>
                      <a:r>
                        <a:rPr lang="zh-TW" altLang="en-US" sz="2000" b="0" i="0" u="none" strike="noStrike" cap="none" dirty="0">
                          <a:solidFill>
                            <a:srgbClr val="FF0000"/>
                          </a:solidFill>
                          <a:latin typeface="標楷體" pitchFamily="65" charset="-120"/>
                          <a:ea typeface="標楷體" pitchFamily="65" charset="-120"/>
                          <a:cs typeface="Arial"/>
                          <a:sym typeface="Arial"/>
                        </a:rPr>
                        <a:t>發展</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，政府設立職業電競協會，舉辦賽事將電競運動推往國際。民間視電競選手為民族驕傲，企業也以鉅資培養戰隊來建立公司形象，創造周邊數位遊戲、網路、網咖等產業，</a:t>
                      </a:r>
                      <a:r>
                        <a:rPr lang="zh-TW" altLang="en-US" sz="2000" b="0" i="0" u="none" strike="noStrike" cap="none" dirty="0">
                          <a:solidFill>
                            <a:srgbClr val="FF00FF"/>
                          </a:solidFill>
                          <a:latin typeface="標楷體" pitchFamily="65" charset="-120"/>
                          <a:ea typeface="標楷體" pitchFamily="65" charset="-120"/>
                          <a:cs typeface="Arial"/>
                          <a:sym typeface="Arial"/>
                        </a:rPr>
                        <a:t>年產值近</a:t>
                      </a:r>
                      <a:r>
                        <a:rPr lang="en-US" altLang="zh-TW" sz="2000" b="0" i="0" u="none" strike="noStrike" cap="none" dirty="0">
                          <a:solidFill>
                            <a:srgbClr val="FF00FF"/>
                          </a:solidFill>
                          <a:latin typeface="標楷體" pitchFamily="65" charset="-120"/>
                          <a:ea typeface="標楷體" pitchFamily="65" charset="-120"/>
                          <a:cs typeface="Arial"/>
                          <a:sym typeface="Arial"/>
                        </a:rPr>
                        <a:t>400</a:t>
                      </a:r>
                      <a:r>
                        <a:rPr lang="zh-TW" altLang="en-US" sz="2000" b="0" i="0" u="none" strike="noStrike" cap="none" dirty="0">
                          <a:solidFill>
                            <a:srgbClr val="FF00FF"/>
                          </a:solidFill>
                          <a:latin typeface="標楷體" pitchFamily="65" charset="-120"/>
                          <a:ea typeface="標楷體" pitchFamily="65" charset="-120"/>
                          <a:cs typeface="Arial"/>
                          <a:sym typeface="Arial"/>
                        </a:rPr>
                        <a:t>億美元</a:t>
                      </a:r>
                      <a:endParaRPr lang="en-US" altLang="zh-TW" sz="2000" b="0" i="0" u="none" strike="noStrike" cap="none" dirty="0">
                        <a:solidFill>
                          <a:srgbClr val="FF00FF"/>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 name="矩形 11"/>
          <p:cNvSpPr>
            <a:spLocks noChangeArrowheads="1"/>
          </p:cNvSpPr>
          <p:nvPr/>
        </p:nvSpPr>
        <p:spPr bwMode="auto">
          <a:xfrm>
            <a:off x="2411760" y="3351573"/>
            <a:ext cx="866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電影</a:t>
            </a:r>
          </a:p>
        </p:txBody>
      </p:sp>
      <p:sp>
        <p:nvSpPr>
          <p:cNvPr id="13" name="矩形 12"/>
          <p:cNvSpPr>
            <a:spLocks noChangeArrowheads="1"/>
          </p:cNvSpPr>
          <p:nvPr/>
        </p:nvSpPr>
        <p:spPr bwMode="auto">
          <a:xfrm>
            <a:off x="3848477" y="3351573"/>
            <a:ext cx="866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電視</a:t>
            </a:r>
          </a:p>
        </p:txBody>
      </p:sp>
      <p:sp>
        <p:nvSpPr>
          <p:cNvPr id="14" name="矩形 13"/>
          <p:cNvSpPr>
            <a:spLocks noChangeArrowheads="1"/>
          </p:cNvSpPr>
          <p:nvPr/>
        </p:nvSpPr>
        <p:spPr bwMode="auto">
          <a:xfrm>
            <a:off x="2411760" y="4258431"/>
            <a:ext cx="866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電競</a:t>
            </a:r>
          </a:p>
        </p:txBody>
      </p:sp>
      <p:sp>
        <p:nvSpPr>
          <p:cNvPr id="15" name="Rectangle 3"/>
          <p:cNvSpPr txBox="1">
            <a:spLocks noChangeArrowheads="1"/>
          </p:cNvSpPr>
          <p:nvPr/>
        </p:nvSpPr>
        <p:spPr>
          <a:xfrm>
            <a:off x="240597" y="5247359"/>
            <a:ext cx="8735832" cy="144229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隨著日本動漫、韓劇及 </a:t>
            </a:r>
            <a:r>
              <a:rPr lang="en-US" altLang="zh-TW" dirty="0">
                <a:solidFill>
                  <a:srgbClr val="FF0000"/>
                </a:solidFill>
                <a:latin typeface="標楷體" pitchFamily="65" charset="-120"/>
                <a:ea typeface="標楷體" pitchFamily="65" charset="-120"/>
              </a:rPr>
              <a:t>K-pop </a:t>
            </a:r>
            <a:r>
              <a:rPr lang="zh-TW" altLang="en-US" dirty="0">
                <a:solidFill>
                  <a:srgbClr val="FF0000"/>
                </a:solidFill>
                <a:latin typeface="標楷體" pitchFamily="65" charset="-120"/>
                <a:ea typeface="標楷體" pitchFamily="65" charset="-120"/>
              </a:rPr>
              <a:t>行銷全球</a:t>
            </a:r>
            <a:r>
              <a:rPr lang="zh-TW" altLang="en-US" dirty="0">
                <a:latin typeface="標楷體" pitchFamily="65" charset="-120"/>
                <a:ea typeface="標楷體" pitchFamily="65" charset="-120"/>
              </a:rPr>
              <a:t>，提供</a:t>
            </a:r>
            <a:r>
              <a:rPr lang="zh-TW" altLang="en-US" dirty="0">
                <a:solidFill>
                  <a:srgbClr val="FF0000"/>
                </a:solidFill>
                <a:latin typeface="標楷體" pitchFamily="65" charset="-120"/>
                <a:ea typeface="標楷體" pitchFamily="65" charset="-120"/>
              </a:rPr>
              <a:t>觀光業</a:t>
            </a:r>
            <a:r>
              <a:rPr lang="zh-TW" altLang="en-US" dirty="0">
                <a:latin typeface="標楷體" pitchFamily="65" charset="-120"/>
                <a:ea typeface="標楷體" pitchFamily="65" charset="-120"/>
              </a:rPr>
              <a:t>及</a:t>
            </a:r>
            <a:r>
              <a:rPr lang="zh-TW" altLang="en-US" dirty="0">
                <a:solidFill>
                  <a:srgbClr val="FF0000"/>
                </a:solidFill>
                <a:latin typeface="標楷體" pitchFamily="65" charset="-120"/>
                <a:ea typeface="標楷體" pitchFamily="65" charset="-120"/>
              </a:rPr>
              <a:t>美食、美妝</a:t>
            </a:r>
            <a:r>
              <a:rPr lang="zh-TW" altLang="en-US" dirty="0">
                <a:latin typeface="標楷體" pitchFamily="65" charset="-120"/>
                <a:ea typeface="標楷體" pitchFamily="65" charset="-120"/>
              </a:rPr>
              <a:t>等各產業免費宣傳。動漫、韓劇及 </a:t>
            </a:r>
            <a:r>
              <a:rPr lang="en-US" altLang="zh-TW" dirty="0">
                <a:latin typeface="標楷體" pitchFamily="65" charset="-120"/>
                <a:ea typeface="標楷體" pitchFamily="65" charset="-120"/>
              </a:rPr>
              <a:t>MV </a:t>
            </a:r>
            <a:r>
              <a:rPr lang="zh-TW" altLang="en-US" dirty="0">
                <a:latin typeface="標楷體" pitchFamily="65" charset="-120"/>
                <a:ea typeface="標楷體" pitchFamily="65" charset="-120"/>
              </a:rPr>
              <a:t>中的景點、角色的故鄉等吸引大批觀光客來訪，日、韓劇中出現的飲食、用品成為熱門商品，</a:t>
            </a:r>
            <a:r>
              <a:rPr lang="zh-TW" altLang="en-US" dirty="0">
                <a:solidFill>
                  <a:srgbClr val="FF0000"/>
                </a:solidFill>
                <a:latin typeface="標楷體" pitchFamily="65" charset="-120"/>
                <a:ea typeface="標楷體" pitchFamily="65" charset="-120"/>
              </a:rPr>
              <a:t>創造龐大經濟產值</a:t>
            </a:r>
            <a:r>
              <a:rPr lang="zh-TW" altLang="en-US" dirty="0">
                <a:latin typeface="標楷體" pitchFamily="65" charset="-120"/>
                <a:ea typeface="標楷體" pitchFamily="65" charset="-120"/>
              </a:rPr>
              <a:t>，</a:t>
            </a:r>
            <a:br>
              <a:rPr lang="en-US" altLang="zh-TW" dirty="0">
                <a:latin typeface="標楷體" pitchFamily="65" charset="-120"/>
                <a:ea typeface="標楷體" pitchFamily="65" charset="-120"/>
              </a:rPr>
            </a:br>
            <a:r>
              <a:rPr lang="zh-TW" altLang="en-US" dirty="0">
                <a:latin typeface="標楷體" pitchFamily="65" charset="-120"/>
                <a:ea typeface="標楷體" pitchFamily="65" charset="-120"/>
              </a:rPr>
              <a:t>其他國家紛紛效仿。</a:t>
            </a:r>
          </a:p>
        </p:txBody>
      </p:sp>
      <p:sp>
        <p:nvSpPr>
          <p:cNvPr id="16" name="矩形 15">
            <a:extLst>
              <a:ext uri="{FF2B5EF4-FFF2-40B4-BE49-F238E27FC236}">
                <a16:creationId xmlns:a16="http://schemas.microsoft.com/office/drawing/2014/main" id="{4D57D872-5AA5-4F1F-9F32-2A5C15AB2667}"/>
              </a:ext>
            </a:extLst>
          </p:cNvPr>
          <p:cNvSpPr>
            <a:spLocks noChangeArrowheads="1"/>
          </p:cNvSpPr>
          <p:nvPr/>
        </p:nvSpPr>
        <p:spPr bwMode="auto">
          <a:xfrm>
            <a:off x="109943" y="10732"/>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p.207</a:t>
            </a:r>
            <a:endParaRPr lang="zh-TW" altLang="en-US" b="0" dirty="0"/>
          </a:p>
        </p:txBody>
      </p:sp>
      <p:sp>
        <p:nvSpPr>
          <p:cNvPr id="10" name="矩形 9">
            <a:extLst>
              <a:ext uri="{FF2B5EF4-FFF2-40B4-BE49-F238E27FC236}">
                <a16:creationId xmlns:a16="http://schemas.microsoft.com/office/drawing/2014/main" id="{7C318B6C-59C8-4E19-89ED-1A4150FAF76E}"/>
              </a:ext>
            </a:extLst>
          </p:cNvPr>
          <p:cNvSpPr/>
          <p:nvPr/>
        </p:nvSpPr>
        <p:spPr>
          <a:xfrm>
            <a:off x="899592" y="2049250"/>
            <a:ext cx="8062140" cy="3276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43176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39937" y="4905711"/>
            <a:ext cx="7772400" cy="1362075"/>
          </a:xfrm>
        </p:spPr>
        <p:txBody>
          <a:bodyPr/>
          <a:lstStyle/>
          <a:p>
            <a:endParaRPr lang="zh-TW" altLang="en-US" dirty="0"/>
          </a:p>
        </p:txBody>
      </p:sp>
      <p:sp>
        <p:nvSpPr>
          <p:cNvPr id="3" name="文字版面配置區 2"/>
          <p:cNvSpPr>
            <a:spLocks noGrp="1"/>
          </p:cNvSpPr>
          <p:nvPr>
            <p:ph type="body" idx="1"/>
          </p:nvPr>
        </p:nvSpPr>
        <p:spPr>
          <a:xfrm>
            <a:off x="5139937" y="3405524"/>
            <a:ext cx="7772400" cy="1500187"/>
          </a:xfrm>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5868145" y="188640"/>
            <a:ext cx="3326128" cy="83362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4.</a:t>
            </a:r>
            <a:r>
              <a:rPr lang="zh-TW" altLang="en-US" dirty="0">
                <a:solidFill>
                  <a:srgbClr val="FF0000"/>
                </a:solidFill>
                <a:latin typeface="標楷體" pitchFamily="65" charset="-120"/>
                <a:ea typeface="標楷體" pitchFamily="65" charset="-120"/>
              </a:rPr>
              <a:t>臺灣、南韓</a:t>
            </a:r>
            <a:r>
              <a:rPr lang="zh-TW" altLang="en-US" dirty="0">
                <a:latin typeface="標楷體" pitchFamily="65" charset="-120"/>
                <a:ea typeface="標楷體" pitchFamily="65" charset="-120"/>
              </a:rPr>
              <a:t>經濟</a:t>
            </a:r>
            <a:r>
              <a:rPr lang="zh-TW" altLang="en-US" dirty="0">
                <a:solidFill>
                  <a:srgbClr val="FF0000"/>
                </a:solidFill>
                <a:latin typeface="標楷體" pitchFamily="65" charset="-120"/>
                <a:ea typeface="標楷體" pitchFamily="65" charset="-120"/>
              </a:rPr>
              <a:t>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勞力密集型產業轉移。</a:t>
            </a:r>
          </a:p>
        </p:txBody>
      </p:sp>
      <p:graphicFrame>
        <p:nvGraphicFramePr>
          <p:cNvPr id="9" name="Group 47"/>
          <p:cNvGraphicFramePr>
            <a:graphicFrameLocks noGrp="1"/>
          </p:cNvGraphicFramePr>
          <p:nvPr/>
        </p:nvGraphicFramePr>
        <p:xfrm>
          <a:off x="4571999" y="1087089"/>
          <a:ext cx="8856984" cy="4289575"/>
        </p:xfrm>
        <a:graphic>
          <a:graphicData uri="http://schemas.openxmlformats.org/drawingml/2006/table">
            <a:tbl>
              <a:tblPr/>
              <a:tblGrid>
                <a:gridCol w="1368153">
                  <a:extLst>
                    <a:ext uri="{9D8B030D-6E8A-4147-A177-3AD203B41FA5}">
                      <a16:colId xmlns:a16="http://schemas.microsoft.com/office/drawing/2014/main" val="20000"/>
                    </a:ext>
                  </a:extLst>
                </a:gridCol>
                <a:gridCol w="7488831">
                  <a:extLst>
                    <a:ext uri="{9D8B030D-6E8A-4147-A177-3AD203B41FA5}">
                      <a16:colId xmlns:a16="http://schemas.microsoft.com/office/drawing/2014/main" val="20001"/>
                    </a:ext>
                  </a:extLst>
                </a:gridCol>
              </a:tblGrid>
              <a:tr h="25367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說明</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125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1950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0" i="0" u="none" strike="noStrike" cap="none" dirty="0">
                          <a:solidFill>
                            <a:srgbClr val="FF0000"/>
                          </a:solidFill>
                          <a:latin typeface="標楷體" pitchFamily="65" charset="-120"/>
                          <a:ea typeface="標楷體" pitchFamily="65" charset="-120"/>
                          <a:cs typeface="Arial"/>
                          <a:sym typeface="Arial"/>
                        </a:rPr>
                        <a:t>農產加工</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en-US" altLang="zh-TW" sz="1800" b="0" i="0" u="none" strike="noStrike" cap="none" dirty="0">
                          <a:solidFill>
                            <a:schemeClr val="tx1"/>
                          </a:solidFill>
                          <a:latin typeface="標楷體" pitchFamily="65" charset="-120"/>
                          <a:ea typeface="標楷體" pitchFamily="65" charset="-120"/>
                          <a:cs typeface="Arial"/>
                          <a:sym typeface="Arial"/>
                        </a:rPr>
                        <a:t>ex</a:t>
                      </a:r>
                      <a:r>
                        <a:rPr lang="zh-TW" altLang="en-US" sz="1800" b="0" i="0" u="none" strike="noStrike" cap="none" dirty="0">
                          <a:solidFill>
                            <a:schemeClr val="tx1"/>
                          </a:solidFill>
                          <a:latin typeface="標楷體" pitchFamily="65" charset="-120"/>
                          <a:ea typeface="標楷體" pitchFamily="65" charset="-120"/>
                          <a:cs typeface="Arial"/>
                          <a:sym typeface="Arial"/>
                        </a:rPr>
                        <a:t>鳳梨罐頭工廠。</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工業化水準較低，以農產加工</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生產、初級工業製品為出口大</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宗，</a:t>
                      </a:r>
                      <a:r>
                        <a:rPr lang="zh-TW" altLang="en-US" sz="1800" b="0" i="0" u="none" strike="noStrike" cap="none" dirty="0">
                          <a:solidFill>
                            <a:srgbClr val="FF0000"/>
                          </a:solidFill>
                          <a:latin typeface="標楷體" pitchFamily="65" charset="-120"/>
                          <a:ea typeface="標楷體" pitchFamily="65" charset="-120"/>
                          <a:cs typeface="Arial"/>
                          <a:sym typeface="Arial"/>
                        </a:rPr>
                        <a:t>逐漸累積外匯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14310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（接受日本勞力密集型產業</a:t>
                      </a:r>
                      <a:r>
                        <a:rPr lang="zh-TW" altLang="en-US" sz="1800" b="0" i="0" u="none" strike="noStrike" cap="none" dirty="0">
                          <a:solidFill>
                            <a:schemeClr val="tx1"/>
                          </a:solidFill>
                          <a:latin typeface="標楷體" pitchFamily="65" charset="-120"/>
                          <a:ea typeface="標楷體" pitchFamily="65" charset="-120"/>
                          <a:cs typeface="Arial"/>
                          <a:sym typeface="Arial"/>
                        </a:rPr>
                        <a:t>空間移轉）</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zh-TW" altLang="en-US" sz="1800" b="0" i="0" u="none" strike="noStrike" cap="none" dirty="0">
                          <a:solidFill>
                            <a:schemeClr val="tx1"/>
                          </a:solidFill>
                          <a:latin typeface="標楷體" pitchFamily="65" charset="-120"/>
                          <a:ea typeface="標楷體" pitchFamily="65" charset="-120"/>
                          <a:cs typeface="Arial"/>
                          <a:sym typeface="Arial"/>
                        </a:rPr>
                        <a:t>承接日本外移的勞力密集產業，</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臺、韓得以</a:t>
                      </a:r>
                      <a:r>
                        <a:rPr lang="zh-TW" altLang="en-US" sz="1800" b="0" i="0" u="none" strike="noStrike" cap="none" dirty="0">
                          <a:solidFill>
                            <a:srgbClr val="FF0000"/>
                          </a:solidFill>
                          <a:latin typeface="標楷體" pitchFamily="65" charset="-120"/>
                          <a:ea typeface="標楷體" pitchFamily="65" charset="-120"/>
                          <a:cs typeface="Arial"/>
                          <a:sym typeface="Arial"/>
                        </a:rPr>
                        <a:t>開始大量出口</a:t>
                      </a:r>
                      <a:r>
                        <a:rPr lang="zh-TW" altLang="en-US" sz="1800" b="0" i="0" u="none" strike="noStrike" cap="none" dirty="0">
                          <a:solidFill>
                            <a:schemeClr val="tx1"/>
                          </a:solidFill>
                          <a:latin typeface="標楷體" pitchFamily="65" charset="-120"/>
                          <a:ea typeface="標楷體" pitchFamily="65" charset="-120"/>
                          <a:cs typeface="Arial"/>
                          <a:sym typeface="Arial"/>
                        </a:rPr>
                        <a:t>換匯，</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rgbClr val="FF0000"/>
                          </a:solidFill>
                          <a:latin typeface="標楷體" pitchFamily="65" charset="-120"/>
                          <a:ea typeface="標楷體" pitchFamily="65" charset="-120"/>
                          <a:cs typeface="Arial"/>
                          <a:sym typeface="Arial"/>
                        </a:rPr>
                        <a:t>經濟開始快速成長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665649475"/>
                  </a:ext>
                </a:extLst>
              </a:tr>
              <a:tr h="13400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兩國</a:t>
                      </a:r>
                      <a:r>
                        <a:rPr lang="zh-TW" altLang="en-US" sz="1800" b="0" i="0" u="none" strike="noStrike" cap="none" dirty="0">
                          <a:solidFill>
                            <a:srgbClr val="FF0000"/>
                          </a:solidFill>
                          <a:latin typeface="標楷體" pitchFamily="65" charset="-120"/>
                          <a:ea typeface="標楷體" pitchFamily="65" charset="-120"/>
                          <a:cs typeface="Arial"/>
                          <a:sym typeface="Arial"/>
                        </a:rPr>
                        <a:t>承襲日本重化工業</a:t>
                      </a:r>
                      <a:r>
                        <a:rPr lang="zh-TW" altLang="en-US" sz="1800" b="0" i="0" u="none" strike="noStrike" cap="none" dirty="0">
                          <a:solidFill>
                            <a:schemeClr val="tx1"/>
                          </a:solidFill>
                          <a:latin typeface="標楷體" pitchFamily="65" charset="-120"/>
                          <a:ea typeface="標楷體" pitchFamily="65" charset="-120"/>
                          <a:cs typeface="Arial"/>
                          <a:sym typeface="Arial"/>
                        </a:rPr>
                        <a:t>，</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rgbClr val="FF0000"/>
                          </a:solidFill>
                          <a:latin typeface="標楷體" pitchFamily="65" charset="-120"/>
                          <a:ea typeface="標楷體" pitchFamily="65" charset="-120"/>
                          <a:cs typeface="Arial"/>
                          <a:sym typeface="Arial"/>
                        </a:rPr>
                        <a:t>讓國內生產材料得以自給</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產業升級，鋼鐵、造船產</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業日漸</a:t>
                      </a:r>
                      <a:r>
                        <a:rPr lang="zh-TW" altLang="en-US" sz="1800" b="0" i="0" u="none" strike="noStrike" cap="none" dirty="0">
                          <a:solidFill>
                            <a:srgbClr val="FF0000"/>
                          </a:solidFill>
                          <a:latin typeface="標楷體" pitchFamily="65" charset="-120"/>
                          <a:ea typeface="標楷體" pitchFamily="65" charset="-120"/>
                          <a:cs typeface="Arial"/>
                          <a:sym typeface="Arial"/>
                        </a:rPr>
                        <a:t>搶食日本</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出口市場</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a:xfrm>
            <a:off x="6581754" y="6487804"/>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35</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nvGraphicFramePr>
        <p:xfrm>
          <a:off x="4597645" y="5375950"/>
          <a:ext cx="8856984" cy="1145018"/>
        </p:xfrm>
        <a:graphic>
          <a:graphicData uri="http://schemas.openxmlformats.org/drawingml/2006/table">
            <a:tbl>
              <a:tblPr/>
              <a:tblGrid>
                <a:gridCol w="1342507">
                  <a:extLst>
                    <a:ext uri="{9D8B030D-6E8A-4147-A177-3AD203B41FA5}">
                      <a16:colId xmlns:a16="http://schemas.microsoft.com/office/drawing/2014/main" val="20000"/>
                    </a:ext>
                  </a:extLst>
                </a:gridCol>
                <a:gridCol w="7514477">
                  <a:extLst>
                    <a:ext uri="{9D8B030D-6E8A-4147-A177-3AD203B41FA5}">
                      <a16:colId xmlns:a16="http://schemas.microsoft.com/office/drawing/2014/main" val="20001"/>
                    </a:ext>
                  </a:extLst>
                </a:gridCol>
              </a:tblGrid>
              <a:tr h="114501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a:t>
                      </a:r>
                      <a:r>
                        <a:rPr lang="zh-TW" altLang="en-US" sz="1800" b="0" i="0" u="none" strike="noStrike" cap="none" dirty="0">
                          <a:solidFill>
                            <a:schemeClr val="tx1"/>
                          </a:solidFill>
                          <a:latin typeface="標楷體" pitchFamily="65" charset="-120"/>
                          <a:ea typeface="標楷體" pitchFamily="65" charset="-120"/>
                          <a:cs typeface="Arial"/>
                          <a:sym typeface="Arial"/>
                        </a:rPr>
                        <a:t>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rgbClr val="FF0000"/>
                          </a:solidFill>
                          <a:latin typeface="標楷體" pitchFamily="65" charset="-120"/>
                          <a:ea typeface="標楷體" pitchFamily="65" charset="-120"/>
                          <a:cs typeface="Arial"/>
                          <a:sym typeface="Arial"/>
                        </a:rPr>
                        <a:t>臺</a:t>
                      </a:r>
                      <a:r>
                        <a:rPr lang="zh-TW" altLang="en-US" sz="1800" b="0" i="0" u="none" strike="noStrike" cap="none" dirty="0">
                          <a:solidFill>
                            <a:schemeClr val="tx1"/>
                          </a:solidFill>
                          <a:latin typeface="標楷體" pitchFamily="65" charset="-120"/>
                          <a:ea typeface="標楷體" pitchFamily="65" charset="-120"/>
                          <a:cs typeface="Arial"/>
                          <a:sym typeface="Arial"/>
                        </a:rPr>
                        <a:t>灣建立</a:t>
                      </a:r>
                      <a:r>
                        <a:rPr lang="zh-TW" altLang="en-US" sz="1800" b="0" i="0" u="none" strike="noStrike" cap="none" dirty="0">
                          <a:solidFill>
                            <a:srgbClr val="FF0000"/>
                          </a:solidFill>
                          <a:latin typeface="標楷體" pitchFamily="65" charset="-120"/>
                          <a:ea typeface="標楷體" pitchFamily="65" charset="-120"/>
                          <a:cs typeface="Arial"/>
                          <a:sym typeface="Arial"/>
                        </a:rPr>
                        <a:t>科學工業園區</a:t>
                      </a:r>
                      <a:r>
                        <a:rPr lang="zh-TW" altLang="en-US" sz="1800" b="0" i="0" u="none" strike="noStrike" cap="none" dirty="0">
                          <a:solidFill>
                            <a:schemeClr val="tx1"/>
                          </a:solidFill>
                          <a:latin typeface="標楷體" pitchFamily="65" charset="-120"/>
                          <a:ea typeface="標楷體" pitchFamily="65" charset="-120"/>
                          <a:cs typeface="Arial"/>
                          <a:sym typeface="Arial"/>
                        </a:rPr>
                        <a:t>發展</a:t>
                      </a:r>
                      <a:r>
                        <a:rPr lang="zh-TW" altLang="en-US" sz="1800" b="0" i="0" u="none" strike="noStrike" cap="none" dirty="0">
                          <a:solidFill>
                            <a:srgbClr val="FF0000"/>
                          </a:solidFill>
                          <a:latin typeface="標楷體" pitchFamily="65" charset="-120"/>
                          <a:ea typeface="標楷體" pitchFamily="65" charset="-120"/>
                          <a:cs typeface="Arial"/>
                          <a:sym typeface="Arial"/>
                        </a:rPr>
                        <a:t>半導體</a:t>
                      </a:r>
                      <a:r>
                        <a:rPr lang="zh-TW" altLang="en-US" sz="1800" b="0" i="0" u="none" strike="noStrike" cap="none" dirty="0">
                          <a:solidFill>
                            <a:schemeClr val="tx1"/>
                          </a:solidFill>
                          <a:latin typeface="標楷體" pitchFamily="65" charset="-120"/>
                          <a:ea typeface="標楷體" pitchFamily="65" charset="-120"/>
                          <a:cs typeface="Arial"/>
                          <a:sym typeface="Arial"/>
                        </a:rPr>
                        <a:t>產業聚落</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南韓</a:t>
                      </a:r>
                      <a:r>
                        <a:rPr lang="zh-TW" altLang="en-US" sz="1800" b="0" i="0" u="none" strike="noStrike" cap="none" dirty="0">
                          <a:solidFill>
                            <a:schemeClr val="tx1"/>
                          </a:solidFill>
                          <a:latin typeface="標楷體" pitchFamily="65" charset="-120"/>
                          <a:ea typeface="標楷體" pitchFamily="65" charset="-120"/>
                          <a:cs typeface="Arial"/>
                          <a:sym typeface="Arial"/>
                        </a:rPr>
                        <a:t>透過</a:t>
                      </a:r>
                      <a:r>
                        <a:rPr lang="zh-TW" altLang="en-US" sz="1800" b="0" i="0" u="none" strike="noStrike" cap="none" dirty="0">
                          <a:solidFill>
                            <a:srgbClr val="FF0000"/>
                          </a:solidFill>
                          <a:latin typeface="標楷體" pitchFamily="65" charset="-120"/>
                          <a:ea typeface="標楷體" pitchFamily="65" charset="-120"/>
                          <a:cs typeface="Arial"/>
                          <a:sym typeface="Arial"/>
                        </a:rPr>
                        <a:t>財閥三星集團</a:t>
                      </a:r>
                      <a:r>
                        <a:rPr lang="zh-TW" altLang="en-US" sz="1800" b="0" i="0" u="none" strike="noStrike" cap="none" dirty="0">
                          <a:solidFill>
                            <a:schemeClr val="tx1"/>
                          </a:solidFill>
                          <a:latin typeface="標楷體" pitchFamily="65" charset="-120"/>
                          <a:ea typeface="標楷體" pitchFamily="65" charset="-120"/>
                          <a:cs typeface="Arial"/>
                          <a:sym typeface="Arial"/>
                        </a:rPr>
                        <a:t>逐步展開世界</a:t>
                      </a:r>
                      <a:r>
                        <a:rPr lang="zh-TW" altLang="en-US" sz="1800" b="0" i="0" u="none" strike="noStrike" cap="none" dirty="0">
                          <a:solidFill>
                            <a:srgbClr val="FF0000"/>
                          </a:solidFill>
                          <a:latin typeface="標楷體" pitchFamily="65" charset="-120"/>
                          <a:ea typeface="標楷體" pitchFamily="65" charset="-120"/>
                          <a:cs typeface="Arial"/>
                          <a:sym typeface="Arial"/>
                        </a:rPr>
                        <a:t>電子業</a:t>
                      </a:r>
                      <a:r>
                        <a:rPr lang="zh-TW" altLang="en-US" sz="1800" b="0" i="0" u="none" strike="noStrike" cap="none" dirty="0">
                          <a:solidFill>
                            <a:schemeClr val="tx1"/>
                          </a:solidFill>
                          <a:latin typeface="標楷體" pitchFamily="65" charset="-120"/>
                          <a:ea typeface="標楷體" pitchFamily="65" charset="-120"/>
                          <a:cs typeface="Arial"/>
                          <a:sym typeface="Arial"/>
                        </a:rPr>
                        <a:t>大國的版圖</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bl>
          </a:graphicData>
        </a:graphic>
      </p:graphicFrame>
      <p:sp>
        <p:nvSpPr>
          <p:cNvPr id="10" name="矩形 9"/>
          <p:cNvSpPr>
            <a:spLocks noChangeArrowheads="1"/>
          </p:cNvSpPr>
          <p:nvPr/>
        </p:nvSpPr>
        <p:spPr bwMode="auto">
          <a:xfrm>
            <a:off x="4760350" y="-54956"/>
            <a:ext cx="113043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None/>
            </a:pPr>
            <a:r>
              <a:rPr lang="en-US" altLang="zh-TW" sz="3200" dirty="0" err="1">
                <a:solidFill>
                  <a:srgbClr val="FF0000"/>
                </a:solidFill>
              </a:rPr>
              <a:t>p.179</a:t>
            </a:r>
            <a:endParaRPr lang="zh-TW" altLang="en-US" sz="3200" b="0" dirty="0"/>
          </a:p>
          <a:p>
            <a:pPr eaLnBrk="1" hangingPunct="1">
              <a:spcBef>
                <a:spcPct val="0"/>
              </a:spcBef>
              <a:buFontTx/>
              <a:buNone/>
            </a:pPr>
            <a:r>
              <a:rPr lang="en-US" altLang="zh-TW" dirty="0" err="1">
                <a:solidFill>
                  <a:srgbClr val="FF0000"/>
                </a:solidFill>
              </a:rPr>
              <a:t>p.206</a:t>
            </a:r>
            <a:endParaRPr lang="zh-TW" altLang="en-US" b="0" dirty="0"/>
          </a:p>
        </p:txBody>
      </p:sp>
      <p:sp>
        <p:nvSpPr>
          <p:cNvPr id="11" name="矩形 10">
            <a:extLst>
              <a:ext uri="{FF2B5EF4-FFF2-40B4-BE49-F238E27FC236}">
                <a16:creationId xmlns:a16="http://schemas.microsoft.com/office/drawing/2014/main" id="{A3E4E45B-DF22-41F7-B4CA-B5264CA62C89}"/>
              </a:ext>
            </a:extLst>
          </p:cNvPr>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2" name="Rectangle 3">
            <a:extLst>
              <a:ext uri="{FF2B5EF4-FFF2-40B4-BE49-F238E27FC236}">
                <a16:creationId xmlns:a16="http://schemas.microsoft.com/office/drawing/2014/main" id="{743039B2-1BA9-43F3-BCEC-8F5569038F34}"/>
              </a:ext>
            </a:extLst>
          </p:cNvPr>
          <p:cNvSpPr txBox="1">
            <a:spLocks noChangeArrowheads="1"/>
          </p:cNvSpPr>
          <p:nvPr/>
        </p:nvSpPr>
        <p:spPr>
          <a:xfrm>
            <a:off x="1130438" y="379494"/>
            <a:ext cx="4169994"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13" name="Group 47">
            <a:extLst>
              <a:ext uri="{FF2B5EF4-FFF2-40B4-BE49-F238E27FC236}">
                <a16:creationId xmlns:a16="http://schemas.microsoft.com/office/drawing/2014/main" id="{7BB305F9-4305-49F5-A165-1E44B74D7075}"/>
              </a:ext>
            </a:extLst>
          </p:cNvPr>
          <p:cNvGraphicFramePr>
            <a:graphicFrameLocks noGrp="1"/>
          </p:cNvGraphicFramePr>
          <p:nvPr/>
        </p:nvGraphicFramePr>
        <p:xfrm>
          <a:off x="1" y="1094993"/>
          <a:ext cx="4571999" cy="2913422"/>
        </p:xfrm>
        <a:graphic>
          <a:graphicData uri="http://schemas.openxmlformats.org/drawingml/2006/table">
            <a:tbl>
              <a:tblPr/>
              <a:tblGrid>
                <a:gridCol w="2051719">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4" name="表格 13">
            <a:extLst>
              <a:ext uri="{FF2B5EF4-FFF2-40B4-BE49-F238E27FC236}">
                <a16:creationId xmlns:a16="http://schemas.microsoft.com/office/drawing/2014/main" id="{5C0BB99D-35B9-46DC-9438-3085C37FCFB5}"/>
              </a:ext>
            </a:extLst>
          </p:cNvPr>
          <p:cNvGraphicFramePr>
            <a:graphicFrameLocks noGrp="1"/>
          </p:cNvGraphicFramePr>
          <p:nvPr/>
        </p:nvGraphicFramePr>
        <p:xfrm>
          <a:off x="0" y="4047321"/>
          <a:ext cx="4571999" cy="2591167"/>
        </p:xfrm>
        <a:graphic>
          <a:graphicData uri="http://schemas.openxmlformats.org/drawingml/2006/table">
            <a:tbl>
              <a:tblPr/>
              <a:tblGrid>
                <a:gridCol w="2051720">
                  <a:extLst>
                    <a:ext uri="{9D8B030D-6E8A-4147-A177-3AD203B41FA5}">
                      <a16:colId xmlns:a16="http://schemas.microsoft.com/office/drawing/2014/main" val="20000"/>
                    </a:ext>
                  </a:extLst>
                </a:gridCol>
                <a:gridCol w="2520279">
                  <a:extLst>
                    <a:ext uri="{9D8B030D-6E8A-4147-A177-3AD203B41FA5}">
                      <a16:colId xmlns:a16="http://schemas.microsoft.com/office/drawing/2014/main" val="20001"/>
                    </a:ext>
                  </a:extLst>
                </a:gridCol>
              </a:tblGrid>
              <a:tr h="110987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低耗能特性的半導體、電子產業急遽成長</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 name="矩形 16">
            <a:extLst>
              <a:ext uri="{FF2B5EF4-FFF2-40B4-BE49-F238E27FC236}">
                <a16:creationId xmlns:a16="http://schemas.microsoft.com/office/drawing/2014/main" id="{96775E72-ABC1-41BC-968A-53A493035B43}"/>
              </a:ext>
            </a:extLst>
          </p:cNvPr>
          <p:cNvSpPr>
            <a:spLocks noChangeArrowheads="1"/>
          </p:cNvSpPr>
          <p:nvPr/>
        </p:nvSpPr>
        <p:spPr bwMode="auto">
          <a:xfrm>
            <a:off x="2987824" y="5287338"/>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
        <p:nvSpPr>
          <p:cNvPr id="15" name="矩形 14">
            <a:extLst>
              <a:ext uri="{FF2B5EF4-FFF2-40B4-BE49-F238E27FC236}">
                <a16:creationId xmlns:a16="http://schemas.microsoft.com/office/drawing/2014/main" id="{8ADFDAD2-63E7-4DE8-8FC7-3C9786A5E00A}"/>
              </a:ext>
            </a:extLst>
          </p:cNvPr>
          <p:cNvSpPr/>
          <p:nvPr/>
        </p:nvSpPr>
        <p:spPr>
          <a:xfrm>
            <a:off x="-26116" y="6082848"/>
            <a:ext cx="4571999" cy="58477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9559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a:xfrm>
            <a:off x="228656" y="210302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1243409" y="-42122"/>
            <a:ext cx="432048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TW" altLang="en-US" sz="3600" dirty="0">
                <a:latin typeface="標楷體" pitchFamily="65" charset="-120"/>
                <a:ea typeface="標楷體" pitchFamily="65" charset="-120"/>
              </a:rPr>
              <a:t>二、</a:t>
            </a:r>
            <a:r>
              <a:rPr lang="zh-TW" altLang="en-US" sz="3600" dirty="0">
                <a:solidFill>
                  <a:srgbClr val="FF0000"/>
                </a:solidFill>
                <a:latin typeface="標楷體" pitchFamily="65" charset="-120"/>
                <a:ea typeface="標楷體" pitchFamily="65" charset="-120"/>
              </a:rPr>
              <a:t>文化產業興起</a:t>
            </a:r>
            <a:endParaRPr lang="en-US" altLang="zh-TW" sz="3600" dirty="0">
              <a:solidFill>
                <a:srgbClr val="FF0000"/>
              </a:solidFill>
              <a:latin typeface="標楷體" pitchFamily="65" charset="-120"/>
              <a:ea typeface="標楷體" pitchFamily="65" charset="-120"/>
            </a:endParaRPr>
          </a:p>
        </p:txBody>
      </p:sp>
      <p:sp>
        <p:nvSpPr>
          <p:cNvPr id="7" name="Rectangle 3"/>
          <p:cNvSpPr txBox="1">
            <a:spLocks noChangeArrowheads="1"/>
          </p:cNvSpPr>
          <p:nvPr/>
        </p:nvSpPr>
        <p:spPr>
          <a:xfrm>
            <a:off x="46341" y="627327"/>
            <a:ext cx="9097659" cy="107175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東亞國家</a:t>
            </a:r>
            <a:r>
              <a:rPr lang="zh-TW" altLang="en-US" dirty="0">
                <a:solidFill>
                  <a:srgbClr val="FF0000"/>
                </a:solidFill>
                <a:latin typeface="標楷體" pitchFamily="65" charset="-120"/>
                <a:ea typeface="標楷體" pitchFamily="65" charset="-120"/>
              </a:rPr>
              <a:t>先後</a:t>
            </a:r>
            <a:r>
              <a:rPr lang="zh-TW" altLang="en-US" dirty="0">
                <a:latin typeface="標楷體" pitchFamily="65" charset="-120"/>
                <a:ea typeface="標楷體" pitchFamily="65" charset="-120"/>
              </a:rPr>
              <a:t>面臨</a:t>
            </a:r>
            <a:r>
              <a:rPr lang="zh-TW" altLang="en-US" dirty="0">
                <a:solidFill>
                  <a:srgbClr val="FF0000"/>
                </a:solidFill>
                <a:latin typeface="標楷體" pitchFamily="65" charset="-120"/>
                <a:ea typeface="標楷體" pitchFamily="65" charset="-120"/>
              </a:rPr>
              <a:t>製造業衰退</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進入後工業化</a:t>
            </a:r>
            <a:r>
              <a:rPr lang="zh-TW" altLang="en-US" dirty="0">
                <a:latin typeface="標楷體" pitchFamily="65" charset="-120"/>
                <a:ea typeface="標楷體" pitchFamily="65" charset="-120"/>
              </a:rPr>
              <a:t>歷程。</a:t>
            </a:r>
            <a:r>
              <a:rPr lang="en-US" altLang="zh-TW" dirty="0">
                <a:solidFill>
                  <a:srgbClr val="FF0000"/>
                </a:solidFill>
                <a:latin typeface="標楷體" pitchFamily="65" charset="-120"/>
                <a:ea typeface="標楷體" pitchFamily="65" charset="-120"/>
              </a:rPr>
              <a:t>1990 </a:t>
            </a:r>
            <a:r>
              <a:rPr lang="zh-TW" altLang="en-US" dirty="0">
                <a:solidFill>
                  <a:srgbClr val="FF0000"/>
                </a:solidFill>
                <a:latin typeface="標楷體" pitchFamily="65" charset="-120"/>
                <a:ea typeface="標楷體" pitchFamily="65" charset="-120"/>
              </a:rPr>
              <a:t>年代，日本、南韓皆喊出文化立國</a:t>
            </a:r>
            <a:r>
              <a:rPr lang="zh-TW" altLang="en-US" dirty="0">
                <a:latin typeface="標楷體" pitchFamily="65" charset="-120"/>
                <a:ea typeface="標楷體" pitchFamily="65" charset="-120"/>
              </a:rPr>
              <a:t>，發展出各自強項影響世界，並藉由輸出海外以賺取外匯，支撐國內經濟。</a:t>
            </a:r>
          </a:p>
        </p:txBody>
      </p:sp>
      <p:graphicFrame>
        <p:nvGraphicFramePr>
          <p:cNvPr id="9" name="Group 47"/>
          <p:cNvGraphicFramePr>
            <a:graphicFrameLocks noGrp="1"/>
          </p:cNvGraphicFramePr>
          <p:nvPr/>
        </p:nvGraphicFramePr>
        <p:xfrm>
          <a:off x="248763" y="1728319"/>
          <a:ext cx="8712968" cy="1614312"/>
        </p:xfrm>
        <a:graphic>
          <a:graphicData uri="http://schemas.openxmlformats.org/drawingml/2006/table">
            <a:tbl>
              <a:tblPr/>
              <a:tblGrid>
                <a:gridCol w="650829">
                  <a:extLst>
                    <a:ext uri="{9D8B030D-6E8A-4147-A177-3AD203B41FA5}">
                      <a16:colId xmlns:a16="http://schemas.microsoft.com/office/drawing/2014/main" val="20000"/>
                    </a:ext>
                  </a:extLst>
                </a:gridCol>
                <a:gridCol w="8062139">
                  <a:extLst>
                    <a:ext uri="{9D8B030D-6E8A-4147-A177-3AD203B41FA5}">
                      <a16:colId xmlns:a16="http://schemas.microsoft.com/office/drawing/2014/main" val="20001"/>
                    </a:ext>
                  </a:extLst>
                </a:gridCol>
              </a:tblGrid>
              <a:tr h="352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國家</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發展策略</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616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日本</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以</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為核心，發展出龐大的商業鏈，從熱門漫畫、動畫，衍生出轉製的</a:t>
                      </a:r>
                      <a:r>
                        <a:rPr lang="zh-TW" altLang="en-US" sz="2000" b="0" i="0" u="none" strike="noStrike" cap="none" dirty="0">
                          <a:solidFill>
                            <a:srgbClr val="FF0000"/>
                          </a:solidFill>
                          <a:latin typeface="標楷體" pitchFamily="65" charset="-120"/>
                          <a:ea typeface="標楷體" pitchFamily="65" charset="-120"/>
                          <a:cs typeface="Arial"/>
                          <a:sym typeface="Arial"/>
                        </a:rPr>
                        <a:t>電玩、電影</a:t>
                      </a:r>
                      <a:r>
                        <a:rPr lang="zh-TW" altLang="en-US" sz="2000" b="0" i="0" u="none" strike="noStrike" cap="none" dirty="0">
                          <a:solidFill>
                            <a:schemeClr val="tx1"/>
                          </a:solidFill>
                          <a:latin typeface="標楷體" pitchFamily="65" charset="-120"/>
                          <a:ea typeface="標楷體" pitchFamily="65" charset="-120"/>
                          <a:cs typeface="Arial"/>
                          <a:sym typeface="Arial"/>
                        </a:rPr>
                        <a:t>，並透過商業授權周邊商品等方式進行加值</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總計相關年產值超過 </a:t>
                      </a:r>
                      <a:r>
                        <a:rPr lang="en-US" altLang="zh-TW" sz="2000" b="0" i="0" u="none" strike="noStrike" cap="none" dirty="0">
                          <a:solidFill>
                            <a:schemeClr val="tx1"/>
                          </a:solidFill>
                          <a:latin typeface="標楷體" pitchFamily="65" charset="-120"/>
                          <a:ea typeface="標楷體" pitchFamily="65" charset="-120"/>
                          <a:cs typeface="Arial"/>
                          <a:sym typeface="Arial"/>
                        </a:rPr>
                        <a:t>240 </a:t>
                      </a:r>
                      <a:r>
                        <a:rPr lang="zh-TW" altLang="en-US" sz="2000" b="0" i="0" u="none" strike="noStrike" cap="none" dirty="0">
                          <a:solidFill>
                            <a:schemeClr val="tx1"/>
                          </a:solidFill>
                          <a:latin typeface="標楷體" pitchFamily="65" charset="-120"/>
                          <a:ea typeface="標楷體" pitchFamily="65" charset="-120"/>
                          <a:cs typeface="Arial"/>
                          <a:sym typeface="Arial"/>
                        </a:rPr>
                        <a:t>兆日圓，</a:t>
                      </a:r>
                      <a:r>
                        <a:rPr lang="zh-TW" altLang="en-US" sz="2000" b="0" i="0" u="none" strike="noStrike" cap="none" dirty="0">
                          <a:solidFill>
                            <a:srgbClr val="FF00FF"/>
                          </a:solidFill>
                          <a:latin typeface="標楷體" pitchFamily="65" charset="-120"/>
                          <a:ea typeface="標楷體" pitchFamily="65" charset="-120"/>
                          <a:cs typeface="Arial"/>
                          <a:sym typeface="Arial"/>
                        </a:rPr>
                        <a:t>占全球產量 </a:t>
                      </a:r>
                      <a:r>
                        <a:rPr lang="en-US" altLang="zh-TW" sz="2000" b="0" i="0" u="none" strike="noStrike" cap="none" dirty="0">
                          <a:solidFill>
                            <a:srgbClr val="FF00FF"/>
                          </a:solidFill>
                          <a:latin typeface="標楷體" pitchFamily="65" charset="-120"/>
                          <a:ea typeface="標楷體" pitchFamily="65" charset="-120"/>
                          <a:cs typeface="Arial"/>
                          <a:sym typeface="Arial"/>
                        </a:rPr>
                        <a:t>6 </a:t>
                      </a:r>
                      <a:r>
                        <a:rPr lang="zh-TW" altLang="en-US" sz="2000" b="0" i="0" u="none" strike="noStrike" cap="none" dirty="0">
                          <a:solidFill>
                            <a:srgbClr val="FF00FF"/>
                          </a:solidFill>
                          <a:latin typeface="標楷體" pitchFamily="65" charset="-120"/>
                          <a:ea typeface="標楷體" pitchFamily="65" charset="-120"/>
                          <a:cs typeface="Arial"/>
                          <a:sym typeface="Arial"/>
                        </a:rPr>
                        <a:t>成，為日本第三大產業，成為繼美國之後另一個文化輸出大國</a:t>
                      </a:r>
                      <a:endParaRPr lang="en-US" altLang="zh-TW" sz="2000" b="0" i="0" u="none" strike="noStrike" cap="none" dirty="0">
                        <a:solidFill>
                          <a:srgbClr val="FF00FF"/>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p:cNvSpPr>
            <a:spLocks noChangeArrowheads="1"/>
          </p:cNvSpPr>
          <p:nvPr/>
        </p:nvSpPr>
        <p:spPr bwMode="auto">
          <a:xfrm>
            <a:off x="1839747" y="2049250"/>
            <a:ext cx="8704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動漫</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36</a:t>
            </a:fld>
            <a:endParaRPr lang="zh-TW" sz="1400">
              <a:solidFill>
                <a:schemeClr val="dk1"/>
              </a:solidFill>
              <a:latin typeface="Arial"/>
              <a:ea typeface="Arial"/>
              <a:cs typeface="Arial"/>
              <a:sym typeface="Arial"/>
            </a:endParaRPr>
          </a:p>
        </p:txBody>
      </p:sp>
      <p:graphicFrame>
        <p:nvGraphicFramePr>
          <p:cNvPr id="11" name="Group 47"/>
          <p:cNvGraphicFramePr>
            <a:graphicFrameLocks noGrp="1"/>
          </p:cNvGraphicFramePr>
          <p:nvPr/>
        </p:nvGraphicFramePr>
        <p:xfrm>
          <a:off x="226153" y="3355180"/>
          <a:ext cx="8735578" cy="1970633"/>
        </p:xfrm>
        <a:graphic>
          <a:graphicData uri="http://schemas.openxmlformats.org/drawingml/2006/table">
            <a:tbl>
              <a:tblPr/>
              <a:tblGrid>
                <a:gridCol w="670936">
                  <a:extLst>
                    <a:ext uri="{9D8B030D-6E8A-4147-A177-3AD203B41FA5}">
                      <a16:colId xmlns:a16="http://schemas.microsoft.com/office/drawing/2014/main" val="20000"/>
                    </a:ext>
                  </a:extLst>
                </a:gridCol>
                <a:gridCol w="8064642">
                  <a:extLst>
                    <a:ext uri="{9D8B030D-6E8A-4147-A177-3AD203B41FA5}">
                      <a16:colId xmlns:a16="http://schemas.microsoft.com/office/drawing/2014/main" val="20001"/>
                    </a:ext>
                  </a:extLst>
                </a:gridCol>
              </a:tblGrid>
              <a:tr h="197063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韓</a:t>
                      </a:r>
                      <a:r>
                        <a:rPr lang="zh-TW" altLang="en-US" sz="2000" b="0" i="0" u="none" strike="noStrike" cap="none" dirty="0">
                          <a:solidFill>
                            <a:schemeClr val="tx1"/>
                          </a:solidFill>
                          <a:latin typeface="標楷體" pitchFamily="65" charset="-120"/>
                          <a:ea typeface="標楷體" pitchFamily="65" charset="-120"/>
                          <a:cs typeface="Arial"/>
                          <a:sym typeface="Arial"/>
                        </a:rPr>
                        <a:t>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致力</a:t>
                      </a:r>
                      <a:r>
                        <a:rPr lang="zh-TW" altLang="en-US" sz="2000" b="0" i="0" u="none" strike="noStrike" cap="none" dirty="0">
                          <a:solidFill>
                            <a:srgbClr val="FF0000"/>
                          </a:solidFill>
                          <a:latin typeface="標楷體" pitchFamily="65" charset="-120"/>
                          <a:ea typeface="標楷體" pitchFamily="65" charset="-120"/>
                          <a:cs typeface="Arial"/>
                          <a:sym typeface="Arial"/>
                        </a:rPr>
                        <a:t>扶植</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產業，透過銀幕配額保護韓片消費市場，並提供拍片獎勵及協助籌措資金等</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en-US" altLang="zh-TW" sz="2000" b="0" i="0" u="none" strike="noStrike" cap="none" dirty="0">
                          <a:solidFill>
                            <a:schemeClr val="tx1"/>
                          </a:solidFill>
                          <a:latin typeface="標楷體" pitchFamily="65" charset="-120"/>
                          <a:ea typeface="標楷體" pitchFamily="65" charset="-120"/>
                          <a:cs typeface="Arial"/>
                          <a:sym typeface="Arial"/>
                        </a:rPr>
                        <a:t>2.K-pop </a:t>
                      </a:r>
                      <a:r>
                        <a:rPr lang="zh-TW" altLang="en-US" sz="2000" b="0" i="0" u="none" strike="noStrike" cap="none" dirty="0">
                          <a:solidFill>
                            <a:srgbClr val="FF0000"/>
                          </a:solidFill>
                          <a:latin typeface="標楷體" pitchFamily="65" charset="-120"/>
                          <a:ea typeface="標楷體" pitchFamily="65" charset="-120"/>
                          <a:cs typeface="Arial"/>
                          <a:sym typeface="Arial"/>
                        </a:rPr>
                        <a:t>流行音樂打入國際</a:t>
                      </a:r>
                      <a:r>
                        <a:rPr lang="zh-TW" altLang="en-US" sz="2000" b="0" i="0" u="none" strike="noStrike" cap="none" dirty="0">
                          <a:solidFill>
                            <a:schemeClr val="tx1"/>
                          </a:solidFill>
                          <a:latin typeface="標楷體" pitchFamily="65" charset="-120"/>
                          <a:ea typeface="標楷體" pitchFamily="65" charset="-120"/>
                          <a:cs typeface="Arial"/>
                          <a:sym typeface="Arial"/>
                        </a:rPr>
                        <a:t>，透過跨國遴選練習生，推動韓團進軍海外</a:t>
                      </a:r>
                    </a:p>
                    <a:p>
                      <a:r>
                        <a:rPr lang="en-US" altLang="zh-TW" sz="2000" b="0" i="0" u="none" strike="noStrike" cap="none" dirty="0">
                          <a:solidFill>
                            <a:schemeClr val="tx1"/>
                          </a:solidFill>
                          <a:latin typeface="標楷體" pitchFamily="65" charset="-120"/>
                          <a:ea typeface="標楷體" pitchFamily="65" charset="-120"/>
                          <a:cs typeface="Arial"/>
                          <a:sym typeface="Arial"/>
                        </a:rPr>
                        <a:t>3.</a:t>
                      </a:r>
                      <a:r>
                        <a:rPr lang="zh-TW" altLang="en-US" sz="2000" b="0" i="0" u="none" strike="noStrike" cap="none" dirty="0">
                          <a:solidFill>
                            <a:schemeClr val="tx1"/>
                          </a:solidFill>
                          <a:latin typeface="標楷體" pitchFamily="65" charset="-120"/>
                          <a:ea typeface="標楷體" pitchFamily="65" charset="-120"/>
                          <a:cs typeface="Arial"/>
                          <a:sym typeface="Arial"/>
                        </a:rPr>
                        <a:t>推動</a:t>
                      </a:r>
                      <a:r>
                        <a:rPr lang="zh-TW" altLang="en-US" sz="2000" b="0" i="0" u="none" strike="noStrike" cap="none" dirty="0">
                          <a:solidFill>
                            <a:srgbClr val="FF0000"/>
                          </a:solidFill>
                          <a:latin typeface="標楷體" pitchFamily="65" charset="-120"/>
                          <a:ea typeface="標楷體" pitchFamily="65" charset="-120"/>
                          <a:cs typeface="Arial"/>
                          <a:sym typeface="Arial"/>
                        </a:rPr>
                        <a:t>發展</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，政府設立職業電競協會，舉辦賽事將電競運動推往國際。民間視電競選手為民族驕傲，企業也以鉅資培養戰隊來建立公司形象，創造周邊數位遊戲、網路、網咖等產業，</a:t>
                      </a:r>
                      <a:r>
                        <a:rPr lang="zh-TW" altLang="en-US" sz="2000" b="0" i="0" u="none" strike="noStrike" cap="none" dirty="0">
                          <a:solidFill>
                            <a:srgbClr val="FF00FF"/>
                          </a:solidFill>
                          <a:latin typeface="標楷體" pitchFamily="65" charset="-120"/>
                          <a:ea typeface="標楷體" pitchFamily="65" charset="-120"/>
                          <a:cs typeface="Arial"/>
                          <a:sym typeface="Arial"/>
                        </a:rPr>
                        <a:t>年產值近</a:t>
                      </a:r>
                      <a:r>
                        <a:rPr lang="en-US" altLang="zh-TW" sz="2000" b="0" i="0" u="none" strike="noStrike" cap="none" dirty="0">
                          <a:solidFill>
                            <a:srgbClr val="FF00FF"/>
                          </a:solidFill>
                          <a:latin typeface="標楷體" pitchFamily="65" charset="-120"/>
                          <a:ea typeface="標楷體" pitchFamily="65" charset="-120"/>
                          <a:cs typeface="Arial"/>
                          <a:sym typeface="Arial"/>
                        </a:rPr>
                        <a:t>400</a:t>
                      </a:r>
                      <a:r>
                        <a:rPr lang="zh-TW" altLang="en-US" sz="2000" b="0" i="0" u="none" strike="noStrike" cap="none" dirty="0">
                          <a:solidFill>
                            <a:srgbClr val="FF00FF"/>
                          </a:solidFill>
                          <a:latin typeface="標楷體" pitchFamily="65" charset="-120"/>
                          <a:ea typeface="標楷體" pitchFamily="65" charset="-120"/>
                          <a:cs typeface="Arial"/>
                          <a:sym typeface="Arial"/>
                        </a:rPr>
                        <a:t>億美元</a:t>
                      </a:r>
                      <a:endParaRPr lang="en-US" altLang="zh-TW" sz="2000" b="0" i="0" u="none" strike="noStrike" cap="none" dirty="0">
                        <a:solidFill>
                          <a:srgbClr val="FF00FF"/>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 name="矩形 11"/>
          <p:cNvSpPr>
            <a:spLocks noChangeArrowheads="1"/>
          </p:cNvSpPr>
          <p:nvPr/>
        </p:nvSpPr>
        <p:spPr bwMode="auto">
          <a:xfrm>
            <a:off x="2411760" y="3351573"/>
            <a:ext cx="866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電影</a:t>
            </a:r>
          </a:p>
        </p:txBody>
      </p:sp>
      <p:sp>
        <p:nvSpPr>
          <p:cNvPr id="13" name="矩形 12"/>
          <p:cNvSpPr>
            <a:spLocks noChangeArrowheads="1"/>
          </p:cNvSpPr>
          <p:nvPr/>
        </p:nvSpPr>
        <p:spPr bwMode="auto">
          <a:xfrm>
            <a:off x="3848477" y="3351573"/>
            <a:ext cx="866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電視</a:t>
            </a:r>
          </a:p>
        </p:txBody>
      </p:sp>
      <p:sp>
        <p:nvSpPr>
          <p:cNvPr id="14" name="矩形 13"/>
          <p:cNvSpPr>
            <a:spLocks noChangeArrowheads="1"/>
          </p:cNvSpPr>
          <p:nvPr/>
        </p:nvSpPr>
        <p:spPr bwMode="auto">
          <a:xfrm>
            <a:off x="2411760" y="4258431"/>
            <a:ext cx="8666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電競</a:t>
            </a:r>
          </a:p>
        </p:txBody>
      </p:sp>
      <p:sp>
        <p:nvSpPr>
          <p:cNvPr id="15" name="Rectangle 3"/>
          <p:cNvSpPr txBox="1">
            <a:spLocks noChangeArrowheads="1"/>
          </p:cNvSpPr>
          <p:nvPr/>
        </p:nvSpPr>
        <p:spPr>
          <a:xfrm>
            <a:off x="240597" y="5247359"/>
            <a:ext cx="8735832" cy="144229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隨著日本動漫、韓劇及 </a:t>
            </a:r>
            <a:r>
              <a:rPr lang="en-US" altLang="zh-TW" dirty="0">
                <a:solidFill>
                  <a:srgbClr val="FF0000"/>
                </a:solidFill>
                <a:latin typeface="標楷體" pitchFamily="65" charset="-120"/>
                <a:ea typeface="標楷體" pitchFamily="65" charset="-120"/>
              </a:rPr>
              <a:t>K-pop </a:t>
            </a:r>
            <a:r>
              <a:rPr lang="zh-TW" altLang="en-US" dirty="0">
                <a:solidFill>
                  <a:srgbClr val="FF0000"/>
                </a:solidFill>
                <a:latin typeface="標楷體" pitchFamily="65" charset="-120"/>
                <a:ea typeface="標楷體" pitchFamily="65" charset="-120"/>
              </a:rPr>
              <a:t>行銷全球</a:t>
            </a:r>
            <a:r>
              <a:rPr lang="zh-TW" altLang="en-US" dirty="0">
                <a:latin typeface="標楷體" pitchFamily="65" charset="-120"/>
                <a:ea typeface="標楷體" pitchFamily="65" charset="-120"/>
              </a:rPr>
              <a:t>，提供</a:t>
            </a:r>
            <a:r>
              <a:rPr lang="zh-TW" altLang="en-US" dirty="0">
                <a:solidFill>
                  <a:srgbClr val="FF0000"/>
                </a:solidFill>
                <a:latin typeface="標楷體" pitchFamily="65" charset="-120"/>
                <a:ea typeface="標楷體" pitchFamily="65" charset="-120"/>
              </a:rPr>
              <a:t>觀光業</a:t>
            </a:r>
            <a:r>
              <a:rPr lang="zh-TW" altLang="en-US" dirty="0">
                <a:latin typeface="標楷體" pitchFamily="65" charset="-120"/>
                <a:ea typeface="標楷體" pitchFamily="65" charset="-120"/>
              </a:rPr>
              <a:t>及</a:t>
            </a:r>
            <a:r>
              <a:rPr lang="zh-TW" altLang="en-US" dirty="0">
                <a:solidFill>
                  <a:srgbClr val="FF0000"/>
                </a:solidFill>
                <a:latin typeface="標楷體" pitchFamily="65" charset="-120"/>
                <a:ea typeface="標楷體" pitchFamily="65" charset="-120"/>
              </a:rPr>
              <a:t>美食、美妝</a:t>
            </a:r>
            <a:r>
              <a:rPr lang="zh-TW" altLang="en-US" dirty="0">
                <a:latin typeface="標楷體" pitchFamily="65" charset="-120"/>
                <a:ea typeface="標楷體" pitchFamily="65" charset="-120"/>
              </a:rPr>
              <a:t>等各產業免費宣傳。動漫、韓劇及 </a:t>
            </a:r>
            <a:r>
              <a:rPr lang="en-US" altLang="zh-TW" dirty="0">
                <a:latin typeface="標楷體" pitchFamily="65" charset="-120"/>
                <a:ea typeface="標楷體" pitchFamily="65" charset="-120"/>
              </a:rPr>
              <a:t>MV </a:t>
            </a:r>
            <a:r>
              <a:rPr lang="zh-TW" altLang="en-US" dirty="0">
                <a:latin typeface="標楷體" pitchFamily="65" charset="-120"/>
                <a:ea typeface="標楷體" pitchFamily="65" charset="-120"/>
              </a:rPr>
              <a:t>中的景點、角色的故鄉等吸引大批觀光客來訪，日、韓劇中出現的飲食、用品成為熱門商品，</a:t>
            </a:r>
            <a:r>
              <a:rPr lang="zh-TW" altLang="en-US" dirty="0">
                <a:solidFill>
                  <a:srgbClr val="FF0000"/>
                </a:solidFill>
                <a:latin typeface="標楷體" pitchFamily="65" charset="-120"/>
                <a:ea typeface="標楷體" pitchFamily="65" charset="-120"/>
              </a:rPr>
              <a:t>創造龐大經濟產值</a:t>
            </a:r>
            <a:r>
              <a:rPr lang="zh-TW" altLang="en-US" dirty="0">
                <a:latin typeface="標楷體" pitchFamily="65" charset="-120"/>
                <a:ea typeface="標楷體" pitchFamily="65" charset="-120"/>
              </a:rPr>
              <a:t>，</a:t>
            </a:r>
            <a:br>
              <a:rPr lang="en-US" altLang="zh-TW" dirty="0">
                <a:latin typeface="標楷體" pitchFamily="65" charset="-120"/>
                <a:ea typeface="標楷體" pitchFamily="65" charset="-120"/>
              </a:rPr>
            </a:br>
            <a:r>
              <a:rPr lang="zh-TW" altLang="en-US" dirty="0">
                <a:latin typeface="標楷體" pitchFamily="65" charset="-120"/>
                <a:ea typeface="標楷體" pitchFamily="65" charset="-120"/>
              </a:rPr>
              <a:t>其他國家紛紛效仿。</a:t>
            </a:r>
          </a:p>
        </p:txBody>
      </p:sp>
      <p:sp>
        <p:nvSpPr>
          <p:cNvPr id="16" name="矩形 15">
            <a:extLst>
              <a:ext uri="{FF2B5EF4-FFF2-40B4-BE49-F238E27FC236}">
                <a16:creationId xmlns:a16="http://schemas.microsoft.com/office/drawing/2014/main" id="{4D57D872-5AA5-4F1F-9F32-2A5C15AB2667}"/>
              </a:ext>
            </a:extLst>
          </p:cNvPr>
          <p:cNvSpPr>
            <a:spLocks noChangeArrowheads="1"/>
          </p:cNvSpPr>
          <p:nvPr/>
        </p:nvSpPr>
        <p:spPr bwMode="auto">
          <a:xfrm>
            <a:off x="109943" y="10732"/>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p.207</a:t>
            </a:r>
            <a:endParaRPr lang="zh-TW" altLang="en-US" b="0" dirty="0"/>
          </a:p>
        </p:txBody>
      </p:sp>
    </p:spTree>
    <p:extLst>
      <p:ext uri="{BB962C8B-B14F-4D97-AF65-F5344CB8AC3E}">
        <p14:creationId xmlns:p14="http://schemas.microsoft.com/office/powerpoint/2010/main" val="182052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21062" y="5251"/>
            <a:ext cx="8696062" cy="647944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600" dirty="0">
                <a:latin typeface="標楷體" pitchFamily="65" charset="-120"/>
                <a:ea typeface="標楷體" pitchFamily="65" charset="-120"/>
              </a:rPr>
              <a:t>    </a:t>
            </a:r>
            <a:endParaRPr lang="en-US" altLang="zh-TW" sz="2600" dirty="0">
              <a:latin typeface="標楷體" pitchFamily="65" charset="-120"/>
              <a:ea typeface="標楷體" pitchFamily="65" charset="-120"/>
            </a:endParaRPr>
          </a:p>
          <a:p>
            <a:endParaRPr lang="en-US" altLang="zh-TW" sz="2600" dirty="0">
              <a:latin typeface="標楷體" pitchFamily="65" charset="-120"/>
              <a:ea typeface="標楷體" pitchFamily="65" charset="-120"/>
            </a:endParaRPr>
          </a:p>
          <a:p>
            <a:endParaRPr lang="en-US" altLang="zh-TW" sz="2600" dirty="0">
              <a:latin typeface="標楷體" pitchFamily="65" charset="-120"/>
              <a:ea typeface="標楷體" pitchFamily="65" charset="-120"/>
            </a:endParaRPr>
          </a:p>
          <a:p>
            <a:r>
              <a:rPr lang="zh-TW" altLang="en-US" sz="2600" dirty="0">
                <a:latin typeface="標楷體" pitchFamily="65" charset="-120"/>
                <a:ea typeface="標楷體" pitchFamily="65" charset="-120"/>
              </a:rPr>
              <a:t>         三、</a:t>
            </a:r>
            <a:r>
              <a:rPr lang="zh-TW" altLang="en-US" sz="2600" dirty="0">
                <a:solidFill>
                  <a:srgbClr val="FF0000"/>
                </a:solidFill>
                <a:latin typeface="標楷體" pitchFamily="65" charset="-120"/>
                <a:ea typeface="標楷體" pitchFamily="65" charset="-120"/>
              </a:rPr>
              <a:t>轉型 資本輸出</a:t>
            </a:r>
            <a:endParaRPr lang="en-US" altLang="zh-TW" sz="2600" dirty="0">
              <a:solidFill>
                <a:srgbClr val="FF0000"/>
              </a:solidFill>
              <a:latin typeface="標楷體" pitchFamily="65" charset="-120"/>
              <a:ea typeface="標楷體" pitchFamily="65" charset="-120"/>
            </a:endParaRPr>
          </a:p>
          <a:p>
            <a:r>
              <a:rPr lang="en-US" altLang="zh-TW" sz="2600" dirty="0">
                <a:latin typeface="標楷體" pitchFamily="65" charset="-120"/>
                <a:ea typeface="標楷體" pitchFamily="65" charset="-120"/>
              </a:rPr>
              <a:t>1.</a:t>
            </a:r>
            <a:r>
              <a:rPr lang="zh-TW" altLang="en-US" sz="2600" dirty="0">
                <a:solidFill>
                  <a:srgbClr val="FF0000"/>
                </a:solidFill>
                <a:latin typeface="標楷體" pitchFamily="65" charset="-120"/>
                <a:ea typeface="標楷體" pitchFamily="65" charset="-120"/>
              </a:rPr>
              <a:t>日本</a:t>
            </a:r>
            <a:r>
              <a:rPr lang="zh-TW" altLang="en-US" sz="2600" dirty="0">
                <a:latin typeface="標楷體" pitchFamily="65" charset="-120"/>
                <a:ea typeface="標楷體" pitchFamily="65" charset="-120"/>
              </a:rPr>
              <a:t>：</a:t>
            </a:r>
          </a:p>
          <a:p>
            <a:r>
              <a:rPr lang="en-US" altLang="zh-TW" sz="2600" dirty="0">
                <a:latin typeface="標楷體" pitchFamily="65" charset="-120"/>
                <a:ea typeface="標楷體" pitchFamily="65" charset="-120"/>
              </a:rPr>
              <a:t>(1)</a:t>
            </a:r>
            <a:r>
              <a:rPr lang="en-US" altLang="zh-TW" sz="2600" dirty="0">
                <a:solidFill>
                  <a:srgbClr val="FF0000"/>
                </a:solidFill>
                <a:latin typeface="標楷體" pitchFamily="65" charset="-120"/>
                <a:ea typeface="標楷體" pitchFamily="65" charset="-120"/>
              </a:rPr>
              <a:t>1980 </a:t>
            </a:r>
            <a:r>
              <a:rPr lang="zh-TW" altLang="en-US" sz="2600" dirty="0">
                <a:solidFill>
                  <a:srgbClr val="FF0000"/>
                </a:solidFill>
                <a:latin typeface="標楷體" pitchFamily="65" charset="-120"/>
                <a:ea typeface="標楷體" pitchFamily="65" charset="-120"/>
              </a:rPr>
              <a:t>年代，日圓快速升值</a:t>
            </a:r>
            <a:r>
              <a:rPr lang="zh-TW" altLang="en-US" sz="2600" dirty="0">
                <a:latin typeface="標楷體" pitchFamily="65" charset="-120"/>
                <a:ea typeface="標楷體" pitchFamily="65" charset="-120"/>
              </a:rPr>
              <a:t>，日本得以透過資本輸出，大量</a:t>
            </a:r>
            <a:r>
              <a:rPr lang="zh-TW" altLang="en-US" sz="2600" dirty="0">
                <a:solidFill>
                  <a:srgbClr val="FF0000"/>
                </a:solidFill>
                <a:latin typeface="標楷體" pitchFamily="65" charset="-120"/>
                <a:ea typeface="標楷體" pitchFamily="65" charset="-120"/>
              </a:rPr>
              <a:t>併購國外公司，</a:t>
            </a:r>
            <a:r>
              <a:rPr lang="zh-TW" altLang="en-US" sz="2600" dirty="0">
                <a:latin typeface="標楷體" pitchFamily="65" charset="-120"/>
                <a:ea typeface="標楷體" pitchFamily="65" charset="-120"/>
              </a:rPr>
              <a:t>逐步</a:t>
            </a:r>
            <a:r>
              <a:rPr lang="zh-TW" altLang="en-US" sz="2600" dirty="0">
                <a:solidFill>
                  <a:srgbClr val="FF0000"/>
                </a:solidFill>
                <a:latin typeface="標楷體" pitchFamily="65" charset="-120"/>
                <a:ea typeface="標楷體" pitchFamily="65" charset="-120"/>
              </a:rPr>
              <a:t>形成跨國企業</a:t>
            </a:r>
            <a:r>
              <a:rPr lang="zh-TW" altLang="en-US" sz="2600" dirty="0">
                <a:latin typeface="標楷體" pitchFamily="65" charset="-120"/>
                <a:ea typeface="標楷體" pitchFamily="65" charset="-120"/>
              </a:rPr>
              <a:t>。在</a:t>
            </a:r>
            <a:r>
              <a:rPr lang="zh-TW" altLang="en-US" sz="2600" dirty="0">
                <a:solidFill>
                  <a:srgbClr val="FF0000"/>
                </a:solidFill>
                <a:latin typeface="標楷體" pitchFamily="65" charset="-120"/>
                <a:ea typeface="標楷體" pitchFamily="65" charset="-120"/>
              </a:rPr>
              <a:t>全球布局</a:t>
            </a:r>
            <a:r>
              <a:rPr lang="zh-TW" altLang="en-US" sz="2600" dirty="0">
                <a:latin typeface="標楷體" pitchFamily="65" charset="-120"/>
                <a:ea typeface="標楷體" pitchFamily="65" charset="-120"/>
              </a:rPr>
              <a:t>之下，對外投資金額愈來愈多，</a:t>
            </a:r>
            <a:r>
              <a:rPr lang="zh-TW" altLang="en-US" sz="2600" dirty="0">
                <a:solidFill>
                  <a:srgbClr val="FF00FF"/>
                </a:solidFill>
                <a:latin typeface="標楷體" pitchFamily="65" charset="-120"/>
                <a:ea typeface="標楷體" pitchFamily="65" charset="-120"/>
              </a:rPr>
              <a:t>企業營收來自海外分公司的比例</a:t>
            </a:r>
            <a:r>
              <a:rPr lang="zh-TW" altLang="en-US" sz="2600" dirty="0">
                <a:latin typeface="標楷體" pitchFamily="65" charset="-120"/>
                <a:ea typeface="標楷體" pitchFamily="65" charset="-120"/>
              </a:rPr>
              <a:t>也</a:t>
            </a:r>
            <a:r>
              <a:rPr lang="zh-TW" altLang="en-US" sz="2600" dirty="0">
                <a:solidFill>
                  <a:srgbClr val="FF00FF"/>
                </a:solidFill>
                <a:latin typeface="標楷體" pitchFamily="65" charset="-120"/>
                <a:ea typeface="標楷體" pitchFamily="65" charset="-120"/>
              </a:rPr>
              <a:t>愈來愈高</a:t>
            </a:r>
            <a:r>
              <a:rPr lang="zh-TW" altLang="en-US" sz="2600" dirty="0">
                <a:latin typeface="標楷體" pitchFamily="65" charset="-120"/>
                <a:ea typeface="標楷體" pitchFamily="65" charset="-120"/>
              </a:rPr>
              <a:t>。</a:t>
            </a:r>
          </a:p>
          <a:p>
            <a:r>
              <a:rPr lang="en-US" altLang="zh-TW" sz="2600" dirty="0">
                <a:latin typeface="標楷體" pitchFamily="65" charset="-120"/>
                <a:ea typeface="標楷體" pitchFamily="65" charset="-120"/>
              </a:rPr>
              <a:t>(2)2005 </a:t>
            </a:r>
            <a:r>
              <a:rPr lang="zh-TW" altLang="en-US" sz="2600" dirty="0">
                <a:latin typeface="標楷體" pitchFamily="65" charset="-120"/>
                <a:ea typeface="標楷體" pitchFamily="65" charset="-120"/>
              </a:rPr>
              <a:t>年，日本</a:t>
            </a:r>
            <a:r>
              <a:rPr lang="zh-TW" altLang="en-US" sz="2600" dirty="0">
                <a:solidFill>
                  <a:srgbClr val="FF0000"/>
                </a:solidFill>
                <a:latin typeface="標楷體" pitchFamily="65" charset="-120"/>
                <a:ea typeface="標楷體" pitchFamily="65" charset="-120"/>
              </a:rPr>
              <a:t>海外投資獲利</a:t>
            </a:r>
            <a:r>
              <a:rPr lang="zh-TW" altLang="en-US" sz="2600" dirty="0">
                <a:latin typeface="標楷體" pitchFamily="65" charset="-120"/>
                <a:ea typeface="標楷體" pitchFamily="65" charset="-120"/>
              </a:rPr>
              <a:t>所得已達到 </a:t>
            </a:r>
            <a:r>
              <a:rPr lang="en-US" altLang="zh-TW" sz="2600" dirty="0">
                <a:latin typeface="標楷體" pitchFamily="65" charset="-120"/>
                <a:ea typeface="標楷體" pitchFamily="65" charset="-120"/>
              </a:rPr>
              <a:t>5.72 </a:t>
            </a:r>
            <a:r>
              <a:rPr lang="zh-TW" altLang="en-US" sz="2600" dirty="0">
                <a:latin typeface="標楷體" pitchFamily="65" charset="-120"/>
                <a:ea typeface="標楷體" pitchFamily="65" charset="-120"/>
              </a:rPr>
              <a:t>兆日圓，首次</a:t>
            </a:r>
            <a:r>
              <a:rPr lang="zh-TW" altLang="en-US" sz="2600" dirty="0">
                <a:solidFill>
                  <a:srgbClr val="FF0000"/>
                </a:solidFill>
                <a:latin typeface="標楷體" pitchFamily="65" charset="-120"/>
                <a:ea typeface="標楷體" pitchFamily="65" charset="-120"/>
              </a:rPr>
              <a:t>超過商品貿易盈餘</a:t>
            </a:r>
            <a:r>
              <a:rPr lang="zh-TW" altLang="en-US" sz="2600" dirty="0">
                <a:latin typeface="標楷體" pitchFamily="65" charset="-120"/>
                <a:ea typeface="標楷體" pitchFamily="65" charset="-120"/>
              </a:rPr>
              <a:t>，顯示日本已經</a:t>
            </a:r>
            <a:r>
              <a:rPr lang="zh-TW" altLang="en-US" sz="2600" dirty="0">
                <a:solidFill>
                  <a:srgbClr val="FF0000"/>
                </a:solidFill>
                <a:latin typeface="標楷體" pitchFamily="65" charset="-120"/>
                <a:ea typeface="標楷體" pitchFamily="65" charset="-120"/>
              </a:rPr>
              <a:t>從「商品輸出」轉為「資本輸出」</a:t>
            </a:r>
            <a:r>
              <a:rPr lang="zh-TW" altLang="en-US" sz="2600" dirty="0">
                <a:latin typeface="標楷體" pitchFamily="65" charset="-120"/>
                <a:ea typeface="標楷體" pitchFamily="65" charset="-120"/>
              </a:rPr>
              <a:t>。</a:t>
            </a:r>
            <a:endParaRPr lang="en-US" altLang="zh-TW" sz="2600" dirty="0">
              <a:latin typeface="標楷體" pitchFamily="65" charset="-120"/>
              <a:ea typeface="標楷體" pitchFamily="65" charset="-120"/>
            </a:endParaRPr>
          </a:p>
          <a:p>
            <a:endParaRPr lang="zh-TW" altLang="en-US" sz="2600" dirty="0">
              <a:latin typeface="標楷體" pitchFamily="65" charset="-120"/>
              <a:ea typeface="標楷體" pitchFamily="65" charset="-120"/>
            </a:endParaRPr>
          </a:p>
          <a:p>
            <a:r>
              <a:rPr lang="en-US" altLang="zh-TW" sz="2600" dirty="0">
                <a:latin typeface="標楷體" pitchFamily="65" charset="-120"/>
                <a:ea typeface="標楷體" pitchFamily="65" charset="-120"/>
              </a:rPr>
              <a:t>2.</a:t>
            </a:r>
            <a:r>
              <a:rPr lang="zh-TW" altLang="en-US" sz="2600" dirty="0">
                <a:solidFill>
                  <a:srgbClr val="FF0000"/>
                </a:solidFill>
                <a:latin typeface="標楷體" pitchFamily="65" charset="-120"/>
                <a:ea typeface="標楷體" pitchFamily="65" charset="-120"/>
              </a:rPr>
              <a:t>中國</a:t>
            </a:r>
            <a:r>
              <a:rPr lang="zh-TW" altLang="en-US" sz="2600" dirty="0">
                <a:latin typeface="標楷體" pitchFamily="65" charset="-120"/>
                <a:ea typeface="標楷體" pitchFamily="65" charset="-120"/>
              </a:rPr>
              <a:t>：</a:t>
            </a:r>
          </a:p>
          <a:p>
            <a:r>
              <a:rPr lang="zh-TW" altLang="en-US" sz="2600" dirty="0">
                <a:latin typeface="標楷體" pitchFamily="65" charset="-120"/>
                <a:ea typeface="標楷體" pitchFamily="65" charset="-120"/>
              </a:rPr>
              <a:t>　　</a:t>
            </a:r>
            <a:r>
              <a:rPr lang="en-US" altLang="zh-TW" sz="2600" dirty="0">
                <a:latin typeface="標楷體" pitchFamily="65" charset="-120"/>
                <a:ea typeface="標楷體" pitchFamily="65" charset="-120"/>
              </a:rPr>
              <a:t>2000 </a:t>
            </a:r>
            <a:r>
              <a:rPr lang="zh-TW" altLang="en-US" sz="2600" dirty="0">
                <a:latin typeface="標楷體" pitchFamily="65" charset="-120"/>
                <a:ea typeface="標楷體" pitchFamily="65" charset="-120"/>
              </a:rPr>
              <a:t>年代，中國同樣憑藉 </a:t>
            </a:r>
            <a:r>
              <a:rPr lang="en-US" altLang="zh-TW" sz="2600" dirty="0">
                <a:latin typeface="標楷體" pitchFamily="65" charset="-120"/>
                <a:ea typeface="標楷體" pitchFamily="65" charset="-120"/>
              </a:rPr>
              <a:t>1980 </a:t>
            </a:r>
            <a:r>
              <a:rPr lang="zh-TW" altLang="en-US" sz="2600" dirty="0">
                <a:latin typeface="標楷體" pitchFamily="65" charset="-120"/>
                <a:ea typeface="標楷體" pitchFamily="65" charset="-120"/>
              </a:rPr>
              <a:t>年代製造業產品輸出所賺取的大量外匯，</a:t>
            </a:r>
            <a:r>
              <a:rPr lang="zh-TW" altLang="en-US" sz="2600" dirty="0">
                <a:solidFill>
                  <a:srgbClr val="FF00FF"/>
                </a:solidFill>
                <a:latin typeface="標楷體" pitchFamily="65" charset="-120"/>
                <a:ea typeface="標楷體" pitchFamily="65" charset="-120"/>
              </a:rPr>
              <a:t>在全球展開企業併購</a:t>
            </a:r>
            <a:r>
              <a:rPr lang="zh-TW" altLang="en-US" sz="2600" dirty="0">
                <a:latin typeface="標楷體" pitchFamily="65" charset="-120"/>
                <a:ea typeface="標楷體" pitchFamily="65" charset="-120"/>
              </a:rPr>
              <a:t>、</a:t>
            </a:r>
            <a:r>
              <a:rPr lang="zh-TW" altLang="en-US" sz="2600" dirty="0">
                <a:solidFill>
                  <a:srgbClr val="FF0000"/>
                </a:solidFill>
                <a:latin typeface="標楷體" pitchFamily="65" charset="-120"/>
                <a:ea typeface="標楷體" pitchFamily="65" charset="-120"/>
              </a:rPr>
              <a:t>對開發中國家主導債權及建設開發</a:t>
            </a:r>
            <a:r>
              <a:rPr lang="zh-TW" altLang="en-US" sz="2600" dirty="0">
                <a:latin typeface="標楷體" pitchFamily="65" charset="-120"/>
                <a:ea typeface="標楷體" pitchFamily="65" charset="-120"/>
              </a:rPr>
              <a:t>，</a:t>
            </a:r>
            <a:r>
              <a:rPr lang="zh-TW" altLang="en-US" sz="2600" dirty="0">
                <a:solidFill>
                  <a:srgbClr val="FF0000"/>
                </a:solidFill>
                <a:latin typeface="標楷體" pitchFamily="65" charset="-120"/>
                <a:ea typeface="標楷體" pitchFamily="65" charset="-120"/>
              </a:rPr>
              <a:t>繼日本之後，從「世界工廠」成為「世界老闆」。</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37</a:t>
            </a:fld>
            <a:endParaRPr lang="zh-TW" sz="1400">
              <a:solidFill>
                <a:schemeClr val="dk1"/>
              </a:solidFill>
              <a:latin typeface="Arial"/>
              <a:ea typeface="Arial"/>
              <a:cs typeface="Arial"/>
              <a:sym typeface="Arial"/>
            </a:endParaRPr>
          </a:p>
        </p:txBody>
      </p:sp>
      <p:sp>
        <p:nvSpPr>
          <p:cNvPr id="8" name="矩形 7"/>
          <p:cNvSpPr>
            <a:spLocks noChangeArrowheads="1"/>
          </p:cNvSpPr>
          <p:nvPr/>
        </p:nvSpPr>
        <p:spPr bwMode="auto">
          <a:xfrm>
            <a:off x="223969" y="-13844"/>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p.207</a:t>
            </a:r>
            <a:endParaRPr lang="zh-TW" altLang="en-US" b="0" dirty="0"/>
          </a:p>
        </p:txBody>
      </p:sp>
      <p:sp>
        <p:nvSpPr>
          <p:cNvPr id="9" name="矩形 8">
            <a:extLst>
              <a:ext uri="{FF2B5EF4-FFF2-40B4-BE49-F238E27FC236}">
                <a16:creationId xmlns:a16="http://schemas.microsoft.com/office/drawing/2014/main" id="{37A0FFB8-640A-4ED3-80DB-7258FFA8C085}"/>
              </a:ext>
            </a:extLst>
          </p:cNvPr>
          <p:cNvSpPr/>
          <p:nvPr/>
        </p:nvSpPr>
        <p:spPr>
          <a:xfrm>
            <a:off x="21063" y="980729"/>
            <a:ext cx="4406922" cy="5040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15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17470" y="4691774"/>
            <a:ext cx="7772400" cy="1362075"/>
          </a:xfrm>
        </p:spPr>
        <p:txBody>
          <a:bodyPr/>
          <a:lstStyle/>
          <a:p>
            <a:endParaRPr lang="zh-TW" altLang="en-US"/>
          </a:p>
        </p:txBody>
      </p:sp>
      <p:sp>
        <p:nvSpPr>
          <p:cNvPr id="3" name="文字版面配置區 2"/>
          <p:cNvSpPr>
            <a:spLocks noGrp="1"/>
          </p:cNvSpPr>
          <p:nvPr>
            <p:ph type="body" idx="1"/>
          </p:nvPr>
        </p:nvSpPr>
        <p:spPr>
          <a:xfrm>
            <a:off x="817470" y="3191587"/>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1670" y="188640"/>
            <a:ext cx="9144000"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一、工業的轉型與升級</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9" name="Group 47"/>
          <p:cNvGraphicFramePr>
            <a:graphicFrameLocks noGrp="1"/>
          </p:cNvGraphicFramePr>
          <p:nvPr/>
        </p:nvGraphicFramePr>
        <p:xfrm>
          <a:off x="202661" y="977570"/>
          <a:ext cx="8941339" cy="2913422"/>
        </p:xfrm>
        <a:graphic>
          <a:graphicData uri="http://schemas.openxmlformats.org/drawingml/2006/table">
            <a:tbl>
              <a:tblPr/>
              <a:tblGrid>
                <a:gridCol w="2088232">
                  <a:extLst>
                    <a:ext uri="{9D8B030D-6E8A-4147-A177-3AD203B41FA5}">
                      <a16:colId xmlns:a16="http://schemas.microsoft.com/office/drawing/2014/main" val="20000"/>
                    </a:ext>
                  </a:extLst>
                </a:gridCol>
                <a:gridCol w="6853107">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日本現代化的腳步較早，工業及人力水準高，成為美國外移勞力密集產業的主要承接者，產品出口美國得以賺取大量外匯</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韓戰期間，更因生產美軍軍需而獲得部分工業技術</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出口累積大量外匯成為產業升級的資本，政府政策轉向發展鋼鐵、造船、電機為主的重化工業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自給外亦大量出口，同一時期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38</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nvGraphicFramePr>
        <p:xfrm>
          <a:off x="202661" y="3929898"/>
          <a:ext cx="8928992" cy="2852896"/>
        </p:xfrm>
        <a:graphic>
          <a:graphicData uri="http://schemas.openxmlformats.org/drawingml/2006/table">
            <a:tbl>
              <a:tblPr/>
              <a:tblGrid>
                <a:gridCol w="2088232">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重點產業：</a:t>
                      </a:r>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重化工業高度仰賴石油，在油價暴漲後，日本出現戰後首度經濟負成長，因此具低耗能特性的半導體、電子產業急遽成長</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隨著</a:t>
                      </a:r>
                      <a:r>
                        <a:rPr lang="zh-TW" altLang="en-US" sz="1800" b="0" i="0" u="none" strike="noStrike" cap="none" dirty="0">
                          <a:solidFill>
                            <a:srgbClr val="FF0000"/>
                          </a:solidFill>
                          <a:latin typeface="標楷體" pitchFamily="65" charset="-120"/>
                          <a:ea typeface="標楷體" pitchFamily="65" charset="-120"/>
                          <a:cs typeface="Arial"/>
                          <a:sym typeface="Arial"/>
                        </a:rPr>
                        <a:t>工資</a:t>
                      </a:r>
                      <a:r>
                        <a:rPr lang="zh-TW" altLang="en-US" sz="1800" b="0" i="0" u="none" strike="noStrike" cap="none" dirty="0">
                          <a:solidFill>
                            <a:schemeClr val="tx1"/>
                          </a:solidFill>
                          <a:latin typeface="標楷體" pitchFamily="65" charset="-120"/>
                          <a:ea typeface="標楷體" pitchFamily="65" charset="-120"/>
                          <a:cs typeface="Arial"/>
                          <a:sym typeface="Arial"/>
                        </a:rPr>
                        <a:t>不斷</a:t>
                      </a:r>
                      <a:r>
                        <a:rPr lang="zh-TW" altLang="en-US" sz="1800" b="0" i="0" u="none" strike="noStrike" cap="none" dirty="0">
                          <a:solidFill>
                            <a:srgbClr val="FF0000"/>
                          </a:solidFill>
                          <a:latin typeface="標楷體" pitchFamily="65" charset="-120"/>
                          <a:ea typeface="標楷體" pitchFamily="65" charset="-120"/>
                          <a:cs typeface="Arial"/>
                          <a:sym typeface="Arial"/>
                        </a:rPr>
                        <a:t>提升，環境</a:t>
                      </a:r>
                      <a:r>
                        <a:rPr lang="zh-TW" altLang="en-US" sz="1800" b="0" i="0" u="none" strike="noStrike" cap="none" dirty="0">
                          <a:solidFill>
                            <a:schemeClr val="tx1"/>
                          </a:solidFill>
                          <a:latin typeface="標楷體" pitchFamily="65" charset="-120"/>
                          <a:ea typeface="標楷體" pitchFamily="65" charset="-120"/>
                          <a:cs typeface="Arial"/>
                          <a:sym typeface="Arial"/>
                        </a:rPr>
                        <a:t>公害</a:t>
                      </a:r>
                      <a:r>
                        <a:rPr lang="zh-TW" altLang="en-US" sz="1800" b="0" i="0" u="none" strike="noStrike" cap="none" dirty="0">
                          <a:solidFill>
                            <a:srgbClr val="FF0000"/>
                          </a:solidFill>
                          <a:latin typeface="標楷體" pitchFamily="65" charset="-120"/>
                          <a:ea typeface="標楷體" pitchFamily="65" charset="-120"/>
                          <a:cs typeface="Arial"/>
                          <a:sym typeface="Arial"/>
                        </a:rPr>
                        <a:t>受</a:t>
                      </a:r>
                      <a:r>
                        <a:rPr lang="zh-TW" altLang="en-US" sz="1800" b="0" i="0" u="none" strike="noStrike" cap="none" dirty="0">
                          <a:solidFill>
                            <a:schemeClr val="tx1"/>
                          </a:solidFill>
                          <a:latin typeface="標楷體" pitchFamily="65" charset="-120"/>
                          <a:ea typeface="標楷體" pitchFamily="65" charset="-120"/>
                          <a:cs typeface="Arial"/>
                          <a:sym typeface="Arial"/>
                        </a:rPr>
                        <a:t>到</a:t>
                      </a:r>
                      <a:r>
                        <a:rPr lang="zh-TW" altLang="en-US" sz="1800" b="0" i="0" u="none" strike="noStrike" cap="none" dirty="0">
                          <a:solidFill>
                            <a:srgbClr val="FF0000"/>
                          </a:solidFill>
                          <a:latin typeface="標楷體" pitchFamily="65" charset="-120"/>
                          <a:ea typeface="標楷體" pitchFamily="65" charset="-120"/>
                          <a:cs typeface="Arial"/>
                          <a:sym typeface="Arial"/>
                        </a:rPr>
                        <a:t>重視</a:t>
                      </a:r>
                      <a:r>
                        <a:rPr lang="zh-TW" altLang="en-US" sz="1800" b="0" i="0" u="none" strike="noStrike" cap="none" dirty="0">
                          <a:solidFill>
                            <a:schemeClr val="tx1"/>
                          </a:solidFill>
                          <a:latin typeface="標楷體" pitchFamily="65" charset="-120"/>
                          <a:ea typeface="標楷體" pitchFamily="65" charset="-120"/>
                          <a:cs typeface="Arial"/>
                          <a:sym typeface="Arial"/>
                        </a:rPr>
                        <a:t>，工業生產</a:t>
                      </a:r>
                      <a:r>
                        <a:rPr lang="zh-TW" altLang="en-US" sz="1800" b="0" i="0" u="none" strike="noStrike" cap="none" dirty="0">
                          <a:solidFill>
                            <a:srgbClr val="FF0000"/>
                          </a:solidFill>
                          <a:latin typeface="標楷體" pitchFamily="65" charset="-120"/>
                          <a:ea typeface="標楷體" pitchFamily="65" charset="-120"/>
                          <a:cs typeface="Arial"/>
                          <a:sym typeface="Arial"/>
                        </a:rPr>
                        <a:t>成本提升</a:t>
                      </a:r>
                      <a:r>
                        <a:rPr lang="zh-TW" altLang="en-US" sz="1800" b="0" i="0" u="none" strike="noStrike" cap="none" dirty="0">
                          <a:solidFill>
                            <a:schemeClr val="tx1"/>
                          </a:solidFill>
                          <a:latin typeface="標楷體" pitchFamily="65" charset="-120"/>
                          <a:ea typeface="標楷體" pitchFamily="65" charset="-120"/>
                          <a:cs typeface="Arial"/>
                          <a:sym typeface="Arial"/>
                        </a:rPr>
                        <a:t>，經濟</a:t>
                      </a:r>
                      <a:r>
                        <a:rPr lang="zh-TW" altLang="en-US" sz="1800" b="0" i="0" u="none" strike="noStrike" cap="none" dirty="0">
                          <a:solidFill>
                            <a:srgbClr val="FF0000"/>
                          </a:solidFill>
                          <a:latin typeface="標楷體" pitchFamily="65" charset="-120"/>
                          <a:ea typeface="標楷體" pitchFamily="65" charset="-120"/>
                          <a:cs typeface="Arial"/>
                          <a:sym typeface="Arial"/>
                        </a:rPr>
                        <a:t>成長速度趨緩</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a:t>
                      </a:r>
                      <a:r>
                        <a:rPr lang="zh-TW" altLang="en-US" sz="1800" b="0" i="0" u="none" strike="noStrike" cap="none" dirty="0">
                          <a:solidFill>
                            <a:srgbClr val="FF0000"/>
                          </a:solidFill>
                          <a:latin typeface="標楷體" pitchFamily="65" charset="-120"/>
                          <a:ea typeface="標楷體" pitchFamily="65" charset="-120"/>
                          <a:cs typeface="Arial"/>
                          <a:sym typeface="Arial"/>
                        </a:rPr>
                        <a:t>長期對美國貿易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，造成貿易摩擦，</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使日圓</a:t>
                      </a:r>
                      <a:r>
                        <a:rPr lang="zh-TW" altLang="en-US" sz="1800" b="0" i="0" u="none" strike="noStrike" cap="none" dirty="0">
                          <a:solidFill>
                            <a:srgbClr val="FF0000"/>
                          </a:solidFill>
                          <a:latin typeface="標楷體" pitchFamily="65" charset="-120"/>
                          <a:ea typeface="標楷體" pitchFamily="65" charset="-120"/>
                          <a:cs typeface="Arial"/>
                          <a:sym typeface="Arial"/>
                        </a:rPr>
                        <a:t>被迫</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出口重挫</a:t>
                      </a:r>
                      <a:r>
                        <a:rPr lang="zh-TW" altLang="en-US" sz="1800" b="0" i="0" u="none" strike="noStrike" cap="none" dirty="0">
                          <a:solidFill>
                            <a:schemeClr val="tx1"/>
                          </a:solidFill>
                          <a:latin typeface="標楷體" pitchFamily="65" charset="-120"/>
                          <a:ea typeface="標楷體" pitchFamily="65" charset="-120"/>
                          <a:cs typeface="Arial"/>
                          <a:sym typeface="Arial"/>
                        </a:rPr>
                        <a:t>，國內</a:t>
                      </a:r>
                      <a:r>
                        <a:rPr lang="zh-TW" altLang="en-US" sz="1800" b="0" i="0" u="none" strike="noStrike" cap="none" dirty="0">
                          <a:solidFill>
                            <a:srgbClr val="FF0000"/>
                          </a:solidFill>
                          <a:latin typeface="標楷體" pitchFamily="65" charset="-120"/>
                          <a:ea typeface="標楷體" pitchFamily="65" charset="-120"/>
                          <a:cs typeface="Arial"/>
                          <a:sym typeface="Arial"/>
                        </a:rPr>
                        <a:t>經濟轉以內需為主</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經濟持續低迷，轉而</a:t>
                      </a:r>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 name="矩形 12"/>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4" name="矩形 13">
            <a:extLst>
              <a:ext uri="{FF2B5EF4-FFF2-40B4-BE49-F238E27FC236}">
                <a16:creationId xmlns:a16="http://schemas.microsoft.com/office/drawing/2014/main" id="{575217A8-D06E-4167-9BA8-B014E5C045D1}"/>
              </a:ext>
            </a:extLst>
          </p:cNvPr>
          <p:cNvSpPr/>
          <p:nvPr/>
        </p:nvSpPr>
        <p:spPr>
          <a:xfrm>
            <a:off x="202661" y="5260631"/>
            <a:ext cx="7969739" cy="98459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5459D8AF-D00F-4C10-A090-CE6071AE19F4}"/>
              </a:ext>
            </a:extLst>
          </p:cNvPr>
          <p:cNvSpPr>
            <a:spLocks noChangeArrowheads="1"/>
          </p:cNvSpPr>
          <p:nvPr/>
        </p:nvSpPr>
        <p:spPr bwMode="auto">
          <a:xfrm>
            <a:off x="4883181" y="5298050"/>
            <a:ext cx="716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順差</a:t>
            </a:r>
          </a:p>
        </p:txBody>
      </p:sp>
      <p:sp>
        <p:nvSpPr>
          <p:cNvPr id="12" name="矩形 11">
            <a:extLst>
              <a:ext uri="{FF2B5EF4-FFF2-40B4-BE49-F238E27FC236}">
                <a16:creationId xmlns:a16="http://schemas.microsoft.com/office/drawing/2014/main" id="{159F4859-0F50-4A8E-B0BA-9657E656F2D8}"/>
              </a:ext>
            </a:extLst>
          </p:cNvPr>
          <p:cNvSpPr>
            <a:spLocks noChangeArrowheads="1"/>
          </p:cNvSpPr>
          <p:nvPr/>
        </p:nvSpPr>
        <p:spPr bwMode="auto">
          <a:xfrm>
            <a:off x="3587037" y="5559680"/>
            <a:ext cx="792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升值</a:t>
            </a:r>
          </a:p>
        </p:txBody>
      </p:sp>
      <p:sp>
        <p:nvSpPr>
          <p:cNvPr id="15" name="矩形 14">
            <a:extLst>
              <a:ext uri="{FF2B5EF4-FFF2-40B4-BE49-F238E27FC236}">
                <a16:creationId xmlns:a16="http://schemas.microsoft.com/office/drawing/2014/main" id="{F4A4349F-C1BD-49A6-9588-74F08683119C}"/>
              </a:ext>
            </a:extLst>
          </p:cNvPr>
          <p:cNvSpPr>
            <a:spLocks noChangeArrowheads="1"/>
          </p:cNvSpPr>
          <p:nvPr/>
        </p:nvSpPr>
        <p:spPr bwMode="auto">
          <a:xfrm>
            <a:off x="3226997" y="5857103"/>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Tree>
    <p:extLst>
      <p:ext uri="{BB962C8B-B14F-4D97-AF65-F5344CB8AC3E}">
        <p14:creationId xmlns:p14="http://schemas.microsoft.com/office/powerpoint/2010/main" val="262061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21062" y="5251"/>
            <a:ext cx="8696062" cy="647944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600" dirty="0">
                <a:latin typeface="標楷體" pitchFamily="65" charset="-120"/>
                <a:ea typeface="標楷體" pitchFamily="65" charset="-120"/>
              </a:rPr>
              <a:t>    </a:t>
            </a:r>
            <a:endParaRPr lang="en-US" altLang="zh-TW" sz="2600" dirty="0">
              <a:latin typeface="標楷體" pitchFamily="65" charset="-120"/>
              <a:ea typeface="標楷體" pitchFamily="65" charset="-120"/>
            </a:endParaRPr>
          </a:p>
          <a:p>
            <a:endParaRPr lang="en-US" altLang="zh-TW" sz="2600" dirty="0">
              <a:latin typeface="標楷體" pitchFamily="65" charset="-120"/>
              <a:ea typeface="標楷體" pitchFamily="65" charset="-120"/>
            </a:endParaRPr>
          </a:p>
          <a:p>
            <a:endParaRPr lang="en-US" altLang="zh-TW" sz="2600" dirty="0">
              <a:latin typeface="標楷體" pitchFamily="65" charset="-120"/>
              <a:ea typeface="標楷體" pitchFamily="65" charset="-120"/>
            </a:endParaRPr>
          </a:p>
          <a:p>
            <a:r>
              <a:rPr lang="zh-TW" altLang="en-US" sz="2600" dirty="0">
                <a:latin typeface="標楷體" pitchFamily="65" charset="-120"/>
                <a:ea typeface="標楷體" pitchFamily="65" charset="-120"/>
              </a:rPr>
              <a:t>         三、</a:t>
            </a:r>
            <a:r>
              <a:rPr lang="zh-TW" altLang="en-US" sz="2600" dirty="0">
                <a:solidFill>
                  <a:srgbClr val="FF0000"/>
                </a:solidFill>
                <a:latin typeface="標楷體" pitchFamily="65" charset="-120"/>
                <a:ea typeface="標楷體" pitchFamily="65" charset="-120"/>
              </a:rPr>
              <a:t>轉型 資本輸出</a:t>
            </a:r>
            <a:endParaRPr lang="en-US" altLang="zh-TW" sz="2600" dirty="0">
              <a:solidFill>
                <a:srgbClr val="FF0000"/>
              </a:solidFill>
              <a:latin typeface="標楷體" pitchFamily="65" charset="-120"/>
              <a:ea typeface="標楷體" pitchFamily="65" charset="-120"/>
            </a:endParaRPr>
          </a:p>
          <a:p>
            <a:r>
              <a:rPr lang="en-US" altLang="zh-TW" sz="2600" dirty="0">
                <a:latin typeface="標楷體" pitchFamily="65" charset="-120"/>
                <a:ea typeface="標楷體" pitchFamily="65" charset="-120"/>
              </a:rPr>
              <a:t>1.</a:t>
            </a:r>
            <a:r>
              <a:rPr lang="zh-TW" altLang="en-US" sz="2600" dirty="0">
                <a:solidFill>
                  <a:srgbClr val="FF0000"/>
                </a:solidFill>
                <a:latin typeface="標楷體" pitchFamily="65" charset="-120"/>
                <a:ea typeface="標楷體" pitchFamily="65" charset="-120"/>
              </a:rPr>
              <a:t>日本</a:t>
            </a:r>
            <a:r>
              <a:rPr lang="zh-TW" altLang="en-US" sz="2600" dirty="0">
                <a:latin typeface="標楷體" pitchFamily="65" charset="-120"/>
                <a:ea typeface="標楷體" pitchFamily="65" charset="-120"/>
              </a:rPr>
              <a:t>：</a:t>
            </a:r>
          </a:p>
          <a:p>
            <a:r>
              <a:rPr lang="en-US" altLang="zh-TW" sz="2600" dirty="0">
                <a:latin typeface="標楷體" pitchFamily="65" charset="-120"/>
                <a:ea typeface="標楷體" pitchFamily="65" charset="-120"/>
              </a:rPr>
              <a:t>(1)</a:t>
            </a:r>
            <a:r>
              <a:rPr lang="en-US" altLang="zh-TW" sz="2600" dirty="0">
                <a:solidFill>
                  <a:srgbClr val="FF0000"/>
                </a:solidFill>
                <a:latin typeface="標楷體" pitchFamily="65" charset="-120"/>
                <a:ea typeface="標楷體" pitchFamily="65" charset="-120"/>
              </a:rPr>
              <a:t>1980 </a:t>
            </a:r>
            <a:r>
              <a:rPr lang="zh-TW" altLang="en-US" sz="2600" dirty="0">
                <a:solidFill>
                  <a:srgbClr val="FF0000"/>
                </a:solidFill>
                <a:latin typeface="標楷體" pitchFamily="65" charset="-120"/>
                <a:ea typeface="標楷體" pitchFamily="65" charset="-120"/>
              </a:rPr>
              <a:t>年代，日圓快速升值</a:t>
            </a:r>
            <a:r>
              <a:rPr lang="zh-TW" altLang="en-US" sz="2600" dirty="0">
                <a:latin typeface="標楷體" pitchFamily="65" charset="-120"/>
                <a:ea typeface="標楷體" pitchFamily="65" charset="-120"/>
              </a:rPr>
              <a:t>，日本得以透過資本輸出，大量</a:t>
            </a:r>
            <a:r>
              <a:rPr lang="zh-TW" altLang="en-US" sz="2600" dirty="0">
                <a:solidFill>
                  <a:srgbClr val="FF0000"/>
                </a:solidFill>
                <a:latin typeface="標楷體" pitchFamily="65" charset="-120"/>
                <a:ea typeface="標楷體" pitchFamily="65" charset="-120"/>
              </a:rPr>
              <a:t>併購國外公司，</a:t>
            </a:r>
            <a:r>
              <a:rPr lang="zh-TW" altLang="en-US" sz="2600" dirty="0">
                <a:latin typeface="標楷體" pitchFamily="65" charset="-120"/>
                <a:ea typeface="標楷體" pitchFamily="65" charset="-120"/>
              </a:rPr>
              <a:t>逐步</a:t>
            </a:r>
            <a:r>
              <a:rPr lang="zh-TW" altLang="en-US" sz="2600" dirty="0">
                <a:solidFill>
                  <a:srgbClr val="FF0000"/>
                </a:solidFill>
                <a:latin typeface="標楷體" pitchFamily="65" charset="-120"/>
                <a:ea typeface="標楷體" pitchFamily="65" charset="-120"/>
              </a:rPr>
              <a:t>形成跨國企業</a:t>
            </a:r>
            <a:r>
              <a:rPr lang="zh-TW" altLang="en-US" sz="2600" dirty="0">
                <a:latin typeface="標楷體" pitchFamily="65" charset="-120"/>
                <a:ea typeface="標楷體" pitchFamily="65" charset="-120"/>
              </a:rPr>
              <a:t>。在</a:t>
            </a:r>
            <a:r>
              <a:rPr lang="zh-TW" altLang="en-US" sz="2600" dirty="0">
                <a:solidFill>
                  <a:srgbClr val="FF0000"/>
                </a:solidFill>
                <a:latin typeface="標楷體" pitchFamily="65" charset="-120"/>
                <a:ea typeface="標楷體" pitchFamily="65" charset="-120"/>
              </a:rPr>
              <a:t>全球布局</a:t>
            </a:r>
            <a:r>
              <a:rPr lang="zh-TW" altLang="en-US" sz="2600" dirty="0">
                <a:latin typeface="標楷體" pitchFamily="65" charset="-120"/>
                <a:ea typeface="標楷體" pitchFamily="65" charset="-120"/>
              </a:rPr>
              <a:t>之下，對外投資金額愈來愈多，</a:t>
            </a:r>
            <a:r>
              <a:rPr lang="zh-TW" altLang="en-US" sz="2600" dirty="0">
                <a:solidFill>
                  <a:srgbClr val="FF00FF"/>
                </a:solidFill>
                <a:latin typeface="標楷體" pitchFamily="65" charset="-120"/>
                <a:ea typeface="標楷體" pitchFamily="65" charset="-120"/>
              </a:rPr>
              <a:t>企業營收來自海外分公司的比例</a:t>
            </a:r>
            <a:r>
              <a:rPr lang="zh-TW" altLang="en-US" sz="2600" dirty="0">
                <a:latin typeface="標楷體" pitchFamily="65" charset="-120"/>
                <a:ea typeface="標楷體" pitchFamily="65" charset="-120"/>
              </a:rPr>
              <a:t>也</a:t>
            </a:r>
            <a:r>
              <a:rPr lang="zh-TW" altLang="en-US" sz="2600" dirty="0">
                <a:solidFill>
                  <a:srgbClr val="FF00FF"/>
                </a:solidFill>
                <a:latin typeface="標楷體" pitchFamily="65" charset="-120"/>
                <a:ea typeface="標楷體" pitchFamily="65" charset="-120"/>
              </a:rPr>
              <a:t>愈來愈高</a:t>
            </a:r>
            <a:r>
              <a:rPr lang="zh-TW" altLang="en-US" sz="2600" dirty="0">
                <a:latin typeface="標楷體" pitchFamily="65" charset="-120"/>
                <a:ea typeface="標楷體" pitchFamily="65" charset="-120"/>
              </a:rPr>
              <a:t>。</a:t>
            </a:r>
          </a:p>
          <a:p>
            <a:r>
              <a:rPr lang="en-US" altLang="zh-TW" sz="2600" dirty="0">
                <a:latin typeface="標楷體" pitchFamily="65" charset="-120"/>
                <a:ea typeface="標楷體" pitchFamily="65" charset="-120"/>
              </a:rPr>
              <a:t>(2)2005 </a:t>
            </a:r>
            <a:r>
              <a:rPr lang="zh-TW" altLang="en-US" sz="2600" dirty="0">
                <a:latin typeface="標楷體" pitchFamily="65" charset="-120"/>
                <a:ea typeface="標楷體" pitchFamily="65" charset="-120"/>
              </a:rPr>
              <a:t>年，日本</a:t>
            </a:r>
            <a:r>
              <a:rPr lang="zh-TW" altLang="en-US" sz="2600" dirty="0">
                <a:solidFill>
                  <a:srgbClr val="FF0000"/>
                </a:solidFill>
                <a:latin typeface="標楷體" pitchFamily="65" charset="-120"/>
                <a:ea typeface="標楷體" pitchFamily="65" charset="-120"/>
              </a:rPr>
              <a:t>海外投資獲利</a:t>
            </a:r>
            <a:r>
              <a:rPr lang="zh-TW" altLang="en-US" sz="2600" dirty="0">
                <a:latin typeface="標楷體" pitchFamily="65" charset="-120"/>
                <a:ea typeface="標楷體" pitchFamily="65" charset="-120"/>
              </a:rPr>
              <a:t>所得已達到 </a:t>
            </a:r>
            <a:r>
              <a:rPr lang="en-US" altLang="zh-TW" sz="2600" dirty="0">
                <a:latin typeface="標楷體" pitchFamily="65" charset="-120"/>
                <a:ea typeface="標楷體" pitchFamily="65" charset="-120"/>
              </a:rPr>
              <a:t>5.72 </a:t>
            </a:r>
            <a:r>
              <a:rPr lang="zh-TW" altLang="en-US" sz="2600" dirty="0">
                <a:latin typeface="標楷體" pitchFamily="65" charset="-120"/>
                <a:ea typeface="標楷體" pitchFamily="65" charset="-120"/>
              </a:rPr>
              <a:t>兆日圓，首次</a:t>
            </a:r>
            <a:r>
              <a:rPr lang="zh-TW" altLang="en-US" sz="2600" dirty="0">
                <a:solidFill>
                  <a:srgbClr val="FF0000"/>
                </a:solidFill>
                <a:latin typeface="標楷體" pitchFamily="65" charset="-120"/>
                <a:ea typeface="標楷體" pitchFamily="65" charset="-120"/>
              </a:rPr>
              <a:t>超過商品貿易盈餘</a:t>
            </a:r>
            <a:r>
              <a:rPr lang="zh-TW" altLang="en-US" sz="2600" dirty="0">
                <a:latin typeface="標楷體" pitchFamily="65" charset="-120"/>
                <a:ea typeface="標楷體" pitchFamily="65" charset="-120"/>
              </a:rPr>
              <a:t>，顯示日本已經</a:t>
            </a:r>
            <a:r>
              <a:rPr lang="zh-TW" altLang="en-US" sz="2600" dirty="0">
                <a:solidFill>
                  <a:srgbClr val="FF0000"/>
                </a:solidFill>
                <a:latin typeface="標楷體" pitchFamily="65" charset="-120"/>
                <a:ea typeface="標楷體" pitchFamily="65" charset="-120"/>
              </a:rPr>
              <a:t>從「商品輸出」轉為「資本輸出」</a:t>
            </a:r>
            <a:r>
              <a:rPr lang="zh-TW" altLang="en-US" sz="2600" dirty="0">
                <a:latin typeface="標楷體" pitchFamily="65" charset="-120"/>
                <a:ea typeface="標楷體" pitchFamily="65" charset="-120"/>
              </a:rPr>
              <a:t>。</a:t>
            </a:r>
            <a:endParaRPr lang="en-US" altLang="zh-TW" sz="2600" dirty="0">
              <a:latin typeface="標楷體" pitchFamily="65" charset="-120"/>
              <a:ea typeface="標楷體" pitchFamily="65" charset="-120"/>
            </a:endParaRPr>
          </a:p>
          <a:p>
            <a:endParaRPr lang="zh-TW" altLang="en-US" sz="2600" dirty="0">
              <a:latin typeface="標楷體" pitchFamily="65" charset="-120"/>
              <a:ea typeface="標楷體" pitchFamily="65" charset="-120"/>
            </a:endParaRPr>
          </a:p>
          <a:p>
            <a:r>
              <a:rPr lang="en-US" altLang="zh-TW" sz="2600" dirty="0">
                <a:latin typeface="標楷體" pitchFamily="65" charset="-120"/>
                <a:ea typeface="標楷體" pitchFamily="65" charset="-120"/>
              </a:rPr>
              <a:t>2.</a:t>
            </a:r>
            <a:r>
              <a:rPr lang="zh-TW" altLang="en-US" sz="2600" dirty="0">
                <a:solidFill>
                  <a:srgbClr val="FF0000"/>
                </a:solidFill>
                <a:latin typeface="標楷體" pitchFamily="65" charset="-120"/>
                <a:ea typeface="標楷體" pitchFamily="65" charset="-120"/>
              </a:rPr>
              <a:t>中國</a:t>
            </a:r>
            <a:r>
              <a:rPr lang="zh-TW" altLang="en-US" sz="2600" dirty="0">
                <a:latin typeface="標楷體" pitchFamily="65" charset="-120"/>
                <a:ea typeface="標楷體" pitchFamily="65" charset="-120"/>
              </a:rPr>
              <a:t>：</a:t>
            </a:r>
          </a:p>
          <a:p>
            <a:r>
              <a:rPr lang="zh-TW" altLang="en-US" sz="2600" dirty="0">
                <a:latin typeface="標楷體" pitchFamily="65" charset="-120"/>
                <a:ea typeface="標楷體" pitchFamily="65" charset="-120"/>
              </a:rPr>
              <a:t>　　</a:t>
            </a:r>
            <a:r>
              <a:rPr lang="en-US" altLang="zh-TW" sz="2600" dirty="0">
                <a:latin typeface="標楷體" pitchFamily="65" charset="-120"/>
                <a:ea typeface="標楷體" pitchFamily="65" charset="-120"/>
              </a:rPr>
              <a:t>2000 </a:t>
            </a:r>
            <a:r>
              <a:rPr lang="zh-TW" altLang="en-US" sz="2600" dirty="0">
                <a:latin typeface="標楷體" pitchFamily="65" charset="-120"/>
                <a:ea typeface="標楷體" pitchFamily="65" charset="-120"/>
              </a:rPr>
              <a:t>年代，中國同樣憑藉 </a:t>
            </a:r>
            <a:r>
              <a:rPr lang="en-US" altLang="zh-TW" sz="2600" dirty="0">
                <a:latin typeface="標楷體" pitchFamily="65" charset="-120"/>
                <a:ea typeface="標楷體" pitchFamily="65" charset="-120"/>
              </a:rPr>
              <a:t>1980 </a:t>
            </a:r>
            <a:r>
              <a:rPr lang="zh-TW" altLang="en-US" sz="2600" dirty="0">
                <a:latin typeface="標楷體" pitchFamily="65" charset="-120"/>
                <a:ea typeface="標楷體" pitchFamily="65" charset="-120"/>
              </a:rPr>
              <a:t>年代製造業產品輸出所賺取的大量外匯，</a:t>
            </a:r>
            <a:r>
              <a:rPr lang="zh-TW" altLang="en-US" sz="2600" dirty="0">
                <a:solidFill>
                  <a:srgbClr val="FF00FF"/>
                </a:solidFill>
                <a:latin typeface="標楷體" pitchFamily="65" charset="-120"/>
                <a:ea typeface="標楷體" pitchFamily="65" charset="-120"/>
              </a:rPr>
              <a:t>在全球展開企業併購</a:t>
            </a:r>
            <a:r>
              <a:rPr lang="zh-TW" altLang="en-US" sz="2600" dirty="0">
                <a:latin typeface="標楷體" pitchFamily="65" charset="-120"/>
                <a:ea typeface="標楷體" pitchFamily="65" charset="-120"/>
              </a:rPr>
              <a:t>、</a:t>
            </a:r>
            <a:r>
              <a:rPr lang="zh-TW" altLang="en-US" sz="2600" dirty="0">
                <a:solidFill>
                  <a:srgbClr val="FF0000"/>
                </a:solidFill>
                <a:latin typeface="標楷體" pitchFamily="65" charset="-120"/>
                <a:ea typeface="標楷體" pitchFamily="65" charset="-120"/>
              </a:rPr>
              <a:t>對開發中國家主導債權及建設開發</a:t>
            </a:r>
            <a:r>
              <a:rPr lang="zh-TW" altLang="en-US" sz="2600" dirty="0">
                <a:latin typeface="標楷體" pitchFamily="65" charset="-120"/>
                <a:ea typeface="標楷體" pitchFamily="65" charset="-120"/>
              </a:rPr>
              <a:t>，</a:t>
            </a:r>
            <a:r>
              <a:rPr lang="zh-TW" altLang="en-US" sz="2600" dirty="0">
                <a:solidFill>
                  <a:srgbClr val="FF0000"/>
                </a:solidFill>
                <a:latin typeface="標楷體" pitchFamily="65" charset="-120"/>
                <a:ea typeface="標楷體" pitchFamily="65" charset="-120"/>
              </a:rPr>
              <a:t>繼日本之後，從「世界工廠」成為「世界老闆」。</a:t>
            </a:r>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39</a:t>
            </a:fld>
            <a:endParaRPr lang="zh-TW" sz="1400">
              <a:solidFill>
                <a:schemeClr val="dk1"/>
              </a:solidFill>
              <a:latin typeface="Arial"/>
              <a:ea typeface="Arial"/>
              <a:cs typeface="Arial"/>
              <a:sym typeface="Arial"/>
            </a:endParaRPr>
          </a:p>
        </p:txBody>
      </p:sp>
      <p:sp>
        <p:nvSpPr>
          <p:cNvPr id="8" name="矩形 7"/>
          <p:cNvSpPr>
            <a:spLocks noChangeArrowheads="1"/>
          </p:cNvSpPr>
          <p:nvPr/>
        </p:nvSpPr>
        <p:spPr bwMode="auto">
          <a:xfrm>
            <a:off x="223969" y="-13844"/>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p.207</a:t>
            </a:r>
            <a:endParaRPr lang="zh-TW" altLang="en-US" b="0" dirty="0"/>
          </a:p>
        </p:txBody>
      </p:sp>
    </p:spTree>
    <p:extLst>
      <p:ext uri="{BB962C8B-B14F-4D97-AF65-F5344CB8AC3E}">
        <p14:creationId xmlns:p14="http://schemas.microsoft.com/office/powerpoint/2010/main" val="1941435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hape 659"/>
          <p:cNvSpPr/>
          <p:nvPr/>
        </p:nvSpPr>
        <p:spPr>
          <a:xfrm rot="21324055">
            <a:off x="-6581" y="639223"/>
            <a:ext cx="2062435" cy="580546"/>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sz="3600" b="1" i="0" u="none" strike="noStrike" cap="none" dirty="0">
                <a:solidFill>
                  <a:schemeClr val="dk1"/>
                </a:solidFill>
                <a:latin typeface="Arial"/>
                <a:ea typeface="Arial"/>
                <a:cs typeface="Arial"/>
                <a:sym typeface="Arial"/>
              </a:rPr>
              <a:t>第</a:t>
            </a:r>
            <a:r>
              <a:rPr lang="zh-TW" altLang="en-US" sz="3600" b="1" dirty="0">
                <a:solidFill>
                  <a:schemeClr val="dk1"/>
                </a:solidFill>
              </a:rPr>
              <a:t>三</a:t>
            </a:r>
            <a:r>
              <a:rPr lang="zh-TW" sz="3600" b="1" i="0" u="none" strike="noStrike" cap="none" dirty="0">
                <a:solidFill>
                  <a:schemeClr val="dk1"/>
                </a:solidFill>
                <a:latin typeface="Arial"/>
                <a:ea typeface="Arial"/>
                <a:cs typeface="Arial"/>
                <a:sym typeface="Arial"/>
              </a:rPr>
              <a:t>節</a:t>
            </a:r>
          </a:p>
        </p:txBody>
      </p:sp>
      <p:sp>
        <p:nvSpPr>
          <p:cNvPr id="5" name="Shape 660"/>
          <p:cNvSpPr/>
          <p:nvPr/>
        </p:nvSpPr>
        <p:spPr>
          <a:xfrm>
            <a:off x="2699792" y="516019"/>
            <a:ext cx="5832648" cy="719708"/>
          </a:xfrm>
          <a:prstGeom prst="rect">
            <a:avLst/>
          </a:prstGeom>
          <a:noFill/>
          <a:ln>
            <a:noFill/>
          </a:ln>
        </p:spPr>
        <p:txBody>
          <a:bodyPr wrap="square" lIns="91425" tIns="45700" rIns="91425" bIns="45700" anchor="ctr" anchorCtr="0">
            <a:noAutofit/>
          </a:bodyPr>
          <a:lstStyle/>
          <a:p>
            <a:pPr lvl="0" algn="ctr">
              <a:buSzPct val="25000"/>
            </a:pPr>
            <a:r>
              <a:rPr lang="zh-TW" altLang="en-US" sz="4000" b="1" dirty="0">
                <a:solidFill>
                  <a:schemeClr val="dk1"/>
                </a:solidFill>
              </a:rPr>
              <a:t>人口與環境問題</a:t>
            </a:r>
            <a:endParaRPr lang="zh-TW" sz="4000" b="1" i="0" u="none" strike="noStrike" cap="none" dirty="0">
              <a:solidFill>
                <a:schemeClr val="dk1"/>
              </a:solidFill>
              <a:latin typeface="Arial"/>
              <a:ea typeface="Arial"/>
              <a:cs typeface="Arial"/>
              <a:sym typeface="Arial"/>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320" y="1858992"/>
            <a:ext cx="6939981" cy="39604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251520" y="1661954"/>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p.195</a:t>
            </a:r>
            <a:endParaRPr lang="zh-TW" altLang="en-US" sz="3600" b="0" dirty="0"/>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40</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1175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標題 1"/>
          <p:cNvSpPr>
            <a:spLocks/>
          </p:cNvSpPr>
          <p:nvPr/>
        </p:nvSpPr>
        <p:spPr bwMode="auto">
          <a:xfrm>
            <a:off x="755576" y="188640"/>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latin typeface="微軟正黑體" pitchFamily="34" charset="-120"/>
              </a:rPr>
              <a:t>人口與環境問題</a:t>
            </a:r>
            <a:endParaRPr lang="en-US" altLang="zh-TW" sz="3600" b="1" dirty="0">
              <a:latin typeface="微軟正黑體" pitchFamily="34" charset="-120"/>
            </a:endParaRP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1744239"/>
            <a:ext cx="8662863" cy="4853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41</a:t>
            </a:fld>
            <a:endParaRPr lang="zh-TW" sz="1400">
              <a:solidFill>
                <a:schemeClr val="dk1"/>
              </a:solidFill>
              <a:latin typeface="Arial"/>
              <a:ea typeface="Arial"/>
              <a:cs typeface="Arial"/>
              <a:sym typeface="Arial"/>
            </a:endParaRPr>
          </a:p>
        </p:txBody>
      </p:sp>
      <p:sp>
        <p:nvSpPr>
          <p:cNvPr id="10" name="Rectangle 3">
            <a:extLst>
              <a:ext uri="{FF2B5EF4-FFF2-40B4-BE49-F238E27FC236}">
                <a16:creationId xmlns:a16="http://schemas.microsoft.com/office/drawing/2014/main" id="{301C1F87-7E16-43D0-BD31-63F7C0701D8E}"/>
              </a:ext>
            </a:extLst>
          </p:cNvPr>
          <p:cNvSpPr txBox="1">
            <a:spLocks noChangeArrowheads="1"/>
          </p:cNvSpPr>
          <p:nvPr/>
        </p:nvSpPr>
        <p:spPr>
          <a:xfrm>
            <a:off x="478495" y="907899"/>
            <a:ext cx="8064896" cy="95430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latin typeface="標楷體" pitchFamily="65" charset="-120"/>
                <a:ea typeface="標楷體" pitchFamily="65" charset="-120"/>
              </a:rPr>
              <a:t>  東亞各國人口眾多且密集，</a:t>
            </a:r>
            <a:r>
              <a:rPr lang="zh-TW" altLang="en-US" sz="2400" dirty="0">
                <a:solidFill>
                  <a:srgbClr val="FF0000"/>
                </a:solidFill>
                <a:latin typeface="標楷體" pitchFamily="65" charset="-120"/>
                <a:ea typeface="標楷體" pitchFamily="65" charset="-120"/>
              </a:rPr>
              <a:t>豐沛的勞動力</a:t>
            </a:r>
            <a:r>
              <a:rPr lang="zh-TW" altLang="en-US" sz="2400" dirty="0">
                <a:latin typeface="標楷體" pitchFamily="65" charset="-120"/>
                <a:ea typeface="標楷體" pitchFamily="65" charset="-120"/>
              </a:rPr>
              <a:t>和</a:t>
            </a:r>
            <a:r>
              <a:rPr lang="zh-TW" altLang="en-US" sz="2400" dirty="0">
                <a:solidFill>
                  <a:srgbClr val="FF0000"/>
                </a:solidFill>
                <a:latin typeface="標楷體" pitchFamily="65" charset="-120"/>
                <a:ea typeface="標楷體" pitchFamily="65" charset="-120"/>
              </a:rPr>
              <a:t>消費市場 讓經濟快速成長</a:t>
            </a:r>
            <a:r>
              <a:rPr lang="zh-TW" altLang="en-US" sz="2400" dirty="0">
                <a:latin typeface="標楷體" pitchFamily="65" charset="-120"/>
                <a:ea typeface="標楷體" pitchFamily="65" charset="-120"/>
              </a:rPr>
              <a:t>，但背後卻</a:t>
            </a:r>
            <a:r>
              <a:rPr lang="zh-TW" altLang="en-US" sz="2400" dirty="0">
                <a:solidFill>
                  <a:srgbClr val="FF0000"/>
                </a:solidFill>
                <a:latin typeface="標楷體" pitchFamily="65" charset="-120"/>
                <a:ea typeface="標楷體" pitchFamily="65" charset="-120"/>
              </a:rPr>
              <a:t>付出</a:t>
            </a:r>
            <a:r>
              <a:rPr lang="zh-TW" altLang="en-US" sz="2400" dirty="0">
                <a:latin typeface="標楷體" pitchFamily="65" charset="-120"/>
                <a:ea typeface="標楷體" pitchFamily="65" charset="-120"/>
              </a:rPr>
              <a:t>了龐大</a:t>
            </a:r>
            <a:r>
              <a:rPr lang="zh-TW" altLang="en-US" sz="2400" dirty="0">
                <a:solidFill>
                  <a:srgbClr val="FF0000"/>
                </a:solidFill>
                <a:latin typeface="標楷體" pitchFamily="65" charset="-120"/>
                <a:ea typeface="標楷體" pitchFamily="65" charset="-120"/>
              </a:rPr>
              <a:t>代價</a:t>
            </a:r>
            <a:r>
              <a:rPr lang="zh-TW" altLang="en-US" sz="2400" dirty="0">
                <a:latin typeface="標楷體" pitchFamily="65" charset="-120"/>
                <a:ea typeface="標楷體" pitchFamily="65" charset="-120"/>
              </a:rPr>
              <a:t>。</a:t>
            </a:r>
          </a:p>
        </p:txBody>
      </p:sp>
      <p:sp>
        <p:nvSpPr>
          <p:cNvPr id="12" name="矩形 11">
            <a:extLst>
              <a:ext uri="{FF2B5EF4-FFF2-40B4-BE49-F238E27FC236}">
                <a16:creationId xmlns:a16="http://schemas.microsoft.com/office/drawing/2014/main" id="{40DF0331-F246-4793-B813-AB25AAB3EFA9}"/>
              </a:ext>
            </a:extLst>
          </p:cNvPr>
          <p:cNvSpPr>
            <a:spLocks noChangeArrowheads="1"/>
          </p:cNvSpPr>
          <p:nvPr/>
        </p:nvSpPr>
        <p:spPr bwMode="auto">
          <a:xfrm>
            <a:off x="157094" y="139261"/>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p.209</a:t>
            </a:r>
            <a:endParaRPr lang="zh-TW" altLang="en-US" b="0" dirty="0"/>
          </a:p>
        </p:txBody>
      </p:sp>
    </p:spTree>
    <p:extLst>
      <p:ext uri="{BB962C8B-B14F-4D97-AF65-F5344CB8AC3E}">
        <p14:creationId xmlns:p14="http://schemas.microsoft.com/office/powerpoint/2010/main" val="1297202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454428" y="717755"/>
            <a:ext cx="8064896" cy="37660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dirty="0">
                <a:latin typeface="標楷體" pitchFamily="65" charset="-120"/>
                <a:ea typeface="標楷體" pitchFamily="65" charset="-120"/>
              </a:rPr>
              <a:t>一、</a:t>
            </a:r>
            <a:r>
              <a:rPr lang="zh-TW" altLang="en-US" sz="2400" dirty="0">
                <a:solidFill>
                  <a:srgbClr val="FF0000"/>
                </a:solidFill>
                <a:latin typeface="標楷體" pitchFamily="65" charset="-120"/>
                <a:ea typeface="標楷體" pitchFamily="65" charset="-120"/>
              </a:rPr>
              <a:t>人口問題</a:t>
            </a:r>
          </a:p>
        </p:txBody>
      </p:sp>
      <p:sp>
        <p:nvSpPr>
          <p:cNvPr id="11" name="標題 1"/>
          <p:cNvSpPr>
            <a:spLocks/>
          </p:cNvSpPr>
          <p:nvPr/>
        </p:nvSpPr>
        <p:spPr bwMode="auto">
          <a:xfrm>
            <a:off x="855303" y="58502"/>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latin typeface="微軟正黑體" pitchFamily="34" charset="-120"/>
              </a:rPr>
              <a:t>人口與環境問題</a:t>
            </a:r>
            <a:endParaRPr lang="en-US" altLang="zh-TW" sz="3600" b="1" dirty="0">
              <a:latin typeface="微軟正黑體" pitchFamily="34" charset="-120"/>
            </a:endParaRPr>
          </a:p>
        </p:txBody>
      </p:sp>
      <p:graphicFrame>
        <p:nvGraphicFramePr>
          <p:cNvPr id="14" name="Group 47"/>
          <p:cNvGraphicFramePr>
            <a:graphicFrameLocks noGrp="1"/>
          </p:cNvGraphicFramePr>
          <p:nvPr>
            <p:extLst>
              <p:ext uri="{D42A27DB-BD31-4B8C-83A1-F6EECF244321}">
                <p14:modId xmlns:p14="http://schemas.microsoft.com/office/powerpoint/2010/main" val="4291433966"/>
              </p:ext>
            </p:extLst>
          </p:nvPr>
        </p:nvGraphicFramePr>
        <p:xfrm>
          <a:off x="73026" y="1162709"/>
          <a:ext cx="8963470" cy="5439543"/>
        </p:xfrm>
        <a:graphic>
          <a:graphicData uri="http://schemas.openxmlformats.org/drawingml/2006/table">
            <a:tbl>
              <a:tblPr/>
              <a:tblGrid>
                <a:gridCol w="773261">
                  <a:extLst>
                    <a:ext uri="{9D8B030D-6E8A-4147-A177-3AD203B41FA5}">
                      <a16:colId xmlns:a16="http://schemas.microsoft.com/office/drawing/2014/main" val="20000"/>
                    </a:ext>
                  </a:extLst>
                </a:gridCol>
                <a:gridCol w="8190209">
                  <a:extLst>
                    <a:ext uri="{9D8B030D-6E8A-4147-A177-3AD203B41FA5}">
                      <a16:colId xmlns:a16="http://schemas.microsoft.com/office/drawing/2014/main" val="20001"/>
                    </a:ext>
                  </a:extLst>
                </a:gridCol>
              </a:tblGrid>
              <a:tr h="4103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問題</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說明</a:t>
                      </a:r>
                      <a:endParaRPr lang="en-US" altLang="zh-TW" sz="22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3141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rgbClr val="FF0000"/>
                          </a:solidFill>
                          <a:latin typeface="標楷體" pitchFamily="65" charset="-120"/>
                          <a:ea typeface="標楷體" pitchFamily="65" charset="-120"/>
                          <a:cs typeface="Arial"/>
                          <a:sym typeface="Arial"/>
                        </a:rPr>
                        <a:t>過度集中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en-US" altLang="zh-TW" sz="2200" b="0" i="0" u="none" strike="noStrike" cap="none" dirty="0">
                          <a:solidFill>
                            <a:schemeClr val="tx1"/>
                          </a:solidFill>
                          <a:latin typeface="標楷體" pitchFamily="65" charset="-120"/>
                          <a:ea typeface="標楷體" pitchFamily="65" charset="-120"/>
                          <a:cs typeface="Arial"/>
                          <a:sym typeface="Arial"/>
                        </a:rPr>
                        <a:t>1.</a:t>
                      </a:r>
                      <a:r>
                        <a:rPr lang="zh-TW" altLang="en-US" sz="2200" b="0" i="0" u="none" strike="noStrike" cap="none" dirty="0">
                          <a:solidFill>
                            <a:srgbClr val="FF0000"/>
                          </a:solidFill>
                          <a:latin typeface="標楷體" pitchFamily="65" charset="-120"/>
                          <a:ea typeface="標楷體" pitchFamily="65" charset="-120"/>
                          <a:cs typeface="Arial"/>
                          <a:sym typeface="Arial"/>
                        </a:rPr>
                        <a:t>季風農業集約</a:t>
                      </a:r>
                      <a:r>
                        <a:rPr lang="zh-TW" altLang="en-US" sz="2200" b="0" i="0" u="none" strike="noStrike" cap="none" dirty="0">
                          <a:solidFill>
                            <a:schemeClr val="tx1"/>
                          </a:solidFill>
                          <a:latin typeface="標楷體" pitchFamily="65" charset="-120"/>
                          <a:ea typeface="標楷體" pitchFamily="65" charset="-120"/>
                          <a:cs typeface="Arial"/>
                          <a:sym typeface="Arial"/>
                        </a:rPr>
                        <a:t>的特性，</a:t>
                      </a:r>
                      <a:r>
                        <a:rPr lang="zh-TW" altLang="en-US" sz="2200" b="0" i="0" u="none" strike="noStrike" cap="none" dirty="0">
                          <a:solidFill>
                            <a:srgbClr val="FF0000"/>
                          </a:solidFill>
                          <a:latin typeface="標楷體" pitchFamily="65" charset="-120"/>
                          <a:ea typeface="標楷體" pitchFamily="65" charset="-120"/>
                          <a:cs typeface="Arial"/>
                          <a:sym typeface="Arial"/>
                        </a:rPr>
                        <a:t>使</a:t>
                      </a:r>
                      <a:r>
                        <a:rPr lang="zh-TW" altLang="en-US" sz="2200" b="0" i="0" u="none" strike="noStrike" cap="none" dirty="0">
                          <a:solidFill>
                            <a:schemeClr val="tx1"/>
                          </a:solidFill>
                          <a:latin typeface="標楷體" pitchFamily="65" charset="-120"/>
                          <a:ea typeface="標楷體" pitchFamily="65" charset="-120"/>
                          <a:cs typeface="Arial"/>
                          <a:sym typeface="Arial"/>
                        </a:rPr>
                        <a:t>東亞</a:t>
                      </a:r>
                      <a:r>
                        <a:rPr lang="zh-TW" altLang="en-US" sz="2200" b="0" i="0" u="none" strike="noStrike" cap="none" dirty="0">
                          <a:solidFill>
                            <a:srgbClr val="FF0000"/>
                          </a:solidFill>
                          <a:latin typeface="標楷體" pitchFamily="65" charset="-120"/>
                          <a:ea typeface="標楷體" pitchFamily="65" charset="-120"/>
                          <a:cs typeface="Arial"/>
                          <a:sym typeface="Arial"/>
                        </a:rPr>
                        <a:t>人口多分布在中國東部</a:t>
                      </a:r>
                      <a:r>
                        <a:rPr lang="zh-TW" altLang="en-US" sz="2200" b="0" i="0" u="none" strike="noStrike" cap="none" dirty="0">
                          <a:solidFill>
                            <a:schemeClr val="tx1"/>
                          </a:solidFill>
                          <a:latin typeface="標楷體" pitchFamily="65" charset="-120"/>
                          <a:ea typeface="標楷體" pitchFamily="65" charset="-120"/>
                          <a:cs typeface="Arial"/>
                          <a:sym typeface="Arial"/>
                        </a:rPr>
                        <a:t>以及島嶼</a:t>
                      </a:r>
                      <a:r>
                        <a:rPr lang="zh-TW" altLang="en-US" sz="2200" b="0" i="0" u="none" strike="noStrike" cap="none" dirty="0">
                          <a:solidFill>
                            <a:srgbClr val="FF0000"/>
                          </a:solidFill>
                          <a:latin typeface="標楷體" pitchFamily="65" charset="-120"/>
                          <a:ea typeface="標楷體" pitchFamily="65" charset="-120"/>
                          <a:cs typeface="Arial"/>
                          <a:sym typeface="Arial"/>
                        </a:rPr>
                        <a:t>沿海的平原、丘陵地區</a:t>
                      </a:r>
                    </a:p>
                    <a:p>
                      <a:r>
                        <a:rPr lang="en-US" altLang="zh-TW" sz="2200" b="0" i="0" u="none" strike="noStrike" cap="none" dirty="0">
                          <a:solidFill>
                            <a:schemeClr val="tx1"/>
                          </a:solidFill>
                          <a:latin typeface="標楷體" pitchFamily="65" charset="-120"/>
                          <a:ea typeface="標楷體" pitchFamily="65" charset="-120"/>
                          <a:cs typeface="Arial"/>
                          <a:sym typeface="Arial"/>
                        </a:rPr>
                        <a:t>2.</a:t>
                      </a:r>
                      <a:r>
                        <a:rPr lang="zh-TW" altLang="en-US" sz="2200" b="0" i="0" u="none" strike="noStrike" cap="none" dirty="0">
                          <a:solidFill>
                            <a:srgbClr val="FF0000"/>
                          </a:solidFill>
                          <a:latin typeface="標楷體" pitchFamily="65" charset="-120"/>
                          <a:ea typeface="標楷體" pitchFamily="65" charset="-120"/>
                          <a:cs typeface="Arial"/>
                          <a:sym typeface="Arial"/>
                        </a:rPr>
                        <a:t>近代工業</a:t>
                      </a:r>
                      <a:r>
                        <a:rPr lang="zh-TW" altLang="en-US" sz="2200" b="0" i="0" u="none" strike="noStrike" cap="none" dirty="0">
                          <a:solidFill>
                            <a:schemeClr val="tx1"/>
                          </a:solidFill>
                          <a:latin typeface="標楷體" pitchFamily="65" charset="-120"/>
                          <a:ea typeface="標楷體" pitchFamily="65" charset="-120"/>
                          <a:cs typeface="Arial"/>
                          <a:sym typeface="Arial"/>
                        </a:rPr>
                        <a:t>生產及</a:t>
                      </a:r>
                      <a:r>
                        <a:rPr lang="zh-TW" altLang="en-US" sz="2200" b="0" i="0" u="none" strike="noStrike" cap="none" dirty="0">
                          <a:solidFill>
                            <a:srgbClr val="FF0000"/>
                          </a:solidFill>
                          <a:latin typeface="標楷體" pitchFamily="65" charset="-120"/>
                          <a:ea typeface="標楷體" pitchFamily="65" charset="-120"/>
                          <a:cs typeface="Arial"/>
                          <a:sym typeface="Arial"/>
                        </a:rPr>
                        <a:t>貿易</a:t>
                      </a:r>
                      <a:r>
                        <a:rPr lang="zh-TW" altLang="en-US" sz="2200" b="0" i="0" u="none" strike="noStrike" cap="none" dirty="0">
                          <a:solidFill>
                            <a:schemeClr val="tx1"/>
                          </a:solidFill>
                          <a:latin typeface="標楷體" pitchFamily="65" charset="-120"/>
                          <a:ea typeface="標楷體" pitchFamily="65" charset="-120"/>
                          <a:cs typeface="Arial"/>
                          <a:sym typeface="Arial"/>
                        </a:rPr>
                        <a:t>蓬勃，讓人口</a:t>
                      </a:r>
                      <a:r>
                        <a:rPr lang="zh-TW" altLang="en-US" sz="2200" b="0" i="0" u="none" strike="noStrike" cap="none" dirty="0">
                          <a:solidFill>
                            <a:srgbClr val="FF0000"/>
                          </a:solidFill>
                          <a:latin typeface="標楷體" pitchFamily="65" charset="-120"/>
                          <a:ea typeface="標楷體" pitchFamily="65" charset="-120"/>
                          <a:cs typeface="Arial"/>
                          <a:sym typeface="Arial"/>
                        </a:rPr>
                        <a:t>更加集中於沿海都會地帶</a:t>
                      </a:r>
                    </a:p>
                    <a:p>
                      <a:r>
                        <a:rPr lang="en-US" altLang="zh-TW" sz="2200" b="0" i="0" u="none" strike="noStrike" cap="none" dirty="0">
                          <a:solidFill>
                            <a:schemeClr val="tx1"/>
                          </a:solidFill>
                          <a:latin typeface="標楷體" pitchFamily="65" charset="-120"/>
                          <a:ea typeface="標楷體" pitchFamily="65" charset="-120"/>
                          <a:cs typeface="Arial"/>
                          <a:sym typeface="Arial"/>
                        </a:rPr>
                        <a:t>3.</a:t>
                      </a:r>
                      <a:r>
                        <a:rPr lang="zh-TW" altLang="en-US" sz="2200" b="0" i="0" u="none" strike="noStrike" cap="none" dirty="0">
                          <a:solidFill>
                            <a:schemeClr val="tx1"/>
                          </a:solidFill>
                          <a:latin typeface="標楷體" pitchFamily="65" charset="-120"/>
                          <a:ea typeface="標楷體" pitchFamily="65" charset="-120"/>
                          <a:cs typeface="Arial"/>
                          <a:sym typeface="Arial"/>
                        </a:rPr>
                        <a:t>聯合國 </a:t>
                      </a:r>
                      <a:r>
                        <a:rPr lang="en-US" altLang="zh-TW" sz="2200" b="0" i="0" u="none" strike="noStrike" cap="none" dirty="0">
                          <a:solidFill>
                            <a:schemeClr val="tx1"/>
                          </a:solidFill>
                          <a:latin typeface="標楷體" pitchFamily="65" charset="-120"/>
                          <a:ea typeface="標楷體" pitchFamily="65" charset="-120"/>
                          <a:cs typeface="Arial"/>
                          <a:sym typeface="Arial"/>
                        </a:rPr>
                        <a:t>2020</a:t>
                      </a:r>
                      <a:r>
                        <a:rPr lang="zh-TW" altLang="en-US" sz="2200" b="0" i="0" u="none" strike="noStrike" cap="none" dirty="0">
                          <a:solidFill>
                            <a:schemeClr val="tx1"/>
                          </a:solidFill>
                          <a:latin typeface="標楷體" pitchFamily="65" charset="-120"/>
                          <a:ea typeface="標楷體" pitchFamily="65" charset="-120"/>
                          <a:cs typeface="Arial"/>
                          <a:sym typeface="Arial"/>
                        </a:rPr>
                        <a:t> 年發布的報告中，</a:t>
                      </a:r>
                      <a:r>
                        <a:rPr lang="zh-TW" altLang="en-US" sz="2200" b="0" i="0" u="none" strike="noStrike" cap="none" dirty="0">
                          <a:solidFill>
                            <a:srgbClr val="FF0000"/>
                          </a:solidFill>
                          <a:latin typeface="標楷體" pitchFamily="65" charset="-120"/>
                          <a:ea typeface="標楷體" pitchFamily="65" charset="-120"/>
                          <a:cs typeface="Arial"/>
                          <a:sym typeface="Arial"/>
                        </a:rPr>
                        <a:t>全球超過 </a:t>
                      </a:r>
                      <a:r>
                        <a:rPr lang="en-US" altLang="zh-TW" sz="2200" b="0" i="0" u="none" strike="noStrike" cap="none" dirty="0">
                          <a:solidFill>
                            <a:srgbClr val="FF0000"/>
                          </a:solidFill>
                          <a:latin typeface="標楷體" pitchFamily="65" charset="-120"/>
                          <a:ea typeface="標楷體" pitchFamily="65" charset="-120"/>
                          <a:cs typeface="Arial"/>
                          <a:sym typeface="Arial"/>
                        </a:rPr>
                        <a:t>1,000 </a:t>
                      </a:r>
                      <a:r>
                        <a:rPr lang="zh-TW" altLang="en-US" sz="2200" b="0" i="0" u="none" strike="noStrike" cap="none" dirty="0">
                          <a:solidFill>
                            <a:srgbClr val="FF0000"/>
                          </a:solidFill>
                          <a:latin typeface="標楷體" pitchFamily="65" charset="-120"/>
                          <a:ea typeface="標楷體" pitchFamily="65" charset="-120"/>
                          <a:cs typeface="Arial"/>
                          <a:sym typeface="Arial"/>
                        </a:rPr>
                        <a:t>萬的都市</a:t>
                      </a:r>
                      <a:r>
                        <a:rPr lang="zh-TW" altLang="en-US" sz="2200" b="0" i="0" u="none" strike="noStrike" cap="none" dirty="0">
                          <a:solidFill>
                            <a:schemeClr val="tx1"/>
                          </a:solidFill>
                          <a:latin typeface="標楷體" pitchFamily="65" charset="-120"/>
                          <a:ea typeface="標楷體" pitchFamily="65" charset="-120"/>
                          <a:cs typeface="Arial"/>
                          <a:sym typeface="Arial"/>
                        </a:rPr>
                        <a:t>排名前 </a:t>
                      </a:r>
                      <a:r>
                        <a:rPr lang="en-US" altLang="zh-TW" sz="2200" b="0" i="0" u="none" strike="noStrike" cap="none" dirty="0">
                          <a:solidFill>
                            <a:schemeClr val="tx1"/>
                          </a:solidFill>
                          <a:latin typeface="標楷體" pitchFamily="65" charset="-120"/>
                          <a:ea typeface="標楷體" pitchFamily="65" charset="-120"/>
                          <a:cs typeface="Arial"/>
                          <a:sym typeface="Arial"/>
                        </a:rPr>
                        <a:t>25</a:t>
                      </a:r>
                      <a:r>
                        <a:rPr lang="zh-TW" altLang="en-US" sz="2200" b="0" i="0" u="none" strike="noStrike" cap="none" dirty="0">
                          <a:solidFill>
                            <a:schemeClr val="tx1"/>
                          </a:solidFill>
                          <a:latin typeface="標楷體" pitchFamily="65" charset="-120"/>
                          <a:ea typeface="標楷體" pitchFamily="65" charset="-120"/>
                          <a:cs typeface="Arial"/>
                          <a:sym typeface="Arial"/>
                        </a:rPr>
                        <a:t>名，日本占 </a:t>
                      </a:r>
                      <a:r>
                        <a:rPr lang="en-US" altLang="zh-TW" sz="2200" b="0" i="0" u="none" strike="noStrike" cap="none" dirty="0">
                          <a:solidFill>
                            <a:schemeClr val="tx1"/>
                          </a:solidFill>
                          <a:latin typeface="標楷體" pitchFamily="65" charset="-120"/>
                          <a:ea typeface="標楷體" pitchFamily="65" charset="-120"/>
                          <a:cs typeface="Arial"/>
                          <a:sym typeface="Arial"/>
                        </a:rPr>
                        <a:t>2 </a:t>
                      </a:r>
                      <a:r>
                        <a:rPr lang="zh-TW" altLang="en-US" sz="2200" b="0" i="0" u="none" strike="noStrike" cap="none" dirty="0">
                          <a:solidFill>
                            <a:schemeClr val="tx1"/>
                          </a:solidFill>
                          <a:latin typeface="標楷體" pitchFamily="65" charset="-120"/>
                          <a:ea typeface="標楷體" pitchFamily="65" charset="-120"/>
                          <a:cs typeface="Arial"/>
                          <a:sym typeface="Arial"/>
                        </a:rPr>
                        <a:t>個，</a:t>
                      </a:r>
                      <a:r>
                        <a:rPr lang="zh-TW" altLang="en-US" sz="2200" b="0" i="0" u="none" strike="noStrike" cap="none" dirty="0">
                          <a:solidFill>
                            <a:srgbClr val="FF0000"/>
                          </a:solidFill>
                          <a:latin typeface="標楷體" pitchFamily="65" charset="-120"/>
                          <a:ea typeface="標楷體" pitchFamily="65" charset="-120"/>
                          <a:cs typeface="Arial"/>
                          <a:sym typeface="Arial"/>
                        </a:rPr>
                        <a:t>東京以人口近 </a:t>
                      </a:r>
                      <a:r>
                        <a:rPr lang="en-US" altLang="zh-TW" sz="2200" b="0" i="0" u="none" strike="noStrike" cap="none" dirty="0">
                          <a:solidFill>
                            <a:srgbClr val="FF0000"/>
                          </a:solidFill>
                          <a:latin typeface="標楷體" pitchFamily="65" charset="-120"/>
                          <a:ea typeface="標楷體" pitchFamily="65" charset="-120"/>
                          <a:cs typeface="Arial"/>
                          <a:sym typeface="Arial"/>
                        </a:rPr>
                        <a:t>3,800 </a:t>
                      </a:r>
                      <a:r>
                        <a:rPr lang="zh-TW" altLang="en-US" sz="2200" b="0" i="0" u="none" strike="noStrike" cap="none" dirty="0">
                          <a:solidFill>
                            <a:srgbClr val="FF0000"/>
                          </a:solidFill>
                          <a:latin typeface="標楷體" pitchFamily="65" charset="-120"/>
                          <a:ea typeface="標楷體" pitchFamily="65" charset="-120"/>
                          <a:cs typeface="Arial"/>
                          <a:sym typeface="Arial"/>
                        </a:rPr>
                        <a:t>萬名列第一</a:t>
                      </a:r>
                      <a:r>
                        <a:rPr lang="zh-TW" altLang="en-US" sz="2200" b="0" i="0" u="none" strike="noStrike" cap="none" dirty="0">
                          <a:solidFill>
                            <a:schemeClr val="tx1"/>
                          </a:solidFill>
                          <a:latin typeface="標楷體" pitchFamily="65" charset="-120"/>
                          <a:ea typeface="標楷體" pitchFamily="65" charset="-120"/>
                          <a:cs typeface="Arial"/>
                          <a:sym typeface="Arial"/>
                        </a:rPr>
                        <a:t>，</a:t>
                      </a:r>
                      <a:br>
                        <a:rPr lang="en-US" altLang="zh-TW" sz="2200" b="0" i="0" u="none" strike="noStrike" cap="none" dirty="0">
                          <a:solidFill>
                            <a:schemeClr val="tx1"/>
                          </a:solidFill>
                          <a:latin typeface="標楷體" pitchFamily="65" charset="-120"/>
                          <a:ea typeface="標楷體" pitchFamily="65" charset="-120"/>
                          <a:cs typeface="Arial"/>
                          <a:sym typeface="Arial"/>
                        </a:rPr>
                      </a:br>
                      <a:r>
                        <a:rPr lang="zh-TW" altLang="en-US" sz="2200" b="0" i="0" u="none" strike="noStrike" cap="none" dirty="0">
                          <a:solidFill>
                            <a:srgbClr val="FF0000"/>
                          </a:solidFill>
                          <a:latin typeface="標楷體" pitchFamily="65" charset="-120"/>
                          <a:ea typeface="標楷體" pitchFamily="65" charset="-120"/>
                          <a:cs typeface="Arial"/>
                          <a:sym typeface="Arial"/>
                        </a:rPr>
                        <a:t>中國</a:t>
                      </a:r>
                      <a:r>
                        <a:rPr lang="zh-TW" altLang="en-US" sz="2200" b="0" i="0" u="none" strike="noStrike" cap="none" dirty="0">
                          <a:solidFill>
                            <a:schemeClr val="tx1"/>
                          </a:solidFill>
                          <a:latin typeface="標楷體" pitchFamily="65" charset="-120"/>
                          <a:ea typeface="標楷體" pitchFamily="65" charset="-120"/>
                          <a:cs typeface="Arial"/>
                          <a:sym typeface="Arial"/>
                        </a:rPr>
                        <a:t>占 </a:t>
                      </a:r>
                      <a:r>
                        <a:rPr lang="en-US" altLang="zh-TW" sz="2200" b="0" i="0" u="none" strike="noStrike" cap="none" dirty="0">
                          <a:solidFill>
                            <a:schemeClr val="tx1"/>
                          </a:solidFill>
                          <a:latin typeface="標楷體" pitchFamily="65" charset="-120"/>
                          <a:ea typeface="標楷體" pitchFamily="65" charset="-120"/>
                          <a:cs typeface="Arial"/>
                          <a:sym typeface="Arial"/>
                        </a:rPr>
                        <a:t>6 </a:t>
                      </a:r>
                      <a:r>
                        <a:rPr lang="zh-TW" altLang="en-US" sz="2200" b="0" i="0" u="none" strike="noStrike" cap="none" dirty="0">
                          <a:solidFill>
                            <a:schemeClr val="tx1"/>
                          </a:solidFill>
                          <a:latin typeface="標楷體" pitchFamily="65" charset="-120"/>
                          <a:ea typeface="標楷體" pitchFamily="65" charset="-120"/>
                          <a:cs typeface="Arial"/>
                          <a:sym typeface="Arial"/>
                        </a:rPr>
                        <a:t>個，</a:t>
                      </a:r>
                      <a:r>
                        <a:rPr lang="zh-TW" altLang="en-US" sz="2200" b="0" i="0" u="none" strike="noStrike" cap="none" dirty="0">
                          <a:solidFill>
                            <a:srgbClr val="FF0000"/>
                          </a:solidFill>
                          <a:latin typeface="標楷體" pitchFamily="65" charset="-120"/>
                          <a:ea typeface="標楷體" pitchFamily="65" charset="-120"/>
                          <a:cs typeface="Arial"/>
                          <a:sym typeface="Arial"/>
                        </a:rPr>
                        <a:t>比例最多且成長速度極快</a:t>
                      </a:r>
                      <a:r>
                        <a:rPr lang="zh-TW" altLang="en-US" sz="2200" b="0" i="0" u="none" strike="noStrike" cap="none" dirty="0">
                          <a:solidFill>
                            <a:schemeClr val="tx1"/>
                          </a:solidFill>
                          <a:latin typeface="標楷體" pitchFamily="65" charset="-120"/>
                          <a:ea typeface="標楷體" pitchFamily="65" charset="-120"/>
                          <a:cs typeface="Arial"/>
                          <a:sym typeface="Arial"/>
                        </a:rPr>
                        <a:t>。</a:t>
                      </a:r>
                    </a:p>
                    <a:p>
                      <a:r>
                        <a:rPr lang="en-US" altLang="zh-TW" sz="2200" b="0" i="0" u="none" strike="noStrike" cap="none" dirty="0">
                          <a:solidFill>
                            <a:schemeClr val="tx1"/>
                          </a:solidFill>
                          <a:latin typeface="標楷體" pitchFamily="65" charset="-120"/>
                          <a:ea typeface="標楷體" pitchFamily="65" charset="-120"/>
                          <a:cs typeface="Arial"/>
                          <a:sym typeface="Arial"/>
                        </a:rPr>
                        <a:t>4.</a:t>
                      </a:r>
                      <a:r>
                        <a:rPr lang="zh-TW" altLang="en-US" sz="2200" b="0" i="0" u="none" strike="noStrike" cap="none" dirty="0">
                          <a:solidFill>
                            <a:srgbClr val="FF0000"/>
                          </a:solidFill>
                          <a:latin typeface="標楷體" pitchFamily="65" charset="-120"/>
                          <a:ea typeface="標楷體" pitchFamily="65" charset="-120"/>
                          <a:cs typeface="Arial"/>
                          <a:sym typeface="Arial"/>
                        </a:rPr>
                        <a:t>中國</a:t>
                      </a:r>
                      <a:r>
                        <a:rPr lang="zh-TW" altLang="en-US" sz="2200" b="0" i="0" u="none" strike="noStrike" cap="none" dirty="0">
                          <a:solidFill>
                            <a:schemeClr val="tx1"/>
                          </a:solidFill>
                          <a:latin typeface="標楷體" pitchFamily="65" charset="-120"/>
                          <a:ea typeface="標楷體" pitchFamily="65" charset="-120"/>
                          <a:cs typeface="Arial"/>
                          <a:sym typeface="Arial"/>
                        </a:rPr>
                        <a:t>：</a:t>
                      </a:r>
                    </a:p>
                    <a:p>
                      <a:r>
                        <a:rPr lang="en-US" altLang="zh-TW" sz="2200" b="0" i="0" u="none" strike="noStrike" cap="none" dirty="0">
                          <a:solidFill>
                            <a:schemeClr val="tx1"/>
                          </a:solidFill>
                          <a:latin typeface="標楷體" pitchFamily="65" charset="-120"/>
                          <a:ea typeface="標楷體" pitchFamily="65" charset="-120"/>
                          <a:cs typeface="Arial"/>
                          <a:sym typeface="Arial"/>
                        </a:rPr>
                        <a:t>(1)</a:t>
                      </a:r>
                      <a:r>
                        <a:rPr lang="zh-TW" altLang="en-US" sz="2200" b="0" i="0" u="none" strike="noStrike" cap="none" dirty="0">
                          <a:solidFill>
                            <a:schemeClr val="tx1"/>
                          </a:solidFill>
                          <a:latin typeface="標楷體" pitchFamily="65" charset="-120"/>
                          <a:ea typeface="標楷體" pitchFamily="65" charset="-120"/>
                          <a:cs typeface="Arial"/>
                          <a:sym typeface="Arial"/>
                        </a:rPr>
                        <a:t>人口基數龐大</a:t>
                      </a:r>
                      <a:endParaRPr lang="en-US" altLang="zh-TW" sz="2200" b="0" i="0" u="none" strike="noStrike" cap="none" dirty="0">
                        <a:solidFill>
                          <a:schemeClr val="tx1"/>
                        </a:solidFill>
                        <a:latin typeface="標楷體" pitchFamily="65" charset="-120"/>
                        <a:ea typeface="標楷體" pitchFamily="65" charset="-120"/>
                        <a:cs typeface="Arial"/>
                        <a:sym typeface="Arial"/>
                      </a:endParaRPr>
                    </a:p>
                    <a:p>
                      <a:r>
                        <a:rPr lang="en-US" altLang="zh-TW" sz="2200" b="0" i="0" u="none" strike="noStrike" cap="none" dirty="0">
                          <a:solidFill>
                            <a:schemeClr val="tx1"/>
                          </a:solidFill>
                          <a:latin typeface="標楷體" pitchFamily="65" charset="-120"/>
                          <a:ea typeface="標楷體" pitchFamily="65" charset="-120"/>
                          <a:cs typeface="Arial"/>
                          <a:sym typeface="Arial"/>
                        </a:rPr>
                        <a:t>(2)</a:t>
                      </a:r>
                      <a:r>
                        <a:rPr lang="zh-TW" altLang="en-US" sz="2200" b="0" i="0" u="sng" strike="noStrike" cap="none" dirty="0">
                          <a:solidFill>
                            <a:srgbClr val="FF0000"/>
                          </a:solidFill>
                          <a:latin typeface="標楷體" pitchFamily="65" charset="-120"/>
                          <a:ea typeface="標楷體" pitchFamily="65" charset="-120"/>
                          <a:cs typeface="Arial"/>
                          <a:sym typeface="Arial"/>
                        </a:rPr>
                        <a:t>                 </a:t>
                      </a:r>
                      <a:r>
                        <a:rPr lang="zh-TW" altLang="en-US" sz="2200" b="0" i="0" u="none" strike="noStrike" cap="none" dirty="0">
                          <a:solidFill>
                            <a:schemeClr val="tx1"/>
                          </a:solidFill>
                          <a:latin typeface="標楷體" pitchFamily="65" charset="-120"/>
                          <a:ea typeface="標楷體" pitchFamily="65" charset="-120"/>
                          <a:cs typeface="Arial"/>
                          <a:sym typeface="Arial"/>
                        </a:rPr>
                        <a:t>：目的</a:t>
                      </a:r>
                      <a:r>
                        <a:rPr lang="zh-TW" altLang="en-US" sz="2200" b="0" i="0" u="none" strike="noStrike" cap="none" dirty="0">
                          <a:solidFill>
                            <a:srgbClr val="FF0000"/>
                          </a:solidFill>
                          <a:latin typeface="標楷體" pitchFamily="65" charset="-120"/>
                          <a:ea typeface="標楷體" pitchFamily="65" charset="-120"/>
                          <a:cs typeface="Arial"/>
                          <a:sym typeface="Arial"/>
                        </a:rPr>
                        <a:t>為抑制人口流動</a:t>
                      </a:r>
                      <a:endParaRPr lang="en-US" altLang="zh-TW" sz="2200" b="0" i="0" u="none" strike="noStrike" cap="none" dirty="0">
                        <a:solidFill>
                          <a:srgbClr val="FF0000"/>
                        </a:solidFill>
                        <a:latin typeface="標楷體" pitchFamily="65" charset="-120"/>
                        <a:ea typeface="標楷體" pitchFamily="65" charset="-120"/>
                        <a:cs typeface="Arial"/>
                        <a:sym typeface="Arial"/>
                      </a:endParaRPr>
                    </a:p>
                    <a:p>
                      <a:r>
                        <a:rPr lang="zh-TW" altLang="en-US" sz="2200" b="0" i="0" u="none" strike="noStrike" cap="none" dirty="0">
                          <a:solidFill>
                            <a:schemeClr val="tx1"/>
                          </a:solidFill>
                          <a:latin typeface="標楷體" pitchFamily="65" charset="-120"/>
                          <a:ea typeface="標楷體" pitchFamily="65" charset="-120"/>
                          <a:cs typeface="Arial"/>
                          <a:sym typeface="Arial"/>
                        </a:rPr>
                        <a:t>，</a:t>
                      </a:r>
                      <a:r>
                        <a:rPr lang="en-US" altLang="zh-TW" sz="2200" b="0" i="0" u="none" strike="noStrike" cap="none" dirty="0">
                          <a:solidFill>
                            <a:schemeClr val="tx1"/>
                          </a:solidFill>
                          <a:latin typeface="標楷體" pitchFamily="65" charset="-120"/>
                          <a:ea typeface="標楷體" pitchFamily="65" charset="-120"/>
                          <a:cs typeface="Arial"/>
                          <a:sym typeface="Arial"/>
                        </a:rPr>
                        <a:t>1978 </a:t>
                      </a:r>
                      <a:r>
                        <a:rPr lang="zh-TW" altLang="en-US" sz="2200" b="0" i="0" u="none" strike="noStrike" cap="none" dirty="0">
                          <a:solidFill>
                            <a:schemeClr val="tx1"/>
                          </a:solidFill>
                          <a:latin typeface="標楷體" pitchFamily="65" charset="-120"/>
                          <a:ea typeface="標楷體" pitchFamily="65" charset="-120"/>
                          <a:cs typeface="Arial"/>
                          <a:sym typeface="Arial"/>
                        </a:rPr>
                        <a:t>年改革開放之後，</a:t>
                      </a:r>
                      <a:r>
                        <a:rPr lang="zh-TW" altLang="en-US" sz="2200" b="0" i="0" u="none" strike="noStrike" cap="none" dirty="0">
                          <a:solidFill>
                            <a:srgbClr val="FF00FF"/>
                          </a:solidFill>
                          <a:latin typeface="標楷體" pitchFamily="65" charset="-120"/>
                          <a:ea typeface="標楷體" pitchFamily="65" charset="-120"/>
                          <a:cs typeface="Arial"/>
                          <a:sym typeface="Arial"/>
                        </a:rPr>
                        <a:t>沿海都會大量就業</a:t>
                      </a:r>
                      <a:endParaRPr lang="en-US" altLang="zh-TW" sz="2200" b="0" i="0" u="none" strike="noStrike" cap="none" dirty="0">
                        <a:solidFill>
                          <a:srgbClr val="FF00FF"/>
                        </a:solidFill>
                        <a:latin typeface="標楷體" pitchFamily="65" charset="-120"/>
                        <a:ea typeface="標楷體" pitchFamily="65" charset="-120"/>
                        <a:cs typeface="Arial"/>
                        <a:sym typeface="Arial"/>
                      </a:endParaRPr>
                    </a:p>
                    <a:p>
                      <a:r>
                        <a:rPr lang="zh-TW" altLang="en-US" sz="2200" b="0" i="0" u="none" strike="noStrike" cap="none" dirty="0">
                          <a:solidFill>
                            <a:srgbClr val="FF00FF"/>
                          </a:solidFill>
                          <a:latin typeface="標楷體" pitchFamily="65" charset="-120"/>
                          <a:ea typeface="標楷體" pitchFamily="65" charset="-120"/>
                          <a:cs typeface="Arial"/>
                          <a:sym typeface="Arial"/>
                        </a:rPr>
                        <a:t>機會吸引農村人口流往都市，卻因戶籍無法</a:t>
                      </a:r>
                      <a:endParaRPr lang="en-US" altLang="zh-TW" sz="2200" b="0" i="0" u="none" strike="noStrike" cap="none" dirty="0">
                        <a:solidFill>
                          <a:srgbClr val="FF00FF"/>
                        </a:solidFill>
                        <a:latin typeface="標楷體" pitchFamily="65" charset="-120"/>
                        <a:ea typeface="標楷體" pitchFamily="65" charset="-120"/>
                        <a:cs typeface="Arial"/>
                        <a:sym typeface="Arial"/>
                      </a:endParaRPr>
                    </a:p>
                    <a:p>
                      <a:r>
                        <a:rPr lang="zh-TW" altLang="en-US" sz="2200" b="0" i="0" u="none" strike="noStrike" cap="none" dirty="0">
                          <a:solidFill>
                            <a:srgbClr val="FF00FF"/>
                          </a:solidFill>
                          <a:latin typeface="標楷體" pitchFamily="65" charset="-120"/>
                          <a:ea typeface="標楷體" pitchFamily="65" charset="-120"/>
                          <a:cs typeface="Arial"/>
                          <a:sym typeface="Arial"/>
                        </a:rPr>
                        <a:t>同步移入都市，難以享有和都市戶籍人口同樣</a:t>
                      </a:r>
                      <a:endParaRPr lang="en-US" altLang="zh-TW" sz="2200" b="0" i="0" u="none" strike="noStrike" cap="none" dirty="0">
                        <a:solidFill>
                          <a:srgbClr val="FF00FF"/>
                        </a:solidFill>
                        <a:latin typeface="標楷體" pitchFamily="65" charset="-120"/>
                        <a:ea typeface="標楷體" pitchFamily="65" charset="-120"/>
                        <a:cs typeface="Arial"/>
                        <a:sym typeface="Arial"/>
                      </a:endParaRPr>
                    </a:p>
                    <a:p>
                      <a:r>
                        <a:rPr lang="zh-TW" altLang="en-US" sz="2200" b="0" i="0" u="none" strike="noStrike" cap="none" dirty="0">
                          <a:solidFill>
                            <a:srgbClr val="FF00FF"/>
                          </a:solidFill>
                          <a:latin typeface="標楷體" pitchFamily="65" charset="-120"/>
                          <a:ea typeface="標楷體" pitchFamily="65" charset="-120"/>
                          <a:cs typeface="Arial"/>
                          <a:sym typeface="Arial"/>
                        </a:rPr>
                        <a:t>的醫療、教育等社會福利</a:t>
                      </a:r>
                      <a:r>
                        <a:rPr lang="zh-TW" altLang="en-US" sz="2200" b="0" i="0" u="none" strike="noStrike" cap="none" dirty="0">
                          <a:solidFill>
                            <a:schemeClr val="tx1"/>
                          </a:solidFill>
                          <a:latin typeface="標楷體" pitchFamily="65" charset="-120"/>
                          <a:ea typeface="標楷體" pitchFamily="65" charset="-120"/>
                          <a:cs typeface="Arial"/>
                          <a:sym typeface="Arial"/>
                        </a:rPr>
                        <a:t>，雖然轉移了農村的</a:t>
                      </a:r>
                      <a:endParaRPr lang="en-US" altLang="zh-TW" sz="2200" b="0" i="0" u="none" strike="noStrike" cap="none" dirty="0">
                        <a:solidFill>
                          <a:schemeClr val="tx1"/>
                        </a:solidFill>
                        <a:latin typeface="標楷體" pitchFamily="65" charset="-120"/>
                        <a:ea typeface="標楷體" pitchFamily="65" charset="-120"/>
                        <a:cs typeface="Arial"/>
                        <a:sym typeface="Arial"/>
                      </a:endParaRPr>
                    </a:p>
                    <a:p>
                      <a:r>
                        <a:rPr lang="zh-TW" altLang="en-US" sz="2200" b="0" i="0" u="none" strike="noStrike" cap="none" dirty="0">
                          <a:solidFill>
                            <a:schemeClr val="tx1"/>
                          </a:solidFill>
                          <a:latin typeface="標楷體" pitchFamily="65" charset="-120"/>
                          <a:ea typeface="標楷體" pitchFamily="65" charset="-120"/>
                          <a:cs typeface="Arial"/>
                          <a:sym typeface="Arial"/>
                        </a:rPr>
                        <a:t>剩餘勞動力，但隨之而來的生活、治安問題，</a:t>
                      </a:r>
                      <a:endParaRPr lang="en-US" altLang="zh-TW" sz="2200" b="0" i="0" u="none" strike="noStrike" cap="none" dirty="0">
                        <a:solidFill>
                          <a:schemeClr val="tx1"/>
                        </a:solidFill>
                        <a:latin typeface="標楷體" pitchFamily="65" charset="-120"/>
                        <a:ea typeface="標楷體" pitchFamily="65" charset="-120"/>
                        <a:cs typeface="Arial"/>
                        <a:sym typeface="Arial"/>
                      </a:endParaRPr>
                    </a:p>
                    <a:p>
                      <a:r>
                        <a:rPr lang="zh-TW" altLang="en-US" sz="2200" b="0" i="0" u="none" strike="noStrike" cap="none" dirty="0">
                          <a:solidFill>
                            <a:schemeClr val="tx1"/>
                          </a:solidFill>
                          <a:latin typeface="標楷體" pitchFamily="65" charset="-120"/>
                          <a:ea typeface="標楷體" pitchFamily="65" charset="-120"/>
                          <a:cs typeface="Arial"/>
                          <a:sym typeface="Arial"/>
                        </a:rPr>
                        <a:t>是都市治理的一大難題</a:t>
                      </a:r>
                      <a:endParaRPr lang="en-US" altLang="zh-TW" sz="22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矩形 9"/>
          <p:cNvSpPr>
            <a:spLocks noChangeArrowheads="1"/>
          </p:cNvSpPr>
          <p:nvPr/>
        </p:nvSpPr>
        <p:spPr bwMode="auto">
          <a:xfrm>
            <a:off x="1354981" y="4214137"/>
            <a:ext cx="247163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200" kern="1200" dirty="0">
                <a:solidFill>
                  <a:srgbClr val="FF0000"/>
                </a:solidFill>
                <a:latin typeface="標楷體" pitchFamily="65" charset="-120"/>
                <a:ea typeface="標楷體" pitchFamily="65" charset="-120"/>
                <a:cs typeface="Times New Roman" pitchFamily="18" charset="0"/>
              </a:rPr>
              <a:t>城鄉分隔戶籍制度</a:t>
            </a:r>
          </a:p>
        </p:txBody>
      </p:sp>
      <p:pic>
        <p:nvPicPr>
          <p:cNvPr id="204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416036"/>
            <a:ext cx="2471639" cy="3186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42</a:t>
            </a:fld>
            <a:endParaRPr lang="zh-TW" sz="1400">
              <a:solidFill>
                <a:schemeClr val="dk1"/>
              </a:solidFill>
              <a:latin typeface="Arial"/>
              <a:ea typeface="Arial"/>
              <a:cs typeface="Arial"/>
              <a:sym typeface="Arial"/>
            </a:endParaRPr>
          </a:p>
        </p:txBody>
      </p:sp>
      <p:sp>
        <p:nvSpPr>
          <p:cNvPr id="12" name="矩形 11"/>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p.209</a:t>
            </a:r>
            <a:endParaRPr lang="zh-TW" altLang="en-US" b="0" dirty="0"/>
          </a:p>
        </p:txBody>
      </p:sp>
    </p:spTree>
    <p:extLst>
      <p:ext uri="{BB962C8B-B14F-4D97-AF65-F5344CB8AC3E}">
        <p14:creationId xmlns:p14="http://schemas.microsoft.com/office/powerpoint/2010/main" val="81632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grpSp>
        <p:nvGrpSpPr>
          <p:cNvPr id="4" name="群組 3"/>
          <p:cNvGrpSpPr/>
          <p:nvPr/>
        </p:nvGrpSpPr>
        <p:grpSpPr>
          <a:xfrm>
            <a:off x="0" y="857250"/>
            <a:ext cx="9144000" cy="5143500"/>
            <a:chOff x="0" y="0"/>
            <a:chExt cx="12192000" cy="6858000"/>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矩形 5"/>
            <p:cNvSpPr/>
            <p:nvPr/>
          </p:nvSpPr>
          <p:spPr>
            <a:xfrm>
              <a:off x="10200456" y="6093296"/>
              <a:ext cx="1728192" cy="576064"/>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pic>
        <p:nvPicPr>
          <p:cNvPr id="7" name="Picture 2"/>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8065" b="93548" l="752" r="96617">
                        <a14:foregroundMark x1="6015" y1="62903" x2="6015" y2="62903"/>
                        <a14:foregroundMark x1="5639" y1="79032" x2="5639" y2="79032"/>
                        <a14:foregroundMark x1="2632" y1="75806" x2="2632" y2="75806"/>
                        <a14:foregroundMark x1="92481" y1="50000" x2="92481" y2="50000"/>
                        <a14:foregroundMark x1="96617" y1="69355" x2="96617" y2="69355"/>
                        <a14:foregroundMark x1="73308" y1="50000" x2="73308" y2="50000"/>
                        <a14:foregroundMark x1="75564" y1="38710" x2="75564" y2="38710"/>
                        <a14:foregroundMark x1="74060" y1="32258" x2="74060" y2="32258"/>
                        <a14:foregroundMark x1="76692" y1="46774" x2="74812" y2="66129"/>
                        <a14:foregroundMark x1="80451" y1="32258" x2="80827" y2="53226"/>
                        <a14:foregroundMark x1="81955" y1="53226" x2="84586" y2="67742"/>
                        <a14:foregroundMark x1="78947" y1="56452" x2="78571" y2="66129"/>
                        <a14:foregroundMark x1="59023" y1="33871" x2="69925" y2="32258"/>
                        <a14:foregroundMark x1="60902" y1="45161" x2="69549" y2="41935"/>
                        <a14:foregroundMark x1="60902" y1="50000" x2="70301" y2="53226"/>
                        <a14:foregroundMark x1="60526" y1="61290" x2="68045" y2="64516"/>
                        <a14:foregroundMark x1="44361" y1="40323" x2="57519" y2="75806"/>
                        <a14:foregroundMark x1="44737" y1="33871" x2="57519" y2="41935"/>
                        <a14:foregroundMark x1="28947" y1="33871" x2="40977" y2="66129"/>
                        <a14:foregroundMark x1="39474" y1="33871" x2="31203" y2="69355"/>
                        <a14:foregroundMark x1="28195" y1="29032" x2="34586" y2="32258"/>
                        <a14:foregroundMark x1="28571" y1="56452" x2="34211" y2="56452"/>
                        <a14:foregroundMark x1="14662" y1="33871" x2="27820" y2="62903"/>
                        <a14:foregroundMark x1="26692" y1="40323" x2="26692" y2="40323"/>
                        <a14:foregroundMark x1="18421" y1="59677" x2="18421" y2="59677"/>
                      </a14:backgroundRemoval>
                    </a14:imgEffect>
                  </a14:imgLayer>
                </a14:imgProps>
              </a:ext>
              <a:ext uri="{28A0092B-C50C-407E-A947-70E740481C1C}">
                <a14:useLocalDpi xmlns:a14="http://schemas.microsoft.com/office/drawing/2010/main" val="0"/>
              </a:ext>
            </a:extLst>
          </a:blip>
          <a:srcRect/>
          <a:stretch>
            <a:fillRect/>
          </a:stretch>
        </p:blipFill>
        <p:spPr bwMode="auto">
          <a:xfrm>
            <a:off x="2411760" y="967306"/>
            <a:ext cx="2476940" cy="577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a:xfrm>
            <a:off x="789422" y="1718810"/>
            <a:ext cx="4259759" cy="486054"/>
          </a:xfrm>
          <a:prstGeom prst="rect">
            <a:avLst/>
          </a:prstGeom>
          <a:noFill/>
          <a:ln>
            <a:noFill/>
          </a:ln>
        </p:spPr>
        <p:txBody>
          <a:bodyPr wrap="square" lIns="68569" tIns="68569" rIns="68569" bIns="68569"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fontAlgn="base">
              <a:spcBef>
                <a:spcPct val="0"/>
              </a:spcBef>
              <a:spcAft>
                <a:spcPct val="0"/>
              </a:spcAft>
              <a:buClrTx/>
              <a:buSzTx/>
            </a:pPr>
            <a:endParaRPr lang="en-US" altLang="zh-TW" sz="3200" dirty="0">
              <a:solidFill>
                <a:srgbClr val="FF0000"/>
              </a:solidFill>
              <a:latin typeface="標楷體" pitchFamily="65" charset="-120"/>
              <a:ea typeface="標楷體" pitchFamily="65" charset="-120"/>
            </a:endParaRPr>
          </a:p>
          <a:p>
            <a:pPr fontAlgn="base">
              <a:spcBef>
                <a:spcPct val="0"/>
              </a:spcBef>
              <a:spcAft>
                <a:spcPct val="0"/>
              </a:spcAft>
              <a:buClrTx/>
              <a:buSzTx/>
            </a:pPr>
            <a:r>
              <a:rPr lang="zh-TW" altLang="en-US" sz="3200" dirty="0">
                <a:solidFill>
                  <a:srgbClr val="FF0000"/>
                </a:solidFill>
                <a:latin typeface="標楷體" pitchFamily="65" charset="-120"/>
                <a:ea typeface="標楷體" pitchFamily="65" charset="-120"/>
              </a:rPr>
              <a:t>北漂</a:t>
            </a:r>
            <a:endParaRPr lang="en-US" altLang="zh-TW" sz="3200" dirty="0">
              <a:solidFill>
                <a:srgbClr val="FF0000"/>
              </a:solidFill>
              <a:latin typeface="標楷體" pitchFamily="65" charset="-120"/>
              <a:ea typeface="標楷體" pitchFamily="65" charset="-120"/>
            </a:endParaRPr>
          </a:p>
        </p:txBody>
      </p:sp>
      <p:sp>
        <p:nvSpPr>
          <p:cNvPr id="9" name="Rectangle 3"/>
          <p:cNvSpPr txBox="1">
            <a:spLocks noChangeArrowheads="1"/>
          </p:cNvSpPr>
          <p:nvPr/>
        </p:nvSpPr>
        <p:spPr>
          <a:xfrm>
            <a:off x="713388" y="2277634"/>
            <a:ext cx="7473729" cy="2465016"/>
          </a:xfrm>
          <a:prstGeom prst="rect">
            <a:avLst/>
          </a:prstGeom>
          <a:noFill/>
          <a:ln>
            <a:noFill/>
          </a:ln>
        </p:spPr>
        <p:txBody>
          <a:bodyPr wrap="square" lIns="68569" tIns="68569" rIns="68569" bIns="68569"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algn="just">
              <a:lnSpc>
                <a:spcPts val="2850"/>
              </a:lnSpc>
            </a:pPr>
            <a:r>
              <a:rPr lang="zh-TW" altLang="en-US" sz="3200" kern="1200" dirty="0">
                <a:solidFill>
                  <a:schemeClr val="tx1"/>
                </a:solidFill>
                <a:latin typeface="標楷體" pitchFamily="65" charset="-120"/>
                <a:ea typeface="標楷體" pitchFamily="65" charset="-120"/>
                <a:cs typeface="+mj-cs"/>
              </a:rPr>
              <a:t>    </a:t>
            </a:r>
            <a:r>
              <a:rPr lang="zh-TW" altLang="en-US" sz="3200" kern="1200" dirty="0">
                <a:solidFill>
                  <a:srgbClr val="FF0000"/>
                </a:solidFill>
                <a:latin typeface="標楷體" pitchFamily="65" charset="-120"/>
                <a:ea typeface="標楷體" pitchFamily="65" charset="-120"/>
                <a:cs typeface="+mj-cs"/>
              </a:rPr>
              <a:t>北京</a:t>
            </a:r>
            <a:r>
              <a:rPr lang="zh-TW" altLang="en-US" sz="3200" kern="1200" dirty="0">
                <a:solidFill>
                  <a:schemeClr val="tx1"/>
                </a:solidFill>
                <a:latin typeface="標楷體" pitchFamily="65" charset="-120"/>
                <a:ea typeface="標楷體" pitchFamily="65" charset="-120"/>
                <a:cs typeface="+mj-cs"/>
              </a:rPr>
              <a:t>為中國首都，</a:t>
            </a:r>
            <a:r>
              <a:rPr lang="zh-TW" altLang="en-US" sz="3200" kern="1200" dirty="0">
                <a:solidFill>
                  <a:srgbClr val="FF0000"/>
                </a:solidFill>
                <a:latin typeface="標楷體" pitchFamily="65" charset="-120"/>
                <a:ea typeface="標楷體" pitchFamily="65" charset="-120"/>
                <a:cs typeface="+mj-cs"/>
              </a:rPr>
              <a:t>吸引大量外地民眾前來工作求學</a:t>
            </a:r>
            <a:r>
              <a:rPr lang="zh-TW" altLang="en-US" sz="3200" kern="1200" dirty="0">
                <a:solidFill>
                  <a:schemeClr val="tx1"/>
                </a:solidFill>
                <a:latin typeface="標楷體" pitchFamily="65" charset="-120"/>
                <a:ea typeface="標楷體" pitchFamily="65" charset="-120"/>
                <a:cs typeface="+mj-cs"/>
              </a:rPr>
              <a:t>，但這些外來者</a:t>
            </a:r>
            <a:r>
              <a:rPr lang="zh-TW" altLang="en-US" sz="3200" kern="1200" dirty="0">
                <a:solidFill>
                  <a:srgbClr val="FF0000"/>
                </a:solidFill>
                <a:latin typeface="標楷體" pitchFamily="65" charset="-120"/>
                <a:ea typeface="標楷體" pitchFamily="65" charset="-120"/>
                <a:cs typeface="+mj-cs"/>
              </a:rPr>
              <a:t>卻因高房價及中國戶籍分隔政策</a:t>
            </a:r>
            <a:r>
              <a:rPr lang="zh-TW" altLang="en-US" sz="3200" kern="1200" dirty="0">
                <a:solidFill>
                  <a:schemeClr val="tx1"/>
                </a:solidFill>
                <a:latin typeface="標楷體" pitchFamily="65" charset="-120"/>
                <a:ea typeface="標楷體" pitchFamily="65" charset="-120"/>
                <a:cs typeface="+mj-cs"/>
              </a:rPr>
              <a:t>，</a:t>
            </a:r>
            <a:r>
              <a:rPr lang="zh-TW" altLang="en-US" sz="3200" kern="1200" dirty="0">
                <a:solidFill>
                  <a:srgbClr val="FF0000"/>
                </a:solidFill>
                <a:latin typeface="標楷體" pitchFamily="65" charset="-120"/>
                <a:ea typeface="標楷體" pitchFamily="65" charset="-120"/>
                <a:cs typeface="+mj-cs"/>
              </a:rPr>
              <a:t>難以取得</a:t>
            </a:r>
            <a:r>
              <a:rPr lang="zh-TW" altLang="en-US" sz="3200" kern="1200" dirty="0">
                <a:solidFill>
                  <a:schemeClr val="tx1"/>
                </a:solidFill>
                <a:latin typeface="標楷體" pitchFamily="65" charset="-120"/>
                <a:ea typeface="標楷體" pitchFamily="65" charset="-120"/>
                <a:cs typeface="+mj-cs"/>
              </a:rPr>
              <a:t>北京</a:t>
            </a:r>
            <a:r>
              <a:rPr lang="zh-TW" altLang="en-US" sz="3200" kern="1200" dirty="0">
                <a:solidFill>
                  <a:srgbClr val="FF0000"/>
                </a:solidFill>
                <a:latin typeface="標楷體" pitchFamily="65" charset="-120"/>
                <a:ea typeface="標楷體" pitchFamily="65" charset="-120"/>
                <a:cs typeface="+mj-cs"/>
              </a:rPr>
              <a:t>戶口</a:t>
            </a:r>
            <a:r>
              <a:rPr lang="zh-TW" altLang="en-US" sz="3200" kern="1200" dirty="0">
                <a:solidFill>
                  <a:schemeClr val="tx1"/>
                </a:solidFill>
                <a:latin typeface="標楷體" pitchFamily="65" charset="-120"/>
                <a:ea typeface="標楷體" pitchFamily="65" charset="-120"/>
                <a:cs typeface="+mj-cs"/>
              </a:rPr>
              <a:t>。</a:t>
            </a:r>
            <a:endParaRPr lang="en-US" altLang="zh-TW" sz="3200" kern="1200" dirty="0">
              <a:solidFill>
                <a:schemeClr val="tx1"/>
              </a:solidFill>
              <a:latin typeface="標楷體" pitchFamily="65" charset="-120"/>
              <a:ea typeface="標楷體" pitchFamily="65" charset="-120"/>
              <a:cs typeface="+mj-cs"/>
            </a:endParaRPr>
          </a:p>
          <a:p>
            <a:pPr algn="just">
              <a:lnSpc>
                <a:spcPts val="2850"/>
              </a:lnSpc>
            </a:pPr>
            <a:r>
              <a:rPr lang="zh-TW" altLang="en-US" sz="3200" kern="1200" dirty="0">
                <a:solidFill>
                  <a:schemeClr val="tx1"/>
                </a:solidFill>
                <a:latin typeface="標楷體" pitchFamily="65" charset="-120"/>
                <a:ea typeface="標楷體" pitchFamily="65" charset="-120"/>
                <a:cs typeface="+mj-cs"/>
              </a:rPr>
              <a:t>此類人時常移動、搬遷，加上心理也呈現漂移狀態，缺少心靈的安全感和歸屬感，給人飄忽不定的感覺，故得「北漂」一詞。</a:t>
            </a:r>
          </a:p>
        </p:txBody>
      </p:sp>
      <p:sp>
        <p:nvSpPr>
          <p:cNvPr id="10" name="矩形 9">
            <a:extLst>
              <a:ext uri="{FF2B5EF4-FFF2-40B4-BE49-F238E27FC236}">
                <a16:creationId xmlns:a16="http://schemas.microsoft.com/office/drawing/2014/main" id="{8F142B58-1C2C-4672-80C1-E6E2D87CDFC0}"/>
              </a:ext>
            </a:extLst>
          </p:cNvPr>
          <p:cNvSpPr>
            <a:spLocks noChangeArrowheads="1"/>
          </p:cNvSpPr>
          <p:nvPr/>
        </p:nvSpPr>
        <p:spPr bwMode="auto">
          <a:xfrm>
            <a:off x="323528" y="976698"/>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p.210</a:t>
            </a:r>
            <a:endParaRPr lang="zh-TW" altLang="en-US" b="0" dirty="0"/>
          </a:p>
        </p:txBody>
      </p:sp>
    </p:spTree>
    <p:extLst>
      <p:ext uri="{BB962C8B-B14F-4D97-AF65-F5344CB8AC3E}">
        <p14:creationId xmlns:p14="http://schemas.microsoft.com/office/powerpoint/2010/main" val="2682446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lstStyle/>
          <a:p>
            <a:endParaRPr lang="zh-TW" altLang="en-US"/>
          </a:p>
        </p:txBody>
      </p:sp>
      <p:sp>
        <p:nvSpPr>
          <p:cNvPr id="3" name="文字版面配置區 2"/>
          <p:cNvSpPr>
            <a:spLocks noGrp="1"/>
          </p:cNvSpPr>
          <p:nvPr>
            <p:ph type="body" idx="1"/>
          </p:nvPr>
        </p:nvSpPr>
        <p:spPr>
          <a:xfrm>
            <a:off x="722313" y="2906713"/>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95" y="-44581"/>
            <a:ext cx="9144000" cy="7068431"/>
          </a:xfrm>
          <a:prstGeom prst="rect">
            <a:avLst/>
          </a:prstGeom>
        </p:spPr>
      </p:pic>
      <p:graphicFrame>
        <p:nvGraphicFramePr>
          <p:cNvPr id="14" name="Group 47"/>
          <p:cNvGraphicFramePr>
            <a:graphicFrameLocks noGrp="1"/>
          </p:cNvGraphicFramePr>
          <p:nvPr>
            <p:extLst>
              <p:ext uri="{D42A27DB-BD31-4B8C-83A1-F6EECF244321}">
                <p14:modId xmlns:p14="http://schemas.microsoft.com/office/powerpoint/2010/main" val="2303933710"/>
              </p:ext>
            </p:extLst>
          </p:nvPr>
        </p:nvGraphicFramePr>
        <p:xfrm>
          <a:off x="48522" y="561854"/>
          <a:ext cx="8987974" cy="5910645"/>
        </p:xfrm>
        <a:graphic>
          <a:graphicData uri="http://schemas.openxmlformats.org/drawingml/2006/table">
            <a:tbl>
              <a:tblPr/>
              <a:tblGrid>
                <a:gridCol w="650680">
                  <a:extLst>
                    <a:ext uri="{9D8B030D-6E8A-4147-A177-3AD203B41FA5}">
                      <a16:colId xmlns:a16="http://schemas.microsoft.com/office/drawing/2014/main" val="20000"/>
                    </a:ext>
                  </a:extLst>
                </a:gridCol>
                <a:gridCol w="8337294">
                  <a:extLst>
                    <a:ext uri="{9D8B030D-6E8A-4147-A177-3AD203B41FA5}">
                      <a16:colId xmlns:a16="http://schemas.microsoft.com/office/drawing/2014/main" val="20001"/>
                    </a:ext>
                  </a:extLst>
                </a:gridCol>
              </a:tblGrid>
              <a:tr h="4242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問題</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說明</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97059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少子化</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en-US" altLang="zh-TW" sz="2000" b="0" i="0" u="none" strike="noStrike" cap="none" dirty="0">
                        <a:solidFill>
                          <a:schemeClr val="tx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及</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2000" b="0" i="0" u="none" strike="noStrike" cap="none" dirty="0">
                        <a:solidFill>
                          <a:schemeClr val="tx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人口老化</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2000" b="0" i="0" u="none" strike="noStrike" cap="none" dirty="0">
                          <a:solidFill>
                            <a:schemeClr val="tx1"/>
                          </a:solidFill>
                          <a:latin typeface="標楷體" pitchFamily="65" charset="-120"/>
                          <a:ea typeface="標楷體" pitchFamily="65" charset="-120"/>
                          <a:cs typeface="Arial"/>
                          <a:sym typeface="Arial"/>
                        </a:rPr>
                        <a:t>背景</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龐大的</a:t>
                      </a:r>
                      <a:r>
                        <a:rPr lang="zh-TW" altLang="en-US" sz="2000" b="0" i="0" u="none" strike="noStrike" cap="none" dirty="0">
                          <a:solidFill>
                            <a:srgbClr val="FF0000"/>
                          </a:solidFill>
                          <a:latin typeface="標楷體" pitchFamily="65" charset="-120"/>
                          <a:ea typeface="標楷體" pitchFamily="65" charset="-120"/>
                          <a:cs typeface="Arial"/>
                          <a:sym typeface="Arial"/>
                        </a:rPr>
                        <a:t>人口紅利為東亞各國帶來快速經濟成長</a:t>
                      </a:r>
                      <a:r>
                        <a:rPr lang="zh-TW" altLang="en-US" sz="2000" b="0" i="0" u="none" strike="noStrike" cap="none" dirty="0">
                          <a:solidFill>
                            <a:schemeClr val="tx1"/>
                          </a:solidFill>
                          <a:latin typeface="標楷體" pitchFamily="65" charset="-120"/>
                          <a:ea typeface="標楷體" pitchFamily="65" charset="-120"/>
                          <a:cs typeface="Arial"/>
                          <a:sym typeface="Arial"/>
                        </a:rPr>
                        <a:t>，人均壽命延長、生育率下降，在</a:t>
                      </a:r>
                      <a:r>
                        <a:rPr lang="zh-TW" altLang="en-US" sz="2000" b="0" i="0" u="none" strike="noStrike" cap="none" dirty="0">
                          <a:solidFill>
                            <a:srgbClr val="FF0000"/>
                          </a:solidFill>
                          <a:latin typeface="標楷體" pitchFamily="65" charset="-120"/>
                          <a:ea typeface="標楷體" pitchFamily="65" charset="-120"/>
                          <a:cs typeface="Arial"/>
                          <a:sym typeface="Arial"/>
                        </a:rPr>
                        <a:t>戰後嬰兒潮人口逐漸邁入老年</a:t>
                      </a:r>
                      <a:r>
                        <a:rPr lang="zh-TW" altLang="en-US" sz="2000" b="0" i="0" u="none" strike="noStrike" cap="none" dirty="0">
                          <a:solidFill>
                            <a:schemeClr val="tx1"/>
                          </a:solidFill>
                          <a:latin typeface="標楷體" pitchFamily="65" charset="-120"/>
                          <a:ea typeface="標楷體" pitchFamily="65" charset="-120"/>
                          <a:cs typeface="Arial"/>
                          <a:sym typeface="Arial"/>
                        </a:rPr>
                        <a:t>後，開始</a:t>
                      </a:r>
                      <a:r>
                        <a:rPr lang="zh-TW" altLang="en-US" sz="2000" b="0" i="0" u="none" strike="noStrike" cap="none" dirty="0">
                          <a:solidFill>
                            <a:srgbClr val="FF0000"/>
                          </a:solidFill>
                          <a:latin typeface="標楷體" pitchFamily="65" charset="-120"/>
                          <a:ea typeface="標楷體" pitchFamily="65" charset="-120"/>
                          <a:cs typeface="Arial"/>
                          <a:sym typeface="Arial"/>
                        </a:rPr>
                        <a:t>面臨人口老化</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問題</a:t>
                      </a:r>
                    </a:p>
                    <a:p>
                      <a:r>
                        <a:rPr lang="en-US" altLang="zh-TW" sz="2000" b="0" i="0" u="none" strike="noStrike" cap="none" dirty="0">
                          <a:solidFill>
                            <a:schemeClr val="tx1"/>
                          </a:solidFill>
                          <a:latin typeface="標楷體" pitchFamily="65" charset="-120"/>
                          <a:ea typeface="標楷體" pitchFamily="65" charset="-120"/>
                          <a:cs typeface="Arial"/>
                          <a:sym typeface="Arial"/>
                        </a:rPr>
                        <a:t>2.2019 </a:t>
                      </a:r>
                      <a:r>
                        <a:rPr lang="zh-TW" altLang="en-US" sz="2000" b="0" i="0" u="none" strike="noStrike" cap="none" dirty="0">
                          <a:solidFill>
                            <a:schemeClr val="tx1"/>
                          </a:solidFill>
                          <a:latin typeface="標楷體" pitchFamily="65" charset="-120"/>
                          <a:ea typeface="標楷體" pitchFamily="65" charset="-120"/>
                          <a:cs typeface="Arial"/>
                          <a:sym typeface="Arial"/>
                        </a:rPr>
                        <a:t>年嚴重特殊傳染性肺炎</a:t>
                      </a:r>
                      <a:r>
                        <a:rPr lang="en-US" altLang="zh-TW" sz="2000" b="0" i="0" u="none" strike="noStrike" cap="none" dirty="0">
                          <a:solidFill>
                            <a:schemeClr val="tx1"/>
                          </a:solidFill>
                          <a:latin typeface="標楷體" pitchFamily="65" charset="-120"/>
                          <a:ea typeface="標楷體" pitchFamily="65" charset="-120"/>
                          <a:cs typeface="Arial"/>
                          <a:sym typeface="Arial"/>
                        </a:rPr>
                        <a:t>(Covid 19)</a:t>
                      </a:r>
                      <a:r>
                        <a:rPr lang="zh-TW" altLang="en-US" sz="2000" b="0" i="0" u="none" strike="noStrike" cap="none" dirty="0">
                          <a:solidFill>
                            <a:srgbClr val="FF0000"/>
                          </a:solidFill>
                          <a:latin typeface="標楷體" pitchFamily="65" charset="-120"/>
                          <a:ea typeface="標楷體" pitchFamily="65" charset="-120"/>
                          <a:cs typeface="Arial"/>
                          <a:sym typeface="Arial"/>
                        </a:rPr>
                        <a:t>疫情衝擊</a:t>
                      </a:r>
                      <a:r>
                        <a:rPr lang="zh-TW" altLang="en-US" sz="2000" b="0" i="0" u="none" strike="noStrike" cap="none" dirty="0">
                          <a:solidFill>
                            <a:schemeClr val="tx1"/>
                          </a:solidFill>
                          <a:latin typeface="標楷體" pitchFamily="65" charset="-120"/>
                          <a:ea typeface="標楷體" pitchFamily="65" charset="-120"/>
                          <a:cs typeface="Arial"/>
                          <a:sym typeface="Arial"/>
                        </a:rPr>
                        <a:t>全球，</a:t>
                      </a:r>
                      <a:r>
                        <a:rPr lang="zh-TW" altLang="en-US" sz="2000" b="0" i="0" u="none" strike="noStrike" cap="none" dirty="0">
                          <a:solidFill>
                            <a:srgbClr val="FF0000"/>
                          </a:solidFill>
                          <a:latin typeface="標楷體" pitchFamily="65" charset="-120"/>
                          <a:ea typeface="標楷體" pitchFamily="65" charset="-120"/>
                          <a:cs typeface="Arial"/>
                          <a:sym typeface="Arial"/>
                        </a:rPr>
                        <a:t>中國新生兒</a:t>
                      </a:r>
                      <a:r>
                        <a:rPr lang="zh-TW" altLang="en-US" sz="2000" b="0" i="0" u="none" strike="noStrike" cap="none" dirty="0">
                          <a:solidFill>
                            <a:schemeClr val="tx1"/>
                          </a:solidFill>
                          <a:latin typeface="標楷體" pitchFamily="65" charset="-120"/>
                          <a:ea typeface="標楷體" pitchFamily="65" charset="-120"/>
                          <a:cs typeface="Arial"/>
                          <a:sym typeface="Arial"/>
                        </a:rPr>
                        <a:t>數相較前年</a:t>
                      </a:r>
                      <a:r>
                        <a:rPr lang="zh-TW" altLang="en-US" sz="2000" b="0" i="0" u="none" strike="noStrike" cap="none" dirty="0">
                          <a:solidFill>
                            <a:srgbClr val="FF0000"/>
                          </a:solidFill>
                          <a:latin typeface="標楷體" pitchFamily="65" charset="-120"/>
                          <a:ea typeface="標楷體" pitchFamily="65" charset="-120"/>
                          <a:cs typeface="Arial"/>
                          <a:sym typeface="Arial"/>
                        </a:rPr>
                        <a:t>驟降</a:t>
                      </a:r>
                      <a:r>
                        <a:rPr lang="en-US" altLang="zh-TW" sz="2000" b="0" i="0" u="none" strike="noStrike" cap="none" dirty="0">
                          <a:solidFill>
                            <a:schemeClr val="tx1"/>
                          </a:solidFill>
                          <a:latin typeface="標楷體" pitchFamily="65" charset="-120"/>
                          <a:ea typeface="標楷體" pitchFamily="65" charset="-120"/>
                          <a:cs typeface="Arial"/>
                          <a:sym typeface="Arial"/>
                        </a:rPr>
                        <a:t>15 %</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臺灣、韓國</a:t>
                      </a:r>
                      <a:r>
                        <a:rPr lang="zh-TW" altLang="en-US" sz="2000" b="0" i="0" u="none" strike="noStrike" cap="none" dirty="0">
                          <a:solidFill>
                            <a:schemeClr val="tx1"/>
                          </a:solidFill>
                          <a:latin typeface="標楷體" pitchFamily="65" charset="-120"/>
                          <a:ea typeface="標楷體" pitchFamily="65" charset="-120"/>
                          <a:cs typeface="Arial"/>
                          <a:sym typeface="Arial"/>
                        </a:rPr>
                        <a:t>人口也</a:t>
                      </a:r>
                      <a:r>
                        <a:rPr lang="zh-TW" altLang="en-US" sz="2000" b="0" i="0" u="none" strike="noStrike" cap="none" dirty="0">
                          <a:solidFill>
                            <a:srgbClr val="FF0000"/>
                          </a:solidFill>
                          <a:latin typeface="標楷體" pitchFamily="65" charset="-120"/>
                          <a:ea typeface="標楷體" pitchFamily="65" charset="-120"/>
                          <a:cs typeface="Arial"/>
                          <a:sym typeface="Arial"/>
                        </a:rPr>
                        <a:t>提早出現負成長</a:t>
                      </a:r>
                      <a:r>
                        <a:rPr lang="zh-TW" altLang="en-US" sz="2000" b="0" i="0" u="none" strike="noStrike" cap="none" dirty="0">
                          <a:solidFill>
                            <a:schemeClr val="tx1"/>
                          </a:solidFill>
                          <a:latin typeface="標楷體" pitchFamily="65" charset="-120"/>
                          <a:ea typeface="標楷體" pitchFamily="65" charset="-120"/>
                          <a:cs typeface="Arial"/>
                          <a:sym typeface="Arial"/>
                        </a:rPr>
                        <a:t>，更加劇人口問題</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zh-TW" altLang="en-US" sz="2000" b="0" i="0" u="none" strike="noStrike" cap="none" dirty="0">
                          <a:solidFill>
                            <a:schemeClr val="tx1"/>
                          </a:solidFill>
                          <a:latin typeface="標楷體" pitchFamily="65" charset="-120"/>
                          <a:ea typeface="標楷體" pitchFamily="65" charset="-120"/>
                          <a:cs typeface="Arial"/>
                          <a:sym typeface="Arial"/>
                        </a:rPr>
                        <a:t>因應：</a:t>
                      </a:r>
                    </a:p>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引進外籍勞工：日本、南韓屬於單一民族社會，對於外籍勞工接受度極低，因此積極發展無人科技以彌補勞動力不足</a:t>
                      </a:r>
                      <a:r>
                        <a:rPr lang="zh-TW" altLang="en-US" sz="2000" b="0" i="0" u="none" strike="noStrike" cap="none" dirty="0">
                          <a:solidFill>
                            <a:schemeClr val="tx1"/>
                          </a:solidFill>
                          <a:latin typeface="標楷體" pitchFamily="65" charset="-120"/>
                          <a:ea typeface="標楷體" pitchFamily="65" charset="-120"/>
                          <a:cs typeface="Arial"/>
                          <a:sym typeface="Arial"/>
                        </a:rPr>
                        <a:t>的現象。</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推動強化高齡者的身心健康，</a:t>
                      </a:r>
                      <a:r>
                        <a:rPr lang="zh-TW" altLang="en-US" sz="2000" b="0" i="0" u="none" strike="noStrike" cap="none" dirty="0">
                          <a:solidFill>
                            <a:srgbClr val="FF0000"/>
                          </a:solidFill>
                          <a:latin typeface="標楷體" pitchFamily="65" charset="-120"/>
                          <a:ea typeface="標楷體" pitchFamily="65" charset="-120"/>
                          <a:cs typeface="Arial"/>
                          <a:sym typeface="Arial"/>
                        </a:rPr>
                        <a:t>鼓勵樂齡生活</a:t>
                      </a:r>
                      <a:r>
                        <a:rPr lang="zh-TW" altLang="en-US" sz="2000" b="0" i="0" u="none" strike="noStrike" cap="none" dirty="0">
                          <a:solidFill>
                            <a:schemeClr val="tx1"/>
                          </a:solidFill>
                          <a:latin typeface="標楷體" pitchFamily="65" charset="-120"/>
                          <a:ea typeface="標楷體" pitchFamily="65" charset="-120"/>
                          <a:cs typeface="Arial"/>
                          <a:sym typeface="Arial"/>
                        </a:rPr>
                        <a:t>，減少老人安養問題</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投影片編號版面配置區 4"/>
          <p:cNvSpPr>
            <a:spLocks noGrp="1"/>
          </p:cNvSpPr>
          <p:nvPr>
            <p:ph type="sldNum" idx="12"/>
          </p:nvPr>
        </p:nvSpPr>
        <p:spPr>
          <a:xfrm>
            <a:off x="6747321" y="6547600"/>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44</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157094" y="-44581"/>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p.210</a:t>
            </a:r>
            <a:endParaRPr lang="zh-TW" altLang="en-US" b="0" dirty="0"/>
          </a:p>
        </p:txBody>
      </p:sp>
      <p:graphicFrame>
        <p:nvGraphicFramePr>
          <p:cNvPr id="12" name="表格 11">
            <a:extLst>
              <a:ext uri="{FF2B5EF4-FFF2-40B4-BE49-F238E27FC236}">
                <a16:creationId xmlns:a16="http://schemas.microsoft.com/office/drawing/2014/main" id="{21E871D5-0AD7-40B4-B043-6F87A1C97AE3}"/>
              </a:ext>
            </a:extLst>
          </p:cNvPr>
          <p:cNvGraphicFramePr>
            <a:graphicFrameLocks noGrp="1"/>
          </p:cNvGraphicFramePr>
          <p:nvPr>
            <p:extLst>
              <p:ext uri="{D42A27DB-BD31-4B8C-83A1-F6EECF244321}">
                <p14:modId xmlns:p14="http://schemas.microsoft.com/office/powerpoint/2010/main" val="3793717592"/>
              </p:ext>
            </p:extLst>
          </p:nvPr>
        </p:nvGraphicFramePr>
        <p:xfrm>
          <a:off x="827584" y="2761413"/>
          <a:ext cx="8014791" cy="2286000"/>
        </p:xfrm>
        <a:graphic>
          <a:graphicData uri="http://schemas.openxmlformats.org/drawingml/2006/table">
            <a:tbl>
              <a:tblPr/>
              <a:tblGrid>
                <a:gridCol w="714970">
                  <a:extLst>
                    <a:ext uri="{9D8B030D-6E8A-4147-A177-3AD203B41FA5}">
                      <a16:colId xmlns:a16="http://schemas.microsoft.com/office/drawing/2014/main" val="4196041783"/>
                    </a:ext>
                  </a:extLst>
                </a:gridCol>
                <a:gridCol w="7299821">
                  <a:extLst>
                    <a:ext uri="{9D8B030D-6E8A-4147-A177-3AD203B41FA5}">
                      <a16:colId xmlns:a16="http://schemas.microsoft.com/office/drawing/2014/main" val="2630730608"/>
                    </a:ext>
                  </a:extLst>
                </a:gridCol>
              </a:tblGrid>
              <a:tr h="447401">
                <a:tc>
                  <a:txBody>
                    <a:bodyPr/>
                    <a:lstStyle/>
                    <a:p>
                      <a:pPr>
                        <a:lnSpc>
                          <a:spcPts val="2000"/>
                        </a:lnSpc>
                      </a:pPr>
                      <a:r>
                        <a:rPr lang="zh-TW" altLang="en-US" sz="2000" b="0" i="0" u="none" strike="noStrike" cap="none" dirty="0">
                          <a:solidFill>
                            <a:srgbClr val="FF0000"/>
                          </a:solidFill>
                          <a:latin typeface="標楷體" pitchFamily="65" charset="-120"/>
                          <a:ea typeface="標楷體" pitchFamily="65" charset="-120"/>
                          <a:cs typeface="Arial"/>
                          <a:sym typeface="Arial"/>
                        </a:rPr>
                        <a:t>日</a:t>
                      </a:r>
                      <a:r>
                        <a:rPr lang="zh-TW" altLang="en-US" sz="2000" b="0" i="0" u="none" strike="noStrike" cap="none" dirty="0">
                          <a:solidFill>
                            <a:schemeClr val="tx1"/>
                          </a:solidFill>
                          <a:latin typeface="標楷體" pitchFamily="65" charset="-120"/>
                          <a:ea typeface="標楷體" pitchFamily="65" charset="-120"/>
                          <a:cs typeface="Arial"/>
                          <a:sym typeface="Arial"/>
                        </a:rPr>
                        <a:t>本、</a:t>
                      </a:r>
                      <a:r>
                        <a:rPr lang="zh-TW" altLang="en-US" sz="2000" b="0" i="0" u="none" strike="noStrike" cap="none" dirty="0">
                          <a:solidFill>
                            <a:srgbClr val="FF0000"/>
                          </a:solidFill>
                          <a:latin typeface="標楷體" pitchFamily="65" charset="-120"/>
                          <a:ea typeface="標楷體" pitchFamily="65" charset="-120"/>
                          <a:cs typeface="Arial"/>
                          <a:sym typeface="Arial"/>
                        </a:rPr>
                        <a:t>韓</a:t>
                      </a:r>
                      <a:r>
                        <a:rPr lang="zh-TW" altLang="en-US" sz="2000" b="0" i="0" u="none" strike="noStrike" cap="none" dirty="0">
                          <a:solidFill>
                            <a:schemeClr val="tx1"/>
                          </a:solidFill>
                          <a:latin typeface="標楷體" pitchFamily="65" charset="-120"/>
                          <a:ea typeface="標楷體" pitchFamily="65" charset="-120"/>
                          <a:cs typeface="Arial"/>
                          <a:sym typeface="Arial"/>
                        </a:rPr>
                        <a:t>國、</a:t>
                      </a:r>
                      <a:r>
                        <a:rPr lang="zh-TW" altLang="en-US" sz="2000" b="0" i="0" u="none" strike="noStrike" cap="none" dirty="0">
                          <a:solidFill>
                            <a:srgbClr val="FF0000"/>
                          </a:solidFill>
                          <a:latin typeface="標楷體" pitchFamily="65" charset="-120"/>
                          <a:ea typeface="標楷體" pitchFamily="65" charset="-120"/>
                          <a:cs typeface="Arial"/>
                          <a:sym typeface="Arial"/>
                        </a:rPr>
                        <a:t>臺</a:t>
                      </a:r>
                      <a:r>
                        <a:rPr lang="zh-TW" altLang="en-US" sz="2000" b="0" i="0" u="none" strike="noStrike" cap="none" dirty="0">
                          <a:solidFill>
                            <a:schemeClr val="tx1"/>
                          </a:solidFill>
                          <a:latin typeface="標楷體" pitchFamily="65" charset="-120"/>
                          <a:ea typeface="標楷體" pitchFamily="65" charset="-120"/>
                          <a:cs typeface="Arial"/>
                          <a:sym typeface="Arial"/>
                        </a:rPr>
                        <a:t>灣</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pPr>
                        <a:lnSpc>
                          <a:spcPts val="2000"/>
                        </a:lnSpc>
                      </a:pPr>
                      <a:r>
                        <a:rPr lang="zh-TW" altLang="en-US" sz="2000" b="0" i="0" u="none" strike="noStrike" cap="none" dirty="0">
                          <a:solidFill>
                            <a:schemeClr val="tx1"/>
                          </a:solidFill>
                          <a:latin typeface="標楷體" pitchFamily="65" charset="-120"/>
                          <a:ea typeface="標楷體" pitchFamily="65" charset="-120"/>
                          <a:cs typeface="Arial"/>
                          <a:sym typeface="Arial"/>
                        </a:rPr>
                        <a:t>老化社會的勞動力減少、依賴人口增加，</a:t>
                      </a:r>
                      <a:r>
                        <a:rPr lang="zh-TW" altLang="en-US" sz="2000" b="0" i="0" u="none" strike="noStrike" cap="none" dirty="0">
                          <a:solidFill>
                            <a:srgbClr val="FF0000"/>
                          </a:solidFill>
                          <a:latin typeface="標楷體" pitchFamily="65" charset="-120"/>
                          <a:ea typeface="標楷體" pitchFamily="65" charset="-120"/>
                          <a:cs typeface="Arial"/>
                          <a:sym typeface="Arial"/>
                        </a:rPr>
                        <a:t>加重</a:t>
                      </a:r>
                      <a:r>
                        <a:rPr lang="zh-TW" altLang="en-US" sz="2000" b="0" i="0" u="none" strike="noStrike" cap="none" dirty="0">
                          <a:solidFill>
                            <a:schemeClr val="tx1"/>
                          </a:solidFill>
                          <a:latin typeface="標楷體" pitchFamily="65" charset="-120"/>
                          <a:ea typeface="標楷體" pitchFamily="65" charset="-120"/>
                          <a:cs typeface="Arial"/>
                          <a:sym typeface="Arial"/>
                        </a:rPr>
                        <a:t>了</a:t>
                      </a:r>
                      <a:r>
                        <a:rPr lang="zh-TW" altLang="en-US" sz="2000" b="0" i="0" u="none" strike="noStrike" cap="none" dirty="0">
                          <a:solidFill>
                            <a:srgbClr val="FF0000"/>
                          </a:solidFill>
                          <a:latin typeface="標楷體" pitchFamily="65" charset="-120"/>
                          <a:ea typeface="標楷體" pitchFamily="65" charset="-120"/>
                          <a:cs typeface="Arial"/>
                          <a:sym typeface="Arial"/>
                        </a:rPr>
                        <a:t>勞動人口</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負擔</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醫療</a:t>
                      </a:r>
                      <a:r>
                        <a:rPr lang="zh-TW" altLang="en-US" sz="2000" b="0" i="0" u="none" strike="noStrike" cap="none" dirty="0">
                          <a:solidFill>
                            <a:schemeClr val="tx1"/>
                          </a:solidFill>
                          <a:latin typeface="標楷體" pitchFamily="65" charset="-120"/>
                          <a:ea typeface="標楷體" pitchFamily="65" charset="-120"/>
                          <a:cs typeface="Arial"/>
                          <a:sym typeface="Arial"/>
                        </a:rPr>
                        <a:t>衛生與社會</a:t>
                      </a:r>
                      <a:r>
                        <a:rPr lang="zh-TW" altLang="en-US" sz="2000" b="0" i="0" u="none" strike="noStrike" cap="none" dirty="0">
                          <a:solidFill>
                            <a:srgbClr val="FF0000"/>
                          </a:solidFill>
                          <a:latin typeface="標楷體" pitchFamily="65" charset="-120"/>
                          <a:ea typeface="標楷體" pitchFamily="65" charset="-120"/>
                          <a:cs typeface="Arial"/>
                          <a:sym typeface="Arial"/>
                        </a:rPr>
                        <a:t>福利</a:t>
                      </a:r>
                      <a:r>
                        <a:rPr lang="zh-TW" altLang="en-US" sz="2000" b="0" i="0" u="none" strike="noStrike" cap="none" dirty="0">
                          <a:solidFill>
                            <a:schemeClr val="tx1"/>
                          </a:solidFill>
                          <a:latin typeface="標楷體" pitchFamily="65" charset="-120"/>
                          <a:ea typeface="標楷體" pitchFamily="65" charset="-120"/>
                          <a:cs typeface="Arial"/>
                          <a:sym typeface="Arial"/>
                        </a:rPr>
                        <a:t>部門的</a:t>
                      </a:r>
                      <a:r>
                        <a:rPr lang="zh-TW" altLang="en-US" sz="2000" b="0" i="0" u="none" strike="noStrike" cap="none" dirty="0">
                          <a:solidFill>
                            <a:srgbClr val="FF0000"/>
                          </a:solidFill>
                          <a:latin typeface="標楷體" pitchFamily="65" charset="-120"/>
                          <a:ea typeface="標楷體" pitchFamily="65" charset="-120"/>
                          <a:cs typeface="Arial"/>
                          <a:sym typeface="Arial"/>
                        </a:rPr>
                        <a:t>支出不堪負荷</a:t>
                      </a:r>
                      <a:r>
                        <a:rPr lang="zh-TW" altLang="en-US" sz="2000" b="0" i="0" u="none" strike="noStrike" cap="none" dirty="0">
                          <a:solidFill>
                            <a:schemeClr val="tx1"/>
                          </a:solidFill>
                          <a:latin typeface="標楷體" pitchFamily="65" charset="-120"/>
                          <a:ea typeface="標楷體" pitchFamily="65" charset="-120"/>
                          <a:cs typeface="Arial"/>
                          <a:sym typeface="Arial"/>
                        </a:rPr>
                        <a:t>，未來</a:t>
                      </a:r>
                      <a:r>
                        <a:rPr lang="zh-TW" altLang="en-US" sz="2000" b="0" i="0" u="none" strike="noStrike" cap="none" dirty="0">
                          <a:solidFill>
                            <a:srgbClr val="FF0000"/>
                          </a:solidFill>
                          <a:latin typeface="標楷體" pitchFamily="65" charset="-120"/>
                          <a:ea typeface="標楷體" pitchFamily="65" charset="-120"/>
                          <a:cs typeface="Arial"/>
                          <a:sym typeface="Arial"/>
                        </a:rPr>
                        <a:t>高齡者貧困化</a:t>
                      </a:r>
                      <a:r>
                        <a:rPr lang="zh-TW" altLang="en-US" sz="2000" b="0" i="0" u="none" strike="noStrike" cap="none" dirty="0">
                          <a:solidFill>
                            <a:schemeClr val="tx1"/>
                          </a:solidFill>
                          <a:latin typeface="標楷體" pitchFamily="65" charset="-120"/>
                          <a:ea typeface="標楷體" pitchFamily="65" charset="-120"/>
                          <a:cs typeface="Arial"/>
                          <a:sym typeface="Arial"/>
                        </a:rPr>
                        <a:t>令人擔憂</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8814756"/>
                  </a:ext>
                </a:extLst>
              </a:tr>
              <a:tr h="671102">
                <a:tc>
                  <a:txBody>
                    <a:bodyPr/>
                    <a:lstStyle/>
                    <a:p>
                      <a:pPr>
                        <a:lnSpc>
                          <a:spcPts val="2000"/>
                        </a:lnSpc>
                      </a:pPr>
                      <a:r>
                        <a:rPr lang="zh-TW" altLang="en-US" sz="2000" b="0" i="0" u="none" strike="noStrike" cap="none" dirty="0">
                          <a:solidFill>
                            <a:srgbClr val="FF0000"/>
                          </a:solidFill>
                          <a:latin typeface="標楷體" pitchFamily="65" charset="-120"/>
                          <a:ea typeface="標楷體" pitchFamily="65" charset="-120"/>
                          <a:cs typeface="Arial"/>
                          <a:sym typeface="Arial"/>
                        </a:rPr>
                        <a:t>中</a:t>
                      </a:r>
                      <a:r>
                        <a:rPr lang="zh-TW" altLang="en-US" sz="2000" b="0" i="0" u="none" strike="noStrike" cap="none" dirty="0">
                          <a:solidFill>
                            <a:schemeClr val="tx1"/>
                          </a:solidFill>
                          <a:latin typeface="標楷體" pitchFamily="65" charset="-120"/>
                          <a:ea typeface="標楷體" pitchFamily="65" charset="-120"/>
                          <a:cs typeface="Arial"/>
                          <a:sym typeface="Arial"/>
                        </a:rPr>
                        <a:t>國</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tc>
                  <a:txBody>
                    <a:bodyPr/>
                    <a:lstStyle/>
                    <a:p>
                      <a:pPr>
                        <a:lnSpc>
                          <a:spcPts val="2000"/>
                        </a:lnSpc>
                      </a:pPr>
                      <a:r>
                        <a:rPr lang="en-US" altLang="zh-TW" sz="2000" b="0" i="0" u="none" strike="noStrike" cap="none" dirty="0">
                          <a:solidFill>
                            <a:schemeClr val="tx1"/>
                          </a:solidFill>
                          <a:latin typeface="標楷體" pitchFamily="65" charset="-120"/>
                          <a:ea typeface="標楷體" pitchFamily="65" charset="-120"/>
                          <a:cs typeface="Arial"/>
                          <a:sym typeface="Arial"/>
                        </a:rPr>
                        <a:t>1.</a:t>
                      </a:r>
                      <a:r>
                        <a:rPr lang="en-US" altLang="zh-TW" sz="2000" b="0" i="0" u="none" strike="noStrike" cap="none" dirty="0">
                          <a:solidFill>
                            <a:srgbClr val="FF0000"/>
                          </a:solidFill>
                          <a:latin typeface="標楷體" pitchFamily="65" charset="-120"/>
                          <a:ea typeface="標楷體" pitchFamily="65" charset="-120"/>
                          <a:cs typeface="Arial"/>
                          <a:sym typeface="Arial"/>
                        </a:rPr>
                        <a:t>1970 </a:t>
                      </a:r>
                      <a:r>
                        <a:rPr lang="zh-TW" altLang="en-US" sz="2000" b="0" i="0" u="none" strike="noStrike" cap="none" dirty="0">
                          <a:solidFill>
                            <a:srgbClr val="FF0000"/>
                          </a:solidFill>
                          <a:latin typeface="標楷體" pitchFamily="65" charset="-120"/>
                          <a:ea typeface="標楷體" pitchFamily="65" charset="-120"/>
                          <a:cs typeface="Arial"/>
                          <a:sym typeface="Arial"/>
                        </a:rPr>
                        <a:t>年代推動「一胎化」控制人口，導致少子化</a:t>
                      </a:r>
                      <a:r>
                        <a:rPr lang="zh-TW" altLang="en-US" sz="2000" b="0" i="0" u="none" strike="noStrike" cap="none" dirty="0">
                          <a:solidFill>
                            <a:schemeClr val="tx1"/>
                          </a:solidFill>
                          <a:latin typeface="標楷體" pitchFamily="65" charset="-120"/>
                          <a:ea typeface="標楷體" pitchFamily="65" charset="-120"/>
                          <a:cs typeface="Arial"/>
                          <a:sym typeface="Arial"/>
                        </a:rPr>
                        <a:t>明顯，</a:t>
                      </a:r>
                      <a:br>
                        <a:rPr lang="en-US" altLang="zh-TW" sz="2000" b="0" i="0" u="none" strike="noStrike" cap="none" dirty="0">
                          <a:solidFill>
                            <a:schemeClr val="tx1"/>
                          </a:solidFill>
                          <a:latin typeface="標楷體" pitchFamily="65" charset="-120"/>
                          <a:ea typeface="標楷體" pitchFamily="65" charset="-120"/>
                          <a:cs typeface="Arial"/>
                          <a:sym typeface="Arial"/>
                        </a:rPr>
                      </a:br>
                      <a:r>
                        <a:rPr lang="en-US" altLang="zh-TW" sz="2000" b="0" i="0" u="none" strike="noStrike" cap="none" dirty="0">
                          <a:solidFill>
                            <a:schemeClr val="tx1"/>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使</a:t>
                      </a:r>
                      <a:r>
                        <a:rPr lang="zh-TW" altLang="en-US" sz="2000" b="0" i="0" u="none" strike="noStrike" cap="none" dirty="0">
                          <a:solidFill>
                            <a:srgbClr val="FF0000"/>
                          </a:solidFill>
                          <a:latin typeface="標楷體" pitchFamily="65" charset="-120"/>
                          <a:ea typeface="標楷體" pitchFamily="65" charset="-120"/>
                          <a:cs typeface="Arial"/>
                          <a:sym typeface="Arial"/>
                        </a:rPr>
                        <a:t>人口快速老化</a:t>
                      </a:r>
                    </a:p>
                    <a:p>
                      <a:pPr>
                        <a:lnSpc>
                          <a:spcPts val="2000"/>
                        </a:lnSpc>
                      </a:pPr>
                      <a:r>
                        <a:rPr lang="en-US" altLang="zh-TW" sz="2000" b="0" i="0" u="none" strike="noStrike" cap="none" dirty="0">
                          <a:solidFill>
                            <a:schemeClr val="tx1"/>
                          </a:solidFill>
                          <a:latin typeface="標楷體" pitchFamily="65" charset="-120"/>
                          <a:ea typeface="標楷體" pitchFamily="65" charset="-120"/>
                          <a:cs typeface="Arial"/>
                          <a:sym typeface="Arial"/>
                        </a:rPr>
                        <a:t>2.2015 </a:t>
                      </a:r>
                      <a:r>
                        <a:rPr lang="zh-TW" altLang="en-US" sz="2000" b="0" i="0" u="none" strike="noStrike" cap="none" dirty="0">
                          <a:solidFill>
                            <a:schemeClr val="tx1"/>
                          </a:solidFill>
                          <a:latin typeface="標楷體" pitchFamily="65" charset="-120"/>
                          <a:ea typeface="標楷體" pitchFamily="65" charset="-120"/>
                          <a:cs typeface="Arial"/>
                          <a:sym typeface="Arial"/>
                        </a:rPr>
                        <a:t>年</a:t>
                      </a:r>
                      <a:r>
                        <a:rPr lang="zh-TW" altLang="en-US" sz="2000" b="0" i="0" u="none" strike="noStrike" cap="none" dirty="0">
                          <a:solidFill>
                            <a:srgbClr val="FF0000"/>
                          </a:solidFill>
                          <a:latin typeface="標楷體" pitchFamily="65" charset="-120"/>
                          <a:ea typeface="標楷體" pitchFamily="65" charset="-120"/>
                          <a:cs typeface="Arial"/>
                          <a:sym typeface="Arial"/>
                        </a:rPr>
                        <a:t>開放二胎</a:t>
                      </a:r>
                      <a:r>
                        <a:rPr lang="zh-TW" altLang="en-US" sz="2000" b="0" i="0" u="none" strike="noStrike" cap="none" dirty="0">
                          <a:solidFill>
                            <a:schemeClr val="tx1"/>
                          </a:solidFill>
                          <a:latin typeface="標楷體" pitchFamily="65" charset="-120"/>
                          <a:ea typeface="標楷體" pitchFamily="65" charset="-120"/>
                          <a:cs typeface="Arial"/>
                          <a:sym typeface="Arial"/>
                        </a:rPr>
                        <a:t>：</a:t>
                      </a:r>
                    </a:p>
                    <a:p>
                      <a:pPr>
                        <a:lnSpc>
                          <a:spcPts val="2000"/>
                        </a:lnSpc>
                      </a:pPr>
                      <a:r>
                        <a:rPr lang="zh-TW" altLang="en-US" sz="2000" b="0" i="0" u="none" strike="noStrike" cap="none" dirty="0">
                          <a:solidFill>
                            <a:schemeClr val="tx1"/>
                          </a:solidFill>
                          <a:latin typeface="標楷體" pitchFamily="65" charset="-120"/>
                          <a:ea typeface="標楷體" pitchFamily="65" charset="-120"/>
                          <a:cs typeface="Arial"/>
                          <a:sym typeface="Arial"/>
                        </a:rPr>
                        <a:t>  </a:t>
                      </a:r>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目的：</a:t>
                      </a:r>
                      <a:r>
                        <a:rPr lang="zh-TW" altLang="en-US" sz="2000" b="0" i="0" u="none" strike="noStrike" cap="none" dirty="0">
                          <a:solidFill>
                            <a:srgbClr val="FF0000"/>
                          </a:solidFill>
                          <a:latin typeface="標楷體" pitchFamily="65" charset="-120"/>
                          <a:ea typeface="標楷體" pitchFamily="65" charset="-120"/>
                          <a:cs typeface="Arial"/>
                          <a:sym typeface="Arial"/>
                        </a:rPr>
                        <a:t>避免萎縮的勞動力衝擊經濟</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pPr>
                        <a:lnSpc>
                          <a:spcPts val="2000"/>
                        </a:lnSpc>
                      </a:pPr>
                      <a:r>
                        <a:rPr lang="zh-TW" altLang="en-US" sz="2000" b="0" i="0" u="none" strike="noStrike" cap="none" dirty="0">
                          <a:solidFill>
                            <a:schemeClr val="tx1"/>
                          </a:solidFill>
                          <a:latin typeface="標楷體" pitchFamily="65" charset="-120"/>
                          <a:ea typeface="標楷體" pitchFamily="65" charset="-120"/>
                          <a:cs typeface="Arial"/>
                          <a:sym typeface="Arial"/>
                        </a:rPr>
                        <a:t>  </a:t>
                      </a:r>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結果：</a:t>
                      </a:r>
                      <a:r>
                        <a:rPr lang="zh-TW" altLang="en-US" sz="2000" b="0" i="0" u="none" strike="noStrike" cap="none" dirty="0">
                          <a:solidFill>
                            <a:srgbClr val="FF0000"/>
                          </a:solidFill>
                          <a:latin typeface="標楷體" pitchFamily="65" charset="-120"/>
                          <a:ea typeface="標楷體" pitchFamily="65" charset="-120"/>
                          <a:cs typeface="Arial"/>
                          <a:sym typeface="Arial"/>
                        </a:rPr>
                        <a:t>成效</a:t>
                      </a:r>
                      <a:r>
                        <a:rPr lang="zh-TW" altLang="en-US" sz="2000" b="0" i="0" u="none" strike="noStrike" cap="none" dirty="0">
                          <a:solidFill>
                            <a:schemeClr val="tx1"/>
                          </a:solidFill>
                          <a:latin typeface="標楷體" pitchFamily="65" charset="-120"/>
                          <a:ea typeface="標楷體" pitchFamily="65" charset="-120"/>
                          <a:cs typeface="Arial"/>
                          <a:sym typeface="Arial"/>
                        </a:rPr>
                        <a:t>仍然</a:t>
                      </a:r>
                      <a:r>
                        <a:rPr lang="zh-TW" altLang="en-US" sz="2000" b="0" i="0" u="none" strike="noStrike" cap="none" dirty="0">
                          <a:solidFill>
                            <a:srgbClr val="FF0000"/>
                          </a:solidFill>
                          <a:latin typeface="標楷體" pitchFamily="65" charset="-120"/>
                          <a:ea typeface="標楷體" pitchFamily="65" charset="-120"/>
                          <a:cs typeface="Arial"/>
                          <a:sym typeface="Arial"/>
                        </a:rPr>
                        <a:t>有限</a:t>
                      </a:r>
                    </a:p>
                    <a:p>
                      <a:pPr>
                        <a:lnSpc>
                          <a:spcPts val="2000"/>
                        </a:lnSpc>
                      </a:pPr>
                      <a:r>
                        <a:rPr lang="en-US" altLang="zh-TW" sz="2000" b="0" i="0" u="none" strike="noStrike" cap="none" dirty="0">
                          <a:solidFill>
                            <a:schemeClr val="tx1"/>
                          </a:solidFill>
                          <a:latin typeface="標楷體" pitchFamily="65" charset="-120"/>
                          <a:ea typeface="標楷體" pitchFamily="65" charset="-120"/>
                          <a:cs typeface="Arial"/>
                          <a:sym typeface="Arial"/>
                        </a:rPr>
                        <a:t>3.2021 </a:t>
                      </a:r>
                      <a:r>
                        <a:rPr lang="zh-TW" altLang="en-US" sz="2000" b="0" i="0" u="none" strike="noStrike" cap="none" dirty="0">
                          <a:solidFill>
                            <a:schemeClr val="tx1"/>
                          </a:solidFill>
                          <a:latin typeface="標楷體" pitchFamily="65" charset="-120"/>
                          <a:ea typeface="標楷體" pitchFamily="65" charset="-120"/>
                          <a:cs typeface="Arial"/>
                          <a:sym typeface="Arial"/>
                        </a:rPr>
                        <a:t>年實施「</a:t>
                      </a:r>
                      <a:r>
                        <a:rPr lang="zh-TW" altLang="en-US" sz="2000" b="0" i="0" u="none" strike="noStrike" cap="none" dirty="0">
                          <a:solidFill>
                            <a:srgbClr val="FF0000"/>
                          </a:solidFill>
                          <a:latin typeface="標楷體" pitchFamily="65" charset="-120"/>
                          <a:ea typeface="標楷體" pitchFamily="65" charset="-120"/>
                          <a:cs typeface="Arial"/>
                          <a:sym typeface="Arial"/>
                        </a:rPr>
                        <a:t>三孩政策</a:t>
                      </a:r>
                      <a:r>
                        <a:rPr lang="zh-TW" altLang="en-US" sz="2000" b="0" i="0" u="none" strike="noStrike" cap="none" dirty="0">
                          <a:solidFill>
                            <a:schemeClr val="tx1"/>
                          </a:solidFill>
                          <a:latin typeface="標楷體" pitchFamily="65" charset="-120"/>
                          <a:ea typeface="標楷體" pitchFamily="65" charset="-120"/>
                          <a:cs typeface="Arial"/>
                          <a:sym typeface="Arial"/>
                        </a:rPr>
                        <a:t>」</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51432" marR="51432" marT="0" marB="0" anchor="ctr" horzOverflow="overflow">
                    <a:lnL w="12700" cap="flat" cmpd="sng" algn="ctr">
                      <a:solidFill>
                        <a:srgbClr val="669900"/>
                      </a:solidFill>
                      <a:prstDash val="solid"/>
                      <a:round/>
                      <a:headEnd type="none" w="med" len="med"/>
                      <a:tailEnd type="none" w="med" len="med"/>
                    </a:lnL>
                    <a:lnR w="12700" cap="flat" cmpd="sng" algn="ctr">
                      <a:solidFill>
                        <a:srgbClr val="669900"/>
                      </a:solidFill>
                      <a:prstDash val="solid"/>
                      <a:round/>
                      <a:headEnd type="none" w="med" len="med"/>
                      <a:tailEnd type="none" w="med" len="med"/>
                    </a:lnR>
                    <a:lnT w="12700" cap="flat" cmpd="sng" algn="ctr">
                      <a:solidFill>
                        <a:srgbClr val="669900"/>
                      </a:solidFill>
                      <a:prstDash val="solid"/>
                      <a:round/>
                      <a:headEnd type="none" w="med" len="med"/>
                      <a:tailEnd type="none" w="med" len="med"/>
                    </a:lnT>
                    <a:lnB w="12700" cap="flat" cmpd="sng" algn="ctr">
                      <a:solidFill>
                        <a:srgbClr val="66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2524515"/>
                  </a:ext>
                </a:extLst>
              </a:tr>
            </a:tbl>
          </a:graphicData>
        </a:graphic>
      </p:graphicFrame>
    </p:spTree>
    <p:extLst>
      <p:ext uri="{BB962C8B-B14F-4D97-AF65-F5344CB8AC3E}">
        <p14:creationId xmlns:p14="http://schemas.microsoft.com/office/powerpoint/2010/main" val="18981450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a:xfrm>
            <a:off x="666591" y="2313522"/>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26875" y="-53939"/>
            <a:ext cx="8064896" cy="55891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3200" dirty="0">
              <a:latin typeface="標楷體" pitchFamily="65" charset="-120"/>
              <a:ea typeface="標楷體" pitchFamily="65" charset="-120"/>
            </a:endParaRPr>
          </a:p>
          <a:p>
            <a:r>
              <a:rPr lang="zh-TW" altLang="en-US" sz="3200" dirty="0">
                <a:latin typeface="標楷體" pitchFamily="65" charset="-120"/>
                <a:ea typeface="標楷體" pitchFamily="65" charset="-120"/>
              </a:rPr>
              <a:t>二、</a:t>
            </a:r>
            <a:r>
              <a:rPr lang="zh-TW" altLang="en-US" sz="3200" dirty="0">
                <a:solidFill>
                  <a:srgbClr val="FF0000"/>
                </a:solidFill>
                <a:latin typeface="標楷體" pitchFamily="65" charset="-120"/>
                <a:ea typeface="標楷體" pitchFamily="65" charset="-120"/>
              </a:rPr>
              <a:t>都市問題</a:t>
            </a:r>
          </a:p>
        </p:txBody>
      </p:sp>
      <p:graphicFrame>
        <p:nvGraphicFramePr>
          <p:cNvPr id="14" name="Group 47"/>
          <p:cNvGraphicFramePr>
            <a:graphicFrameLocks noGrp="1"/>
          </p:cNvGraphicFramePr>
          <p:nvPr>
            <p:extLst>
              <p:ext uri="{D42A27DB-BD31-4B8C-83A1-F6EECF244321}">
                <p14:modId xmlns:p14="http://schemas.microsoft.com/office/powerpoint/2010/main" val="2527590950"/>
              </p:ext>
            </p:extLst>
          </p:nvPr>
        </p:nvGraphicFramePr>
        <p:xfrm>
          <a:off x="0" y="486100"/>
          <a:ext cx="8980774" cy="4334573"/>
        </p:xfrm>
        <a:graphic>
          <a:graphicData uri="http://schemas.openxmlformats.org/drawingml/2006/table">
            <a:tbl>
              <a:tblPr/>
              <a:tblGrid>
                <a:gridCol w="664104">
                  <a:extLst>
                    <a:ext uri="{9D8B030D-6E8A-4147-A177-3AD203B41FA5}">
                      <a16:colId xmlns:a16="http://schemas.microsoft.com/office/drawing/2014/main" val="20000"/>
                    </a:ext>
                  </a:extLst>
                </a:gridCol>
                <a:gridCol w="8316670">
                  <a:extLst>
                    <a:ext uri="{9D8B030D-6E8A-4147-A177-3AD203B41FA5}">
                      <a16:colId xmlns:a16="http://schemas.microsoft.com/office/drawing/2014/main" val="20001"/>
                    </a:ext>
                  </a:extLst>
                </a:gridCol>
              </a:tblGrid>
              <a:tr h="311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類型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9436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800" b="0" i="0" u="none" strike="noStrike" cap="none" dirty="0">
                          <a:solidFill>
                            <a:srgbClr val="FF0000"/>
                          </a:solidFill>
                          <a:latin typeface="標楷體" pitchFamily="65" charset="-120"/>
                          <a:ea typeface="標楷體" pitchFamily="65" charset="-120"/>
                          <a:cs typeface="Arial"/>
                          <a:sym typeface="Arial"/>
                        </a:rPr>
                        <a:t>缺水</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東亞季風氣候雖降水豐富，但</a:t>
                      </a:r>
                      <a:r>
                        <a:rPr lang="zh-TW" altLang="en-US" sz="2400" b="0" i="0" u="none" strike="noStrike" cap="none" dirty="0">
                          <a:solidFill>
                            <a:srgbClr val="FF0000"/>
                          </a:solidFill>
                          <a:latin typeface="標楷體" pitchFamily="65" charset="-120"/>
                          <a:ea typeface="標楷體" pitchFamily="65" charset="-120"/>
                          <a:cs typeface="Arial"/>
                          <a:sym typeface="Arial"/>
                        </a:rPr>
                        <a:t>工商業發展</a:t>
                      </a:r>
                      <a:endParaRPr lang="en-US" altLang="zh-TW" sz="2400" b="0" i="0" u="none" strike="noStrike" cap="none" dirty="0">
                        <a:solidFill>
                          <a:srgbClr val="FF0000"/>
                        </a:solidFill>
                        <a:latin typeface="標楷體" pitchFamily="65" charset="-120"/>
                        <a:ea typeface="標楷體" pitchFamily="65" charset="-120"/>
                        <a:cs typeface="Arial"/>
                        <a:sym typeface="Arial"/>
                      </a:endParaRPr>
                    </a:p>
                    <a:p>
                      <a:r>
                        <a:rPr lang="zh-TW" altLang="en-US" sz="2400" b="0" i="0" u="none" strike="noStrike" cap="none" dirty="0">
                          <a:solidFill>
                            <a:srgbClr val="FF0000"/>
                          </a:solidFill>
                          <a:latin typeface="標楷體" pitchFamily="65" charset="-120"/>
                          <a:ea typeface="標楷體" pitchFamily="65" charset="-120"/>
                          <a:cs typeface="Arial"/>
                          <a:sym typeface="Arial"/>
                        </a:rPr>
                        <a:t>及 人口成長 加劇</a:t>
                      </a:r>
                      <a:r>
                        <a:rPr lang="zh-TW" altLang="en-US" sz="2400" b="0" i="0" u="none" strike="noStrike" cap="none" dirty="0">
                          <a:solidFill>
                            <a:schemeClr val="tx1"/>
                          </a:solidFill>
                          <a:latin typeface="標楷體" pitchFamily="65" charset="-120"/>
                          <a:ea typeface="標楷體" pitchFamily="65" charset="-120"/>
                          <a:cs typeface="Arial"/>
                          <a:sym typeface="Arial"/>
                        </a:rPr>
                        <a:t>了</a:t>
                      </a:r>
                      <a:r>
                        <a:rPr lang="zh-TW" altLang="en-US" sz="2400" b="0" i="0" u="none" strike="noStrike" cap="none" dirty="0">
                          <a:solidFill>
                            <a:srgbClr val="FF0000"/>
                          </a:solidFill>
                          <a:latin typeface="標楷體" pitchFamily="65" charset="-120"/>
                          <a:ea typeface="標楷體" pitchFamily="65" charset="-120"/>
                          <a:cs typeface="Arial"/>
                          <a:sym typeface="Arial"/>
                        </a:rPr>
                        <a:t>用水需求</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舉例：</a:t>
                      </a:r>
                    </a:p>
                    <a:p>
                      <a:r>
                        <a:rPr lang="zh-TW" altLang="en-US" sz="2400" b="0" i="0" u="none" strike="noStrike" cap="none" dirty="0">
                          <a:solidFill>
                            <a:schemeClr val="tx1"/>
                          </a:solidFill>
                          <a:latin typeface="標楷體" pitchFamily="65" charset="-120"/>
                          <a:ea typeface="標楷體" pitchFamily="65" charset="-120"/>
                          <a:cs typeface="Arial"/>
                          <a:sym typeface="Wingdings"/>
                        </a:rPr>
                        <a:t>  </a:t>
                      </a:r>
                      <a:r>
                        <a:rPr lang="en-US" altLang="zh-TW" sz="2400" b="0" i="0" u="none" strike="noStrike" cap="none" dirty="0">
                          <a:solidFill>
                            <a:schemeClr val="tx1"/>
                          </a:solidFill>
                          <a:latin typeface="標楷體" pitchFamily="65" charset="-120"/>
                          <a:ea typeface="標楷體" pitchFamily="65" charset="-120"/>
                          <a:cs typeface="Arial"/>
                          <a:sym typeface="Wingdings"/>
                        </a:rPr>
                        <a:t></a:t>
                      </a:r>
                      <a:r>
                        <a:rPr lang="zh-TW" altLang="en-US" sz="2400" b="0" i="0" u="none" strike="noStrike" cap="none" dirty="0">
                          <a:solidFill>
                            <a:schemeClr val="tx1"/>
                          </a:solidFill>
                          <a:latin typeface="標楷體" pitchFamily="65" charset="-120"/>
                          <a:ea typeface="標楷體" pitchFamily="65" charset="-120"/>
                          <a:cs typeface="Arial"/>
                          <a:sym typeface="Arial"/>
                        </a:rPr>
                        <a:t>中國</a:t>
                      </a:r>
                      <a:r>
                        <a:rPr lang="zh-TW" altLang="en-US" sz="2400" b="0" i="0" u="none" strike="noStrike" cap="none" dirty="0">
                          <a:solidFill>
                            <a:srgbClr val="FF0000"/>
                          </a:solidFill>
                          <a:latin typeface="標楷體" pitchFamily="65" charset="-120"/>
                          <a:ea typeface="標楷體" pitchFamily="65" charset="-120"/>
                          <a:cs typeface="Arial"/>
                          <a:sym typeface="Arial"/>
                        </a:rPr>
                        <a:t>東部經濟帶快速發展，人口大量移</a:t>
                      </a:r>
                      <a:br>
                        <a:rPr lang="en-US" altLang="zh-TW" sz="2400" b="0" i="0" u="none" strike="noStrike" cap="none" dirty="0">
                          <a:solidFill>
                            <a:srgbClr val="FF0000"/>
                          </a:solidFill>
                          <a:latin typeface="標楷體" pitchFamily="65" charset="-120"/>
                          <a:ea typeface="標楷體" pitchFamily="65" charset="-120"/>
                          <a:cs typeface="Arial"/>
                          <a:sym typeface="Arial"/>
                        </a:rPr>
                      </a:br>
                      <a:r>
                        <a:rPr lang="zh-TW" altLang="en-US" sz="2400" b="0" i="0" u="none" strike="noStrike" cap="none" dirty="0">
                          <a:solidFill>
                            <a:srgbClr val="FF0000"/>
                          </a:solidFill>
                          <a:latin typeface="標楷體" pitchFamily="65" charset="-120"/>
                          <a:ea typeface="標楷體" pitchFamily="65" charset="-120"/>
                          <a:cs typeface="Arial"/>
                          <a:sym typeface="Arial"/>
                        </a:rPr>
                        <a:t>入</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北京、天津</a:t>
                      </a:r>
                      <a:r>
                        <a:rPr lang="zh-TW" altLang="en-US" sz="2400" b="0" i="0" u="none" strike="noStrike" cap="none" dirty="0">
                          <a:solidFill>
                            <a:schemeClr val="tx1"/>
                          </a:solidFill>
                          <a:latin typeface="標楷體" pitchFamily="65" charset="-120"/>
                          <a:ea typeface="標楷體" pitchFamily="65" charset="-120"/>
                          <a:cs typeface="Arial"/>
                          <a:sym typeface="Arial"/>
                        </a:rPr>
                        <a:t>皆面臨</a:t>
                      </a:r>
                      <a:r>
                        <a:rPr lang="zh-TW" altLang="en-US" sz="2400" b="0" i="0" u="none" strike="noStrike" cap="none" dirty="0">
                          <a:solidFill>
                            <a:srgbClr val="FF0000"/>
                          </a:solidFill>
                          <a:latin typeface="標楷體" pitchFamily="65" charset="-120"/>
                          <a:ea typeface="標楷體" pitchFamily="65" charset="-120"/>
                          <a:cs typeface="Arial"/>
                          <a:sym typeface="Arial"/>
                        </a:rPr>
                        <a:t>水資源缺乏</a:t>
                      </a:r>
                      <a:r>
                        <a:rPr lang="zh-TW" altLang="en-US" sz="2400" b="0" i="0" u="none" strike="noStrike" cap="none" dirty="0">
                          <a:solidFill>
                            <a:schemeClr val="tx1"/>
                          </a:solidFill>
                          <a:latin typeface="標楷體" pitchFamily="65" charset="-120"/>
                          <a:ea typeface="標楷體" pitchFamily="65" charset="-120"/>
                          <a:cs typeface="Arial"/>
                          <a:sym typeface="Arial"/>
                        </a:rPr>
                        <a:t>問題，亟</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需開發新水源，政府耗費鉅資的</a:t>
                      </a:r>
                      <a:r>
                        <a:rPr lang="zh-TW" altLang="en-US" sz="2400" b="0" i="0" u="sng" strike="noStrike" cap="none" dirty="0">
                          <a:solidFill>
                            <a:srgbClr val="FF0000"/>
                          </a:solidFill>
                          <a:latin typeface="標楷體" pitchFamily="65" charset="-120"/>
                          <a:ea typeface="標楷體" pitchFamily="65" charset="-120"/>
                          <a:cs typeface="Arial"/>
                          <a:sym typeface="Arial"/>
                        </a:rPr>
                        <a:t>           </a:t>
                      </a:r>
                      <a:r>
                        <a:rPr lang="en-US" altLang="zh-TW" sz="2400" b="0" i="0" u="sng" strike="noStrike" cap="none" dirty="0">
                          <a:solidFill>
                            <a:schemeClr val="bg1"/>
                          </a:solidFill>
                          <a:latin typeface="標楷體" pitchFamily="65" charset="-120"/>
                          <a:ea typeface="標楷體" pitchFamily="65" charset="-120"/>
                          <a:cs typeface="Arial"/>
                          <a:sym typeface="Arial"/>
                        </a:rPr>
                        <a:t>.</a:t>
                      </a:r>
                    </a:p>
                    <a:p>
                      <a:r>
                        <a:rPr lang="zh-TW" altLang="en-US" sz="2400" b="0" i="0" u="none" strike="noStrike" cap="none" dirty="0">
                          <a:solidFill>
                            <a:schemeClr val="tx1"/>
                          </a:solidFill>
                          <a:latin typeface="標楷體" pitchFamily="65" charset="-120"/>
                          <a:ea typeface="標楷體" pitchFamily="65" charset="-120"/>
                          <a:cs typeface="Arial"/>
                          <a:sym typeface="Arial"/>
                        </a:rPr>
                        <a:t>工程，即是</a:t>
                      </a:r>
                      <a:r>
                        <a:rPr lang="zh-TW" altLang="en-US" sz="2400" b="0" i="0" u="none" strike="noStrike" cap="none" dirty="0">
                          <a:solidFill>
                            <a:srgbClr val="FF0000"/>
                          </a:solidFill>
                          <a:latin typeface="標楷體" pitchFamily="65" charset="-120"/>
                          <a:ea typeface="標楷體" pitchFamily="65" charset="-120"/>
                          <a:cs typeface="Arial"/>
                          <a:sym typeface="Arial"/>
                        </a:rPr>
                        <a:t>紓解北方用水困境</a:t>
                      </a:r>
                      <a:r>
                        <a:rPr lang="zh-TW" altLang="en-US" sz="2400" b="0" i="0" u="none" strike="noStrike" cap="none" dirty="0">
                          <a:solidFill>
                            <a:schemeClr val="tx1"/>
                          </a:solidFill>
                          <a:latin typeface="標楷體" pitchFamily="65" charset="-120"/>
                          <a:ea typeface="標楷體" pitchFamily="65" charset="-120"/>
                          <a:cs typeface="Arial"/>
                          <a:sym typeface="Arial"/>
                        </a:rPr>
                        <a:t>的重要建設</a:t>
                      </a:r>
                    </a:p>
                    <a:p>
                      <a:r>
                        <a:rPr lang="en-US" altLang="zh-TW" sz="2400" b="0" i="0" u="none" strike="noStrike" cap="none" dirty="0">
                          <a:solidFill>
                            <a:schemeClr val="tx1"/>
                          </a:solidFill>
                          <a:latin typeface="標楷體" pitchFamily="65" charset="-120"/>
                          <a:ea typeface="標楷體" pitchFamily="65" charset="-120"/>
                          <a:cs typeface="Arial"/>
                          <a:sym typeface="Wingdings"/>
                        </a:rPr>
                        <a:t>  </a:t>
                      </a:r>
                      <a:r>
                        <a:rPr lang="zh-TW" altLang="en-US" sz="2400" b="0" i="0" u="none" strike="noStrike" cap="none" dirty="0">
                          <a:solidFill>
                            <a:schemeClr val="tx1"/>
                          </a:solidFill>
                          <a:latin typeface="標楷體" pitchFamily="65" charset="-120"/>
                          <a:ea typeface="標楷體" pitchFamily="65" charset="-120"/>
                          <a:cs typeface="Arial"/>
                          <a:sym typeface="Arial"/>
                        </a:rPr>
                        <a:t>南水北調的</a:t>
                      </a:r>
                      <a:r>
                        <a:rPr lang="zh-TW" altLang="en-US" sz="2400" b="0" i="0" u="none" strike="noStrike" cap="none" dirty="0">
                          <a:solidFill>
                            <a:srgbClr val="FF00FF"/>
                          </a:solidFill>
                          <a:latin typeface="標楷體" pitchFamily="65" charset="-120"/>
                          <a:ea typeface="標楷體" pitchFamily="65" charset="-120"/>
                          <a:cs typeface="Arial"/>
                          <a:sym typeface="Arial"/>
                        </a:rPr>
                        <a:t>中線</a:t>
                      </a:r>
                      <a:r>
                        <a:rPr lang="zh-TW" altLang="en-US" sz="2400" b="0" i="0" u="none" strike="noStrike" cap="none" dirty="0">
                          <a:solidFill>
                            <a:schemeClr val="tx1"/>
                          </a:solidFill>
                          <a:latin typeface="標楷體" pitchFamily="65" charset="-120"/>
                          <a:ea typeface="標楷體" pitchFamily="65" charset="-120"/>
                          <a:cs typeface="Arial"/>
                          <a:sym typeface="Arial"/>
                        </a:rPr>
                        <a:t>工程（</a:t>
                      </a:r>
                      <a:r>
                        <a:rPr lang="zh-TW" altLang="en-US" sz="2400" b="0" i="0" u="none" strike="noStrike" cap="none" dirty="0">
                          <a:solidFill>
                            <a:srgbClr val="FF00FF"/>
                          </a:solidFill>
                          <a:latin typeface="標楷體" pitchFamily="65" charset="-120"/>
                          <a:ea typeface="標楷體" pitchFamily="65" charset="-120"/>
                          <a:cs typeface="Arial"/>
                          <a:sym typeface="Arial"/>
                        </a:rPr>
                        <a:t>如右圖</a:t>
                      </a:r>
                      <a:r>
                        <a:rPr lang="zh-TW" altLang="en-US" sz="2400" b="0" i="0" u="none" strike="noStrike" cap="none" dirty="0">
                          <a:solidFill>
                            <a:schemeClr val="tx1"/>
                          </a:solidFill>
                          <a:latin typeface="標楷體" pitchFamily="65" charset="-120"/>
                          <a:ea typeface="標楷體" pitchFamily="65" charset="-120"/>
                          <a:cs typeface="Arial"/>
                          <a:sym typeface="Arial"/>
                        </a:rPr>
                        <a:t>）</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主要解決天津、北京都會區的缺水問題，但</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隨著工程開發，沿線的 </a:t>
                      </a:r>
                      <a:r>
                        <a:rPr lang="en-US" altLang="zh-TW" sz="2400" b="0" i="0" u="none" strike="noStrike" cap="none" dirty="0">
                          <a:solidFill>
                            <a:schemeClr val="tx1"/>
                          </a:solidFill>
                          <a:latin typeface="標楷體" pitchFamily="65" charset="-120"/>
                          <a:ea typeface="標楷體" pitchFamily="65" charset="-120"/>
                          <a:cs typeface="Arial"/>
                          <a:sym typeface="Arial"/>
                        </a:rPr>
                        <a:t>34.5 </a:t>
                      </a:r>
                      <a:r>
                        <a:rPr lang="zh-TW" altLang="en-US" sz="2400" b="0" i="0" u="none" strike="noStrike" cap="none" dirty="0">
                          <a:solidFill>
                            <a:schemeClr val="tx1"/>
                          </a:solidFill>
                          <a:latin typeface="標楷體" pitchFamily="65" charset="-120"/>
                          <a:ea typeface="標楷體" pitchFamily="65" charset="-120"/>
                          <a:cs typeface="Arial"/>
                          <a:sym typeface="Arial"/>
                        </a:rPr>
                        <a:t>萬</a:t>
                      </a:r>
                      <a:r>
                        <a:rPr lang="zh-TW" altLang="en-US" sz="2400" b="0" i="0" u="none" strike="noStrike" cap="none" dirty="0">
                          <a:solidFill>
                            <a:srgbClr val="FF00FF"/>
                          </a:solidFill>
                          <a:latin typeface="標楷體" pitchFamily="65" charset="-120"/>
                          <a:ea typeface="標楷體" pitchFamily="65" charset="-120"/>
                          <a:cs typeface="Arial"/>
                          <a:sym typeface="Arial"/>
                        </a:rPr>
                        <a:t>居民迫遷</a:t>
                      </a:r>
                      <a:r>
                        <a:rPr lang="zh-TW" altLang="en-US" sz="2400" b="0" i="0" u="none" strike="noStrike" cap="none" dirty="0">
                          <a:solidFill>
                            <a:schemeClr val="tx1"/>
                          </a:solidFill>
                          <a:latin typeface="標楷體" pitchFamily="65" charset="-120"/>
                          <a:ea typeface="標楷體" pitchFamily="65" charset="-120"/>
                          <a:cs typeface="Arial"/>
                          <a:sym typeface="Arial"/>
                        </a:rPr>
                        <a:t>、</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大量</a:t>
                      </a:r>
                      <a:r>
                        <a:rPr lang="zh-TW" altLang="en-US" sz="2400" b="0" i="0" u="none" strike="noStrike" cap="none" dirty="0">
                          <a:solidFill>
                            <a:srgbClr val="FF00FF"/>
                          </a:solidFill>
                          <a:latin typeface="標楷體" pitchFamily="65" charset="-120"/>
                          <a:ea typeface="標楷體" pitchFamily="65" charset="-120"/>
                          <a:cs typeface="Arial"/>
                          <a:sym typeface="Arial"/>
                        </a:rPr>
                        <a:t>文物</a:t>
                      </a:r>
                      <a:r>
                        <a:rPr lang="zh-TW" altLang="en-US" sz="2400" b="0" i="0" u="none" strike="noStrike" cap="none" dirty="0">
                          <a:solidFill>
                            <a:schemeClr val="tx1"/>
                          </a:solidFill>
                          <a:latin typeface="標楷體" pitchFamily="65" charset="-120"/>
                          <a:ea typeface="標楷體" pitchFamily="65" charset="-120"/>
                          <a:cs typeface="Arial"/>
                          <a:sym typeface="Arial"/>
                        </a:rPr>
                        <a:t>出土</a:t>
                      </a:r>
                      <a:r>
                        <a:rPr lang="zh-TW" altLang="en-US" sz="2400" b="0" i="0" u="none" strike="noStrike" cap="none" dirty="0">
                          <a:solidFill>
                            <a:srgbClr val="FF00FF"/>
                          </a:solidFill>
                          <a:latin typeface="標楷體" pitchFamily="65" charset="-120"/>
                          <a:ea typeface="標楷體" pitchFamily="65" charset="-120"/>
                          <a:cs typeface="Arial"/>
                          <a:sym typeface="Arial"/>
                        </a:rPr>
                        <a:t>毀壞</a:t>
                      </a:r>
                      <a:r>
                        <a:rPr lang="zh-TW" altLang="en-US" sz="2400" b="0" i="0" u="none" strike="noStrike" cap="none" dirty="0">
                          <a:solidFill>
                            <a:schemeClr val="tx1"/>
                          </a:solidFill>
                          <a:latin typeface="標楷體" pitchFamily="65" charset="-120"/>
                          <a:ea typeface="標楷體" pitchFamily="65" charset="-120"/>
                          <a:cs typeface="Arial"/>
                          <a:sym typeface="Arial"/>
                        </a:rPr>
                        <a:t>，付出相當大的代價</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25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82" y="89966"/>
            <a:ext cx="2549259" cy="67680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5057411" y="2575912"/>
            <a:ext cx="1512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南水北調</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45</a:t>
            </a:fld>
            <a:endParaRPr lang="zh-TW" sz="1400">
              <a:solidFill>
                <a:schemeClr val="dk1"/>
              </a:solidFill>
              <a:latin typeface="Arial"/>
              <a:ea typeface="Arial"/>
              <a:cs typeface="Arial"/>
              <a:sym typeface="Arial"/>
            </a:endParaRPr>
          </a:p>
        </p:txBody>
      </p:sp>
      <p:sp>
        <p:nvSpPr>
          <p:cNvPr id="12" name="矩形 11"/>
          <p:cNvSpPr>
            <a:spLocks noChangeArrowheads="1"/>
          </p:cNvSpPr>
          <p:nvPr/>
        </p:nvSpPr>
        <p:spPr bwMode="auto">
          <a:xfrm>
            <a:off x="169434" y="-152614"/>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p.211</a:t>
            </a:r>
            <a:endParaRPr lang="zh-TW" altLang="en-US" b="0" dirty="0"/>
          </a:p>
        </p:txBody>
      </p:sp>
      <p:pic>
        <p:nvPicPr>
          <p:cNvPr id="11" name="Picture 2">
            <a:extLst>
              <a:ext uri="{FF2B5EF4-FFF2-40B4-BE49-F238E27FC236}">
                <a16:creationId xmlns:a16="http://schemas.microsoft.com/office/drawing/2014/main" id="{99BBAE4B-C7EA-41C1-A480-340DA65FAA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00" y="4874613"/>
            <a:ext cx="4236541" cy="198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607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群組 7"/>
          <p:cNvGrpSpPr/>
          <p:nvPr/>
        </p:nvGrpSpPr>
        <p:grpSpPr>
          <a:xfrm>
            <a:off x="0" y="162908"/>
            <a:ext cx="9144000" cy="4346212"/>
            <a:chOff x="0" y="0"/>
            <a:chExt cx="12192000" cy="685800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矩形 5"/>
            <p:cNvSpPr/>
            <p:nvPr/>
          </p:nvSpPr>
          <p:spPr>
            <a:xfrm>
              <a:off x="10200456" y="6093296"/>
              <a:ext cx="1728192" cy="576064"/>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grpSp>
      <p:pic>
        <p:nvPicPr>
          <p:cNvPr id="1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375" b="89063" l="1277" r="98723"/>
                    </a14:imgEffect>
                  </a14:imgLayer>
                </a14:imgProps>
              </a:ext>
              <a:ext uri="{28A0092B-C50C-407E-A947-70E740481C1C}">
                <a14:useLocalDpi xmlns:a14="http://schemas.microsoft.com/office/drawing/2010/main" val="0"/>
              </a:ext>
            </a:extLst>
          </a:blip>
          <a:srcRect/>
          <a:stretch>
            <a:fillRect/>
          </a:stretch>
        </p:blipFill>
        <p:spPr bwMode="auto">
          <a:xfrm>
            <a:off x="3350862" y="65362"/>
            <a:ext cx="2058446" cy="560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3"/>
          <p:cNvSpPr txBox="1">
            <a:spLocks noChangeArrowheads="1"/>
          </p:cNvSpPr>
          <p:nvPr/>
        </p:nvSpPr>
        <p:spPr>
          <a:xfrm>
            <a:off x="1527115" y="160755"/>
            <a:ext cx="1793929" cy="486054"/>
          </a:xfrm>
          <a:prstGeom prst="rect">
            <a:avLst/>
          </a:prstGeom>
          <a:noFill/>
          <a:ln>
            <a:noFill/>
          </a:ln>
        </p:spPr>
        <p:txBody>
          <a:bodyPr wrap="square" lIns="68569" tIns="68569" rIns="68569" bIns="68569"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3200" dirty="0">
                <a:solidFill>
                  <a:srgbClr val="FF0066"/>
                </a:solidFill>
                <a:latin typeface="標楷體" pitchFamily="65" charset="-120"/>
                <a:ea typeface="標楷體" pitchFamily="65" charset="-120"/>
              </a:rPr>
              <a:t>南水北調</a:t>
            </a:r>
          </a:p>
        </p:txBody>
      </p:sp>
      <p:sp>
        <p:nvSpPr>
          <p:cNvPr id="7" name="矩形 6"/>
          <p:cNvSpPr/>
          <p:nvPr/>
        </p:nvSpPr>
        <p:spPr>
          <a:xfrm>
            <a:off x="249842" y="869937"/>
            <a:ext cx="8696643" cy="1792798"/>
          </a:xfrm>
          <a:prstGeom prst="rect">
            <a:avLst/>
          </a:prstGeom>
        </p:spPr>
        <p:txBody>
          <a:bodyPr wrap="square" lIns="68580" tIns="34290" rIns="68580" bIns="34290">
            <a:spAutoFit/>
          </a:bodyPr>
          <a:lstStyle/>
          <a:p>
            <a:r>
              <a:rPr lang="en-US" altLang="zh-TW" sz="2800" kern="1200" dirty="0">
                <a:solidFill>
                  <a:schemeClr val="tx1"/>
                </a:solidFill>
                <a:latin typeface="標楷體" pitchFamily="65" charset="-120"/>
                <a:ea typeface="標楷體" pitchFamily="65" charset="-120"/>
              </a:rPr>
              <a:t>1.</a:t>
            </a:r>
            <a:r>
              <a:rPr lang="zh-TW" altLang="en-US" sz="2800" kern="1200" dirty="0">
                <a:solidFill>
                  <a:schemeClr val="tx1"/>
                </a:solidFill>
                <a:latin typeface="標楷體" pitchFamily="65" charset="-120"/>
                <a:ea typeface="標楷體" pitchFamily="65" charset="-120"/>
              </a:rPr>
              <a:t>目的：</a:t>
            </a:r>
            <a:r>
              <a:rPr lang="en-US" altLang="zh-TW" sz="2800" kern="1200" dirty="0">
                <a:solidFill>
                  <a:schemeClr val="tx1"/>
                </a:solidFill>
                <a:latin typeface="標楷體" pitchFamily="65" charset="-120"/>
                <a:ea typeface="標楷體" pitchFamily="65" charset="-120"/>
              </a:rPr>
              <a:t>2002 </a:t>
            </a:r>
            <a:r>
              <a:rPr lang="zh-TW" altLang="en-US" sz="2800" kern="1200" dirty="0">
                <a:solidFill>
                  <a:schemeClr val="tx1"/>
                </a:solidFill>
                <a:latin typeface="標楷體" pitchFamily="65" charset="-120"/>
                <a:ea typeface="標楷體" pitchFamily="65" charset="-120"/>
              </a:rPr>
              <a:t>年起「南水北調」工程正式開工，分別</a:t>
            </a:r>
            <a:r>
              <a:rPr lang="zh-TW" altLang="en-US" sz="2800" kern="1200" dirty="0">
                <a:solidFill>
                  <a:srgbClr val="FF0000"/>
                </a:solidFill>
                <a:latin typeface="標楷體" pitchFamily="65" charset="-120"/>
                <a:ea typeface="標楷體" pitchFamily="65" charset="-120"/>
              </a:rPr>
              <a:t>從長江上、中、下游引水，以解決西北、內蒙古及華北地區的缺水問題</a:t>
            </a:r>
            <a:r>
              <a:rPr lang="zh-TW" altLang="en-US" sz="2800" kern="1200" dirty="0">
                <a:solidFill>
                  <a:schemeClr val="tx1"/>
                </a:solidFill>
                <a:latin typeface="標楷體" pitchFamily="65" charset="-120"/>
                <a:ea typeface="標楷體" pitchFamily="65" charset="-120"/>
              </a:rPr>
              <a:t>。</a:t>
            </a:r>
            <a:br>
              <a:rPr lang="en-US" altLang="zh-TW" sz="2800" kern="1200" dirty="0">
                <a:solidFill>
                  <a:schemeClr val="tx1"/>
                </a:solidFill>
                <a:latin typeface="標楷體" pitchFamily="65" charset="-120"/>
                <a:ea typeface="標楷體" pitchFamily="65" charset="-120"/>
              </a:rPr>
            </a:br>
            <a:r>
              <a:rPr lang="en-US" altLang="zh-TW" sz="2800" kern="1200" dirty="0">
                <a:solidFill>
                  <a:schemeClr val="tx1"/>
                </a:solidFill>
                <a:latin typeface="標楷體" pitchFamily="65" charset="-120"/>
                <a:ea typeface="標楷體" pitchFamily="65" charset="-120"/>
              </a:rPr>
              <a:t>2013 </a:t>
            </a:r>
            <a:r>
              <a:rPr lang="zh-TW" altLang="en-US" sz="2800" kern="1200" dirty="0">
                <a:solidFill>
                  <a:schemeClr val="tx1"/>
                </a:solidFill>
                <a:latin typeface="標楷體" pitchFamily="65" charset="-120"/>
                <a:ea typeface="標楷體" pitchFamily="65" charset="-120"/>
              </a:rPr>
              <a:t>年，</a:t>
            </a:r>
            <a:r>
              <a:rPr lang="zh-TW" altLang="en-US" sz="2800" kern="1200" dirty="0">
                <a:solidFill>
                  <a:srgbClr val="FF0000"/>
                </a:solidFill>
                <a:latin typeface="標楷體" pitchFamily="65" charset="-120"/>
                <a:ea typeface="標楷體" pitchFamily="65" charset="-120"/>
              </a:rPr>
              <a:t>東線</a:t>
            </a:r>
            <a:r>
              <a:rPr lang="zh-TW" altLang="en-US" sz="2800" kern="1200" dirty="0">
                <a:solidFill>
                  <a:schemeClr val="tx1"/>
                </a:solidFill>
                <a:latin typeface="標楷體" pitchFamily="65" charset="-120"/>
                <a:ea typeface="標楷體" pitchFamily="65" charset="-120"/>
              </a:rPr>
              <a:t>率先通水，</a:t>
            </a:r>
            <a:r>
              <a:rPr lang="en-US" altLang="zh-TW" sz="2800" kern="1200" dirty="0">
                <a:solidFill>
                  <a:schemeClr val="tx1"/>
                </a:solidFill>
                <a:latin typeface="標楷體" pitchFamily="65" charset="-120"/>
                <a:ea typeface="標楷體" pitchFamily="65" charset="-120"/>
              </a:rPr>
              <a:t>2014 </a:t>
            </a:r>
            <a:r>
              <a:rPr lang="zh-TW" altLang="en-US" sz="2800" kern="1200" dirty="0">
                <a:solidFill>
                  <a:schemeClr val="tx1"/>
                </a:solidFill>
                <a:latin typeface="標楷體" pitchFamily="65" charset="-120"/>
                <a:ea typeface="標楷體" pitchFamily="65" charset="-120"/>
              </a:rPr>
              <a:t>年，</a:t>
            </a:r>
            <a:r>
              <a:rPr lang="zh-TW" altLang="en-US" sz="2800" kern="1200" dirty="0">
                <a:solidFill>
                  <a:srgbClr val="FF0000"/>
                </a:solidFill>
                <a:latin typeface="標楷體" pitchFamily="65" charset="-120"/>
                <a:ea typeface="標楷體" pitchFamily="65" charset="-120"/>
              </a:rPr>
              <a:t>中線</a:t>
            </a:r>
            <a:r>
              <a:rPr lang="zh-TW" altLang="en-US" sz="2800" kern="1200" dirty="0">
                <a:solidFill>
                  <a:schemeClr val="tx1"/>
                </a:solidFill>
                <a:latin typeface="標楷體" pitchFamily="65" charset="-120"/>
                <a:ea typeface="標楷體" pitchFamily="65" charset="-120"/>
              </a:rPr>
              <a:t>正式</a:t>
            </a:r>
            <a:r>
              <a:rPr lang="zh-TW" altLang="en-US" sz="2800" kern="1200" dirty="0">
                <a:solidFill>
                  <a:srgbClr val="FF0000"/>
                </a:solidFill>
                <a:latin typeface="標楷體" pitchFamily="65" charset="-120"/>
                <a:ea typeface="標楷體" pitchFamily="65" charset="-120"/>
              </a:rPr>
              <a:t>通水</a:t>
            </a:r>
            <a:r>
              <a:rPr lang="zh-TW" altLang="en-US" sz="2800" kern="1200" dirty="0">
                <a:solidFill>
                  <a:schemeClr val="tx1"/>
                </a:solidFill>
                <a:latin typeface="標楷體" pitchFamily="65" charset="-120"/>
                <a:ea typeface="標楷體" pitchFamily="65" charset="-120"/>
              </a:rPr>
              <a:t>。</a:t>
            </a:r>
          </a:p>
        </p:txBody>
      </p:sp>
      <p:sp>
        <p:nvSpPr>
          <p:cNvPr id="11" name="矩形 10">
            <a:extLst>
              <a:ext uri="{FF2B5EF4-FFF2-40B4-BE49-F238E27FC236}">
                <a16:creationId xmlns:a16="http://schemas.microsoft.com/office/drawing/2014/main" id="{8A04382D-F2E3-452F-A88A-A0DFC426AECE}"/>
              </a:ext>
            </a:extLst>
          </p:cNvPr>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p.211</a:t>
            </a:r>
            <a:endParaRPr lang="zh-TW" altLang="en-US" b="0" dirty="0"/>
          </a:p>
        </p:txBody>
      </p:sp>
      <p:pic>
        <p:nvPicPr>
          <p:cNvPr id="14" name="Picture 2">
            <a:extLst>
              <a:ext uri="{FF2B5EF4-FFF2-40B4-BE49-F238E27FC236}">
                <a16:creationId xmlns:a16="http://schemas.microsoft.com/office/drawing/2014/main" id="{12BA4034-A4A7-4AB1-9BA6-F5310575ED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2627634"/>
            <a:ext cx="8498622" cy="4230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0669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0441" y="117479"/>
            <a:ext cx="7632848" cy="500137"/>
          </a:xfrm>
          <a:prstGeom prst="rect">
            <a:avLst/>
          </a:prstGeom>
        </p:spPr>
        <p:txBody>
          <a:bodyPr wrap="square" lIns="68580" tIns="34290" rIns="68580" bIns="34290">
            <a:spAutoFit/>
          </a:bodyPr>
          <a:lstStyle/>
          <a:p>
            <a:r>
              <a:rPr lang="en-US" altLang="zh-TW" sz="2800" kern="1200" dirty="0">
                <a:solidFill>
                  <a:schemeClr val="tx1"/>
                </a:solidFill>
                <a:latin typeface="標楷體" pitchFamily="65" charset="-120"/>
                <a:ea typeface="標楷體" pitchFamily="65" charset="-120"/>
              </a:rPr>
              <a:t>2.</a:t>
            </a:r>
            <a:r>
              <a:rPr lang="zh-TW" altLang="en-US" sz="2800" kern="1200" dirty="0">
                <a:solidFill>
                  <a:schemeClr val="tx1"/>
                </a:solidFill>
                <a:latin typeface="標楷體" pitchFamily="65" charset="-120"/>
                <a:ea typeface="標楷體" pitchFamily="65" charset="-120"/>
              </a:rPr>
              <a:t>工程</a:t>
            </a:r>
          </a:p>
        </p:txBody>
      </p:sp>
      <p:graphicFrame>
        <p:nvGraphicFramePr>
          <p:cNvPr id="11" name="表格 10"/>
          <p:cNvGraphicFramePr>
            <a:graphicFrameLocks noGrp="1"/>
          </p:cNvGraphicFramePr>
          <p:nvPr>
            <p:extLst>
              <p:ext uri="{D42A27DB-BD31-4B8C-83A1-F6EECF244321}">
                <p14:modId xmlns:p14="http://schemas.microsoft.com/office/powerpoint/2010/main" val="2828719611"/>
              </p:ext>
            </p:extLst>
          </p:nvPr>
        </p:nvGraphicFramePr>
        <p:xfrm>
          <a:off x="38200" y="617616"/>
          <a:ext cx="9025359" cy="2022941"/>
        </p:xfrm>
        <a:graphic>
          <a:graphicData uri="http://schemas.openxmlformats.org/drawingml/2006/table">
            <a:tbl>
              <a:tblPr firstRow="1" bandRow="1">
                <a:tableStyleId>{2EC3DFFD-EF93-4572-AD92-7E83F6A23CAC}</a:tableStyleId>
              </a:tblPr>
              <a:tblGrid>
                <a:gridCol w="816447">
                  <a:extLst>
                    <a:ext uri="{9D8B030D-6E8A-4147-A177-3AD203B41FA5}">
                      <a16:colId xmlns:a16="http://schemas.microsoft.com/office/drawing/2014/main" val="20000"/>
                    </a:ext>
                  </a:extLst>
                </a:gridCol>
                <a:gridCol w="8208912">
                  <a:extLst>
                    <a:ext uri="{9D8B030D-6E8A-4147-A177-3AD203B41FA5}">
                      <a16:colId xmlns:a16="http://schemas.microsoft.com/office/drawing/2014/main" val="20001"/>
                    </a:ext>
                  </a:extLst>
                </a:gridCol>
              </a:tblGrid>
              <a:tr h="491321">
                <a:tc>
                  <a:txBody>
                    <a:bodyPr/>
                    <a:lstStyle/>
                    <a:p>
                      <a:pPr algn="ctr"/>
                      <a:r>
                        <a:rPr lang="zh-TW" altLang="en-US" sz="2400" u="none" strike="noStrike" cap="none" baseline="0" dirty="0">
                          <a:latin typeface="標楷體" panose="03000509000000000000" pitchFamily="65" charset="-120"/>
                          <a:ea typeface="標楷體" panose="03000509000000000000" pitchFamily="65" charset="-120"/>
                          <a:sym typeface="Arial"/>
                        </a:rPr>
                        <a:t>路線</a:t>
                      </a:r>
                      <a:endParaRPr lang="zh-TW" altLang="en-US" sz="2400" dirty="0">
                        <a:latin typeface="標楷體" panose="03000509000000000000" pitchFamily="65" charset="-120"/>
                        <a:ea typeface="標楷體" panose="03000509000000000000" pitchFamily="65" charset="-120"/>
                      </a:endParaRPr>
                    </a:p>
                  </a:txBody>
                  <a:tcPr marL="68580" marR="68580" marT="34290" marB="34290" anchor="ctr">
                    <a:solidFill>
                      <a:srgbClr val="FBE1F6"/>
                    </a:solidFill>
                  </a:tcPr>
                </a:tc>
                <a:tc>
                  <a:txBody>
                    <a:bodyPr/>
                    <a:lstStyle/>
                    <a:p>
                      <a:pPr marR="0" algn="ctr" rtl="0">
                        <a:lnSpc>
                          <a:spcPct val="100000"/>
                        </a:lnSpc>
                        <a:spcBef>
                          <a:spcPts val="0"/>
                        </a:spcBef>
                        <a:spcAft>
                          <a:spcPts val="0"/>
                        </a:spcAft>
                        <a:buNone/>
                      </a:pP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特色</a:t>
                      </a:r>
                    </a:p>
                  </a:txBody>
                  <a:tcPr marL="68580" marR="68580" marT="34290" marB="34290" anchor="ctr">
                    <a:solidFill>
                      <a:srgbClr val="FBE1F6"/>
                    </a:solidFill>
                  </a:tcPr>
                </a:tc>
                <a:extLst>
                  <a:ext uri="{0D108BD9-81ED-4DB2-BD59-A6C34878D82A}">
                    <a16:rowId xmlns:a16="http://schemas.microsoft.com/office/drawing/2014/main" val="10000"/>
                  </a:ext>
                </a:extLst>
              </a:tr>
              <a:tr h="685800">
                <a:tc>
                  <a:txBody>
                    <a:bodyPr/>
                    <a:lstStyle/>
                    <a:p>
                      <a:pPr algn="ctr"/>
                      <a:r>
                        <a:rPr lang="zh-TW" altLang="en-US" sz="2400" dirty="0">
                          <a:solidFill>
                            <a:srgbClr val="FF0000"/>
                          </a:solidFill>
                          <a:latin typeface="標楷體" panose="03000509000000000000" pitchFamily="65" charset="-120"/>
                          <a:ea typeface="標楷體" panose="03000509000000000000" pitchFamily="65" charset="-120"/>
                        </a:rPr>
                        <a:t>東</a:t>
                      </a:r>
                      <a:r>
                        <a:rPr lang="zh-TW" altLang="en-US" sz="2400" dirty="0">
                          <a:latin typeface="標楷體" panose="03000509000000000000" pitchFamily="65" charset="-120"/>
                          <a:ea typeface="標楷體" panose="03000509000000000000" pitchFamily="65" charset="-120"/>
                        </a:rPr>
                        <a:t>線</a:t>
                      </a:r>
                    </a:p>
                  </a:txBody>
                  <a:tcPr marL="68580" marR="68580" marT="34290" marB="34290" anchor="ctr">
                    <a:solidFill>
                      <a:srgbClr val="FBE1F6"/>
                    </a:solidFill>
                  </a:tcPr>
                </a:tc>
                <a:tc>
                  <a:txBody>
                    <a:bodyPr/>
                    <a:lstStyle/>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(1)</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優</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點：</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利用現有的水利工程</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工程</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投資</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少</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具防洪和航運</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功能</a:t>
                      </a:r>
                    </a:p>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(2)</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缺</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點：</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長江下游水</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汙染</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嚴重</a:t>
                      </a:r>
                    </a:p>
                    <a:p>
                      <a:pPr marR="0" algn="l" rtl="0">
                        <a:lnSpc>
                          <a:spcPct val="100000"/>
                        </a:lnSpc>
                        <a:spcBef>
                          <a:spcPts val="0"/>
                        </a:spcBef>
                        <a:spcAft>
                          <a:spcPts val="0"/>
                        </a:spcAft>
                        <a:buNone/>
                      </a:pP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         </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地勢南低北高</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，輸水需支出大量</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能源</a:t>
                      </a:r>
                    </a:p>
                  </a:txBody>
                  <a:tcPr marL="68580" marR="68580" marT="34290" marB="34290" anchor="ctr">
                    <a:noFill/>
                  </a:tcPr>
                </a:tc>
                <a:extLst>
                  <a:ext uri="{0D108BD9-81ED-4DB2-BD59-A6C34878D82A}">
                    <a16:rowId xmlns:a16="http://schemas.microsoft.com/office/drawing/2014/main" val="10001"/>
                  </a:ext>
                </a:extLst>
              </a:tr>
            </a:tbl>
          </a:graphicData>
        </a:graphic>
      </p:graphicFrame>
      <p:graphicFrame>
        <p:nvGraphicFramePr>
          <p:cNvPr id="12" name="表格 11">
            <a:extLst>
              <a:ext uri="{FF2B5EF4-FFF2-40B4-BE49-F238E27FC236}">
                <a16:creationId xmlns:a16="http://schemas.microsoft.com/office/drawing/2014/main" id="{0CB8E616-B939-40B0-A627-4C58D1E93A28}"/>
              </a:ext>
            </a:extLst>
          </p:cNvPr>
          <p:cNvGraphicFramePr>
            <a:graphicFrameLocks noGrp="1"/>
          </p:cNvGraphicFramePr>
          <p:nvPr>
            <p:extLst>
              <p:ext uri="{D42A27DB-BD31-4B8C-83A1-F6EECF244321}">
                <p14:modId xmlns:p14="http://schemas.microsoft.com/office/powerpoint/2010/main" val="677366507"/>
              </p:ext>
            </p:extLst>
          </p:nvPr>
        </p:nvGraphicFramePr>
        <p:xfrm>
          <a:off x="35495" y="2654012"/>
          <a:ext cx="9073010" cy="1531620"/>
        </p:xfrm>
        <a:graphic>
          <a:graphicData uri="http://schemas.openxmlformats.org/drawingml/2006/table">
            <a:tbl>
              <a:tblPr firstRow="1" bandRow="1">
                <a:tableStyleId>{2EC3DFFD-EF93-4572-AD92-7E83F6A23CAC}</a:tableStyleId>
              </a:tblPr>
              <a:tblGrid>
                <a:gridCol w="823230">
                  <a:extLst>
                    <a:ext uri="{9D8B030D-6E8A-4147-A177-3AD203B41FA5}">
                      <a16:colId xmlns:a16="http://schemas.microsoft.com/office/drawing/2014/main" val="20000"/>
                    </a:ext>
                  </a:extLst>
                </a:gridCol>
                <a:gridCol w="8249780">
                  <a:extLst>
                    <a:ext uri="{9D8B030D-6E8A-4147-A177-3AD203B41FA5}">
                      <a16:colId xmlns:a16="http://schemas.microsoft.com/office/drawing/2014/main" val="20001"/>
                    </a:ext>
                  </a:extLst>
                </a:gridCol>
              </a:tblGrid>
              <a:tr h="685800">
                <a:tc>
                  <a:txBody>
                    <a:bodyPr/>
                    <a:lstStyle/>
                    <a:p>
                      <a:pPr algn="ctr"/>
                      <a:r>
                        <a:rPr lang="zh-TW" altLang="en-US" sz="2400" dirty="0">
                          <a:solidFill>
                            <a:srgbClr val="FF0000"/>
                          </a:solidFill>
                          <a:latin typeface="標楷體" panose="03000509000000000000" pitchFamily="65" charset="-120"/>
                          <a:ea typeface="標楷體" panose="03000509000000000000" pitchFamily="65" charset="-120"/>
                        </a:rPr>
                        <a:t>中</a:t>
                      </a:r>
                      <a:r>
                        <a:rPr lang="zh-TW" altLang="en-US" sz="2400" dirty="0">
                          <a:latin typeface="標楷體" panose="03000509000000000000" pitchFamily="65" charset="-120"/>
                          <a:ea typeface="標楷體" panose="03000509000000000000" pitchFamily="65" charset="-120"/>
                        </a:rPr>
                        <a:t>線</a:t>
                      </a:r>
                    </a:p>
                  </a:txBody>
                  <a:tcPr marL="68580" marR="68580" marT="34290" marB="34290" anchor="ctr">
                    <a:solidFill>
                      <a:srgbClr val="FBE1F6"/>
                    </a:solidFill>
                  </a:tcPr>
                </a:tc>
                <a:tc>
                  <a:txBody>
                    <a:bodyPr/>
                    <a:lstStyle/>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(1)</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優</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點：</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水質</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較</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好</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受益面積</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較</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大</a:t>
                      </a:r>
                    </a:p>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       </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地勢南高北低</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，水可自流，</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輸水成本較低且可發電</a:t>
                      </a:r>
                    </a:p>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(2)</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缺</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點：</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庫區</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移民多</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，有遷移及</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安置問題</a:t>
                      </a:r>
                    </a:p>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         </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需興建</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全新輸水幹道，工程成本高</a:t>
                      </a:r>
                    </a:p>
                  </a:txBody>
                  <a:tcPr marL="68580" marR="68580" marT="34290" marB="34290" anchor="ctr">
                    <a:noFill/>
                  </a:tcPr>
                </a:tc>
                <a:extLst>
                  <a:ext uri="{0D108BD9-81ED-4DB2-BD59-A6C34878D82A}">
                    <a16:rowId xmlns:a16="http://schemas.microsoft.com/office/drawing/2014/main" val="10001"/>
                  </a:ext>
                </a:extLst>
              </a:tr>
            </a:tbl>
          </a:graphicData>
        </a:graphic>
      </p:graphicFrame>
      <p:graphicFrame>
        <p:nvGraphicFramePr>
          <p:cNvPr id="13" name="表格 12">
            <a:extLst>
              <a:ext uri="{FF2B5EF4-FFF2-40B4-BE49-F238E27FC236}">
                <a16:creationId xmlns:a16="http://schemas.microsoft.com/office/drawing/2014/main" id="{7934DDB7-FB58-4A41-AC9A-89C9033EEEFE}"/>
              </a:ext>
            </a:extLst>
          </p:cNvPr>
          <p:cNvGraphicFramePr>
            <a:graphicFrameLocks noGrp="1"/>
          </p:cNvGraphicFramePr>
          <p:nvPr>
            <p:extLst>
              <p:ext uri="{D42A27DB-BD31-4B8C-83A1-F6EECF244321}">
                <p14:modId xmlns:p14="http://schemas.microsoft.com/office/powerpoint/2010/main" val="3935870725"/>
              </p:ext>
            </p:extLst>
          </p:nvPr>
        </p:nvGraphicFramePr>
        <p:xfrm>
          <a:off x="35495" y="4185632"/>
          <a:ext cx="9063560" cy="1897380"/>
        </p:xfrm>
        <a:graphic>
          <a:graphicData uri="http://schemas.openxmlformats.org/drawingml/2006/table">
            <a:tbl>
              <a:tblPr firstRow="1" bandRow="1">
                <a:tableStyleId>{2EC3DFFD-EF93-4572-AD92-7E83F6A23CAC}</a:tableStyleId>
              </a:tblPr>
              <a:tblGrid>
                <a:gridCol w="826487">
                  <a:extLst>
                    <a:ext uri="{9D8B030D-6E8A-4147-A177-3AD203B41FA5}">
                      <a16:colId xmlns:a16="http://schemas.microsoft.com/office/drawing/2014/main" val="20000"/>
                    </a:ext>
                  </a:extLst>
                </a:gridCol>
                <a:gridCol w="8237073">
                  <a:extLst>
                    <a:ext uri="{9D8B030D-6E8A-4147-A177-3AD203B41FA5}">
                      <a16:colId xmlns:a16="http://schemas.microsoft.com/office/drawing/2014/main" val="20001"/>
                    </a:ext>
                  </a:extLst>
                </a:gridCol>
              </a:tblGrid>
              <a:tr h="685800">
                <a:tc>
                  <a:txBody>
                    <a:bodyPr/>
                    <a:lstStyle/>
                    <a:p>
                      <a:pPr algn="ctr"/>
                      <a:r>
                        <a:rPr lang="zh-TW" altLang="en-US" sz="2400" dirty="0">
                          <a:solidFill>
                            <a:srgbClr val="FF0000"/>
                          </a:solidFill>
                          <a:latin typeface="標楷體" panose="03000509000000000000" pitchFamily="65" charset="-120"/>
                          <a:ea typeface="標楷體" panose="03000509000000000000" pitchFamily="65" charset="-120"/>
                        </a:rPr>
                        <a:t>西</a:t>
                      </a:r>
                      <a:r>
                        <a:rPr lang="zh-TW" altLang="en-US" sz="2400" dirty="0">
                          <a:latin typeface="標楷體" panose="03000509000000000000" pitchFamily="65" charset="-120"/>
                          <a:ea typeface="標楷體" panose="03000509000000000000" pitchFamily="65" charset="-120"/>
                        </a:rPr>
                        <a:t>線</a:t>
                      </a:r>
                    </a:p>
                  </a:txBody>
                  <a:tcPr marL="68580" marR="68580" marT="34290" marB="34290" anchor="ctr">
                    <a:solidFill>
                      <a:srgbClr val="FBE1F6"/>
                    </a:solidFill>
                  </a:tcPr>
                </a:tc>
                <a:tc>
                  <a:txBody>
                    <a:bodyPr/>
                    <a:lstStyle/>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(1)</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優</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點：</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可以</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緩和西北和黃土高原區</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的</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缺水問題</a:t>
                      </a:r>
                    </a:p>
                    <a:p>
                      <a:pPr marR="0" algn="l" rtl="0">
                        <a:lnSpc>
                          <a:spcPct val="100000"/>
                        </a:lnSpc>
                        <a:spcBef>
                          <a:spcPts val="0"/>
                        </a:spcBef>
                        <a:spcAft>
                          <a:spcPts val="0"/>
                        </a:spcAft>
                        <a:buNone/>
                      </a:pP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         </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水質好</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、庫區</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移民少</a:t>
                      </a:r>
                    </a:p>
                    <a:p>
                      <a:pPr marR="0" algn="l" rtl="0">
                        <a:lnSpc>
                          <a:spcPct val="100000"/>
                        </a:lnSpc>
                        <a:spcBef>
                          <a:spcPts val="0"/>
                        </a:spcBef>
                        <a:spcAft>
                          <a:spcPts val="0"/>
                        </a:spcAft>
                        <a:buNone/>
                      </a:pP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(2)</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缺</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點：</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位於上游，水量不多，且</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對長江上游生態衝擊大</a:t>
                      </a:r>
                    </a:p>
                    <a:p>
                      <a:pPr marR="0" algn="l" rtl="0">
                        <a:lnSpc>
                          <a:spcPct val="100000"/>
                        </a:lnSpc>
                        <a:spcBef>
                          <a:spcPts val="0"/>
                        </a:spcBef>
                        <a:spcAft>
                          <a:spcPts val="0"/>
                        </a:spcAft>
                        <a:buNone/>
                      </a:pP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         </a:t>
                      </a: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Wingdings"/>
                        </a:rPr>
                        <a:t></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多</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地震帶</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地質</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條件</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複雜</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，建築高壩與隧道，</a:t>
                      </a:r>
                      <a:b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br>
                      <a:r>
                        <a:rPr lang="en-US" altLang="zh-TW"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           </a:t>
                      </a:r>
                      <a:r>
                        <a:rPr lang="zh-TW" altLang="en-US" sz="2400" b="0" i="0" u="none" strike="noStrike" cap="none" baseline="0" dirty="0">
                          <a:solidFill>
                            <a:srgbClr val="FF0000"/>
                          </a:solidFill>
                          <a:latin typeface="標楷體" panose="03000509000000000000" pitchFamily="65" charset="-120"/>
                          <a:ea typeface="標楷體" panose="03000509000000000000" pitchFamily="65" charset="-120"/>
                          <a:cs typeface="Arial"/>
                          <a:sym typeface="Arial"/>
                        </a:rPr>
                        <a:t>安全問題</a:t>
                      </a:r>
                      <a:r>
                        <a:rPr lang="zh-TW" altLang="en-US" sz="2400" b="0" i="0" u="none" strike="noStrike" cap="none" baseline="0" dirty="0">
                          <a:solidFill>
                            <a:srgbClr val="000000"/>
                          </a:solidFill>
                          <a:latin typeface="標楷體" panose="03000509000000000000" pitchFamily="65" charset="-120"/>
                          <a:ea typeface="標楷體" panose="03000509000000000000" pitchFamily="65" charset="-120"/>
                          <a:cs typeface="Arial"/>
                          <a:sym typeface="Arial"/>
                        </a:rPr>
                        <a:t>引人關注</a:t>
                      </a:r>
                    </a:p>
                  </a:txBody>
                  <a:tcPr marL="68580" marR="68580" marT="34290" marB="34290" anchor="c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76892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413926" y="107731"/>
            <a:ext cx="8064896" cy="60962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800" dirty="0">
              <a:latin typeface="標楷體" pitchFamily="65" charset="-120"/>
              <a:ea typeface="標楷體" pitchFamily="65" charset="-120"/>
            </a:endParaRPr>
          </a:p>
          <a:p>
            <a:endParaRPr lang="en-US" altLang="zh-TW" sz="2800" dirty="0">
              <a:latin typeface="標楷體" pitchFamily="65" charset="-120"/>
              <a:ea typeface="標楷體" pitchFamily="65" charset="-120"/>
            </a:endParaRPr>
          </a:p>
          <a:p>
            <a:r>
              <a:rPr lang="zh-TW" altLang="en-US" sz="2800" dirty="0">
                <a:latin typeface="標楷體" pitchFamily="65" charset="-120"/>
                <a:ea typeface="標楷體" pitchFamily="65" charset="-120"/>
              </a:rPr>
              <a:t>二、</a:t>
            </a:r>
            <a:r>
              <a:rPr lang="zh-TW" altLang="en-US" sz="2800" dirty="0">
                <a:solidFill>
                  <a:srgbClr val="FF0000"/>
                </a:solidFill>
                <a:latin typeface="標楷體" pitchFamily="65" charset="-120"/>
                <a:ea typeface="標楷體" pitchFamily="65" charset="-120"/>
              </a:rPr>
              <a:t>都市問題</a:t>
            </a:r>
          </a:p>
        </p:txBody>
      </p:sp>
      <p:graphicFrame>
        <p:nvGraphicFramePr>
          <p:cNvPr id="14" name="Group 47"/>
          <p:cNvGraphicFramePr>
            <a:graphicFrameLocks noGrp="1"/>
          </p:cNvGraphicFramePr>
          <p:nvPr>
            <p:extLst>
              <p:ext uri="{D42A27DB-BD31-4B8C-83A1-F6EECF244321}">
                <p14:modId xmlns:p14="http://schemas.microsoft.com/office/powerpoint/2010/main" val="843788349"/>
              </p:ext>
            </p:extLst>
          </p:nvPr>
        </p:nvGraphicFramePr>
        <p:xfrm>
          <a:off x="73026" y="748274"/>
          <a:ext cx="8891462" cy="5326418"/>
        </p:xfrm>
        <a:graphic>
          <a:graphicData uri="http://schemas.openxmlformats.org/drawingml/2006/table">
            <a:tbl>
              <a:tblPr/>
              <a:tblGrid>
                <a:gridCol w="767049">
                  <a:extLst>
                    <a:ext uri="{9D8B030D-6E8A-4147-A177-3AD203B41FA5}">
                      <a16:colId xmlns:a16="http://schemas.microsoft.com/office/drawing/2014/main" val="20000"/>
                    </a:ext>
                  </a:extLst>
                </a:gridCol>
                <a:gridCol w="8124413">
                  <a:extLst>
                    <a:ext uri="{9D8B030D-6E8A-4147-A177-3AD203B41FA5}">
                      <a16:colId xmlns:a16="http://schemas.microsoft.com/office/drawing/2014/main" val="20001"/>
                    </a:ext>
                  </a:extLst>
                </a:gridCol>
              </a:tblGrid>
              <a:tr h="4917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類型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6400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住屋短缺</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原因：人口大量湧入都市，</a:t>
                      </a:r>
                      <a:r>
                        <a:rPr lang="zh-TW" altLang="en-US" sz="2400" b="0" i="0" u="none" strike="noStrike" cap="none" dirty="0">
                          <a:solidFill>
                            <a:srgbClr val="FF0000"/>
                          </a:solidFill>
                          <a:latin typeface="標楷體" pitchFamily="65" charset="-120"/>
                          <a:ea typeface="標楷體" pitchFamily="65" charset="-120"/>
                          <a:cs typeface="Arial"/>
                          <a:sym typeface="Arial"/>
                        </a:rPr>
                        <a:t>房地產</a:t>
                      </a:r>
                      <a:r>
                        <a:rPr lang="zh-TW" altLang="en-US" sz="2400" b="0" i="0" u="none" strike="noStrike" cap="none" dirty="0">
                          <a:solidFill>
                            <a:schemeClr val="tx1"/>
                          </a:solidFill>
                          <a:latin typeface="標楷體" pitchFamily="65" charset="-120"/>
                          <a:ea typeface="標楷體" pitchFamily="65" charset="-120"/>
                          <a:cs typeface="Arial"/>
                          <a:sym typeface="Arial"/>
                        </a:rPr>
                        <a:t>又</a:t>
                      </a:r>
                      <a:r>
                        <a:rPr lang="zh-TW" altLang="en-US" sz="2400" b="0" i="0" u="none" strike="noStrike" cap="none" dirty="0">
                          <a:solidFill>
                            <a:srgbClr val="FF0000"/>
                          </a:solidFill>
                          <a:latin typeface="標楷體" pitchFamily="65" charset="-120"/>
                          <a:ea typeface="標楷體" pitchFamily="65" charset="-120"/>
                          <a:cs typeface="Arial"/>
                          <a:sym typeface="Arial"/>
                        </a:rPr>
                        <a:t>成為金融炒作的商品</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價格已超出</a:t>
                      </a:r>
                      <a:r>
                        <a:rPr lang="zh-TW" altLang="en-US" sz="2400" b="0" i="0" u="none" strike="noStrike" cap="none" dirty="0">
                          <a:solidFill>
                            <a:schemeClr val="tx1"/>
                          </a:solidFill>
                          <a:latin typeface="標楷體" pitchFamily="65" charset="-120"/>
                          <a:ea typeface="標楷體" pitchFamily="65" charset="-120"/>
                          <a:cs typeface="Arial"/>
                          <a:sym typeface="Arial"/>
                        </a:rPr>
                        <a:t>一般市民大眾的</a:t>
                      </a:r>
                      <a:r>
                        <a:rPr lang="zh-TW" altLang="en-US" sz="2400" b="0" i="0" u="none" strike="noStrike" cap="none" dirty="0">
                          <a:solidFill>
                            <a:srgbClr val="FF0000"/>
                          </a:solidFill>
                          <a:latin typeface="標楷體" pitchFamily="65" charset="-120"/>
                          <a:ea typeface="標楷體" pitchFamily="65" charset="-120"/>
                          <a:cs typeface="Arial"/>
                          <a:sym typeface="Arial"/>
                        </a:rPr>
                        <a:t>負擔</a:t>
                      </a:r>
                      <a:r>
                        <a:rPr lang="zh-TW" altLang="en-US" sz="2400" b="0" i="0" u="none" strike="noStrike" cap="none" dirty="0">
                          <a:solidFill>
                            <a:schemeClr val="tx1"/>
                          </a:solidFill>
                          <a:latin typeface="標楷體" pitchFamily="65" charset="-120"/>
                          <a:ea typeface="標楷體" pitchFamily="65" charset="-120"/>
                          <a:cs typeface="Arial"/>
                          <a:sym typeface="Arial"/>
                        </a:rPr>
                        <a:t>能力</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經濟</a:t>
                      </a:r>
                      <a:r>
                        <a:rPr lang="zh-TW" altLang="en-US" sz="2400" b="0" i="0" u="none" strike="noStrike" cap="none" dirty="0">
                          <a:solidFill>
                            <a:srgbClr val="FF0000"/>
                          </a:solidFill>
                          <a:latin typeface="標楷體" pitchFamily="65" charset="-120"/>
                          <a:ea typeface="標楷體" pitchFamily="65" charset="-120"/>
                          <a:cs typeface="Arial"/>
                          <a:sym typeface="Arial"/>
                        </a:rPr>
                        <a:t>弱勢者</a:t>
                      </a:r>
                      <a:r>
                        <a:rPr lang="zh-TW" altLang="en-US" sz="2400" b="0" i="0" u="none" strike="noStrike" cap="none" dirty="0">
                          <a:solidFill>
                            <a:schemeClr val="tx1"/>
                          </a:solidFill>
                          <a:latin typeface="標楷體" pitchFamily="65" charset="-120"/>
                          <a:ea typeface="標楷體" pitchFamily="65" charset="-120"/>
                          <a:cs typeface="Arial"/>
                          <a:sym typeface="Arial"/>
                        </a:rPr>
                        <a:t>居住問題更為嚴峻，形成</a:t>
                      </a:r>
                      <a:r>
                        <a:rPr lang="zh-TW" altLang="en-US" sz="2400" b="0" i="0" u="none" strike="noStrike" cap="none" dirty="0">
                          <a:solidFill>
                            <a:srgbClr val="FF0000"/>
                          </a:solidFill>
                          <a:latin typeface="標楷體" pitchFamily="65" charset="-120"/>
                          <a:ea typeface="標楷體" pitchFamily="65" charset="-120"/>
                          <a:cs typeface="Arial"/>
                          <a:sym typeface="Arial"/>
                        </a:rPr>
                        <a:t>分租、共用</a:t>
                      </a:r>
                      <a:r>
                        <a:rPr lang="zh-TW" altLang="en-US" sz="2400" b="0" i="0" u="none" strike="noStrike" cap="none" dirty="0">
                          <a:solidFill>
                            <a:schemeClr val="tx1"/>
                          </a:solidFill>
                          <a:latin typeface="標楷體" pitchFamily="65" charset="-120"/>
                          <a:ea typeface="標楷體" pitchFamily="65" charset="-120"/>
                          <a:cs typeface="Arial"/>
                          <a:sym typeface="Arial"/>
                        </a:rPr>
                        <a:t>的型式，通常居住品質、衛生、治安惡劣，且</a:t>
                      </a:r>
                      <a:r>
                        <a:rPr lang="zh-TW" altLang="en-US" sz="2400" b="0" i="0" u="none" strike="noStrike" cap="none" dirty="0">
                          <a:solidFill>
                            <a:srgbClr val="FF00FF"/>
                          </a:solidFill>
                          <a:latin typeface="標楷體" pitchFamily="65" charset="-120"/>
                          <a:ea typeface="標楷體" pitchFamily="65" charset="-120"/>
                          <a:cs typeface="Arial"/>
                          <a:sym typeface="Arial"/>
                        </a:rPr>
                        <a:t>極易發生火災</a:t>
                      </a:r>
                      <a:r>
                        <a:rPr lang="zh-TW" altLang="en-US" sz="2400" b="0" i="0" u="none" strike="noStrike" cap="none" dirty="0">
                          <a:solidFill>
                            <a:schemeClr val="tx1"/>
                          </a:solidFill>
                          <a:latin typeface="標楷體" pitchFamily="65" charset="-120"/>
                          <a:ea typeface="標楷體" pitchFamily="65" charset="-120"/>
                          <a:cs typeface="Arial"/>
                          <a:sym typeface="Arial"/>
                        </a:rPr>
                        <a:t>，成為有關當局急需解決的課題</a:t>
                      </a:r>
                    </a:p>
                    <a:p>
                      <a:r>
                        <a:rPr lang="en-US" altLang="zh-TW" sz="2400" b="0" i="0" u="none" strike="noStrike" cap="none" dirty="0">
                          <a:solidFill>
                            <a:schemeClr val="tx1"/>
                          </a:solidFill>
                          <a:latin typeface="標楷體" pitchFamily="65" charset="-120"/>
                          <a:ea typeface="標楷體" pitchFamily="65" charset="-120"/>
                          <a:cs typeface="Arial"/>
                          <a:sym typeface="Arial"/>
                        </a:rPr>
                        <a:t>3.</a:t>
                      </a:r>
                      <a:r>
                        <a:rPr lang="zh-TW" altLang="en-US" sz="2400" b="0" i="0" u="none" strike="noStrike" cap="none" dirty="0">
                          <a:solidFill>
                            <a:schemeClr val="tx1"/>
                          </a:solidFill>
                          <a:latin typeface="標楷體" pitchFamily="65" charset="-120"/>
                          <a:ea typeface="標楷體" pitchFamily="65" charset="-120"/>
                          <a:cs typeface="Arial"/>
                          <a:sym typeface="Arial"/>
                        </a:rPr>
                        <a:t>舉例：</a:t>
                      </a:r>
                      <a:r>
                        <a:rPr lang="zh-TW" altLang="en-US" sz="2400" b="0" i="0" u="none" strike="noStrike" cap="none" dirty="0">
                          <a:solidFill>
                            <a:srgbClr val="FF0000"/>
                          </a:solidFill>
                          <a:latin typeface="標楷體" pitchFamily="65" charset="-120"/>
                          <a:ea typeface="標楷體" pitchFamily="65" charset="-120"/>
                          <a:cs typeface="Arial"/>
                          <a:sym typeface="Arial"/>
                        </a:rPr>
                        <a:t>香港籠屋</a:t>
                      </a:r>
                      <a:r>
                        <a:rPr lang="en-US" altLang="zh-TW" sz="2400" b="0" i="0" u="none" strike="noStrike" cap="none" dirty="0">
                          <a:solidFill>
                            <a:srgbClr val="FF00FF"/>
                          </a:solidFill>
                          <a:latin typeface="標楷體" pitchFamily="65" charset="-120"/>
                          <a:ea typeface="標楷體" pitchFamily="65" charset="-120"/>
                          <a:cs typeface="Arial"/>
                          <a:sym typeface="Arial"/>
                        </a:rPr>
                        <a:t>(</a:t>
                      </a:r>
                      <a:r>
                        <a:rPr lang="en-US" altLang="zh-TW" sz="2400" b="0" i="0" u="none" strike="noStrike" cap="none" dirty="0" err="1">
                          <a:solidFill>
                            <a:srgbClr val="FF00FF"/>
                          </a:solidFill>
                          <a:latin typeface="標楷體" pitchFamily="65" charset="-120"/>
                          <a:ea typeface="標楷體" pitchFamily="65" charset="-120"/>
                          <a:cs typeface="Arial"/>
                          <a:sym typeface="Arial"/>
                        </a:rPr>
                        <a:t>p.72</a:t>
                      </a:r>
                      <a:r>
                        <a:rPr lang="zh-TW" altLang="en-US" sz="2400" b="0" i="0" u="none" strike="noStrike" cap="none" dirty="0">
                          <a:solidFill>
                            <a:srgbClr val="FF00FF"/>
                          </a:solidFill>
                          <a:latin typeface="標楷體" pitchFamily="65" charset="-120"/>
                          <a:ea typeface="標楷體" pitchFamily="65" charset="-120"/>
                          <a:cs typeface="Arial"/>
                          <a:sym typeface="Arial"/>
                        </a:rPr>
                        <a:t>照片↓</a:t>
                      </a:r>
                      <a:r>
                        <a:rPr lang="en-US" altLang="zh-TW" sz="2400" b="0" i="0" u="none" strike="noStrike" cap="none" dirty="0">
                          <a:solidFill>
                            <a:srgbClr val="FF00FF"/>
                          </a:solidFill>
                          <a:latin typeface="標楷體" pitchFamily="65" charset="-120"/>
                          <a:ea typeface="標楷體" pitchFamily="65" charset="-120"/>
                          <a:cs typeface="Arial"/>
                          <a:sym typeface="Arial"/>
                        </a:rPr>
                        <a:t>) </a:t>
                      </a:r>
                      <a:r>
                        <a:rPr lang="zh-TW" altLang="en-US" sz="2400" b="0" i="0" u="none" strike="noStrike" cap="none" dirty="0">
                          <a:solidFill>
                            <a:schemeClr val="tx1"/>
                          </a:solidFill>
                          <a:latin typeface="標楷體" pitchFamily="65" charset="-120"/>
                          <a:ea typeface="標楷體" pitchFamily="65" charset="-120"/>
                          <a:cs typeface="Arial"/>
                          <a:sym typeface="Arial"/>
                        </a:rPr>
                        <a:t>僅約床位大小，並以籠框做隔間，常為香港經濟弱勢群體的長期居所</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197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交通擁擠</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原因：大量人口湧入都市，增加交通的需求，汽車數量快速成長，造成交通壅塞與環境品質惡化</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解決案例：</a:t>
                      </a:r>
                      <a:r>
                        <a:rPr lang="zh-TW" altLang="en-US" sz="2400" b="0" i="0" u="none" strike="noStrike" cap="none" dirty="0">
                          <a:solidFill>
                            <a:srgbClr val="FF0000"/>
                          </a:solidFill>
                          <a:latin typeface="標楷體" pitchFamily="65" charset="-120"/>
                          <a:ea typeface="標楷體" pitchFamily="65" charset="-120"/>
                          <a:cs typeface="Arial"/>
                          <a:sym typeface="Arial"/>
                        </a:rPr>
                        <a:t>日本</a:t>
                      </a:r>
                      <a:r>
                        <a:rPr lang="zh-TW" altLang="en-US" sz="2400" b="0" i="0" u="none" strike="noStrike" cap="none" dirty="0">
                          <a:solidFill>
                            <a:schemeClr val="tx1"/>
                          </a:solidFill>
                          <a:latin typeface="標楷體" pitchFamily="65" charset="-120"/>
                          <a:ea typeface="標楷體" pitchFamily="65" charset="-120"/>
                          <a:cs typeface="Arial"/>
                          <a:sym typeface="Arial"/>
                        </a:rPr>
                        <a:t>政府採取</a:t>
                      </a:r>
                      <a:r>
                        <a:rPr lang="zh-TW" altLang="en-US" sz="2400" b="0" i="0" u="none" strike="noStrike" cap="none" dirty="0">
                          <a:solidFill>
                            <a:srgbClr val="FF0000"/>
                          </a:solidFill>
                          <a:latin typeface="標楷體" pitchFamily="65" charset="-120"/>
                          <a:ea typeface="標楷體" pitchFamily="65" charset="-120"/>
                          <a:cs typeface="Arial"/>
                          <a:sym typeface="Arial"/>
                        </a:rPr>
                        <a:t>廣設大眾運輸網</a:t>
                      </a:r>
                      <a:r>
                        <a:rPr lang="zh-TW" altLang="en-US" sz="2400" b="0" i="0" u="none" strike="noStrike" cap="none" dirty="0">
                          <a:solidFill>
                            <a:schemeClr val="tx1"/>
                          </a:solidFill>
                          <a:latin typeface="標楷體" pitchFamily="65" charset="-120"/>
                          <a:ea typeface="標楷體" pitchFamily="65" charset="-120"/>
                          <a:cs typeface="Arial"/>
                          <a:sym typeface="Arial"/>
                        </a:rPr>
                        <a:t>、立法限制</a:t>
                      </a:r>
                      <a:r>
                        <a:rPr lang="zh-TW" altLang="en-US" sz="2400" b="0" i="0" u="none" strike="noStrike" cap="none" dirty="0">
                          <a:solidFill>
                            <a:srgbClr val="FF00FF"/>
                          </a:solidFill>
                          <a:latin typeface="標楷體" pitchFamily="65" charset="-120"/>
                          <a:ea typeface="標楷體" pitchFamily="65" charset="-120"/>
                          <a:cs typeface="Arial"/>
                          <a:sym typeface="Arial"/>
                        </a:rPr>
                        <a:t>持有停車位才可購車、高額停車費、違停重罰</a:t>
                      </a:r>
                      <a:r>
                        <a:rPr lang="zh-TW" altLang="en-US" sz="2400" b="0" i="0" u="none" strike="noStrike" cap="none" dirty="0">
                          <a:solidFill>
                            <a:schemeClr val="tx1"/>
                          </a:solidFill>
                          <a:latin typeface="標楷體" pitchFamily="65" charset="-120"/>
                          <a:ea typeface="標楷體" pitchFamily="65" charset="-120"/>
                          <a:cs typeface="Arial"/>
                          <a:sym typeface="Arial"/>
                        </a:rPr>
                        <a:t>等措施控管，改善了 </a:t>
                      </a:r>
                      <a:r>
                        <a:rPr lang="en-US" altLang="zh-TW" sz="2400" b="0" i="0" u="none" strike="noStrike" cap="none" dirty="0">
                          <a:solidFill>
                            <a:schemeClr val="tx1"/>
                          </a:solidFill>
                          <a:latin typeface="標楷體" pitchFamily="65" charset="-120"/>
                          <a:ea typeface="標楷體" pitchFamily="65" charset="-120"/>
                          <a:cs typeface="Arial"/>
                          <a:sym typeface="Arial"/>
                        </a:rPr>
                        <a:t>80 </a:t>
                      </a:r>
                      <a:r>
                        <a:rPr lang="zh-TW" altLang="en-US" sz="2400" b="0" i="0" u="none" strike="noStrike" cap="none" dirty="0">
                          <a:solidFill>
                            <a:schemeClr val="tx1"/>
                          </a:solidFill>
                          <a:latin typeface="標楷體" pitchFamily="65" charset="-120"/>
                          <a:ea typeface="標楷體" pitchFamily="65" charset="-120"/>
                          <a:cs typeface="Arial"/>
                          <a:sym typeface="Arial"/>
                        </a:rPr>
                        <a:t>年代末期的塞車巔峰，發展成如今以大眾運輸為主的交通模式</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48</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p.211</a:t>
            </a:r>
            <a:endParaRPr lang="zh-TW" altLang="en-US" b="0" dirty="0"/>
          </a:p>
        </p:txBody>
      </p:sp>
      <p:pic>
        <p:nvPicPr>
          <p:cNvPr id="10" name="Picture 3">
            <a:extLst>
              <a:ext uri="{FF2B5EF4-FFF2-40B4-BE49-F238E27FC236}">
                <a16:creationId xmlns:a16="http://schemas.microsoft.com/office/drawing/2014/main" id="{3DF7C7AF-9DBF-4FDD-B668-19CA8AAED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3912380"/>
            <a:ext cx="8064896" cy="2809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91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nodeType="clickEffect">
                                  <p:stCondLst>
                                    <p:cond delay="0"/>
                                  </p:stCondLst>
                                  <p:childTnLst>
                                    <p:animEffect transition="out" filter="wipe(up)">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0" y="650967"/>
            <a:ext cx="9070974" cy="302916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sz="2800" dirty="0">
                <a:latin typeface="標楷體" pitchFamily="65" charset="-120"/>
                <a:ea typeface="標楷體" pitchFamily="65" charset="-120"/>
              </a:rPr>
              <a:t>          三、</a:t>
            </a:r>
            <a:r>
              <a:rPr lang="zh-TW" altLang="en-US" sz="2800" dirty="0">
                <a:solidFill>
                  <a:srgbClr val="FF0000"/>
                </a:solidFill>
                <a:latin typeface="標楷體" pitchFamily="65" charset="-120"/>
                <a:ea typeface="標楷體" pitchFamily="65" charset="-120"/>
              </a:rPr>
              <a:t>空氣汙染</a:t>
            </a:r>
            <a:endParaRPr lang="en-US" altLang="zh-TW" sz="2800" dirty="0">
              <a:solidFill>
                <a:srgbClr val="FF0000"/>
              </a:solidFill>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東亞國家因</a:t>
            </a:r>
            <a:r>
              <a:rPr lang="zh-TW" altLang="en-US" sz="2400" dirty="0">
                <a:solidFill>
                  <a:srgbClr val="FF0000"/>
                </a:solidFill>
                <a:latin typeface="標楷體" pitchFamily="65" charset="-120"/>
                <a:ea typeface="標楷體" pitchFamily="65" charset="-120"/>
              </a:rPr>
              <a:t>工業及車輛</a:t>
            </a:r>
            <a:r>
              <a:rPr lang="zh-TW" altLang="en-US" sz="2400" dirty="0">
                <a:latin typeface="標楷體" pitchFamily="65" charset="-120"/>
                <a:ea typeface="標楷體" pitchFamily="65" charset="-120"/>
              </a:rPr>
              <a:t>大量排放的</a:t>
            </a:r>
            <a:r>
              <a:rPr lang="zh-TW" altLang="en-US" sz="2400" dirty="0">
                <a:solidFill>
                  <a:srgbClr val="FF0000"/>
                </a:solidFill>
                <a:latin typeface="標楷體" pitchFamily="65" charset="-120"/>
                <a:ea typeface="標楷體" pitchFamily="65" charset="-120"/>
              </a:rPr>
              <a:t>廢氣</a:t>
            </a:r>
            <a:r>
              <a:rPr lang="zh-TW" altLang="en-US" sz="2400" dirty="0">
                <a:latin typeface="標楷體" pitchFamily="65" charset="-120"/>
                <a:ea typeface="標楷體" pitchFamily="65" charset="-120"/>
              </a:rPr>
              <a:t>，加上</a:t>
            </a:r>
            <a:r>
              <a:rPr lang="zh-TW" altLang="en-US" sz="2400" dirty="0">
                <a:solidFill>
                  <a:srgbClr val="FF0000"/>
                </a:solidFill>
                <a:latin typeface="標楷體" pitchFamily="65" charset="-120"/>
                <a:ea typeface="標楷體" pitchFamily="65" charset="-120"/>
              </a:rPr>
              <a:t>冬季季風帶來的</a:t>
            </a:r>
            <a:br>
              <a:rPr lang="en-US" altLang="zh-TW" sz="2400" dirty="0">
                <a:solidFill>
                  <a:srgbClr val="FF0000"/>
                </a:solidFill>
                <a:latin typeface="標楷體" pitchFamily="65" charset="-120"/>
                <a:ea typeface="標楷體" pitchFamily="65" charset="-120"/>
              </a:rPr>
            </a:br>
            <a:r>
              <a:rPr lang="zh-TW" altLang="en-US" sz="2400" dirty="0">
                <a:solidFill>
                  <a:srgbClr val="FF0000"/>
                </a:solidFill>
                <a:latin typeface="標楷體" pitchFamily="65" charset="-120"/>
                <a:ea typeface="標楷體" pitchFamily="65" charset="-120"/>
              </a:rPr>
              <a:t>蒙古</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，形成危害人體健康的霾害，而</a:t>
            </a:r>
            <a:r>
              <a:rPr lang="zh-TW" altLang="en-US" sz="2400" dirty="0">
                <a:solidFill>
                  <a:srgbClr val="FF0000"/>
                </a:solidFill>
                <a:latin typeface="標楷體" pitchFamily="65" charset="-120"/>
                <a:ea typeface="標楷體" pitchFamily="65" charset="-120"/>
              </a:rPr>
              <a:t>霧霾</a:t>
            </a:r>
            <a:r>
              <a:rPr lang="zh-TW" altLang="en-US" sz="2400" dirty="0">
                <a:latin typeface="標楷體" pitchFamily="65" charset="-120"/>
                <a:ea typeface="標楷體" pitchFamily="65" charset="-120"/>
              </a:rPr>
              <a:t>隨著大氣流動</a:t>
            </a:r>
            <a:r>
              <a:rPr lang="zh-TW" altLang="en-US" sz="2400" dirty="0">
                <a:solidFill>
                  <a:srgbClr val="FF0000"/>
                </a:solidFill>
                <a:latin typeface="標楷體" pitchFamily="65" charset="-120"/>
                <a:ea typeface="標楷體" pitchFamily="65" charset="-120"/>
              </a:rPr>
              <a:t>影響周遭國家</a:t>
            </a:r>
            <a:r>
              <a:rPr lang="zh-TW" altLang="en-US" sz="2400" dirty="0">
                <a:latin typeface="標楷體" pitchFamily="65" charset="-120"/>
                <a:ea typeface="標楷體" pitchFamily="65" charset="-120"/>
              </a:rPr>
              <a:t>，常造成</a:t>
            </a:r>
            <a:r>
              <a:rPr lang="zh-TW" altLang="en-US" sz="2400" dirty="0">
                <a:solidFill>
                  <a:srgbClr val="FF0000"/>
                </a:solidFill>
                <a:latin typeface="標楷體" pitchFamily="65" charset="-120"/>
                <a:ea typeface="標楷體" pitchFamily="65" charset="-120"/>
              </a:rPr>
              <a:t>國際間相互指責</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影響</a:t>
            </a:r>
            <a:r>
              <a:rPr lang="zh-TW" altLang="en-US" sz="2400" dirty="0">
                <a:latin typeface="標楷體" pitchFamily="65" charset="-120"/>
                <a:ea typeface="標楷體" pitchFamily="65" charset="-120"/>
              </a:rPr>
              <a:t>都市及國家</a:t>
            </a:r>
            <a:r>
              <a:rPr lang="zh-TW" altLang="en-US" sz="2400" dirty="0">
                <a:solidFill>
                  <a:srgbClr val="FF0000"/>
                </a:solidFill>
                <a:latin typeface="標楷體" pitchFamily="65" charset="-120"/>
                <a:ea typeface="標楷體" pitchFamily="65" charset="-120"/>
              </a:rPr>
              <a:t>形象</a:t>
            </a:r>
            <a:r>
              <a:rPr lang="zh-TW" altLang="en-US" sz="2400" dirty="0">
                <a:latin typeface="標楷體" pitchFamily="65" charset="-120"/>
                <a:ea typeface="標楷體" pitchFamily="65" charset="-120"/>
              </a:rPr>
              <a:t>。</a:t>
            </a:r>
          </a:p>
          <a:p>
            <a:r>
              <a:rPr lang="en-US" altLang="zh-TW" sz="2400" dirty="0">
                <a:latin typeface="標楷體" pitchFamily="65" charset="-120"/>
                <a:ea typeface="標楷體" pitchFamily="65" charset="-120"/>
              </a:rPr>
              <a:t>2.2014 </a:t>
            </a:r>
            <a:r>
              <a:rPr lang="zh-TW" altLang="en-US" sz="2400" dirty="0">
                <a:latin typeface="標楷體" pitchFamily="65" charset="-120"/>
                <a:ea typeface="標楷體" pitchFamily="65" charset="-120"/>
              </a:rPr>
              <a:t>年，</a:t>
            </a:r>
            <a:r>
              <a:rPr lang="zh-TW" altLang="en-US" sz="2400">
                <a:solidFill>
                  <a:srgbClr val="FF00FF"/>
                </a:solidFill>
                <a:latin typeface="標楷體" pitchFamily="65" charset="-120"/>
                <a:ea typeface="標楷體" pitchFamily="65" charset="-120"/>
              </a:rPr>
              <a:t>中國提出</a:t>
            </a:r>
            <a:r>
              <a:rPr lang="zh-TW" altLang="en-US" sz="2400">
                <a:solidFill>
                  <a:srgbClr val="FF0000"/>
                </a:solidFill>
                <a:latin typeface="標楷體" pitchFamily="65" charset="-120"/>
                <a:ea typeface="標楷體" pitchFamily="65" charset="-120"/>
              </a:rPr>
              <a:t>向</a:t>
            </a:r>
            <a:r>
              <a:rPr lang="zh-TW" altLang="en-US" sz="2400" dirty="0">
                <a:solidFill>
                  <a:srgbClr val="FF0000"/>
                </a:solidFill>
                <a:latin typeface="標楷體" pitchFamily="65" charset="-120"/>
                <a:ea typeface="標楷體" pitchFamily="65" charset="-120"/>
              </a:rPr>
              <a:t>汙染宣戰</a:t>
            </a:r>
            <a:r>
              <a:rPr lang="zh-TW" altLang="en-US" sz="2400" dirty="0">
                <a:latin typeface="標楷體" pitchFamily="65" charset="-120"/>
                <a:ea typeface="標楷體" pitchFamily="65" charset="-120"/>
              </a:rPr>
              <a:t>。以空氣汙染為例，對高排汙的鋼鐵、水泥及發電等產業實施限產，甚至</a:t>
            </a:r>
            <a:r>
              <a:rPr lang="zh-TW" altLang="en-US" sz="2400" dirty="0">
                <a:solidFill>
                  <a:srgbClr val="FF0000"/>
                </a:solidFill>
                <a:latin typeface="標楷體" pitchFamily="65" charset="-120"/>
                <a:ea typeface="標楷體" pitchFamily="65" charset="-120"/>
              </a:rPr>
              <a:t>強制</a:t>
            </a:r>
            <a:r>
              <a:rPr lang="zh-TW" altLang="en-US" sz="2400" dirty="0">
                <a:latin typeface="標楷體" pitchFamily="65" charset="-120"/>
                <a:ea typeface="標楷體" pitchFamily="65" charset="-120"/>
              </a:rPr>
              <a:t>要求家戶及企業</a:t>
            </a:r>
            <a:r>
              <a:rPr lang="zh-TW" altLang="en-US" sz="2400" dirty="0">
                <a:solidFill>
                  <a:srgbClr val="FF0000"/>
                </a:solidFill>
                <a:latin typeface="標楷體" pitchFamily="65" charset="-120"/>
                <a:ea typeface="標楷體" pitchFamily="65" charset="-120"/>
              </a:rPr>
              <a:t>以天然氣取代燃煤</a:t>
            </a:r>
            <a:r>
              <a:rPr lang="zh-TW" altLang="en-US" sz="2400" dirty="0">
                <a:latin typeface="標楷體" pitchFamily="65" charset="-120"/>
                <a:ea typeface="標楷體" pitchFamily="65" charset="-120"/>
              </a:rPr>
              <a:t>。對照先進國家日本自</a:t>
            </a:r>
            <a:r>
              <a:rPr lang="en-US" altLang="zh-TW" sz="2400" dirty="0">
                <a:latin typeface="標楷體" pitchFamily="65" charset="-120"/>
                <a:ea typeface="標楷體" pitchFamily="65" charset="-120"/>
              </a:rPr>
              <a:t>1960 </a:t>
            </a:r>
            <a:r>
              <a:rPr lang="zh-TW" altLang="en-US" sz="2400" dirty="0">
                <a:latin typeface="標楷體" pitchFamily="65" charset="-120"/>
                <a:ea typeface="標楷體" pitchFamily="65" charset="-120"/>
              </a:rPr>
              <a:t>年代起花費數十年逐步改善空汙，中國</a:t>
            </a:r>
            <a:r>
              <a:rPr lang="zh-TW" altLang="en-US" sz="2400" dirty="0">
                <a:solidFill>
                  <a:srgbClr val="FF00FF"/>
                </a:solidFill>
                <a:latin typeface="標楷體" pitchFamily="65" charset="-120"/>
                <a:ea typeface="標楷體" pitchFamily="65" charset="-120"/>
              </a:rPr>
              <a:t>強制實施雖然快速改善空氣品質，卻也導致工廠倒閉</a:t>
            </a:r>
            <a:r>
              <a:rPr lang="zh-TW" altLang="en-US" sz="2400" dirty="0">
                <a:latin typeface="標楷體" pitchFamily="65" charset="-120"/>
                <a:ea typeface="標楷體" pitchFamily="65" charset="-120"/>
              </a:rPr>
              <a:t>、鋼價上漲、民眾無力改善取暖設施而被迫受凍等衝擊。</a:t>
            </a:r>
          </a:p>
        </p:txBody>
      </p:sp>
      <p:sp>
        <p:nvSpPr>
          <p:cNvPr id="8" name="矩形 7"/>
          <p:cNvSpPr>
            <a:spLocks noChangeArrowheads="1"/>
          </p:cNvSpPr>
          <p:nvPr/>
        </p:nvSpPr>
        <p:spPr bwMode="auto">
          <a:xfrm>
            <a:off x="840876" y="925969"/>
            <a:ext cx="1296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沙塵暴</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49</a:t>
            </a:fld>
            <a:endParaRPr lang="zh-TW" sz="1400">
              <a:solidFill>
                <a:schemeClr val="dk1"/>
              </a:solidFill>
              <a:latin typeface="Arial"/>
              <a:ea typeface="Arial"/>
              <a:cs typeface="Arial"/>
              <a:sym typeface="Arial"/>
            </a:endParaRPr>
          </a:p>
        </p:txBody>
      </p:sp>
      <p:sp>
        <p:nvSpPr>
          <p:cNvPr id="10" name="矩形 9"/>
          <p:cNvSpPr>
            <a:spLocks noChangeArrowheads="1"/>
          </p:cNvSpPr>
          <p:nvPr/>
        </p:nvSpPr>
        <p:spPr bwMode="auto">
          <a:xfrm>
            <a:off x="251520" y="-3609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p.212</a:t>
            </a:r>
            <a:endParaRPr lang="zh-TW" altLang="en-US" b="0" dirty="0"/>
          </a:p>
        </p:txBody>
      </p:sp>
      <p:pic>
        <p:nvPicPr>
          <p:cNvPr id="11" name="Picture 2">
            <a:extLst>
              <a:ext uri="{FF2B5EF4-FFF2-40B4-BE49-F238E27FC236}">
                <a16:creationId xmlns:a16="http://schemas.microsoft.com/office/drawing/2014/main" id="{28CEB8B9-F516-4C18-B6D3-F00EF07C07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643380"/>
            <a:ext cx="9144000" cy="32446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138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563888" y="2348880"/>
            <a:ext cx="5002833" cy="1362075"/>
          </a:xfrm>
        </p:spPr>
        <p:txBody>
          <a:bodyPr/>
          <a:lstStyle/>
          <a:p>
            <a:r>
              <a:rPr lang="en-US" altLang="zh-TW" dirty="0">
                <a:solidFill>
                  <a:srgbClr val="FF0000"/>
                </a:solidFill>
              </a:rPr>
              <a:t>END</a:t>
            </a:r>
            <a:br>
              <a:rPr lang="zh-TW" altLang="en-US" dirty="0"/>
            </a:br>
            <a:endParaRPr lang="zh-TW" altLang="en-US" dirty="0"/>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6019504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ectangle 8"/>
          <p:cNvSpPr>
            <a:spLocks noChangeArrowheads="1"/>
          </p:cNvSpPr>
          <p:nvPr/>
        </p:nvSpPr>
        <p:spPr bwMode="auto">
          <a:xfrm>
            <a:off x="569913" y="188640"/>
            <a:ext cx="33540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zh-TW" sz="3600" b="1" dirty="0"/>
              <a:t>學習歷程檔</a:t>
            </a:r>
            <a:r>
              <a:rPr lang="zh-TW" altLang="en-US" sz="3600" b="1" dirty="0"/>
              <a:t>案</a:t>
            </a:r>
            <a:endParaRPr lang="zh-TW" altLang="en-US" sz="3600" b="1" dirty="0">
              <a:solidFill>
                <a:srgbClr val="FF0000"/>
              </a:solidFill>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51</a:t>
            </a:fld>
            <a:endParaRPr lang="zh-TW" sz="1400">
              <a:solidFill>
                <a:schemeClr val="dk1"/>
              </a:solidFill>
              <a:latin typeface="Arial"/>
              <a:ea typeface="Arial"/>
              <a:cs typeface="Arial"/>
              <a:sym typeface="Arial"/>
            </a:endParaRPr>
          </a:p>
        </p:txBody>
      </p:sp>
      <p:sp>
        <p:nvSpPr>
          <p:cNvPr id="4" name="矩形 3"/>
          <p:cNvSpPr/>
          <p:nvPr/>
        </p:nvSpPr>
        <p:spPr>
          <a:xfrm>
            <a:off x="179512" y="1030330"/>
            <a:ext cx="8662863" cy="5632311"/>
          </a:xfrm>
          <a:prstGeom prst="rect">
            <a:avLst/>
          </a:prstGeom>
        </p:spPr>
        <p:txBody>
          <a:bodyPr wrap="square">
            <a:spAutoFit/>
          </a:bodyPr>
          <a:lstStyle/>
          <a:p>
            <a:r>
              <a:rPr lang="en-US" altLang="zh-TW" sz="1800" b="1" dirty="0">
                <a:ea typeface="Calibri" panose="020F0502020204030204" pitchFamily="34" charset="0"/>
              </a:rPr>
              <a:t>1. </a:t>
            </a:r>
            <a:r>
              <a:rPr lang="zh-CN" altLang="zh-TW" sz="1800" b="1" dirty="0">
                <a:ea typeface="Microsoft YaHei" panose="020B0503020204020204" pitchFamily="34" charset="-122"/>
              </a:rPr>
              <a:t>北迴</a:t>
            </a:r>
            <a:r>
              <a:rPr lang="zh-TW" altLang="zh-TW" sz="1800" b="1" dirty="0">
                <a:ea typeface="Microsoft JhengHei" panose="020B0604030504040204" pitchFamily="34" charset="-120"/>
              </a:rPr>
              <a:t>歸線通過台灣，</a:t>
            </a:r>
            <a:br>
              <a:rPr lang="zh-TW" altLang="zh-TW" sz="1800" b="1" dirty="0">
                <a:ea typeface="Microsoft JhengHei" panose="020B0604030504040204" pitchFamily="34" charset="-120"/>
              </a:rPr>
            </a:br>
            <a:r>
              <a:rPr lang="en-US" altLang="zh-TW" sz="1800" b="1" dirty="0">
                <a:ea typeface="Calibri" panose="020F0502020204030204" pitchFamily="34" charset="0"/>
              </a:rPr>
              <a:t>(1) </a:t>
            </a:r>
            <a:r>
              <a:rPr lang="zh-TW" altLang="zh-TW" sz="1800" b="1" dirty="0">
                <a:ea typeface="Microsoft JhengHei" panose="020B0604030504040204" pitchFamily="34" charset="-120"/>
              </a:rPr>
              <a:t>全世界在此緯度理論上大多</a:t>
            </a:r>
            <a:r>
              <a:rPr lang="zh-CN" altLang="zh-TW" sz="1800" b="1" dirty="0">
                <a:ea typeface="Microsoft YaHei" panose="020B0503020204020204" pitchFamily="34" charset="-122"/>
              </a:rPr>
              <a:t>應</a:t>
            </a:r>
            <a:r>
              <a:rPr lang="zh-TW" altLang="zh-TW" sz="1800" b="1" dirty="0">
                <a:ea typeface="Microsoft JhengHei" panose="020B0604030504040204" pitchFamily="34" charset="-120"/>
              </a:rPr>
              <a:t>為什麼氣候？</a:t>
            </a:r>
            <a:r>
              <a:rPr lang="zh-TW" altLang="zh-TW" sz="1800" b="1" dirty="0">
                <a:ea typeface="PMingLiU" panose="02020500000000000000" pitchFamily="18" charset="-120"/>
              </a:rPr>
              <a:t>為什麼？</a:t>
            </a:r>
            <a:endParaRPr lang="zh-TW" altLang="zh-TW" sz="1800" b="1" dirty="0">
              <a:ea typeface="Calibri" panose="020F0502020204030204" pitchFamily="34" charset="0"/>
            </a:endParaRPr>
          </a:p>
          <a:p>
            <a:r>
              <a:rPr lang="en-US" altLang="zh-TW" sz="1800" b="1" dirty="0">
                <a:ea typeface="Calibri" panose="020F0502020204030204" pitchFamily="34" charset="0"/>
              </a:rPr>
              <a:t>(2) </a:t>
            </a:r>
            <a:r>
              <a:rPr lang="zh-TW" altLang="zh-TW" sz="1800" b="1" dirty="0">
                <a:ea typeface="PMingLiU" panose="02020500000000000000" pitchFamily="18" charset="-120"/>
              </a:rPr>
              <a:t>台灣為何不是？</a:t>
            </a:r>
            <a:endParaRPr lang="zh-TW" altLang="zh-TW" sz="1800" b="1" dirty="0">
              <a:ea typeface="Calibri" panose="020F0502020204030204" pitchFamily="34" charset="0"/>
            </a:endParaRPr>
          </a:p>
          <a:p>
            <a:r>
              <a:rPr lang="en-US" altLang="zh-TW" sz="1800" b="1" dirty="0">
                <a:ea typeface="Calibri" panose="020F0502020204030204" pitchFamily="34" charset="0"/>
              </a:rPr>
              <a:t> </a:t>
            </a:r>
          </a:p>
          <a:p>
            <a:r>
              <a:rPr lang="en-US" altLang="zh-TW" sz="1800" b="1" dirty="0">
                <a:ea typeface="Calibri" panose="020F0502020204030204" pitchFamily="34" charset="0"/>
              </a:rPr>
              <a:t>2.</a:t>
            </a:r>
            <a:r>
              <a:rPr lang="zh-TW" altLang="zh-TW" sz="1800" b="1" dirty="0">
                <a:ea typeface="PMingLiU" panose="02020500000000000000" pitchFamily="18" charset="-120"/>
              </a:rPr>
              <a:t>請說明</a:t>
            </a:r>
            <a:r>
              <a:rPr lang="en-US" altLang="zh-TW" sz="1800" b="1" dirty="0">
                <a:ea typeface="PMingLiU" panose="02020500000000000000" pitchFamily="18" charset="-120"/>
              </a:rPr>
              <a:t> </a:t>
            </a:r>
            <a:r>
              <a:rPr lang="zh-TW" altLang="zh-TW" sz="1800" b="1" dirty="0">
                <a:ea typeface="Microsoft JhengHei" panose="020B0604030504040204" pitchFamily="34" charset="-120"/>
              </a:rPr>
              <a:t>台灣</a:t>
            </a:r>
            <a:r>
              <a:rPr lang="zh-CN" altLang="zh-TW" sz="1800" b="1" dirty="0">
                <a:ea typeface="Microsoft YaHei" panose="020B0503020204020204" pitchFamily="34" charset="-122"/>
              </a:rPr>
              <a:t>雨量之</a:t>
            </a:r>
            <a:r>
              <a:rPr lang="zh-TW" altLang="zh-TW" sz="1800" b="1" dirty="0">
                <a:ea typeface="Microsoft JhengHei" panose="020B0604030504040204" pitchFamily="34" charset="-120"/>
              </a:rPr>
              <a:t>時</a:t>
            </a:r>
            <a:r>
              <a:rPr lang="zh-CN" altLang="zh-TW" sz="1800" b="1" dirty="0">
                <a:ea typeface="Microsoft YaHei" panose="020B0503020204020204" pitchFamily="34" charset="-122"/>
              </a:rPr>
              <a:t>間分布</a:t>
            </a:r>
            <a:endParaRPr lang="zh-TW" altLang="zh-TW" sz="1800" b="1" dirty="0">
              <a:ea typeface="Calibri" panose="020F0502020204030204" pitchFamily="34" charset="0"/>
            </a:endParaRPr>
          </a:p>
          <a:p>
            <a:r>
              <a:rPr lang="en-US" altLang="zh-TW" sz="1800" b="1" dirty="0">
                <a:ea typeface="Calibri" panose="020F0502020204030204" pitchFamily="34" charset="0"/>
              </a:rPr>
              <a:t>(1) </a:t>
            </a:r>
            <a:r>
              <a:rPr lang="zh-TW" altLang="zh-TW" sz="1800" b="1" dirty="0">
                <a:ea typeface="Microsoft JhengHei" panose="020B0604030504040204" pitchFamily="34" charset="-120"/>
              </a:rPr>
              <a:t>集中於什麼季節？有哪幾種雨？</a:t>
            </a:r>
            <a:endParaRPr lang="zh-TW" altLang="zh-TW" sz="1800" b="1" dirty="0">
              <a:ea typeface="Calibri" panose="020F0502020204030204" pitchFamily="34" charset="0"/>
            </a:endParaRPr>
          </a:p>
          <a:p>
            <a:r>
              <a:rPr lang="en-US" altLang="zh-TW" sz="1800" b="1" dirty="0">
                <a:ea typeface="Calibri" panose="020F0502020204030204" pitchFamily="34" charset="0"/>
              </a:rPr>
              <a:t>(2) </a:t>
            </a:r>
            <a:r>
              <a:rPr lang="zh-TW" altLang="zh-TW" sz="1800" b="1" dirty="0">
                <a:ea typeface="PMingLiU" panose="02020500000000000000" pitchFamily="18" charset="-120"/>
              </a:rPr>
              <a:t>什麼季節早災最嚴重？為什麼？</a:t>
            </a:r>
            <a:endParaRPr lang="zh-TW" altLang="zh-TW" sz="1800" b="1" dirty="0">
              <a:ea typeface="Calibri" panose="020F0502020204030204" pitchFamily="34" charset="0"/>
            </a:endParaRPr>
          </a:p>
          <a:p>
            <a:r>
              <a:rPr lang="zh-TW" altLang="zh-TW" sz="1800" b="1" dirty="0">
                <a:ea typeface="PMingLiU" panose="02020500000000000000" pitchFamily="18" charset="-120"/>
              </a:rPr>
              <a:t> </a:t>
            </a:r>
          </a:p>
          <a:p>
            <a:r>
              <a:rPr lang="en-US" altLang="zh-TW" sz="1800" b="1" dirty="0">
                <a:ea typeface="Calibri" panose="020F0502020204030204" pitchFamily="34" charset="0"/>
              </a:rPr>
              <a:t>3.</a:t>
            </a:r>
            <a:r>
              <a:rPr lang="zh-TW" altLang="en-US" sz="1800" b="1" dirty="0">
                <a:ea typeface="PMingLiU" panose="02020500000000000000" pitchFamily="18" charset="-120"/>
              </a:rPr>
              <a:t>有關</a:t>
            </a:r>
            <a:r>
              <a:rPr lang="zh-TW" altLang="zh-TW" sz="1800" b="1" dirty="0">
                <a:ea typeface="Microsoft JhengHei" panose="020B0604030504040204" pitchFamily="34" charset="-120"/>
              </a:rPr>
              <a:t>台灣</a:t>
            </a:r>
            <a:r>
              <a:rPr lang="zh-CN" altLang="zh-TW" sz="1800" b="1" dirty="0">
                <a:ea typeface="Microsoft YaHei" panose="020B0503020204020204" pitchFamily="34" charset="-122"/>
              </a:rPr>
              <a:t>雨量之空間分布</a:t>
            </a:r>
            <a:r>
              <a:rPr lang="zh-TW" altLang="zh-TW" sz="1800" b="1" dirty="0">
                <a:ea typeface="PMingLiU" panose="02020500000000000000" pitchFamily="18" charset="-120"/>
              </a:rPr>
              <a:t>，請參考</a:t>
            </a:r>
            <a:r>
              <a:rPr lang="zh-TW" altLang="en-US" sz="1800" b="1" dirty="0">
                <a:solidFill>
                  <a:srgbClr val="FF00FF"/>
                </a:solidFill>
                <a:ea typeface="PMingLiU" panose="02020500000000000000" pitchFamily="18" charset="-120"/>
              </a:rPr>
              <a:t>手冊</a:t>
            </a:r>
            <a:r>
              <a:rPr lang="en-US" altLang="zh-TW" sz="1800" b="1" dirty="0" err="1">
                <a:solidFill>
                  <a:srgbClr val="FF00FF"/>
                </a:solidFill>
                <a:ea typeface="PMingLiU" panose="02020500000000000000" pitchFamily="18" charset="-120"/>
              </a:rPr>
              <a:t>p.164</a:t>
            </a:r>
            <a:r>
              <a:rPr lang="zh-TW" altLang="zh-TW" sz="1800" b="1" dirty="0">
                <a:solidFill>
                  <a:srgbClr val="FF00FF"/>
                </a:solidFill>
                <a:ea typeface="PMingLiU" panose="02020500000000000000" pitchFamily="18" charset="-120"/>
              </a:rPr>
              <a:t>圖</a:t>
            </a:r>
            <a:r>
              <a:rPr lang="zh-TW" altLang="en-US" sz="1800" b="1" dirty="0">
                <a:ea typeface="PMingLiU" panose="02020500000000000000" pitchFamily="18" charset="-120"/>
              </a:rPr>
              <a:t>回答</a:t>
            </a:r>
            <a:endParaRPr lang="en-US" altLang="zh-TW" sz="1800" b="1" dirty="0">
              <a:ea typeface="PMingLiU" panose="02020500000000000000" pitchFamily="18" charset="-120"/>
            </a:endParaRPr>
          </a:p>
          <a:p>
            <a:r>
              <a:rPr lang="en-US" altLang="zh-TW" sz="1800" b="1" dirty="0">
                <a:ea typeface="Calibri" panose="020F0502020204030204" pitchFamily="34" charset="0"/>
              </a:rPr>
              <a:t>(1) </a:t>
            </a:r>
            <a:r>
              <a:rPr lang="zh-TW" altLang="zh-TW" sz="1800" b="1" dirty="0">
                <a:ea typeface="Microsoft JhengHei" panose="020B0604030504040204" pitchFamily="34" charset="-120"/>
              </a:rPr>
              <a:t>台灣</a:t>
            </a:r>
            <a:r>
              <a:rPr lang="zh-CN" altLang="zh-TW" sz="1800" b="1" dirty="0">
                <a:ea typeface="Microsoft YaHei" panose="020B0503020204020204" pitchFamily="34" charset="-122"/>
              </a:rPr>
              <a:t>雨量</a:t>
            </a:r>
            <a:r>
              <a:rPr lang="en-US" altLang="zh-CN" sz="1800" b="1" dirty="0">
                <a:ea typeface="Microsoft YaHei" panose="020B0503020204020204" pitchFamily="34" charset="-122"/>
              </a:rPr>
              <a:t> </a:t>
            </a:r>
            <a:r>
              <a:rPr lang="zh-TW" altLang="zh-TW" sz="1800" b="1" dirty="0">
                <a:ea typeface="PMingLiU" panose="02020500000000000000" pitchFamily="18" charset="-120"/>
              </a:rPr>
              <a:t>最多區</a:t>
            </a:r>
            <a:r>
              <a:rPr lang="en-US" altLang="zh-TW" sz="1800" b="1" dirty="0">
                <a:ea typeface="Calibri" panose="020F0502020204030204" pitchFamily="34" charset="0"/>
              </a:rPr>
              <a:t> </a:t>
            </a:r>
            <a:r>
              <a:rPr lang="zh-TW" altLang="zh-TW" sz="1800" b="1" dirty="0">
                <a:ea typeface="PMingLiU" panose="02020500000000000000" pitchFamily="18" charset="-120"/>
              </a:rPr>
              <a:t>及</a:t>
            </a:r>
            <a:r>
              <a:rPr lang="en-US" altLang="zh-TW" sz="1800" b="1" dirty="0">
                <a:ea typeface="Calibri" panose="020F0502020204030204" pitchFamily="34" charset="0"/>
              </a:rPr>
              <a:t> </a:t>
            </a:r>
            <a:r>
              <a:rPr lang="zh-TW" altLang="zh-TW" sz="1800" b="1" dirty="0">
                <a:ea typeface="PMingLiU" panose="02020500000000000000" pitchFamily="18" charset="-120"/>
              </a:rPr>
              <a:t>最少區</a:t>
            </a:r>
            <a:r>
              <a:rPr lang="en-US" altLang="zh-TW" sz="1800" b="1" dirty="0">
                <a:ea typeface="Calibri" panose="020F0502020204030204" pitchFamily="34" charset="0"/>
              </a:rPr>
              <a:t> </a:t>
            </a:r>
            <a:r>
              <a:rPr lang="zh-TW" altLang="zh-TW" sz="1800" b="1" dirty="0">
                <a:ea typeface="PMingLiU" panose="02020500000000000000" pitchFamily="18" charset="-120"/>
              </a:rPr>
              <a:t>分別位於何處？為什麼？</a:t>
            </a:r>
            <a:endParaRPr lang="zh-TW" altLang="zh-TW" sz="1800" b="1" dirty="0">
              <a:ea typeface="Calibri" panose="020F0502020204030204" pitchFamily="34" charset="0"/>
            </a:endParaRPr>
          </a:p>
          <a:p>
            <a:r>
              <a:rPr lang="en-US" altLang="zh-TW" sz="1800" b="1" dirty="0">
                <a:ea typeface="Calibri" panose="020F0502020204030204" pitchFamily="34" charset="0"/>
              </a:rPr>
              <a:t>(2) </a:t>
            </a:r>
            <a:r>
              <a:rPr lang="zh-TW" altLang="en-US" sz="1800" b="1" dirty="0">
                <a:ea typeface="Calibri" panose="020F0502020204030204" pitchFamily="34" charset="0"/>
              </a:rPr>
              <a:t>說明</a:t>
            </a:r>
            <a:r>
              <a:rPr lang="en-US" altLang="zh-TW" sz="1800" b="1" dirty="0">
                <a:ea typeface="Calibri" panose="020F0502020204030204" pitchFamily="34" charset="0"/>
              </a:rPr>
              <a:t> </a:t>
            </a:r>
            <a:r>
              <a:rPr lang="zh-TW" altLang="zh-TW" sz="1800" b="1" dirty="0">
                <a:ea typeface="PMingLiU" panose="02020500000000000000" pitchFamily="18" charset="-120"/>
              </a:rPr>
              <a:t>東北部</a:t>
            </a:r>
            <a:r>
              <a:rPr lang="en-US" altLang="zh-TW" sz="1800" b="1" dirty="0">
                <a:ea typeface="Calibri" panose="020F0502020204030204" pitchFamily="34" charset="0"/>
              </a:rPr>
              <a:t> </a:t>
            </a:r>
            <a:r>
              <a:rPr lang="zh-TW" altLang="zh-TW" sz="1800" b="1" dirty="0">
                <a:ea typeface="PMingLiU" panose="02020500000000000000" pitchFamily="18" charset="-120"/>
              </a:rPr>
              <a:t>及</a:t>
            </a:r>
            <a:r>
              <a:rPr lang="en-US" altLang="zh-TW" sz="1800" b="1" dirty="0">
                <a:ea typeface="Calibri" panose="020F0502020204030204" pitchFamily="34" charset="0"/>
              </a:rPr>
              <a:t> </a:t>
            </a:r>
            <a:r>
              <a:rPr lang="zh-TW" altLang="zh-TW" sz="1800" b="1" dirty="0">
                <a:ea typeface="PMingLiU" panose="02020500000000000000" pitchFamily="18" charset="-120"/>
              </a:rPr>
              <a:t>中南部</a:t>
            </a:r>
            <a:r>
              <a:rPr lang="en-US" altLang="zh-TW" sz="1800" b="1" dirty="0">
                <a:ea typeface="Calibri" panose="020F0502020204030204" pitchFamily="34" charset="0"/>
              </a:rPr>
              <a:t>  </a:t>
            </a:r>
            <a:r>
              <a:rPr lang="zh-TW" altLang="zh-TW" sz="1800" b="1" dirty="0">
                <a:ea typeface="PMingLiU" panose="02020500000000000000" pitchFamily="18" charset="-120"/>
              </a:rPr>
              <a:t>雨量多寡</a:t>
            </a:r>
            <a:r>
              <a:rPr lang="en-US" altLang="zh-TW" sz="1800" b="1" dirty="0">
                <a:ea typeface="Calibri" panose="020F0502020204030204" pitchFamily="34" charset="0"/>
              </a:rPr>
              <a:t> </a:t>
            </a:r>
            <a:r>
              <a:rPr lang="zh-TW" altLang="zh-TW" sz="1800" b="1" dirty="0">
                <a:ea typeface="PMingLiU" panose="02020500000000000000" pitchFamily="18" charset="-120"/>
              </a:rPr>
              <a:t>及其</a:t>
            </a:r>
            <a:r>
              <a:rPr lang="en-US" altLang="zh-TW" sz="1800" b="1" dirty="0">
                <a:ea typeface="Calibri" panose="020F0502020204030204" pitchFamily="34" charset="0"/>
              </a:rPr>
              <a:t> </a:t>
            </a:r>
            <a:r>
              <a:rPr lang="zh-TW" altLang="zh-TW" sz="1800" b="1" dirty="0">
                <a:ea typeface="PMingLiU" panose="02020500000000000000" pitchFamily="18" charset="-120"/>
              </a:rPr>
              <a:t>冬夏半年分布狀況</a:t>
            </a:r>
            <a:r>
              <a:rPr lang="en-US" altLang="zh-TW" sz="1800" b="1" dirty="0">
                <a:ea typeface="PMingLiU" panose="02020500000000000000" pitchFamily="18" charset="-120"/>
              </a:rPr>
              <a:t> </a:t>
            </a:r>
            <a:r>
              <a:rPr lang="zh-TW" altLang="en-US" sz="1800" b="1" dirty="0">
                <a:ea typeface="PMingLiU" panose="02020500000000000000" pitchFamily="18" charset="-120"/>
              </a:rPr>
              <a:t>並</a:t>
            </a:r>
            <a:r>
              <a:rPr lang="zh-TW" altLang="zh-TW" sz="1800" b="1" dirty="0">
                <a:ea typeface="PMingLiU" panose="02020500000000000000" pitchFamily="18" charset="-120"/>
              </a:rPr>
              <a:t>解釋</a:t>
            </a:r>
            <a:r>
              <a:rPr lang="zh-TW" altLang="en-US" sz="1800" b="1" dirty="0">
                <a:ea typeface="PMingLiU" panose="02020500000000000000" pitchFamily="18" charset="-120"/>
              </a:rPr>
              <a:t>其原因</a:t>
            </a:r>
            <a:endParaRPr lang="zh-TW" altLang="zh-TW" sz="1800" b="1" dirty="0">
              <a:ea typeface="Calibri" panose="020F0502020204030204" pitchFamily="34" charset="0"/>
            </a:endParaRPr>
          </a:p>
          <a:p>
            <a:r>
              <a:rPr lang="en-US" altLang="zh-TW" sz="1800" b="1" dirty="0">
                <a:ea typeface="Calibri" panose="020F0502020204030204" pitchFamily="34" charset="0"/>
              </a:rPr>
              <a:t>(3) </a:t>
            </a:r>
            <a:r>
              <a:rPr lang="zh-TW" altLang="zh-TW" sz="1800" b="1" dirty="0">
                <a:ea typeface="Microsoft JhengHei" panose="020B0604030504040204" pitchFamily="34" charset="-120"/>
              </a:rPr>
              <a:t>台灣水庫最多的地區在哪裡？為什麼？</a:t>
            </a:r>
            <a:endParaRPr lang="zh-TW" altLang="zh-TW" sz="1800" b="1" dirty="0">
              <a:ea typeface="Calibri" panose="020F0502020204030204" pitchFamily="34" charset="0"/>
            </a:endParaRPr>
          </a:p>
          <a:p>
            <a:r>
              <a:rPr lang="en-US" altLang="zh-TW" sz="1800" b="1" dirty="0">
                <a:ea typeface="Calibri" panose="020F0502020204030204" pitchFamily="34" charset="0"/>
              </a:rPr>
              <a:t>(4) </a:t>
            </a:r>
            <a:r>
              <a:rPr lang="zh-TW" altLang="zh-TW" sz="1800" b="1" dirty="0">
                <a:ea typeface="Microsoft JhengHei" panose="020B0604030504040204" pitchFamily="34" charset="-120"/>
              </a:rPr>
              <a:t>北部的淡水河其實小於中部的濁水溪，但為何前者被命名為河而後者為溪？</a:t>
            </a:r>
            <a:endParaRPr lang="zh-TW" altLang="zh-TW" sz="1800" b="1" dirty="0">
              <a:ea typeface="Calibri" panose="020F0502020204030204" pitchFamily="34" charset="0"/>
            </a:endParaRPr>
          </a:p>
          <a:p>
            <a:r>
              <a:rPr lang="zh-TW" altLang="zh-TW" sz="1800" b="1" dirty="0">
                <a:ea typeface="PMingLiU" panose="02020500000000000000" pitchFamily="18" charset="-120"/>
              </a:rPr>
              <a:t> </a:t>
            </a:r>
          </a:p>
          <a:p>
            <a:r>
              <a:rPr lang="en-US" altLang="zh-TW" sz="1800" b="1" dirty="0">
                <a:ea typeface="Calibri" panose="020F0502020204030204" pitchFamily="34" charset="0"/>
              </a:rPr>
              <a:t>4.</a:t>
            </a:r>
            <a:r>
              <a:rPr lang="zh-TW" altLang="zh-TW" sz="1800" b="1" dirty="0">
                <a:ea typeface="PMingLiU" panose="02020500000000000000" pitchFamily="18" charset="-120"/>
              </a:rPr>
              <a:t> 台灣今年面臨半世紀以來最嚴重的旱災</a:t>
            </a:r>
            <a:endParaRPr lang="zh-TW" altLang="zh-TW" sz="1800" b="1" dirty="0">
              <a:ea typeface="Calibri" panose="020F0502020204030204" pitchFamily="34" charset="0"/>
            </a:endParaRPr>
          </a:p>
          <a:p>
            <a:r>
              <a:rPr lang="en-US" altLang="zh-TW" sz="1800" b="1" dirty="0">
                <a:ea typeface="PMingLiU" panose="02020500000000000000" pitchFamily="18" charset="-120"/>
              </a:rPr>
              <a:t>(1) </a:t>
            </a:r>
            <a:r>
              <a:rPr lang="zh-TW" altLang="zh-TW" sz="1800" b="1" dirty="0">
                <a:ea typeface="PMingLiU" panose="02020500000000000000" pitchFamily="18" charset="-120"/>
              </a:rPr>
              <a:t>為什麼今年旱災如此嚴重？</a:t>
            </a:r>
          </a:p>
          <a:p>
            <a:r>
              <a:rPr lang="en-US" altLang="zh-TW" sz="1800" b="1" dirty="0">
                <a:ea typeface="Calibri" panose="020F0502020204030204" pitchFamily="34" charset="0"/>
              </a:rPr>
              <a:t>(2) </a:t>
            </a:r>
            <a:r>
              <a:rPr lang="zh-TW" altLang="zh-TW" sz="1800" b="1" dirty="0">
                <a:ea typeface="PMingLiU" panose="02020500000000000000" pitchFamily="18" charset="-120"/>
              </a:rPr>
              <a:t>為什麼西部各縣市中，</a:t>
            </a:r>
            <a:r>
              <a:rPr lang="zh-CN" altLang="zh-TW" sz="1800" b="1" dirty="0">
                <a:ea typeface="PMingLiU" panose="02020500000000000000" pitchFamily="18" charset="-120"/>
              </a:rPr>
              <a:t>屏東</a:t>
            </a:r>
            <a:r>
              <a:rPr lang="zh-TW" altLang="zh-TW" sz="1800" b="1" dirty="0">
                <a:ea typeface="PMingLiU" panose="02020500000000000000" pitchFamily="18" charset="-120"/>
              </a:rPr>
              <a:t>縣最</a:t>
            </a:r>
            <a:r>
              <a:rPr lang="zh-CN" altLang="zh-TW" sz="1800" b="1" dirty="0">
                <a:ea typeface="PMingLiU" panose="02020500000000000000" pitchFamily="18" charset="-120"/>
              </a:rPr>
              <a:t>不缺水</a:t>
            </a:r>
            <a:r>
              <a:rPr lang="zh-TW" altLang="zh-TW" sz="1800" b="1" dirty="0">
                <a:ea typeface="PMingLiU" panose="02020500000000000000" pitchFamily="18" charset="-120"/>
              </a:rPr>
              <a:t>？</a:t>
            </a:r>
            <a:endParaRPr lang="zh-TW" altLang="zh-TW" sz="1800" b="1" dirty="0">
              <a:ea typeface="Calibri" panose="020F0502020204030204" pitchFamily="34" charset="0"/>
            </a:endParaRPr>
          </a:p>
          <a:p>
            <a:r>
              <a:rPr lang="zh-TW" altLang="zh-TW" sz="1800" b="1" dirty="0">
                <a:ea typeface="PMingLiU" panose="02020500000000000000" pitchFamily="18" charset="-120"/>
              </a:rPr>
              <a:t> </a:t>
            </a:r>
          </a:p>
          <a:p>
            <a:r>
              <a:rPr lang="en-US" altLang="zh-TW" sz="1800" b="1" dirty="0">
                <a:ea typeface="Calibri" panose="020F0502020204030204" pitchFamily="34" charset="0"/>
              </a:rPr>
              <a:t>5.</a:t>
            </a:r>
            <a:r>
              <a:rPr lang="zh-TW" altLang="zh-TW" sz="1800" b="1" dirty="0">
                <a:ea typeface="新細明體" panose="02020500000000000000" pitchFamily="18" charset="-120"/>
              </a:rPr>
              <a:t>臺灣年降水量是世界平均值的</a:t>
            </a:r>
            <a:r>
              <a:rPr lang="zh-TW" altLang="zh-TW" sz="1800" b="1" dirty="0">
                <a:ea typeface="Calibri" panose="020F0502020204030204" pitchFamily="34" charset="0"/>
              </a:rPr>
              <a:t> </a:t>
            </a:r>
            <a:r>
              <a:rPr lang="en-US" altLang="zh-TW" sz="1800" b="1" dirty="0">
                <a:ea typeface="Calibri" panose="020F0502020204030204" pitchFamily="34" charset="0"/>
              </a:rPr>
              <a:t>2.6 </a:t>
            </a:r>
            <a:r>
              <a:rPr lang="zh-TW" altLang="zh-TW" sz="1800" b="1" dirty="0">
                <a:ea typeface="新細明體" panose="02020500000000000000" pitchFamily="18" charset="-120"/>
              </a:rPr>
              <a:t>倍，但人均可利用水量卻只有世界平均值的</a:t>
            </a:r>
            <a:r>
              <a:rPr lang="zh-TW" altLang="zh-TW" sz="1800" b="1" dirty="0">
                <a:ea typeface="Calibri" panose="020F0502020204030204" pitchFamily="34" charset="0"/>
              </a:rPr>
              <a:t> </a:t>
            </a:r>
            <a:r>
              <a:rPr lang="en-US" altLang="zh-TW" sz="1800" b="1" dirty="0">
                <a:ea typeface="Calibri" panose="020F0502020204030204" pitchFamily="34" charset="0"/>
              </a:rPr>
              <a:t>1/7</a:t>
            </a:r>
            <a:r>
              <a:rPr lang="zh-TW" altLang="zh-TW" sz="1800" b="1" dirty="0">
                <a:ea typeface="新細明體" panose="02020500000000000000" pitchFamily="18" charset="-120"/>
              </a:rPr>
              <a:t>，</a:t>
            </a:r>
            <a:r>
              <a:rPr lang="zh-TW" altLang="zh-TW" sz="1800" b="1" dirty="0">
                <a:ea typeface="PMingLiU" panose="02020500000000000000" pitchFamily="18" charset="-120"/>
              </a:rPr>
              <a:t>為什麼？</a:t>
            </a:r>
            <a:endParaRPr lang="zh-TW" altLang="zh-TW" sz="1800" b="1" dirty="0">
              <a:ea typeface="Calibri" panose="020F0502020204030204" pitchFamily="34" charset="0"/>
            </a:endParaRPr>
          </a:p>
        </p:txBody>
      </p:sp>
      <p:sp>
        <p:nvSpPr>
          <p:cNvPr id="5" name="矩形 4"/>
          <p:cNvSpPr/>
          <p:nvPr/>
        </p:nvSpPr>
        <p:spPr>
          <a:xfrm>
            <a:off x="3419872" y="650281"/>
            <a:ext cx="2018501" cy="307777"/>
          </a:xfrm>
          <a:prstGeom prst="rect">
            <a:avLst/>
          </a:prstGeom>
        </p:spPr>
        <p:txBody>
          <a:bodyPr wrap="none">
            <a:spAutoFit/>
          </a:bodyPr>
          <a:lstStyle/>
          <a:p>
            <a:r>
              <a:rPr lang="zh-TW" altLang="zh-TW" b="1" dirty="0">
                <a:solidFill>
                  <a:srgbClr val="FF0000"/>
                </a:solidFill>
                <a:ea typeface="PMingLiU" panose="02020500000000000000" pitchFamily="18" charset="-120"/>
              </a:rPr>
              <a:t>上傳截止日期</a:t>
            </a:r>
            <a:r>
              <a:rPr lang="en-US" altLang="zh-TW" b="1" dirty="0">
                <a:ea typeface="Calibri" panose="020F0502020204030204" pitchFamily="34" charset="0"/>
              </a:rPr>
              <a:t>  </a:t>
            </a:r>
            <a:r>
              <a:rPr lang="en-US" altLang="zh-TW" b="1" dirty="0" err="1">
                <a:solidFill>
                  <a:srgbClr val="FF0000"/>
                </a:solidFill>
                <a:ea typeface="Calibri" panose="020F0502020204030204" pitchFamily="34" charset="0"/>
              </a:rPr>
              <a:t>7</a:t>
            </a:r>
            <a:r>
              <a:rPr lang="en-US" altLang="zh-TW" b="1" dirty="0" err="1">
                <a:solidFill>
                  <a:srgbClr val="FF0000"/>
                </a:solidFill>
                <a:ea typeface="PMingLiU" panose="02020500000000000000" pitchFamily="18" charset="-120"/>
              </a:rPr>
              <a:t>月</a:t>
            </a:r>
            <a:r>
              <a:rPr lang="en-US" altLang="zh-TW" b="1" dirty="0" err="1">
                <a:solidFill>
                  <a:srgbClr val="FF0000"/>
                </a:solidFill>
                <a:ea typeface="Calibri" panose="020F0502020204030204" pitchFamily="34" charset="0"/>
              </a:rPr>
              <a:t>20</a:t>
            </a:r>
            <a:r>
              <a:rPr lang="en-US" altLang="zh-TW" b="1" dirty="0" err="1">
                <a:solidFill>
                  <a:srgbClr val="FF0000"/>
                </a:solidFill>
                <a:ea typeface="PMingLiU" panose="02020500000000000000" pitchFamily="18" charset="-120"/>
              </a:rPr>
              <a:t>日</a:t>
            </a:r>
            <a:endParaRPr lang="zh-TW" altLang="en-US" b="1"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151" y="958058"/>
            <a:ext cx="3180293" cy="2830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34866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ectangle 8"/>
          <p:cNvSpPr>
            <a:spLocks noChangeArrowheads="1"/>
          </p:cNvSpPr>
          <p:nvPr/>
        </p:nvSpPr>
        <p:spPr bwMode="auto">
          <a:xfrm>
            <a:off x="1258888" y="2420938"/>
            <a:ext cx="71278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TW" altLang="en-US" sz="3600" dirty="0">
                <a:solidFill>
                  <a:srgbClr val="FF0000"/>
                </a:solidFill>
              </a:rPr>
              <a:t>以下</a:t>
            </a:r>
            <a:r>
              <a:rPr lang="zh-TW" altLang="en-US" sz="3600" dirty="0">
                <a:solidFill>
                  <a:srgbClr val="339933"/>
                </a:solidFill>
              </a:rPr>
              <a:t>試題演練</a:t>
            </a:r>
            <a:r>
              <a:rPr lang="zh-TW" altLang="en-US" sz="3600" dirty="0">
                <a:solidFill>
                  <a:srgbClr val="FF0000"/>
                </a:solidFill>
              </a:rPr>
              <a:t>僅提供部分試題，</a:t>
            </a:r>
          </a:p>
          <a:p>
            <a:pPr algn="just"/>
            <a:r>
              <a:rPr lang="zh-TW" altLang="en-US" sz="3600" dirty="0">
                <a:solidFill>
                  <a:srgbClr val="FF0000"/>
                </a:solidFill>
              </a:rPr>
              <a:t>詳細檔案請見教學資源</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14161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a:ln>
            <a:solidFill>
              <a:srgbClr val="FF0000"/>
            </a:solidFill>
          </a:ln>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268413"/>
            <a:ext cx="795776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dirty="0">
                <a:solidFill>
                  <a:schemeClr val="tx1"/>
                </a:solidFill>
                <a:latin typeface="Arial" charset="0"/>
                <a:ea typeface="標楷體" pitchFamily="65" charset="-120"/>
              </a:rPr>
              <a:t>某一朝代，因強敵入侵，皇帝從寧波乘船出逃，船隻在江南沿海躲藏以避追擊。四十天後敵軍撤退，皇帝才返回陸地。為了安全考量，皇帝決定在富庶的江南臨海地區建都，萬一強敵再侵時，才方便出海避難。請問上文所講「船隻在江南沿海方便躲藏，可逃避敵軍追擊。」和該海域哪一特性關係最密切？                                   </a:t>
            </a:r>
            <a:r>
              <a:rPr kumimoji="1" lang="en-US" altLang="zh-TW" sz="2400" kern="1200" dirty="0">
                <a:solidFill>
                  <a:schemeClr val="tx1"/>
                </a:solidFill>
                <a:latin typeface="標楷體" pitchFamily="65" charset="-120"/>
                <a:ea typeface="標楷體" pitchFamily="65" charset="-120"/>
                <a:cs typeface="+mn-cs"/>
              </a:rPr>
              <a:t>〔</a:t>
            </a:r>
            <a:r>
              <a:rPr kumimoji="1" lang="zh-TW" altLang="en-US" sz="2400" kern="1200" dirty="0">
                <a:solidFill>
                  <a:schemeClr val="tx1"/>
                </a:solidFill>
                <a:latin typeface="標楷體" pitchFamily="65" charset="-120"/>
                <a:ea typeface="標楷體" pitchFamily="65" charset="-120"/>
                <a:cs typeface="+mn-cs"/>
              </a:rPr>
              <a:t>摘自</a:t>
            </a:r>
            <a:r>
              <a:rPr kumimoji="1" lang="en-US" altLang="zh-TW" sz="2400" kern="1200" dirty="0">
                <a:solidFill>
                  <a:schemeClr val="tx1"/>
                </a:solidFill>
                <a:latin typeface="標楷體" pitchFamily="65" charset="-120"/>
                <a:ea typeface="標楷體" pitchFamily="65" charset="-120"/>
                <a:cs typeface="+mn-cs"/>
              </a:rPr>
              <a:t>107.</a:t>
            </a:r>
            <a:r>
              <a:rPr kumimoji="1" lang="zh-TW" altLang="en-US" sz="2400" kern="1200" dirty="0">
                <a:solidFill>
                  <a:schemeClr val="tx1"/>
                </a:solidFill>
                <a:latin typeface="標楷體" pitchFamily="65" charset="-120"/>
                <a:ea typeface="標楷體" pitchFamily="65" charset="-120"/>
                <a:cs typeface="+mn-cs"/>
              </a:rPr>
              <a:t>學測</a:t>
            </a:r>
            <a:r>
              <a:rPr kumimoji="1" lang="en-US" altLang="zh-TW" sz="2400" kern="1200" dirty="0">
                <a:solidFill>
                  <a:schemeClr val="tx1"/>
                </a:solidFill>
                <a:latin typeface="標楷體" pitchFamily="65" charset="-120"/>
                <a:ea typeface="標楷體" pitchFamily="65" charset="-120"/>
                <a:cs typeface="+mn-cs"/>
              </a:rPr>
              <a:t>〕</a:t>
            </a:r>
            <a:r>
              <a:rPr kumimoji="1" lang="zh-TW" altLang="en-US" sz="2400" kern="1200" dirty="0">
                <a:solidFill>
                  <a:schemeClr val="tx1"/>
                </a:solidFill>
                <a:latin typeface="標楷體" pitchFamily="65" charset="-120"/>
                <a:ea typeface="標楷體" pitchFamily="65" charset="-120"/>
                <a:cs typeface="+mn-cs"/>
              </a:rPr>
              <a:t> </a:t>
            </a:r>
            <a:endParaRPr kumimoji="1" lang="en-US" altLang="zh-TW" sz="2400" dirty="0">
              <a:solidFill>
                <a:schemeClr val="tx1"/>
              </a:solidFill>
              <a:latin typeface="Arial" charset="0"/>
              <a:ea typeface="標楷體" pitchFamily="65" charset="-120"/>
            </a:endParaRPr>
          </a:p>
          <a:p>
            <a:r>
              <a:rPr kumimoji="1" lang="en-US" altLang="zh-TW" sz="2400" kern="1200" dirty="0">
                <a:solidFill>
                  <a:schemeClr val="tx1"/>
                </a:solidFill>
                <a:latin typeface="標楷體" pitchFamily="65" charset="-120"/>
                <a:ea typeface="標楷體" pitchFamily="65" charset="-120"/>
                <a:cs typeface="+mn-cs"/>
              </a:rPr>
              <a:t>(A)</a:t>
            </a:r>
            <a:r>
              <a:rPr kumimoji="1" lang="zh-TW" altLang="en-US" sz="2400" kern="1200" dirty="0">
                <a:solidFill>
                  <a:schemeClr val="tx1"/>
                </a:solidFill>
                <a:latin typeface="標楷體" pitchFamily="65" charset="-120"/>
                <a:ea typeface="標楷體" pitchFamily="65" charset="-120"/>
                <a:cs typeface="+mn-cs"/>
              </a:rPr>
              <a:t>季風交替波高浪大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(B)</a:t>
            </a:r>
            <a:r>
              <a:rPr kumimoji="1" lang="zh-TW" altLang="en-US" sz="2400" kern="1200" dirty="0">
                <a:solidFill>
                  <a:schemeClr val="tx1"/>
                </a:solidFill>
                <a:latin typeface="標楷體" pitchFamily="65" charset="-120"/>
                <a:ea typeface="標楷體" pitchFamily="65" charset="-120"/>
                <a:cs typeface="+mn-cs"/>
              </a:rPr>
              <a:t>潮差顯著海相多變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(C)</a:t>
            </a:r>
            <a:r>
              <a:rPr kumimoji="1" lang="zh-TW" altLang="en-US" sz="2400" kern="1200" dirty="0">
                <a:solidFill>
                  <a:schemeClr val="tx1"/>
                </a:solidFill>
                <a:latin typeface="標楷體" pitchFamily="65" charset="-120"/>
                <a:ea typeface="標楷體" pitchFamily="65" charset="-120"/>
                <a:cs typeface="+mn-cs"/>
              </a:rPr>
              <a:t>沿岸海流方向不定　</a:t>
            </a:r>
          </a:p>
        </p:txBody>
      </p:sp>
      <p:sp>
        <p:nvSpPr>
          <p:cNvPr id="7" name="Text Box 4"/>
          <p:cNvSpPr txBox="1">
            <a:spLocks noChangeArrowheads="1"/>
          </p:cNvSpPr>
          <p:nvPr/>
        </p:nvSpPr>
        <p:spPr bwMode="auto">
          <a:xfrm>
            <a:off x="579801" y="4560220"/>
            <a:ext cx="3240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(D)</a:t>
            </a:r>
            <a:r>
              <a:rPr lang="zh-TW" altLang="en-US" sz="2400" dirty="0">
                <a:latin typeface="標楷體" pitchFamily="65" charset="-120"/>
              </a:rPr>
              <a:t>海岸曲折島嶼眾多</a:t>
            </a:r>
          </a:p>
        </p:txBody>
      </p:sp>
      <p:sp>
        <p:nvSpPr>
          <p:cNvPr id="8" name="Rectangle 8"/>
          <p:cNvSpPr>
            <a:spLocks noChangeArrowheads="1"/>
          </p:cNvSpPr>
          <p:nvPr/>
        </p:nvSpPr>
        <p:spPr bwMode="auto">
          <a:xfrm>
            <a:off x="755576" y="5299521"/>
            <a:ext cx="611981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由「船隻在江南沿海方便躲藏」，可判斷主要為「地形」上有避敵、易躲之優勢；而江南地區沿海以谷灣式海岸為主，故與該海域</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(D)</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海岸曲折島嶼眾多的特性關係最密切。</a:t>
            </a: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190702" y="5453505"/>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P.204</a:t>
            </a:r>
            <a:r>
              <a:rPr lang="zh-TW" altLang="en-US" sz="2000" dirty="0">
                <a:solidFill>
                  <a:schemeClr val="bg1"/>
                </a:solidFill>
                <a:latin typeface="Times New Roman" pitchFamily="18" charset="0"/>
              </a:rPr>
              <a:t>基礎題第 </a:t>
            </a:r>
            <a:r>
              <a:rPr lang="en-US" altLang="zh-TW" sz="2000" dirty="0">
                <a:solidFill>
                  <a:schemeClr val="bg1"/>
                </a:solidFill>
                <a:latin typeface="Times New Roman" pitchFamily="18" charset="0"/>
              </a:rPr>
              <a:t>2. </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8344" y="333797"/>
            <a:ext cx="1133475"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五角星形 3"/>
          <p:cNvSpPr/>
          <p:nvPr/>
        </p:nvSpPr>
        <p:spPr>
          <a:xfrm>
            <a:off x="323527" y="1371464"/>
            <a:ext cx="251147" cy="216024"/>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40494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7">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7">
                                            <p:txEl>
                                              <p:pRg st="0" end="0"/>
                                            </p:txEl>
                                          </p:spTgt>
                                        </p:tgtEl>
                                        <p:attrNameLst>
                                          <p:attrName>style.fontStyle</p:attrName>
                                        </p:attrNameLst>
                                      </p:cBhvr>
                                      <p:to>
                                        <p:strVal val="normal"/>
                                      </p:to>
                                    </p:set>
                                    <p:set>
                                      <p:cBhvr override="childStyle">
                                        <p:cTn id="9" dur="indefinite"/>
                                        <p:tgtEl>
                                          <p:spTgt spid="7">
                                            <p:txEl>
                                              <p:pRg st="0" end="0"/>
                                            </p:txEl>
                                          </p:spTgt>
                                        </p:tgtEl>
                                        <p:attrNameLst>
                                          <p:attrName>style.fontWeight</p:attrName>
                                        </p:attrNameLst>
                                      </p:cBhvr>
                                      <p:to>
                                        <p:strVal val="bold"/>
                                      </p:to>
                                    </p:set>
                                    <p:set>
                                      <p:cBhvr override="childStyle">
                                        <p:cTn id="10" dur="indefinite"/>
                                        <p:tgtEl>
                                          <p:spTgt spid="7">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cs typeface="+mn-cs"/>
              </a:rPr>
              <a:t>下圖為日本 </a:t>
            </a:r>
            <a:r>
              <a:rPr kumimoji="1" lang="en-US" altLang="zh-TW" sz="2400" kern="1200" dirty="0">
                <a:solidFill>
                  <a:schemeClr val="tx1"/>
                </a:solidFill>
                <a:latin typeface="標楷體" pitchFamily="65" charset="-120"/>
                <a:ea typeface="標楷體" pitchFamily="65" charset="-120"/>
                <a:cs typeface="+mn-cs"/>
              </a:rPr>
              <a:t>1 </a:t>
            </a:r>
            <a:r>
              <a:rPr kumimoji="1" lang="zh-TW" altLang="en-US" sz="2400" kern="1200" dirty="0">
                <a:solidFill>
                  <a:schemeClr val="tx1"/>
                </a:solidFill>
                <a:latin typeface="標楷體" pitchFamily="65" charset="-120"/>
                <a:ea typeface="標楷體" pitchFamily="65" charset="-120"/>
                <a:cs typeface="+mn-cs"/>
              </a:rPr>
              <a:t>月的等溫線分布圖，圖中東岸和西岸沿海的等溫線有向上彎曲的現象，主要影響因素為何？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        </a:t>
            </a:r>
            <a:r>
              <a:rPr kumimoji="1" lang="zh-TW" altLang="en-US" sz="2400" kern="1200" dirty="0">
                <a:solidFill>
                  <a:schemeClr val="tx1"/>
                </a:solidFill>
                <a:latin typeface="標楷體" pitchFamily="65" charset="-120"/>
                <a:ea typeface="標楷體" pitchFamily="65" charset="-120"/>
                <a:cs typeface="+mn-cs"/>
              </a:rPr>
              <a:t>　  </a:t>
            </a:r>
            <a:r>
              <a:rPr kumimoji="1" lang="en-US" altLang="zh-TW" sz="2400" kern="1200" dirty="0">
                <a:solidFill>
                  <a:schemeClr val="tx1"/>
                </a:solidFill>
                <a:latin typeface="標楷體" pitchFamily="65" charset="-120"/>
                <a:ea typeface="標楷體" pitchFamily="65" charset="-120"/>
                <a:cs typeface="+mn-cs"/>
              </a:rPr>
              <a:t>(B)</a:t>
            </a:r>
            <a:r>
              <a:rPr kumimoji="1" lang="zh-TW" altLang="en-US" sz="2400" kern="1200" dirty="0">
                <a:solidFill>
                  <a:schemeClr val="tx1"/>
                </a:solidFill>
                <a:latin typeface="標楷體" pitchFamily="65" charset="-120"/>
                <a:ea typeface="標楷體" pitchFamily="65" charset="-120"/>
                <a:cs typeface="+mn-cs"/>
              </a:rPr>
              <a:t>寒流　   </a:t>
            </a:r>
            <a:r>
              <a:rPr kumimoji="1" lang="en-US" altLang="zh-TW" sz="2400" kern="1200" dirty="0">
                <a:solidFill>
                  <a:schemeClr val="tx1"/>
                </a:solidFill>
                <a:latin typeface="標楷體" pitchFamily="65" charset="-120"/>
                <a:ea typeface="標楷體" pitchFamily="65" charset="-120"/>
                <a:cs typeface="+mn-cs"/>
              </a:rPr>
              <a:t>(C)</a:t>
            </a:r>
            <a:r>
              <a:rPr kumimoji="1" lang="zh-TW" altLang="en-US" sz="2400" kern="1200" dirty="0">
                <a:solidFill>
                  <a:schemeClr val="tx1"/>
                </a:solidFill>
                <a:latin typeface="標楷體" pitchFamily="65" charset="-120"/>
                <a:ea typeface="標楷體" pitchFamily="65" charset="-120"/>
                <a:cs typeface="+mn-cs"/>
              </a:rPr>
              <a:t>緯度　   </a:t>
            </a:r>
            <a:r>
              <a:rPr kumimoji="1" lang="en-US" altLang="zh-TW" sz="2400" kern="1200" dirty="0">
                <a:solidFill>
                  <a:schemeClr val="tx1"/>
                </a:solidFill>
                <a:latin typeface="標楷體" pitchFamily="65" charset="-120"/>
                <a:ea typeface="標楷體" pitchFamily="65" charset="-120"/>
                <a:cs typeface="+mn-cs"/>
              </a:rPr>
              <a:t>(D)</a:t>
            </a:r>
            <a:r>
              <a:rPr kumimoji="1" lang="zh-TW" altLang="en-US" sz="2400" kern="1200" dirty="0">
                <a:solidFill>
                  <a:schemeClr val="tx1"/>
                </a:solidFill>
                <a:latin typeface="標楷體" pitchFamily="65" charset="-120"/>
                <a:ea typeface="標楷體" pitchFamily="65" charset="-120"/>
                <a:cs typeface="+mn-cs"/>
              </a:rPr>
              <a:t>季風風向</a:t>
            </a:r>
            <a:endParaRPr kumimoji="1" lang="en-US" altLang="zh-TW" sz="2400" kern="1200" dirty="0">
              <a:solidFill>
                <a:schemeClr val="tx1"/>
              </a:solidFill>
              <a:latin typeface="標楷體" pitchFamily="65" charset="-120"/>
              <a:ea typeface="標楷體" pitchFamily="65" charset="-120"/>
              <a:cs typeface="+mn-cs"/>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8414837" y="5619139"/>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P.204</a:t>
            </a:r>
            <a:r>
              <a:rPr lang="zh-TW" altLang="en-US" sz="2000" dirty="0">
                <a:solidFill>
                  <a:schemeClr val="bg1"/>
                </a:solidFill>
                <a:latin typeface="Times New Roman" pitchFamily="18" charset="0"/>
              </a:rPr>
              <a:t>基礎題第</a:t>
            </a:r>
            <a:r>
              <a:rPr lang="en-US" altLang="zh-TW" sz="2000" dirty="0">
                <a:solidFill>
                  <a:schemeClr val="bg1"/>
                </a:solidFill>
                <a:latin typeface="Times New Roman" pitchFamily="18" charset="0"/>
              </a:rPr>
              <a:t>5.</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Text Box 4"/>
          <p:cNvSpPr txBox="1">
            <a:spLocks noChangeArrowheads="1"/>
          </p:cNvSpPr>
          <p:nvPr/>
        </p:nvSpPr>
        <p:spPr bwMode="auto">
          <a:xfrm>
            <a:off x="603844" y="1861088"/>
            <a:ext cx="1447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kern="1200" dirty="0">
                <a:latin typeface="標楷體" pitchFamily="65" charset="-120"/>
              </a:rPr>
              <a:t>暖流</a:t>
            </a:r>
            <a:endParaRPr lang="zh-TW" altLang="en-US" sz="2400" dirty="0">
              <a:latin typeface="標楷體" pitchFamily="65" charset="-120"/>
            </a:endParaRPr>
          </a:p>
        </p:txBody>
      </p:sp>
      <p:sp>
        <p:nvSpPr>
          <p:cNvPr id="12" name="Rectangle 8"/>
          <p:cNvSpPr>
            <a:spLocks noChangeArrowheads="1"/>
          </p:cNvSpPr>
          <p:nvPr/>
        </p:nvSpPr>
        <p:spPr bwMode="auto">
          <a:xfrm>
            <a:off x="1259632" y="5085184"/>
            <a:ext cx="59428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dirty="0">
                <a:solidFill>
                  <a:srgbClr val="FF0000"/>
                </a:solidFill>
                <a:latin typeface="標楷體" pitchFamily="65" charset="-120"/>
                <a:ea typeface="標楷體" pitchFamily="65" charset="-120"/>
              </a:rPr>
              <a:t>(A)</a:t>
            </a:r>
            <a:r>
              <a:rPr kumimoji="1" lang="zh-TW" altLang="en-US" sz="2000" dirty="0">
                <a:solidFill>
                  <a:srgbClr val="FF0000"/>
                </a:solidFill>
                <a:latin typeface="標楷體" pitchFamily="65" charset="-120"/>
                <a:ea typeface="標楷體" pitchFamily="65" charset="-120"/>
              </a:rPr>
              <a:t>東西兩側為暖流流經的水面，溫度較附近海面為高，故等溫線向北彎。</a:t>
            </a:r>
            <a:endParaRPr kumimoji="1" lang="zh-TW" altLang="en-US" sz="2000" kern="1200" dirty="0">
              <a:solidFill>
                <a:srgbClr val="FF0000"/>
              </a:solidFill>
              <a:latin typeface="Arial" charset="0"/>
              <a:ea typeface="標楷體" pitchFamily="65" charset="-120"/>
              <a:cs typeface="+mn-cs"/>
            </a:endParaRPr>
          </a:p>
        </p:txBody>
      </p:sp>
      <p:pic>
        <p:nvPicPr>
          <p:cNvPr id="2969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61326" b="11967"/>
          <a:stretch/>
        </p:blipFill>
        <p:spPr bwMode="auto">
          <a:xfrm>
            <a:off x="3347864" y="2420888"/>
            <a:ext cx="2376264" cy="2612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78514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kern="1200" dirty="0">
                <a:solidFill>
                  <a:schemeClr val="tx1"/>
                </a:solidFill>
                <a:latin typeface="標楷體" pitchFamily="65" charset="-120"/>
                <a:ea typeface="標楷體" pitchFamily="65" charset="-120"/>
              </a:rPr>
              <a:t>2016 </a:t>
            </a:r>
            <a:r>
              <a:rPr kumimoji="1" lang="zh-TW" altLang="en-US" sz="2400" kern="1200" dirty="0">
                <a:solidFill>
                  <a:schemeClr val="tx1"/>
                </a:solidFill>
                <a:latin typeface="標楷體" pitchFamily="65" charset="-120"/>
                <a:ea typeface="標楷體" pitchFamily="65" charset="-120"/>
              </a:rPr>
              <a:t>年日本熊本地震之後，除了 </a:t>
            </a:r>
            <a:r>
              <a:rPr kumimoji="1" lang="en-US" altLang="zh-TW" sz="2400" kern="1200" dirty="0">
                <a:solidFill>
                  <a:schemeClr val="tx1"/>
                </a:solidFill>
                <a:latin typeface="標楷體" pitchFamily="65" charset="-120"/>
                <a:ea typeface="標楷體" pitchFamily="65" charset="-120"/>
              </a:rPr>
              <a:t>Sony </a:t>
            </a:r>
            <a:r>
              <a:rPr kumimoji="1" lang="zh-TW" altLang="en-US" sz="2400" kern="1200" dirty="0">
                <a:solidFill>
                  <a:schemeClr val="tx1"/>
                </a:solidFill>
                <a:latin typeface="標楷體" pitchFamily="65" charset="-120"/>
                <a:ea typeface="標楷體" pitchFamily="65" charset="-120"/>
              </a:rPr>
              <a:t>產能受到影響之外，蘋果 </a:t>
            </a:r>
            <a:r>
              <a:rPr kumimoji="1" lang="en-US" altLang="zh-TW" sz="2400" kern="1200" dirty="0">
                <a:solidFill>
                  <a:schemeClr val="tx1"/>
                </a:solidFill>
                <a:latin typeface="標楷體" pitchFamily="65" charset="-120"/>
                <a:ea typeface="標楷體" pitchFamily="65" charset="-120"/>
              </a:rPr>
              <a:t>iPhone</a:t>
            </a:r>
            <a:r>
              <a:rPr kumimoji="1" lang="zh-TW" altLang="en-US" sz="2400" kern="1200" dirty="0">
                <a:solidFill>
                  <a:schemeClr val="tx1"/>
                </a:solidFill>
                <a:latin typeface="標楷體" pitchFamily="65" charset="-120"/>
                <a:ea typeface="標楷體" pitchFamily="65" charset="-120"/>
              </a:rPr>
              <a:t>、三星 </a:t>
            </a:r>
            <a:r>
              <a:rPr kumimoji="1" lang="en-US" altLang="zh-TW" sz="2400" kern="1200" dirty="0">
                <a:solidFill>
                  <a:schemeClr val="tx1"/>
                </a:solidFill>
                <a:latin typeface="標楷體" pitchFamily="65" charset="-120"/>
                <a:ea typeface="標楷體" pitchFamily="65" charset="-120"/>
              </a:rPr>
              <a:t>GalaxyS7 </a:t>
            </a:r>
            <a:r>
              <a:rPr kumimoji="1" lang="zh-TW" altLang="en-US" sz="2400" kern="1200" dirty="0">
                <a:solidFill>
                  <a:schemeClr val="tx1"/>
                </a:solidFill>
                <a:latin typeface="標楷體" pitchFamily="65" charset="-120"/>
                <a:ea typeface="標楷體" pitchFamily="65" charset="-120"/>
              </a:rPr>
              <a:t>等機種出貨也受到影響。此一事實和下列哪個現象關係最密切？　</a:t>
            </a:r>
            <a:endParaRPr kumimoji="1" lang="en-US" altLang="zh-TW" sz="2400" kern="1200" dirty="0">
              <a:solidFill>
                <a:schemeClr val="tx1"/>
              </a:solidFill>
              <a:latin typeface="標楷體" pitchFamily="65" charset="-120"/>
              <a:ea typeface="標楷體" pitchFamily="65" charset="-120"/>
            </a:endParaRPr>
          </a:p>
          <a:p>
            <a:endParaRPr kumimoji="1" lang="zh-TW" altLang="en-US"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(B)</a:t>
            </a:r>
            <a:r>
              <a:rPr kumimoji="1" lang="zh-TW" altLang="en-US" sz="2400" kern="1200" dirty="0">
                <a:solidFill>
                  <a:schemeClr val="tx1"/>
                </a:solidFill>
                <a:latin typeface="標楷體" pitchFamily="65" charset="-120"/>
                <a:ea typeface="標楷體" pitchFamily="65" charset="-120"/>
              </a:rPr>
              <a:t>產品的生命週期縮短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(C)</a:t>
            </a:r>
            <a:r>
              <a:rPr kumimoji="1" lang="zh-TW" altLang="en-US" sz="2400" kern="1200" dirty="0">
                <a:solidFill>
                  <a:schemeClr val="tx1"/>
                </a:solidFill>
                <a:latin typeface="標楷體" pitchFamily="65" charset="-120"/>
                <a:ea typeface="標楷體" pitchFamily="65" charset="-120"/>
              </a:rPr>
              <a:t>區位移轉的趨勢加速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(D)</a:t>
            </a:r>
            <a:r>
              <a:rPr kumimoji="1" lang="zh-TW" altLang="en-US" sz="2400" kern="1200" dirty="0">
                <a:solidFill>
                  <a:schemeClr val="tx1"/>
                </a:solidFill>
                <a:latin typeface="標楷體" pitchFamily="65" charset="-120"/>
                <a:ea typeface="標楷體" pitchFamily="65" charset="-120"/>
              </a:rPr>
              <a:t>新興的資本市場增多</a:t>
            </a:r>
            <a:endParaRPr kumimoji="1" lang="en-US" altLang="zh-TW" sz="2400" kern="1200" dirty="0">
              <a:solidFill>
                <a:schemeClr val="tx1"/>
              </a:solidFill>
              <a:latin typeface="標楷體" pitchFamily="65" charset="-120"/>
              <a:ea typeface="標楷體" pitchFamily="65" charset="-120"/>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8414837" y="5619139"/>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P.205</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11.</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3" name="五角星形 12"/>
          <p:cNvSpPr/>
          <p:nvPr/>
        </p:nvSpPr>
        <p:spPr>
          <a:xfrm>
            <a:off x="366980" y="1268760"/>
            <a:ext cx="251147" cy="216024"/>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Text Box 4"/>
          <p:cNvSpPr txBox="1">
            <a:spLocks noChangeArrowheads="1"/>
          </p:cNvSpPr>
          <p:nvPr/>
        </p:nvSpPr>
        <p:spPr bwMode="auto">
          <a:xfrm>
            <a:off x="583097" y="2224030"/>
            <a:ext cx="26499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kern="1200" dirty="0">
                <a:latin typeface="標楷體" pitchFamily="65" charset="-120"/>
              </a:rPr>
              <a:t>跨國空間分工</a:t>
            </a:r>
            <a:endParaRPr lang="zh-TW" altLang="en-US" sz="2400" dirty="0">
              <a:latin typeface="標楷體" pitchFamily="65" charset="-120"/>
            </a:endParaRPr>
          </a:p>
        </p:txBody>
      </p:sp>
      <p:sp>
        <p:nvSpPr>
          <p:cNvPr id="15" name="Rectangle 8"/>
          <p:cNvSpPr>
            <a:spLocks noChangeArrowheads="1"/>
          </p:cNvSpPr>
          <p:nvPr/>
        </p:nvSpPr>
        <p:spPr bwMode="auto">
          <a:xfrm>
            <a:off x="827584" y="4814875"/>
            <a:ext cx="496855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交通革新（高鐵通車）使兩地間的旅運時間縮短，產生空間重組的現象，故選</a:t>
            </a:r>
            <a:r>
              <a:rPr kumimoji="1" lang="en-US" altLang="zh-TW" sz="2000" dirty="0">
                <a:solidFill>
                  <a:srgbClr val="FF0000"/>
                </a:solidFill>
                <a:latin typeface="標楷體" pitchFamily="65" charset="-120"/>
                <a:ea typeface="標楷體" pitchFamily="65" charset="-120"/>
              </a:rPr>
              <a:t>(C)</a:t>
            </a:r>
            <a:r>
              <a:rPr kumimoji="1" lang="zh-TW" altLang="en-US" sz="2000" kern="1200" dirty="0">
                <a:solidFill>
                  <a:srgbClr val="FF0000"/>
                </a:solidFill>
                <a:latin typeface="Arial" charset="0"/>
                <a:ea typeface="標楷體" pitchFamily="65" charset="-120"/>
              </a:rPr>
              <a:t> </a:t>
            </a:r>
            <a:r>
              <a:rPr kumimoji="1" lang="zh-TW" altLang="en-US" sz="2000" kern="1200" dirty="0">
                <a:solidFill>
                  <a:srgbClr val="FF0000"/>
                </a:solidFill>
                <a:latin typeface="Arial" charset="0"/>
                <a:ea typeface="標楷體" pitchFamily="65" charset="-120"/>
                <a:cs typeface="+mn-cs"/>
              </a:rPr>
              <a:t>。</a:t>
            </a:r>
            <a:r>
              <a:rPr kumimoji="1" lang="en-US" altLang="zh-TW" sz="2000" dirty="0">
                <a:solidFill>
                  <a:srgbClr val="FF0000"/>
                </a:solidFill>
                <a:latin typeface="標楷體" pitchFamily="65" charset="-120"/>
                <a:ea typeface="標楷體" pitchFamily="65" charset="-120"/>
              </a:rPr>
              <a:t>(A)(B)(D)</a:t>
            </a:r>
            <a:r>
              <a:rPr kumimoji="1" lang="zh-TW" altLang="en-US" sz="2000" kern="1200" dirty="0">
                <a:solidFill>
                  <a:srgbClr val="FF0000"/>
                </a:solidFill>
                <a:latin typeface="Arial" charset="0"/>
                <a:ea typeface="標楷體" pitchFamily="65" charset="-120"/>
                <a:cs typeface="+mn-cs"/>
              </a:rPr>
              <a:t>為交通革新後的結果，非原因。</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85421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4">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4">
                                            <p:txEl>
                                              <p:pRg st="0" end="0"/>
                                            </p:txEl>
                                          </p:spTgt>
                                        </p:tgtEl>
                                        <p:attrNameLst>
                                          <p:attrName>style.fontStyle</p:attrName>
                                        </p:attrNameLst>
                                      </p:cBhvr>
                                      <p:to>
                                        <p:strVal val="normal"/>
                                      </p:to>
                                    </p:set>
                                    <p:set>
                                      <p:cBhvr override="childStyle">
                                        <p:cTn id="9" dur="indefinite"/>
                                        <p:tgtEl>
                                          <p:spTgt spid="14">
                                            <p:txEl>
                                              <p:pRg st="0" end="0"/>
                                            </p:txEl>
                                          </p:spTgt>
                                        </p:tgtEl>
                                        <p:attrNameLst>
                                          <p:attrName>style.fontWeight</p:attrName>
                                        </p:attrNameLst>
                                      </p:cBhvr>
                                      <p:to>
                                        <p:strVal val="bold"/>
                                      </p:to>
                                    </p:set>
                                    <p:set>
                                      <p:cBhvr override="childStyle">
                                        <p:cTn id="10" dur="indefinite"/>
                                        <p:tgtEl>
                                          <p:spTgt spid="14">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rPr>
              <a:t>下圖為中國 </a:t>
            </a:r>
            <a:r>
              <a:rPr kumimoji="1" lang="en-US" altLang="zh-TW" sz="2400" kern="1200" dirty="0">
                <a:solidFill>
                  <a:schemeClr val="tx1"/>
                </a:solidFill>
                <a:latin typeface="標楷體" pitchFamily="65" charset="-120"/>
                <a:ea typeface="標楷體" pitchFamily="65" charset="-120"/>
              </a:rPr>
              <a:t>1 </a:t>
            </a:r>
            <a:r>
              <a:rPr kumimoji="1" lang="zh-TW" altLang="en-US" sz="2400" kern="1200" dirty="0">
                <a:solidFill>
                  <a:schemeClr val="tx1"/>
                </a:solidFill>
                <a:latin typeface="標楷體" pitchFamily="65" charset="-120"/>
                <a:ea typeface="標楷體" pitchFamily="65" charset="-120"/>
              </a:rPr>
              <a:t>月月均溫等溫線分布圖。請回答</a:t>
            </a:r>
            <a:r>
              <a:rPr kumimoji="1" lang="en-US" altLang="zh-TW" sz="2400" kern="1200" dirty="0">
                <a:solidFill>
                  <a:schemeClr val="tx1"/>
                </a:solidFill>
                <a:latin typeface="標楷體" pitchFamily="65" charset="-120"/>
                <a:ea typeface="標楷體" pitchFamily="65" charset="-120"/>
              </a:rPr>
              <a:t>12.</a:t>
            </a:r>
            <a:r>
              <a:rPr kumimoji="1" lang="zh-TW" altLang="en-US" sz="2400" kern="1200" dirty="0">
                <a:solidFill>
                  <a:schemeClr val="tx1"/>
                </a:solidFill>
                <a:latin typeface="標楷體" pitchFamily="65" charset="-120"/>
                <a:ea typeface="標楷體" pitchFamily="65" charset="-120"/>
              </a:rPr>
              <a:t>、</a:t>
            </a:r>
            <a:r>
              <a:rPr kumimoji="1" lang="en-US" altLang="zh-TW" sz="2400" kern="1200" dirty="0">
                <a:solidFill>
                  <a:schemeClr val="tx1"/>
                </a:solidFill>
                <a:latin typeface="標楷體" pitchFamily="65" charset="-120"/>
                <a:ea typeface="標楷體" pitchFamily="65" charset="-120"/>
              </a:rPr>
              <a:t>13.</a:t>
            </a:r>
            <a:r>
              <a:rPr kumimoji="1" lang="zh-TW" altLang="en-US" sz="2400" kern="1200" dirty="0">
                <a:solidFill>
                  <a:schemeClr val="tx1"/>
                </a:solidFill>
                <a:latin typeface="標楷體" pitchFamily="65" charset="-120"/>
                <a:ea typeface="標楷體" pitchFamily="65" charset="-120"/>
              </a:rPr>
              <a:t>題：</a:t>
            </a:r>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cs typeface="+mn-cs"/>
              </a:rPr>
              <a:t>12.</a:t>
            </a:r>
            <a:r>
              <a:rPr kumimoji="1" lang="zh-TW" altLang="en-US" sz="2400" kern="1200" dirty="0">
                <a:solidFill>
                  <a:schemeClr val="tx1"/>
                </a:solidFill>
                <a:latin typeface="標楷體" pitchFamily="65" charset="-120"/>
                <a:ea typeface="標楷體" pitchFamily="65" charset="-120"/>
              </a:rPr>
              <a:t>中國除西南地區外，</a:t>
            </a:r>
            <a:r>
              <a:rPr kumimoji="1" lang="en-US" altLang="zh-TW" sz="2400" kern="1200" dirty="0">
                <a:solidFill>
                  <a:schemeClr val="tx1"/>
                </a:solidFill>
                <a:latin typeface="標楷體" pitchFamily="65" charset="-120"/>
                <a:ea typeface="標楷體" pitchFamily="65" charset="-120"/>
              </a:rPr>
              <a:t>1 </a:t>
            </a:r>
            <a:r>
              <a:rPr kumimoji="1" lang="zh-TW" altLang="en-US" sz="2400" kern="1200" dirty="0">
                <a:solidFill>
                  <a:schemeClr val="tx1"/>
                </a:solidFill>
                <a:latin typeface="標楷體" pitchFamily="65" charset="-120"/>
                <a:ea typeface="標楷體" pitchFamily="65" charset="-120"/>
              </a:rPr>
              <a:t>月月均溫等溫線分布大致呈東西向，顯示其冬季氣溫變化受哪一因素影響較大？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(A)</a:t>
            </a:r>
            <a:r>
              <a:rPr kumimoji="1" lang="zh-TW" altLang="en-US" sz="2400" kern="1200" dirty="0">
                <a:solidFill>
                  <a:schemeClr val="tx1"/>
                </a:solidFill>
                <a:latin typeface="標楷體" pitchFamily="65" charset="-120"/>
                <a:ea typeface="標楷體" pitchFamily="65" charset="-120"/>
              </a:rPr>
              <a:t>地形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(C)</a:t>
            </a:r>
            <a:r>
              <a:rPr kumimoji="1" lang="zh-TW" altLang="en-US" sz="2400" kern="1200" dirty="0">
                <a:solidFill>
                  <a:schemeClr val="tx1"/>
                </a:solidFill>
                <a:latin typeface="標楷體" pitchFamily="65" charset="-120"/>
                <a:ea typeface="標楷體" pitchFamily="65" charset="-120"/>
              </a:rPr>
              <a:t>海陸分布　    </a:t>
            </a:r>
            <a:r>
              <a:rPr kumimoji="1" lang="en-US" altLang="zh-TW" sz="2400" kern="1200" dirty="0">
                <a:solidFill>
                  <a:schemeClr val="tx1"/>
                </a:solidFill>
                <a:latin typeface="標楷體" pitchFamily="65" charset="-120"/>
                <a:ea typeface="標楷體" pitchFamily="65" charset="-120"/>
              </a:rPr>
              <a:t>(D)</a:t>
            </a:r>
            <a:r>
              <a:rPr kumimoji="1" lang="zh-TW" altLang="en-US" sz="2400" kern="1200" dirty="0">
                <a:solidFill>
                  <a:schemeClr val="tx1"/>
                </a:solidFill>
                <a:latin typeface="標楷體" pitchFamily="65" charset="-120"/>
                <a:ea typeface="標楷體" pitchFamily="65" charset="-120"/>
              </a:rPr>
              <a:t>洋流性質</a:t>
            </a:r>
            <a:endParaRPr kumimoji="1" lang="en-US" altLang="zh-TW" sz="2400" kern="1200" dirty="0">
              <a:solidFill>
                <a:schemeClr val="tx1"/>
              </a:solidFill>
              <a:latin typeface="標楷體" pitchFamily="65" charset="-120"/>
              <a:ea typeface="標楷體" pitchFamily="65" charset="-120"/>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P.206</a:t>
            </a:r>
            <a:r>
              <a:rPr lang="zh-TW" altLang="en-US" sz="2000" dirty="0">
                <a:solidFill>
                  <a:schemeClr val="bg1"/>
                </a:solidFill>
                <a:latin typeface="Times New Roman" pitchFamily="18" charset="0"/>
              </a:rPr>
              <a:t>基礎題第 </a:t>
            </a:r>
            <a:r>
              <a:rPr lang="en-US" altLang="zh-TW" sz="2000" dirty="0">
                <a:solidFill>
                  <a:schemeClr val="bg1"/>
                </a:solidFill>
                <a:latin typeface="Times New Roman" pitchFamily="18" charset="0"/>
              </a:rPr>
              <a:t>12.</a:t>
            </a:r>
            <a:r>
              <a:rPr lang="zh-TW" altLang="en-US" sz="2000" dirty="0">
                <a:solidFill>
                  <a:schemeClr val="bg1"/>
                </a:solidFill>
                <a:latin typeface="Times New Roman" pitchFamily="18" charset="0"/>
              </a:rPr>
              <a:t>、</a:t>
            </a:r>
            <a:r>
              <a:rPr lang="en-US" altLang="zh-TW" sz="2000" dirty="0">
                <a:solidFill>
                  <a:schemeClr val="bg1"/>
                </a:solidFill>
                <a:latin typeface="Times New Roman" pitchFamily="18" charset="0"/>
              </a:rPr>
              <a:t>13.</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5" name="Rectangle 8"/>
          <p:cNvSpPr>
            <a:spLocks noChangeArrowheads="1"/>
          </p:cNvSpPr>
          <p:nvPr/>
        </p:nvSpPr>
        <p:spPr bwMode="auto">
          <a:xfrm>
            <a:off x="300914" y="2008000"/>
            <a:ext cx="230393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由圖中可看出中國</a:t>
            </a:r>
          </a:p>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1 </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月月均溫等溫線</a:t>
            </a:r>
          </a:p>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的分布大致呈現東</a:t>
            </a:r>
          </a:p>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西向，由南往北遞</a:t>
            </a:r>
          </a:p>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減，所以與</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(B)</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緯度分布最相近。</a:t>
            </a:r>
          </a:p>
        </p:txBody>
      </p:sp>
      <p:pic>
        <p:nvPicPr>
          <p:cNvPr id="30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556793"/>
            <a:ext cx="4001702" cy="2841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4"/>
          <p:cNvSpPr txBox="1">
            <a:spLocks noChangeArrowheads="1"/>
          </p:cNvSpPr>
          <p:nvPr/>
        </p:nvSpPr>
        <p:spPr bwMode="auto">
          <a:xfrm>
            <a:off x="3175034" y="5160364"/>
            <a:ext cx="13249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kern="1200" dirty="0">
                <a:latin typeface="標楷體" pitchFamily="65" charset="-120"/>
              </a:rPr>
              <a:t>緯度</a:t>
            </a:r>
            <a:endParaRPr lang="zh-TW" altLang="en-US" sz="2400" dirty="0">
              <a:latin typeface="標楷體" pitchFamily="65" charset="-120"/>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4644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4">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4">
                                            <p:txEl>
                                              <p:pRg st="0" end="0"/>
                                            </p:txEl>
                                          </p:spTgt>
                                        </p:tgtEl>
                                        <p:attrNameLst>
                                          <p:attrName>style.fontStyle</p:attrName>
                                        </p:attrNameLst>
                                      </p:cBhvr>
                                      <p:to>
                                        <p:strVal val="normal"/>
                                      </p:to>
                                    </p:set>
                                    <p:set>
                                      <p:cBhvr override="childStyle">
                                        <p:cTn id="9" dur="indefinite"/>
                                        <p:tgtEl>
                                          <p:spTgt spid="14">
                                            <p:txEl>
                                              <p:pRg st="0" end="0"/>
                                            </p:txEl>
                                          </p:spTgt>
                                        </p:tgtEl>
                                        <p:attrNameLst>
                                          <p:attrName>style.fontWeight</p:attrName>
                                        </p:attrNameLst>
                                      </p:cBhvr>
                                      <p:to>
                                        <p:strVal val="bold"/>
                                      </p:to>
                                    </p:set>
                                    <p:set>
                                      <p:cBhvr override="childStyle">
                                        <p:cTn id="10" dur="indefinite"/>
                                        <p:tgtEl>
                                          <p:spTgt spid="14">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rPr>
              <a:t>下圖為中國 </a:t>
            </a:r>
            <a:r>
              <a:rPr kumimoji="1" lang="en-US" altLang="zh-TW" sz="2400" kern="1200" dirty="0">
                <a:solidFill>
                  <a:schemeClr val="tx1"/>
                </a:solidFill>
                <a:latin typeface="標楷體" pitchFamily="65" charset="-120"/>
                <a:ea typeface="標楷體" pitchFamily="65" charset="-120"/>
              </a:rPr>
              <a:t>1 </a:t>
            </a:r>
            <a:r>
              <a:rPr kumimoji="1" lang="zh-TW" altLang="en-US" sz="2400" kern="1200" dirty="0">
                <a:solidFill>
                  <a:schemeClr val="tx1"/>
                </a:solidFill>
                <a:latin typeface="標楷體" pitchFamily="65" charset="-120"/>
                <a:ea typeface="標楷體" pitchFamily="65" charset="-120"/>
              </a:rPr>
              <a:t>月月均溫等溫線分布圖。請回答</a:t>
            </a:r>
            <a:r>
              <a:rPr kumimoji="1" lang="en-US" altLang="zh-TW" sz="2400" kern="1200" dirty="0">
                <a:solidFill>
                  <a:schemeClr val="tx1"/>
                </a:solidFill>
                <a:latin typeface="標楷體" pitchFamily="65" charset="-120"/>
                <a:ea typeface="標楷體" pitchFamily="65" charset="-120"/>
              </a:rPr>
              <a:t>12.</a:t>
            </a:r>
            <a:r>
              <a:rPr kumimoji="1" lang="zh-TW" altLang="en-US" sz="2400" kern="1200" dirty="0">
                <a:solidFill>
                  <a:schemeClr val="tx1"/>
                </a:solidFill>
                <a:latin typeface="標楷體" pitchFamily="65" charset="-120"/>
                <a:ea typeface="標楷體" pitchFamily="65" charset="-120"/>
              </a:rPr>
              <a:t>、</a:t>
            </a:r>
            <a:r>
              <a:rPr kumimoji="1" lang="en-US" altLang="zh-TW" sz="2400" kern="1200" dirty="0">
                <a:solidFill>
                  <a:schemeClr val="tx1"/>
                </a:solidFill>
                <a:latin typeface="標楷體" pitchFamily="65" charset="-120"/>
                <a:ea typeface="標楷體" pitchFamily="65" charset="-120"/>
              </a:rPr>
              <a:t>13.</a:t>
            </a:r>
            <a:r>
              <a:rPr kumimoji="1" lang="zh-TW" altLang="en-US" sz="2400" kern="1200" dirty="0">
                <a:solidFill>
                  <a:schemeClr val="tx1"/>
                </a:solidFill>
                <a:latin typeface="標楷體" pitchFamily="65" charset="-120"/>
                <a:ea typeface="標楷體" pitchFamily="65" charset="-120"/>
              </a:rPr>
              <a:t>題：</a:t>
            </a:r>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cs typeface="+mn-cs"/>
              </a:rPr>
              <a:t>13.</a:t>
            </a:r>
            <a:r>
              <a:rPr kumimoji="1" lang="zh-TW" altLang="en-US" sz="2400" kern="1200" dirty="0">
                <a:solidFill>
                  <a:schemeClr val="tx1"/>
                </a:solidFill>
                <a:latin typeface="標楷體" pitchFamily="65" charset="-120"/>
                <a:ea typeface="標楷體" pitchFamily="65" charset="-120"/>
              </a:rPr>
              <a:t>中國西南地區 </a:t>
            </a:r>
            <a:r>
              <a:rPr kumimoji="1" lang="en-US" altLang="zh-TW" sz="2400" kern="1200" dirty="0">
                <a:solidFill>
                  <a:schemeClr val="tx1"/>
                </a:solidFill>
                <a:latin typeface="標楷體" pitchFamily="65" charset="-120"/>
                <a:ea typeface="標楷體" pitchFamily="65" charset="-120"/>
              </a:rPr>
              <a:t>1 </a:t>
            </a:r>
            <a:r>
              <a:rPr kumimoji="1" lang="zh-TW" altLang="en-US" sz="2400" kern="1200" dirty="0">
                <a:solidFill>
                  <a:schemeClr val="tx1"/>
                </a:solidFill>
                <a:latin typeface="標楷體" pitchFamily="65" charset="-120"/>
                <a:ea typeface="標楷體" pitchFamily="65" charset="-120"/>
              </a:rPr>
              <a:t>月月均溫分布與大部分地區的東西向分布不同，主要與下列哪一項因素有關？　</a:t>
            </a:r>
            <a:endParaRPr kumimoji="1" lang="en-US" altLang="zh-TW" sz="2400" kern="1200" dirty="0">
              <a:solidFill>
                <a:schemeClr val="tx1"/>
              </a:solidFill>
              <a:latin typeface="標楷體" pitchFamily="65" charset="-120"/>
              <a:ea typeface="標楷體" pitchFamily="65" charset="-120"/>
            </a:endParaRPr>
          </a:p>
          <a:p>
            <a:r>
              <a:rPr kumimoji="1" lang="zh-TW" altLang="en-US" sz="2400" kern="1200" dirty="0">
                <a:solidFill>
                  <a:schemeClr val="tx1"/>
                </a:solidFill>
                <a:latin typeface="標楷體" pitchFamily="65" charset="-120"/>
                <a:ea typeface="標楷體" pitchFamily="65" charset="-120"/>
              </a:rPr>
              <a:t>        　        </a:t>
            </a:r>
            <a:r>
              <a:rPr kumimoji="1" lang="en-US" altLang="zh-TW" sz="2400" kern="1200" dirty="0">
                <a:solidFill>
                  <a:schemeClr val="tx1"/>
                </a:solidFill>
                <a:latin typeface="標楷體" pitchFamily="65" charset="-120"/>
                <a:ea typeface="標楷體" pitchFamily="65" charset="-120"/>
              </a:rPr>
              <a:t>(B)</a:t>
            </a:r>
            <a:r>
              <a:rPr kumimoji="1" lang="zh-TW" altLang="en-US" sz="2400" kern="1200" dirty="0">
                <a:solidFill>
                  <a:schemeClr val="tx1"/>
                </a:solidFill>
                <a:latin typeface="標楷體" pitchFamily="65" charset="-120"/>
                <a:ea typeface="標楷體" pitchFamily="65" charset="-120"/>
              </a:rPr>
              <a:t>緯度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(C)</a:t>
            </a:r>
            <a:r>
              <a:rPr kumimoji="1" lang="zh-TW" altLang="en-US" sz="2400" kern="1200" dirty="0">
                <a:solidFill>
                  <a:schemeClr val="tx1"/>
                </a:solidFill>
                <a:latin typeface="標楷體" pitchFamily="65" charset="-120"/>
                <a:ea typeface="標楷體" pitchFamily="65" charset="-120"/>
              </a:rPr>
              <a:t>海陸分布　     </a:t>
            </a:r>
            <a:r>
              <a:rPr kumimoji="1" lang="en-US" altLang="zh-TW" sz="2400" kern="1200" dirty="0">
                <a:solidFill>
                  <a:schemeClr val="tx1"/>
                </a:solidFill>
                <a:latin typeface="標楷體" pitchFamily="65" charset="-120"/>
                <a:ea typeface="標楷體" pitchFamily="65" charset="-120"/>
              </a:rPr>
              <a:t>(D)</a:t>
            </a:r>
            <a:r>
              <a:rPr kumimoji="1" lang="zh-TW" altLang="en-US" sz="2400" kern="1200" dirty="0">
                <a:solidFill>
                  <a:schemeClr val="tx1"/>
                </a:solidFill>
                <a:latin typeface="標楷體" pitchFamily="65" charset="-120"/>
                <a:ea typeface="標楷體" pitchFamily="65" charset="-120"/>
              </a:rPr>
              <a:t>洋流性質</a:t>
            </a:r>
            <a:endParaRPr kumimoji="1" lang="en-US" altLang="zh-TW" sz="2400" kern="1200" dirty="0">
              <a:solidFill>
                <a:schemeClr val="tx1"/>
              </a:solidFill>
              <a:latin typeface="標楷體" pitchFamily="65" charset="-120"/>
              <a:ea typeface="標楷體" pitchFamily="65" charset="-120"/>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P.206</a:t>
            </a:r>
            <a:r>
              <a:rPr lang="zh-TW" altLang="en-US" sz="2000" dirty="0">
                <a:solidFill>
                  <a:schemeClr val="bg1"/>
                </a:solidFill>
                <a:latin typeface="Times New Roman" pitchFamily="18" charset="0"/>
              </a:rPr>
              <a:t>基礎題第 </a:t>
            </a:r>
            <a:r>
              <a:rPr lang="en-US" altLang="zh-TW" sz="2000" dirty="0">
                <a:solidFill>
                  <a:schemeClr val="bg1"/>
                </a:solidFill>
                <a:latin typeface="Times New Roman" pitchFamily="18" charset="0"/>
              </a:rPr>
              <a:t>13.</a:t>
            </a:r>
            <a:r>
              <a:rPr lang="zh-TW" altLang="en-US" sz="2000" dirty="0">
                <a:solidFill>
                  <a:schemeClr val="bg1"/>
                </a:solidFill>
                <a:latin typeface="Times New Roman" pitchFamily="18" charset="0"/>
              </a:rPr>
              <a:t>、</a:t>
            </a:r>
            <a:r>
              <a:rPr lang="en-US" altLang="zh-TW" sz="2000" dirty="0">
                <a:solidFill>
                  <a:schemeClr val="bg1"/>
                </a:solidFill>
                <a:latin typeface="Times New Roman" pitchFamily="18" charset="0"/>
              </a:rPr>
              <a:t>14.</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5" name="Rectangle 8"/>
          <p:cNvSpPr>
            <a:spLocks noChangeArrowheads="1"/>
          </p:cNvSpPr>
          <p:nvPr/>
        </p:nvSpPr>
        <p:spPr bwMode="auto">
          <a:xfrm>
            <a:off x="300914" y="2008000"/>
            <a:ext cx="230393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中國西南地區為地勢高聳的青藏高原，使當地出現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1</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 月月均溫等溫線隨地形高度而變化且低於同緯度其他地區的現象。</a:t>
            </a:r>
          </a:p>
        </p:txBody>
      </p:sp>
      <p:pic>
        <p:nvPicPr>
          <p:cNvPr id="30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556793"/>
            <a:ext cx="4001702" cy="2841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4"/>
          <p:cNvSpPr txBox="1">
            <a:spLocks noChangeArrowheads="1"/>
          </p:cNvSpPr>
          <p:nvPr/>
        </p:nvSpPr>
        <p:spPr bwMode="auto">
          <a:xfrm>
            <a:off x="578098" y="5157192"/>
            <a:ext cx="19398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kern="1200" dirty="0">
                <a:latin typeface="標楷體" pitchFamily="65" charset="-120"/>
              </a:rPr>
              <a:t>地形</a:t>
            </a:r>
            <a:endParaRPr lang="zh-TW" altLang="en-US" sz="2400" dirty="0">
              <a:latin typeface="標楷體" pitchFamily="65" charset="-120"/>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70157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4">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4">
                                            <p:txEl>
                                              <p:pRg st="0" end="0"/>
                                            </p:txEl>
                                          </p:spTgt>
                                        </p:tgtEl>
                                        <p:attrNameLst>
                                          <p:attrName>style.fontStyle</p:attrName>
                                        </p:attrNameLst>
                                      </p:cBhvr>
                                      <p:to>
                                        <p:strVal val="normal"/>
                                      </p:to>
                                    </p:set>
                                    <p:set>
                                      <p:cBhvr override="childStyle">
                                        <p:cTn id="9" dur="indefinite"/>
                                        <p:tgtEl>
                                          <p:spTgt spid="14">
                                            <p:txEl>
                                              <p:pRg st="0" end="0"/>
                                            </p:txEl>
                                          </p:spTgt>
                                        </p:tgtEl>
                                        <p:attrNameLst>
                                          <p:attrName>style.fontWeight</p:attrName>
                                        </p:attrNameLst>
                                      </p:cBhvr>
                                      <p:to>
                                        <p:strVal val="bold"/>
                                      </p:to>
                                    </p:set>
                                    <p:set>
                                      <p:cBhvr override="childStyle">
                                        <p:cTn id="10" dur="indefinite"/>
                                        <p:tgtEl>
                                          <p:spTgt spid="14">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rPr>
              <a:t>中國的空氣汙染問題嚴重，而近年多項國際重要活動在中國舉行。為了改善活動期間的空氣品質，政府要求周遭地區兩、三百公里內的工廠停工，並管制汽車交通。這些措施使得當時空氣品質大為改善，重現藍天。網路民眾乃稱 </a:t>
            </a:r>
            <a:r>
              <a:rPr kumimoji="1" lang="en-US" altLang="zh-TW" sz="2400" kern="1200" dirty="0">
                <a:solidFill>
                  <a:schemeClr val="tx1"/>
                </a:solidFill>
                <a:latin typeface="標楷體" pitchFamily="65" charset="-120"/>
                <a:ea typeface="標楷體" pitchFamily="65" charset="-120"/>
              </a:rPr>
              <a:t>2014 </a:t>
            </a:r>
            <a:r>
              <a:rPr kumimoji="1" lang="zh-TW" altLang="en-US" sz="2400" kern="1200" dirty="0">
                <a:solidFill>
                  <a:schemeClr val="tx1"/>
                </a:solidFill>
                <a:latin typeface="標楷體" pitchFamily="65" charset="-120"/>
                <a:ea typeface="標楷體" pitchFamily="65" charset="-120"/>
              </a:rPr>
              <a:t>年北京 </a:t>
            </a:r>
            <a:r>
              <a:rPr kumimoji="1" lang="en-US" altLang="zh-TW" sz="2400" kern="1200" dirty="0">
                <a:solidFill>
                  <a:schemeClr val="tx1"/>
                </a:solidFill>
                <a:latin typeface="標楷體" pitchFamily="65" charset="-120"/>
                <a:ea typeface="標楷體" pitchFamily="65" charset="-120"/>
              </a:rPr>
              <a:t>APEC </a:t>
            </a:r>
            <a:r>
              <a:rPr kumimoji="1" lang="zh-TW" altLang="en-US" sz="2400" kern="1200" dirty="0">
                <a:solidFill>
                  <a:schemeClr val="tx1"/>
                </a:solidFill>
                <a:latin typeface="標楷體" pitchFamily="65" charset="-120"/>
                <a:ea typeface="標楷體" pitchFamily="65" charset="-120"/>
              </a:rPr>
              <a:t>會議期間有所謂的「</a:t>
            </a:r>
            <a:r>
              <a:rPr kumimoji="1" lang="en-US" altLang="zh-TW" sz="2400" kern="1200" dirty="0">
                <a:solidFill>
                  <a:schemeClr val="tx1"/>
                </a:solidFill>
                <a:latin typeface="標楷體" pitchFamily="65" charset="-120"/>
                <a:ea typeface="標楷體" pitchFamily="65" charset="-120"/>
              </a:rPr>
              <a:t>APEC </a:t>
            </a:r>
            <a:r>
              <a:rPr kumimoji="1" lang="zh-TW" altLang="en-US" sz="2400" kern="1200" dirty="0">
                <a:solidFill>
                  <a:schemeClr val="tx1"/>
                </a:solidFill>
                <a:latin typeface="標楷體" pitchFamily="65" charset="-120"/>
                <a:ea typeface="標楷體" pitchFamily="65" charset="-120"/>
              </a:rPr>
              <a:t>藍」，而 </a:t>
            </a:r>
            <a:r>
              <a:rPr kumimoji="1" lang="en-US" altLang="zh-TW" sz="2400" kern="1200" dirty="0">
                <a:solidFill>
                  <a:schemeClr val="tx1"/>
                </a:solidFill>
                <a:latin typeface="標楷體" pitchFamily="65" charset="-120"/>
                <a:ea typeface="標楷體" pitchFamily="65" charset="-120"/>
              </a:rPr>
              <a:t>2016 </a:t>
            </a:r>
            <a:r>
              <a:rPr kumimoji="1" lang="zh-TW" altLang="en-US" sz="2400" kern="1200" dirty="0">
                <a:solidFill>
                  <a:schemeClr val="tx1"/>
                </a:solidFill>
                <a:latin typeface="標楷體" pitchFamily="65" charset="-120"/>
                <a:ea typeface="標楷體" pitchFamily="65" charset="-120"/>
              </a:rPr>
              <a:t>年杭州 </a:t>
            </a:r>
            <a:r>
              <a:rPr kumimoji="1" lang="en-US" altLang="zh-TW" sz="2400" kern="1200" dirty="0">
                <a:solidFill>
                  <a:schemeClr val="tx1"/>
                </a:solidFill>
                <a:latin typeface="標楷體" pitchFamily="65" charset="-120"/>
                <a:ea typeface="標楷體" pitchFamily="65" charset="-120"/>
              </a:rPr>
              <a:t>G20 </a:t>
            </a:r>
            <a:r>
              <a:rPr kumimoji="1" lang="zh-TW" altLang="en-US" sz="2400" kern="1200" dirty="0">
                <a:solidFill>
                  <a:schemeClr val="tx1"/>
                </a:solidFill>
                <a:latin typeface="標楷體" pitchFamily="65" charset="-120"/>
                <a:ea typeface="標楷體" pitchFamily="65" charset="-120"/>
              </a:rPr>
              <a:t>世界高峰會時有所謂的「</a:t>
            </a:r>
            <a:r>
              <a:rPr kumimoji="1" lang="en-US" altLang="zh-TW" sz="2400" kern="1200" dirty="0">
                <a:solidFill>
                  <a:schemeClr val="tx1"/>
                </a:solidFill>
                <a:latin typeface="標楷體" pitchFamily="65" charset="-120"/>
                <a:ea typeface="標楷體" pitchFamily="65" charset="-120"/>
              </a:rPr>
              <a:t>G20 </a:t>
            </a:r>
            <a:r>
              <a:rPr kumimoji="1" lang="zh-TW" altLang="en-US" sz="2400" kern="1200" dirty="0">
                <a:solidFill>
                  <a:schemeClr val="tx1"/>
                </a:solidFill>
                <a:latin typeface="標楷體" pitchFamily="65" charset="-120"/>
                <a:ea typeface="標楷體" pitchFamily="65" charset="-120"/>
              </a:rPr>
              <a:t>藍」。請問因為 </a:t>
            </a:r>
            <a:r>
              <a:rPr kumimoji="1" lang="en-US" altLang="zh-TW" sz="2400" kern="1200" dirty="0">
                <a:solidFill>
                  <a:schemeClr val="tx1"/>
                </a:solidFill>
                <a:latin typeface="標楷體" pitchFamily="65" charset="-120"/>
                <a:ea typeface="標楷體" pitchFamily="65" charset="-120"/>
              </a:rPr>
              <a:t>APEC </a:t>
            </a:r>
            <a:r>
              <a:rPr kumimoji="1" lang="zh-TW" altLang="en-US" sz="2400" kern="1200" dirty="0">
                <a:solidFill>
                  <a:schemeClr val="tx1"/>
                </a:solidFill>
                <a:latin typeface="標楷體" pitchFamily="65" charset="-120"/>
                <a:ea typeface="標楷體" pitchFamily="65" charset="-120"/>
              </a:rPr>
              <a:t>會議和</a:t>
            </a:r>
            <a:r>
              <a:rPr kumimoji="1" lang="en-US" altLang="zh-TW" sz="2400" kern="1200" dirty="0">
                <a:solidFill>
                  <a:schemeClr val="tx1"/>
                </a:solidFill>
                <a:latin typeface="標楷體" pitchFamily="65" charset="-120"/>
                <a:ea typeface="標楷體" pitchFamily="65" charset="-120"/>
              </a:rPr>
              <a:t>G20 </a:t>
            </a:r>
            <a:r>
              <a:rPr kumimoji="1" lang="zh-TW" altLang="en-US" sz="2400" kern="1200" dirty="0">
                <a:solidFill>
                  <a:schemeClr val="tx1"/>
                </a:solidFill>
                <a:latin typeface="標楷體" pitchFamily="65" charset="-120"/>
                <a:ea typeface="標楷體" pitchFamily="65" charset="-120"/>
              </a:rPr>
              <a:t>會議而受到生產管制的工廠，分別位於中國的哪個經濟圈？　              </a:t>
            </a:r>
            <a:r>
              <a:rPr kumimoji="1" lang="en-US" altLang="zh-TW" sz="2400" kern="1200" dirty="0">
                <a:solidFill>
                  <a:schemeClr val="tx1"/>
                </a:solidFill>
                <a:latin typeface="標楷體" pitchFamily="65" charset="-120"/>
                <a:ea typeface="標楷體" pitchFamily="65" charset="-120"/>
              </a:rPr>
              <a:t>〔106.</a:t>
            </a:r>
            <a:r>
              <a:rPr kumimoji="1" lang="zh-TW" altLang="en-US" sz="2400" kern="1200" dirty="0">
                <a:solidFill>
                  <a:schemeClr val="tx1"/>
                </a:solidFill>
                <a:latin typeface="標楷體" pitchFamily="65" charset="-120"/>
                <a:ea typeface="標楷體" pitchFamily="65" charset="-120"/>
              </a:rPr>
              <a:t>學測</a:t>
            </a:r>
            <a:r>
              <a:rPr kumimoji="1" lang="en-US" altLang="zh-TW" sz="2400" kern="1200" dirty="0">
                <a:solidFill>
                  <a:schemeClr val="tx1"/>
                </a:solidFill>
                <a:latin typeface="標楷體" pitchFamily="65" charset="-120"/>
                <a:ea typeface="標楷體" pitchFamily="65" charset="-120"/>
              </a:rPr>
              <a:t>〕</a:t>
            </a:r>
          </a:p>
          <a:p>
            <a:r>
              <a:rPr kumimoji="1" lang="zh-TW" altLang="en-US" sz="2400" kern="1200" dirty="0">
                <a:solidFill>
                  <a:schemeClr val="tx1"/>
                </a:solidFill>
                <a:latin typeface="標楷體" pitchFamily="65" charset="-120"/>
                <a:ea typeface="標楷體" pitchFamily="65" charset="-120"/>
              </a:rPr>
              <a:t>               　         </a:t>
            </a:r>
            <a:r>
              <a:rPr kumimoji="1" lang="en-US" altLang="zh-TW" sz="2400" kern="1200" dirty="0">
                <a:solidFill>
                  <a:schemeClr val="tx1"/>
                </a:solidFill>
                <a:latin typeface="標楷體" pitchFamily="65" charset="-120"/>
                <a:ea typeface="標楷體" pitchFamily="65" charset="-120"/>
              </a:rPr>
              <a:t>(B)</a:t>
            </a:r>
            <a:r>
              <a:rPr kumimoji="1" lang="zh-TW" altLang="en-US" sz="2400" kern="1200" dirty="0">
                <a:solidFill>
                  <a:schemeClr val="tx1"/>
                </a:solidFill>
                <a:latin typeface="標楷體" pitchFamily="65" charset="-120"/>
                <a:ea typeface="標楷體" pitchFamily="65" charset="-120"/>
              </a:rPr>
              <a:t>渤三角；珠三角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(C)</a:t>
            </a:r>
            <a:r>
              <a:rPr kumimoji="1" lang="zh-TW" altLang="en-US" sz="2400" kern="1200" dirty="0">
                <a:solidFill>
                  <a:schemeClr val="tx1"/>
                </a:solidFill>
                <a:latin typeface="標楷體" pitchFamily="65" charset="-120"/>
                <a:ea typeface="標楷體" pitchFamily="65" charset="-120"/>
              </a:rPr>
              <a:t>長三角；珠三角　       </a:t>
            </a:r>
            <a:r>
              <a:rPr kumimoji="1" lang="en-US" altLang="zh-TW" sz="2400" kern="1200" dirty="0">
                <a:solidFill>
                  <a:schemeClr val="tx1"/>
                </a:solidFill>
                <a:latin typeface="標楷體" pitchFamily="65" charset="-120"/>
                <a:ea typeface="標楷體" pitchFamily="65" charset="-120"/>
              </a:rPr>
              <a:t>(D)</a:t>
            </a:r>
            <a:r>
              <a:rPr kumimoji="1" lang="zh-TW" altLang="en-US" sz="2400" kern="1200" dirty="0">
                <a:solidFill>
                  <a:schemeClr val="tx1"/>
                </a:solidFill>
                <a:latin typeface="標楷體" pitchFamily="65" charset="-120"/>
                <a:ea typeface="標楷體" pitchFamily="65" charset="-120"/>
              </a:rPr>
              <a:t>珠三角；渤三角</a:t>
            </a:r>
            <a:endParaRPr kumimoji="1" lang="en-US" altLang="zh-TW" sz="2400" dirty="0">
              <a:solidFill>
                <a:schemeClr val="tx1"/>
              </a:solidFill>
              <a:latin typeface="Arial" charset="0"/>
              <a:ea typeface="標楷體" pitchFamily="65" charset="-120"/>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8414837" y="5619139"/>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P.207</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2.</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2" name="Rectangle 8"/>
          <p:cNvSpPr>
            <a:spLocks noChangeArrowheads="1"/>
          </p:cNvSpPr>
          <p:nvPr/>
        </p:nvSpPr>
        <p:spPr bwMode="auto">
          <a:xfrm>
            <a:off x="624304" y="5013176"/>
            <a:ext cx="683137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(A)2014 </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年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APEC</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 會議時受到管制生產的工廠位於北京附近，所以是位於華北「渤三角經濟圈」；而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2016 </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年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G20</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 會議在鄰近上海的杭州舉行，所以「長三角經濟圈」的工廠會受</a:t>
            </a:r>
          </a:p>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到生產管制。</a:t>
            </a:r>
          </a:p>
        </p:txBody>
      </p:sp>
      <p:sp>
        <p:nvSpPr>
          <p:cNvPr id="10" name="Text Box 4"/>
          <p:cNvSpPr txBox="1">
            <a:spLocks noChangeArrowheads="1"/>
          </p:cNvSpPr>
          <p:nvPr/>
        </p:nvSpPr>
        <p:spPr bwMode="auto">
          <a:xfrm>
            <a:off x="576724" y="4077072"/>
            <a:ext cx="28934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kern="1200" dirty="0">
                <a:latin typeface="標楷體" pitchFamily="65" charset="-120"/>
              </a:rPr>
              <a:t>渤三角；長三角</a:t>
            </a:r>
            <a:endParaRPr lang="zh-TW" altLang="en-US" sz="2400" dirty="0">
              <a:latin typeface="標楷體" pitchFamily="65" charset="-120"/>
            </a:endParaRPr>
          </a:p>
        </p:txBody>
      </p:sp>
      <p:sp>
        <p:nvSpPr>
          <p:cNvPr id="13" name="五角星形 12"/>
          <p:cNvSpPr/>
          <p:nvPr/>
        </p:nvSpPr>
        <p:spPr>
          <a:xfrm>
            <a:off x="342880" y="1268760"/>
            <a:ext cx="251147" cy="216024"/>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83798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rPr>
              <a:t>由於地緣軍事角力的關係，北韓飛彈的試射與南韓布署薩德飛彈系統關係密切，但是其雷達的偵測範圍又引起中國的疑慮，形成錯綜複雜的關係。請問若欲從下圖來劃定薩德飛彈系統的防禦範圍，最適合運用何種分析方式？　 　         </a:t>
            </a:r>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r>
              <a:rPr kumimoji="1" lang="zh-TW" altLang="en-US" sz="2400" kern="1200" dirty="0">
                <a:solidFill>
                  <a:schemeClr val="tx1"/>
                </a:solidFill>
                <a:latin typeface="標楷體" pitchFamily="65" charset="-120"/>
                <a:ea typeface="標楷體" pitchFamily="65" charset="-120"/>
              </a:rPr>
              <a:t>                    </a:t>
            </a:r>
            <a:r>
              <a:rPr kumimoji="1" lang="en-US" altLang="zh-TW" sz="2400" kern="1200" dirty="0">
                <a:solidFill>
                  <a:schemeClr val="tx1"/>
                </a:solidFill>
                <a:latin typeface="標楷體" pitchFamily="65" charset="-120"/>
                <a:ea typeface="標楷體" pitchFamily="65" charset="-120"/>
              </a:rPr>
              <a:t>(B)</a:t>
            </a:r>
            <a:r>
              <a:rPr kumimoji="1" lang="zh-TW" altLang="en-US" sz="2400" kern="1200" dirty="0">
                <a:solidFill>
                  <a:schemeClr val="tx1"/>
                </a:solidFill>
                <a:latin typeface="標楷體" pitchFamily="65" charset="-120"/>
                <a:ea typeface="標楷體" pitchFamily="65" charset="-120"/>
              </a:rPr>
              <a:t>疊圖分析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(C)</a:t>
            </a:r>
            <a:r>
              <a:rPr kumimoji="1" lang="zh-TW" altLang="en-US" sz="2400" kern="1200" dirty="0">
                <a:solidFill>
                  <a:schemeClr val="tx1"/>
                </a:solidFill>
                <a:latin typeface="標楷體" pitchFamily="65" charset="-120"/>
                <a:ea typeface="標楷體" pitchFamily="65" charset="-120"/>
              </a:rPr>
              <a:t>地勢分析　       </a:t>
            </a:r>
            <a:r>
              <a:rPr kumimoji="1" lang="en-US" altLang="zh-TW" sz="2400" kern="1200" dirty="0">
                <a:solidFill>
                  <a:schemeClr val="tx1"/>
                </a:solidFill>
                <a:latin typeface="標楷體" pitchFamily="65" charset="-120"/>
                <a:ea typeface="標楷體" pitchFamily="65" charset="-120"/>
              </a:rPr>
              <a:t>(D)</a:t>
            </a:r>
            <a:r>
              <a:rPr kumimoji="1" lang="zh-TW" altLang="en-US" sz="2400" kern="1200" dirty="0">
                <a:solidFill>
                  <a:schemeClr val="tx1"/>
                </a:solidFill>
                <a:latin typeface="標楷體" pitchFamily="65" charset="-120"/>
                <a:ea typeface="標楷體" pitchFamily="65" charset="-120"/>
              </a:rPr>
              <a:t>路網分析</a:t>
            </a:r>
            <a:endParaRPr kumimoji="1" lang="en-US" altLang="zh-TW" sz="2400" dirty="0">
              <a:solidFill>
                <a:schemeClr val="tx1"/>
              </a:solidFill>
              <a:latin typeface="Arial" charset="0"/>
              <a:ea typeface="標楷體" pitchFamily="65" charset="-120"/>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8265740" y="5398013"/>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P.208</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8.</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Text Box 4"/>
          <p:cNvSpPr txBox="1">
            <a:spLocks noChangeArrowheads="1"/>
          </p:cNvSpPr>
          <p:nvPr/>
        </p:nvSpPr>
        <p:spPr bwMode="auto">
          <a:xfrm>
            <a:off x="574675" y="5127575"/>
            <a:ext cx="28934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dirty="0">
                <a:latin typeface="標楷體" pitchFamily="65" charset="-120"/>
              </a:rPr>
              <a:t>環域分析</a:t>
            </a:r>
          </a:p>
        </p:txBody>
      </p:sp>
      <p:sp>
        <p:nvSpPr>
          <p:cNvPr id="13" name="五角星形 12"/>
          <p:cNvSpPr/>
          <p:nvPr/>
        </p:nvSpPr>
        <p:spPr>
          <a:xfrm>
            <a:off x="342880" y="1268760"/>
            <a:ext cx="251147" cy="216024"/>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2636913"/>
            <a:ext cx="3150468" cy="2555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61582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4" y="1052736"/>
            <a:ext cx="817378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cs typeface="+mn-cs"/>
              </a:rPr>
              <a:t>下圖為中國和臺灣某一種再生能源分布的等值線圖，請回答第</a:t>
            </a:r>
            <a:r>
              <a:rPr kumimoji="1" lang="en-US" altLang="zh-TW" sz="2400" kern="1200" dirty="0">
                <a:solidFill>
                  <a:schemeClr val="tx1"/>
                </a:solidFill>
                <a:latin typeface="標楷體" pitchFamily="65" charset="-120"/>
                <a:ea typeface="標楷體" pitchFamily="65" charset="-120"/>
                <a:cs typeface="+mn-cs"/>
              </a:rPr>
              <a:t>11.</a:t>
            </a:r>
            <a:r>
              <a:rPr kumimoji="1" lang="zh-TW" altLang="en-US" sz="2400" kern="1200" dirty="0">
                <a:solidFill>
                  <a:schemeClr val="tx1"/>
                </a:solidFill>
                <a:latin typeface="標楷體" pitchFamily="65" charset="-120"/>
                <a:ea typeface="標楷體" pitchFamily="65" charset="-120"/>
                <a:cs typeface="+mn-cs"/>
              </a:rPr>
              <a:t>、</a:t>
            </a:r>
            <a:r>
              <a:rPr kumimoji="1" lang="en-US" altLang="zh-TW" sz="2400" kern="1200" dirty="0">
                <a:solidFill>
                  <a:schemeClr val="tx1"/>
                </a:solidFill>
                <a:latin typeface="標楷體" pitchFamily="65" charset="-120"/>
                <a:ea typeface="標楷體" pitchFamily="65" charset="-120"/>
                <a:cs typeface="+mn-cs"/>
              </a:rPr>
              <a:t>12.</a:t>
            </a:r>
            <a:r>
              <a:rPr kumimoji="1" lang="zh-TW" altLang="en-US" sz="2400" kern="1200" dirty="0">
                <a:solidFill>
                  <a:schemeClr val="tx1"/>
                </a:solidFill>
                <a:latin typeface="標楷體" pitchFamily="65" charset="-120"/>
                <a:ea typeface="標楷體" pitchFamily="65" charset="-120"/>
                <a:cs typeface="+mn-cs"/>
              </a:rPr>
              <a:t>題：</a:t>
            </a:r>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11.</a:t>
            </a:r>
            <a:r>
              <a:rPr kumimoji="1" lang="zh-TW" altLang="en-US" sz="2400" kern="1200" dirty="0">
                <a:solidFill>
                  <a:schemeClr val="tx1"/>
                </a:solidFill>
                <a:latin typeface="標楷體" pitchFamily="65" charset="-120"/>
                <a:ea typeface="標楷體" pitchFamily="65" charset="-120"/>
                <a:cs typeface="+mn-cs"/>
              </a:rPr>
              <a:t>此圖最有可能是指下列哪一種能源？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(A)</a:t>
            </a:r>
            <a:r>
              <a:rPr kumimoji="1" lang="zh-TW" altLang="en-US" sz="2400" kern="1200" dirty="0">
                <a:solidFill>
                  <a:schemeClr val="tx1"/>
                </a:solidFill>
                <a:latin typeface="標楷體" pitchFamily="65" charset="-120"/>
                <a:ea typeface="標楷體" pitchFamily="65" charset="-120"/>
                <a:cs typeface="+mn-cs"/>
              </a:rPr>
              <a:t>風力　    </a:t>
            </a:r>
            <a:r>
              <a:rPr kumimoji="1" lang="en-US" altLang="zh-TW" sz="2400" kern="1200" dirty="0">
                <a:solidFill>
                  <a:schemeClr val="tx1"/>
                </a:solidFill>
                <a:latin typeface="標楷體" pitchFamily="65" charset="-120"/>
                <a:ea typeface="標楷體" pitchFamily="65" charset="-120"/>
                <a:cs typeface="+mn-cs"/>
              </a:rPr>
              <a:t>(B)</a:t>
            </a:r>
            <a:r>
              <a:rPr kumimoji="1" lang="zh-TW" altLang="en-US" sz="2400" kern="1200" dirty="0">
                <a:solidFill>
                  <a:schemeClr val="tx1"/>
                </a:solidFill>
                <a:latin typeface="標楷體" pitchFamily="65" charset="-120"/>
                <a:ea typeface="標楷體" pitchFamily="65" charset="-120"/>
                <a:cs typeface="+mn-cs"/>
              </a:rPr>
              <a:t>水力                 　  </a:t>
            </a:r>
            <a:r>
              <a:rPr kumimoji="1" lang="en-US" altLang="zh-TW" sz="2400" kern="1200" dirty="0">
                <a:solidFill>
                  <a:schemeClr val="tx1"/>
                </a:solidFill>
                <a:latin typeface="標楷體" pitchFamily="65" charset="-120"/>
                <a:ea typeface="標楷體" pitchFamily="65" charset="-120"/>
                <a:cs typeface="+mn-cs"/>
              </a:rPr>
              <a:t>(D)</a:t>
            </a:r>
            <a:r>
              <a:rPr kumimoji="1" lang="zh-TW" altLang="en-US" sz="2400" kern="1200" dirty="0">
                <a:solidFill>
                  <a:schemeClr val="tx1"/>
                </a:solidFill>
                <a:latin typeface="標楷體" pitchFamily="65" charset="-120"/>
                <a:ea typeface="標楷體" pitchFamily="65" charset="-120"/>
                <a:cs typeface="+mn-cs"/>
              </a:rPr>
              <a:t>地熱</a:t>
            </a:r>
            <a:endParaRPr kumimoji="1" lang="en-US" altLang="zh-TW" sz="2400" dirty="0">
              <a:solidFill>
                <a:schemeClr val="tx1"/>
              </a:solidFill>
              <a:latin typeface="Arial" charset="0"/>
              <a:ea typeface="標楷體" pitchFamily="65" charset="-120"/>
            </a:endParaRPr>
          </a:p>
        </p:txBody>
      </p:sp>
      <p:sp>
        <p:nvSpPr>
          <p:cNvPr id="7" name="Text Box 4"/>
          <p:cNvSpPr txBox="1">
            <a:spLocks noChangeArrowheads="1"/>
          </p:cNvSpPr>
          <p:nvPr/>
        </p:nvSpPr>
        <p:spPr bwMode="auto">
          <a:xfrm>
            <a:off x="4549719" y="5055567"/>
            <a:ext cx="16784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pPr eaLnBrk="1" hangingPunct="1"/>
            <a:r>
              <a:rPr lang="en-US" altLang="zh-TW" sz="2400" dirty="0">
                <a:latin typeface="標楷體" pitchFamily="65" charset="-120"/>
              </a:rPr>
              <a:t>(C)</a:t>
            </a:r>
            <a:r>
              <a:rPr lang="zh-TW" altLang="en-US" sz="2400" kern="1200" dirty="0">
                <a:latin typeface="標楷體" pitchFamily="65" charset="-120"/>
              </a:rPr>
              <a:t>太陽能</a:t>
            </a:r>
            <a:endParaRPr lang="zh-TW" altLang="en-US" sz="2400" dirty="0">
              <a:latin typeface="標楷體" pitchFamily="65" charset="-120"/>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190702" y="6039156"/>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P.209</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11.</a:t>
            </a:r>
            <a:r>
              <a:rPr lang="zh-TW" altLang="en-US" sz="2000" dirty="0">
                <a:solidFill>
                  <a:schemeClr val="bg1"/>
                </a:solidFill>
                <a:latin typeface="Times New Roman" pitchFamily="18" charset="0"/>
              </a:rPr>
              <a:t>、</a:t>
            </a:r>
            <a:r>
              <a:rPr lang="en-US" altLang="zh-TW" sz="2000" dirty="0">
                <a:solidFill>
                  <a:schemeClr val="bg1"/>
                </a:solidFill>
                <a:latin typeface="Times New Roman" pitchFamily="18" charset="0"/>
              </a:rPr>
              <a:t>12. </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Rectangle 8"/>
          <p:cNvSpPr>
            <a:spLocks noChangeArrowheads="1"/>
          </p:cNvSpPr>
          <p:nvPr/>
        </p:nvSpPr>
        <p:spPr bwMode="auto">
          <a:xfrm>
            <a:off x="570837" y="5589240"/>
            <a:ext cx="659345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圖中可見此等值線圖數值在中國青藏高原較中國其他地區高，臺灣也是西南部高於東北部，因此此等值線最有可能為</a:t>
            </a:r>
            <a:r>
              <a:rPr kumimoji="1" lang="en-US" altLang="zh-TW" sz="2000" dirty="0">
                <a:solidFill>
                  <a:srgbClr val="FF0000"/>
                </a:solidFill>
                <a:latin typeface="標楷體" pitchFamily="65" charset="-120"/>
                <a:ea typeface="標楷體" pitchFamily="65" charset="-120"/>
              </a:rPr>
              <a:t>(C)</a:t>
            </a:r>
            <a:r>
              <a:rPr kumimoji="1" lang="zh-TW" altLang="en-US" sz="2000" dirty="0">
                <a:solidFill>
                  <a:srgbClr val="FF0000"/>
                </a:solidFill>
                <a:latin typeface="標楷體" pitchFamily="65" charset="-120"/>
                <a:ea typeface="標楷體" pitchFamily="65" charset="-120"/>
              </a:rPr>
              <a:t>太陽能的分布情形，其單位為千卡╱平方公分。</a:t>
            </a:r>
            <a:endParaRPr kumimoji="1" lang="zh-TW" altLang="en-US" sz="2000" kern="1200" dirty="0">
              <a:solidFill>
                <a:srgbClr val="FF0000"/>
              </a:solidFill>
              <a:latin typeface="Arial" charset="0"/>
              <a:ea typeface="標楷體" pitchFamily="65" charset="-120"/>
              <a:cs typeface="+mn-cs"/>
            </a:endParaRPr>
          </a:p>
        </p:txBody>
      </p:sp>
      <p:pic>
        <p:nvPicPr>
          <p:cNvPr id="1433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4000"/>
          <a:stretch/>
        </p:blipFill>
        <p:spPr bwMode="auto">
          <a:xfrm>
            <a:off x="2708466" y="1667247"/>
            <a:ext cx="3906203" cy="3048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46375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7">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7">
                                            <p:txEl>
                                              <p:pRg st="0" end="0"/>
                                            </p:txEl>
                                          </p:spTgt>
                                        </p:tgtEl>
                                        <p:attrNameLst>
                                          <p:attrName>style.fontStyle</p:attrName>
                                        </p:attrNameLst>
                                      </p:cBhvr>
                                      <p:to>
                                        <p:strVal val="normal"/>
                                      </p:to>
                                    </p:set>
                                    <p:set>
                                      <p:cBhvr override="childStyle">
                                        <p:cTn id="9" dur="indefinite"/>
                                        <p:tgtEl>
                                          <p:spTgt spid="7">
                                            <p:txEl>
                                              <p:pRg st="0" end="0"/>
                                            </p:txEl>
                                          </p:spTgt>
                                        </p:tgtEl>
                                        <p:attrNameLst>
                                          <p:attrName>style.fontWeight</p:attrName>
                                        </p:attrNameLst>
                                      </p:cBhvr>
                                      <p:to>
                                        <p:strVal val="bold"/>
                                      </p:to>
                                    </p:set>
                                    <p:set>
                                      <p:cBhvr override="childStyle">
                                        <p:cTn id="10" dur="indefinite"/>
                                        <p:tgtEl>
                                          <p:spTgt spid="7">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4" y="1124744"/>
            <a:ext cx="8173789"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cs typeface="+mn-cs"/>
              </a:rPr>
              <a:t>右圖為中國和臺灣某一種再生能源分布的等值線圖，請回答第</a:t>
            </a:r>
            <a:r>
              <a:rPr kumimoji="1" lang="en-US" altLang="zh-TW" sz="2400" kern="1200" dirty="0">
                <a:solidFill>
                  <a:schemeClr val="tx1"/>
                </a:solidFill>
                <a:latin typeface="標楷體" pitchFamily="65" charset="-120"/>
                <a:ea typeface="標楷體" pitchFamily="65" charset="-120"/>
                <a:cs typeface="+mn-cs"/>
              </a:rPr>
              <a:t>11.</a:t>
            </a:r>
            <a:r>
              <a:rPr kumimoji="1" lang="zh-TW" altLang="en-US" sz="2400" kern="1200" dirty="0">
                <a:solidFill>
                  <a:schemeClr val="tx1"/>
                </a:solidFill>
                <a:latin typeface="標楷體" pitchFamily="65" charset="-120"/>
                <a:ea typeface="標楷體" pitchFamily="65" charset="-120"/>
                <a:cs typeface="+mn-cs"/>
              </a:rPr>
              <a:t>、</a:t>
            </a:r>
            <a:r>
              <a:rPr kumimoji="1" lang="en-US" altLang="zh-TW" sz="2400" kern="1200" dirty="0">
                <a:solidFill>
                  <a:schemeClr val="tx1"/>
                </a:solidFill>
                <a:latin typeface="標楷體" pitchFamily="65" charset="-120"/>
                <a:ea typeface="標楷體" pitchFamily="65" charset="-120"/>
                <a:cs typeface="+mn-cs"/>
              </a:rPr>
              <a:t>12.</a:t>
            </a:r>
            <a:r>
              <a:rPr kumimoji="1" lang="zh-TW" altLang="en-US" sz="2400" kern="1200" dirty="0">
                <a:solidFill>
                  <a:schemeClr val="tx1"/>
                </a:solidFill>
                <a:latin typeface="標楷體" pitchFamily="65" charset="-120"/>
                <a:ea typeface="標楷體" pitchFamily="65" charset="-120"/>
                <a:cs typeface="+mn-cs"/>
              </a:rPr>
              <a:t>題：</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12.</a:t>
            </a:r>
            <a:r>
              <a:rPr kumimoji="1" lang="zh-TW" altLang="en-US" sz="2400" kern="1200" dirty="0">
                <a:solidFill>
                  <a:schemeClr val="tx1"/>
                </a:solidFill>
                <a:latin typeface="標楷體" pitchFamily="65" charset="-120"/>
                <a:ea typeface="標楷體" pitchFamily="65" charset="-120"/>
                <a:cs typeface="+mn-cs"/>
              </a:rPr>
              <a:t>在中國，該等值線數值超過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140 </a:t>
            </a:r>
            <a:r>
              <a:rPr kumimoji="1" lang="zh-TW" altLang="en-US" sz="2400" kern="1200" dirty="0">
                <a:solidFill>
                  <a:schemeClr val="tx1"/>
                </a:solidFill>
                <a:latin typeface="標楷體" pitchFamily="65" charset="-120"/>
                <a:ea typeface="標楷體" pitchFamily="65" charset="-120"/>
                <a:cs typeface="+mn-cs"/>
              </a:rPr>
              <a:t>以上的地區，其地理特色最</a:t>
            </a:r>
            <a:endParaRPr kumimoji="1" lang="en-US" altLang="zh-TW" sz="2400" kern="1200" dirty="0">
              <a:solidFill>
                <a:schemeClr val="tx1"/>
              </a:solidFill>
              <a:latin typeface="標楷體" pitchFamily="65" charset="-120"/>
              <a:ea typeface="標楷體" pitchFamily="65" charset="-120"/>
              <a:cs typeface="+mn-cs"/>
            </a:endParaRPr>
          </a:p>
          <a:p>
            <a:r>
              <a:rPr kumimoji="1" lang="zh-TW" altLang="en-US" sz="2400" kern="1200" dirty="0">
                <a:solidFill>
                  <a:schemeClr val="tx1"/>
                </a:solidFill>
                <a:latin typeface="標楷體" pitchFamily="65" charset="-120"/>
                <a:ea typeface="標楷體" pitchFamily="65" charset="-120"/>
                <a:cs typeface="+mn-cs"/>
              </a:rPr>
              <a:t>有可能為何？</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(A)</a:t>
            </a:r>
            <a:r>
              <a:rPr kumimoji="1" lang="zh-TW" altLang="en-US" sz="2400" kern="1200" dirty="0">
                <a:solidFill>
                  <a:schemeClr val="tx1"/>
                </a:solidFill>
                <a:latin typeface="標楷體" pitchFamily="65" charset="-120"/>
                <a:ea typeface="標楷體" pitchFamily="65" charset="-120"/>
                <a:cs typeface="+mn-cs"/>
              </a:rPr>
              <a:t>多為板塊擠壓區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(B)</a:t>
            </a:r>
            <a:r>
              <a:rPr kumimoji="1" lang="zh-TW" altLang="en-US" sz="2400" kern="1200" dirty="0">
                <a:solidFill>
                  <a:schemeClr val="tx1"/>
                </a:solidFill>
                <a:latin typeface="標楷體" pitchFamily="65" charset="-120"/>
                <a:ea typeface="標楷體" pitchFamily="65" charset="-120"/>
                <a:cs typeface="+mn-cs"/>
              </a:rPr>
              <a:t>多位處於盛行西風帶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(C)</a:t>
            </a:r>
            <a:r>
              <a:rPr kumimoji="1" lang="zh-TW" altLang="en-US" sz="2400" kern="1200" dirty="0">
                <a:solidFill>
                  <a:schemeClr val="tx1"/>
                </a:solidFill>
                <a:latin typeface="標楷體" pitchFamily="65" charset="-120"/>
                <a:ea typeface="標楷體" pitchFamily="65" charset="-120"/>
                <a:cs typeface="+mn-cs"/>
              </a:rPr>
              <a:t>多屬於山高谷深區　</a:t>
            </a:r>
            <a:endParaRPr kumimoji="1" lang="en-US" altLang="zh-TW" sz="2400" kern="1200" dirty="0">
              <a:solidFill>
                <a:schemeClr val="tx1"/>
              </a:solidFill>
              <a:latin typeface="標楷體" pitchFamily="65" charset="-120"/>
              <a:ea typeface="標楷體" pitchFamily="65" charset="-120"/>
              <a:cs typeface="+mn-cs"/>
            </a:endParaRPr>
          </a:p>
          <a:p>
            <a:endParaRPr kumimoji="1" lang="en-US" altLang="zh-TW" sz="2400" dirty="0">
              <a:solidFill>
                <a:schemeClr val="tx1"/>
              </a:solidFill>
              <a:latin typeface="Arial" charset="0"/>
              <a:ea typeface="標楷體" pitchFamily="65" charset="-120"/>
            </a:endParaRPr>
          </a:p>
        </p:txBody>
      </p:sp>
      <p:sp>
        <p:nvSpPr>
          <p:cNvPr id="7" name="Text Box 4"/>
          <p:cNvSpPr txBox="1">
            <a:spLocks noChangeArrowheads="1"/>
          </p:cNvSpPr>
          <p:nvPr/>
        </p:nvSpPr>
        <p:spPr bwMode="auto">
          <a:xfrm>
            <a:off x="600285" y="4059654"/>
            <a:ext cx="44644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(D)</a:t>
            </a:r>
            <a:r>
              <a:rPr lang="zh-TW" altLang="en-US" sz="2400" kern="1200" dirty="0">
                <a:latin typeface="標楷體" pitchFamily="65" charset="-120"/>
              </a:rPr>
              <a:t>多屬乾旱地區及高地氣候區</a:t>
            </a:r>
            <a:endParaRPr lang="en-US" altLang="zh-TW" sz="2400" dirty="0"/>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190702" y="6039156"/>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P.209</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11.</a:t>
            </a:r>
            <a:r>
              <a:rPr lang="zh-TW" altLang="en-US" sz="2000" dirty="0">
                <a:solidFill>
                  <a:schemeClr val="bg1"/>
                </a:solidFill>
                <a:latin typeface="Times New Roman" pitchFamily="18" charset="0"/>
              </a:rPr>
              <a:t>、</a:t>
            </a:r>
            <a:r>
              <a:rPr lang="en-US" altLang="zh-TW" sz="2000" dirty="0">
                <a:solidFill>
                  <a:schemeClr val="bg1"/>
                </a:solidFill>
                <a:latin typeface="Times New Roman" pitchFamily="18" charset="0"/>
              </a:rPr>
              <a:t>12. </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Rectangle 8"/>
          <p:cNvSpPr>
            <a:spLocks noChangeArrowheads="1"/>
          </p:cNvSpPr>
          <p:nvPr/>
        </p:nvSpPr>
        <p:spPr bwMode="auto">
          <a:xfrm>
            <a:off x="545495" y="4941168"/>
            <a:ext cx="659345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等值線數值超過 </a:t>
            </a:r>
            <a:r>
              <a:rPr kumimoji="1" lang="en-US" altLang="zh-TW" sz="2000" dirty="0">
                <a:solidFill>
                  <a:srgbClr val="FF0000"/>
                </a:solidFill>
                <a:latin typeface="標楷體" pitchFamily="65" charset="-120"/>
                <a:ea typeface="標楷體" pitchFamily="65" charset="-120"/>
              </a:rPr>
              <a:t>140 </a:t>
            </a:r>
            <a:r>
              <a:rPr kumimoji="1" lang="zh-TW" altLang="en-US" sz="2000" dirty="0">
                <a:solidFill>
                  <a:srgbClr val="FF0000"/>
                </a:solidFill>
                <a:latin typeface="標楷體" pitchFamily="65" charset="-120"/>
                <a:ea typeface="標楷體" pitchFamily="65" charset="-120"/>
              </a:rPr>
              <a:t>以上的地區，以所在位置可判斷多位於</a:t>
            </a:r>
            <a:r>
              <a:rPr kumimoji="1" lang="en-US" altLang="zh-TW" sz="2000" dirty="0">
                <a:solidFill>
                  <a:srgbClr val="FF0000"/>
                </a:solidFill>
                <a:latin typeface="標楷體" pitchFamily="65" charset="-120"/>
                <a:ea typeface="標楷體" pitchFamily="65" charset="-120"/>
              </a:rPr>
              <a:t>(D)</a:t>
            </a:r>
            <a:r>
              <a:rPr kumimoji="1" lang="zh-TW" altLang="en-US" sz="2000" dirty="0">
                <a:solidFill>
                  <a:srgbClr val="FF0000"/>
                </a:solidFill>
                <a:latin typeface="標楷體" pitchFamily="65" charset="-120"/>
                <a:ea typeface="標楷體" pitchFamily="65" charset="-120"/>
              </a:rPr>
              <a:t>乾旱地區和青藏高原地區，這些地區日照強烈，太陽輻射量豐富，可利用太陽能的潛力很大。</a:t>
            </a:r>
            <a:endParaRPr kumimoji="1" lang="zh-TW" altLang="en-US" sz="2000" kern="1200" dirty="0">
              <a:solidFill>
                <a:srgbClr val="FF0000"/>
              </a:solidFill>
              <a:latin typeface="Arial" charset="0"/>
              <a:ea typeface="標楷體" pitchFamily="65" charset="-120"/>
              <a:cs typeface="+mn-cs"/>
            </a:endParaRPr>
          </a:p>
        </p:txBody>
      </p:sp>
      <p:pic>
        <p:nvPicPr>
          <p:cNvPr id="1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4000"/>
          <a:stretch/>
        </p:blipFill>
        <p:spPr bwMode="auto">
          <a:xfrm>
            <a:off x="5080408" y="1667247"/>
            <a:ext cx="3906203" cy="3048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4601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7">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7">
                                            <p:txEl>
                                              <p:pRg st="0" end="0"/>
                                            </p:txEl>
                                          </p:spTgt>
                                        </p:tgtEl>
                                        <p:attrNameLst>
                                          <p:attrName>style.fontStyle</p:attrName>
                                        </p:attrNameLst>
                                      </p:cBhvr>
                                      <p:to>
                                        <p:strVal val="normal"/>
                                      </p:to>
                                    </p:set>
                                    <p:set>
                                      <p:cBhvr override="childStyle">
                                        <p:cTn id="9" dur="indefinite"/>
                                        <p:tgtEl>
                                          <p:spTgt spid="7">
                                            <p:txEl>
                                              <p:pRg st="0" end="0"/>
                                            </p:txEl>
                                          </p:spTgt>
                                        </p:tgtEl>
                                        <p:attrNameLst>
                                          <p:attrName>style.fontWeight</p:attrName>
                                        </p:attrNameLst>
                                      </p:cBhvr>
                                      <p:to>
                                        <p:strVal val="bold"/>
                                      </p:to>
                                    </p:set>
                                    <p:set>
                                      <p:cBhvr override="childStyle">
                                        <p:cTn id="10" dur="indefinite"/>
                                        <p:tgtEl>
                                          <p:spTgt spid="7">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4" y="1052736"/>
            <a:ext cx="8173789"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r>
              <a:rPr kumimoji="1" lang="zh-TW" altLang="en-US" sz="2000" kern="1200" dirty="0">
                <a:solidFill>
                  <a:schemeClr val="tx1"/>
                </a:solidFill>
                <a:latin typeface="新細明體"/>
                <a:ea typeface="新細明體"/>
                <a:cs typeface="+mn-cs"/>
              </a:rPr>
              <a:t>◎</a:t>
            </a:r>
            <a:r>
              <a:rPr kumimoji="1" lang="zh-TW" altLang="en-US" sz="2000" kern="1200" dirty="0">
                <a:solidFill>
                  <a:schemeClr val="tx1"/>
                </a:solidFill>
                <a:latin typeface="標楷體" pitchFamily="65" charset="-120"/>
                <a:ea typeface="標楷體" pitchFamily="65" charset="-120"/>
                <a:cs typeface="+mn-cs"/>
              </a:rPr>
              <a:t>中國社科院最近提出警告，中國正面臨數 </a:t>
            </a:r>
            <a:r>
              <a:rPr kumimoji="1" lang="en-US" altLang="zh-TW" sz="2000" kern="1200" dirty="0">
                <a:solidFill>
                  <a:schemeClr val="tx1"/>
                </a:solidFill>
                <a:latin typeface="標楷體" pitchFamily="65" charset="-120"/>
                <a:ea typeface="標楷體" pitchFamily="65" charset="-120"/>
                <a:cs typeface="+mn-cs"/>
              </a:rPr>
              <a:t>10 </a:t>
            </a:r>
            <a:r>
              <a:rPr kumimoji="1" lang="zh-TW" altLang="en-US" sz="2000" kern="1200" dirty="0">
                <a:solidFill>
                  <a:schemeClr val="tx1"/>
                </a:solidFill>
                <a:latin typeface="標楷體" pitchFamily="65" charset="-120"/>
                <a:ea typeface="標楷體" pitchFamily="65" charset="-120"/>
                <a:cs typeface="+mn-cs"/>
              </a:rPr>
              <a:t>年來最急劇的人口下降，最快在 </a:t>
            </a:r>
            <a:r>
              <a:rPr kumimoji="1" lang="en-US" altLang="zh-TW" sz="2000" kern="1200" dirty="0">
                <a:solidFill>
                  <a:schemeClr val="tx1"/>
                </a:solidFill>
                <a:latin typeface="標楷體" pitchFamily="65" charset="-120"/>
                <a:ea typeface="標楷體" pitchFamily="65" charset="-120"/>
                <a:cs typeface="+mn-cs"/>
              </a:rPr>
              <a:t>2027</a:t>
            </a:r>
            <a:r>
              <a:rPr kumimoji="1" lang="zh-TW" altLang="en-US" sz="2000" kern="1200" dirty="0">
                <a:solidFill>
                  <a:schemeClr val="tx1"/>
                </a:solidFill>
                <a:latin typeface="標楷體" pitchFamily="65" charset="-120"/>
                <a:ea typeface="標楷體" pitchFamily="65" charset="-120"/>
                <a:cs typeface="+mn-cs"/>
              </a:rPr>
              <a:t> 年將步入人口負成長時代。回顧中國人口政策，從 </a:t>
            </a:r>
            <a:r>
              <a:rPr kumimoji="1" lang="en-US" altLang="zh-TW" sz="2000" kern="1200" dirty="0">
                <a:solidFill>
                  <a:schemeClr val="tx1"/>
                </a:solidFill>
                <a:latin typeface="標楷體" pitchFamily="65" charset="-120"/>
                <a:ea typeface="標楷體" pitchFamily="65" charset="-120"/>
                <a:cs typeface="+mn-cs"/>
              </a:rPr>
              <a:t>1960 </a:t>
            </a:r>
            <a:r>
              <a:rPr kumimoji="1" lang="zh-TW" altLang="en-US" sz="2000" kern="1200" dirty="0">
                <a:solidFill>
                  <a:schemeClr val="tx1"/>
                </a:solidFill>
                <a:latin typeface="標楷體" pitchFamily="65" charset="-120"/>
                <a:ea typeface="標楷體" pitchFamily="65" charset="-120"/>
                <a:cs typeface="+mn-cs"/>
              </a:rPr>
              <a:t>年代「晚、稀、少」的計畫生育政策，</a:t>
            </a:r>
            <a:r>
              <a:rPr kumimoji="1" lang="en-US" altLang="zh-TW" sz="2000" kern="1200" dirty="0">
                <a:solidFill>
                  <a:schemeClr val="tx1"/>
                </a:solidFill>
                <a:latin typeface="標楷體" pitchFamily="65" charset="-120"/>
                <a:ea typeface="標楷體" pitchFamily="65" charset="-120"/>
                <a:cs typeface="+mn-cs"/>
              </a:rPr>
              <a:t>1970 </a:t>
            </a:r>
            <a:r>
              <a:rPr kumimoji="1" lang="zh-TW" altLang="en-US" sz="2000" kern="1200" dirty="0">
                <a:solidFill>
                  <a:schemeClr val="tx1"/>
                </a:solidFill>
                <a:latin typeface="標楷體" pitchFamily="65" charset="-120"/>
                <a:ea typeface="標楷體" pitchFamily="65" charset="-120"/>
                <a:cs typeface="+mn-cs"/>
              </a:rPr>
              <a:t>年代在全中國推行的「一胎化」政策，讓中國的總和生育率（每名婦女一生平均生子數）快速下滑，從 </a:t>
            </a:r>
            <a:r>
              <a:rPr kumimoji="1" lang="en-US" altLang="zh-TW" sz="2000" kern="1200" dirty="0">
                <a:solidFill>
                  <a:schemeClr val="tx1"/>
                </a:solidFill>
                <a:latin typeface="標楷體" pitchFamily="65" charset="-120"/>
                <a:ea typeface="標楷體" pitchFamily="65" charset="-120"/>
                <a:cs typeface="+mn-cs"/>
              </a:rPr>
              <a:t>1973 </a:t>
            </a:r>
            <a:r>
              <a:rPr kumimoji="1" lang="zh-TW" altLang="en-US" sz="2000" kern="1200" dirty="0">
                <a:solidFill>
                  <a:schemeClr val="tx1"/>
                </a:solidFill>
                <a:latin typeface="標楷體" pitchFamily="65" charset="-120"/>
                <a:ea typeface="標楷體" pitchFamily="65" charset="-120"/>
                <a:cs typeface="+mn-cs"/>
              </a:rPr>
              <a:t>年的 </a:t>
            </a:r>
            <a:r>
              <a:rPr kumimoji="1" lang="en-US" altLang="zh-TW" sz="2000" kern="1200" dirty="0">
                <a:solidFill>
                  <a:schemeClr val="tx1"/>
                </a:solidFill>
                <a:latin typeface="標楷體" pitchFamily="65" charset="-120"/>
                <a:ea typeface="標楷體" pitchFamily="65" charset="-120"/>
                <a:cs typeface="+mn-cs"/>
              </a:rPr>
              <a:t>4.54 </a:t>
            </a:r>
            <a:r>
              <a:rPr kumimoji="1" lang="zh-TW" altLang="en-US" sz="2000" kern="1200" dirty="0">
                <a:solidFill>
                  <a:schemeClr val="tx1"/>
                </a:solidFill>
                <a:latin typeface="標楷體" pitchFamily="65" charset="-120"/>
                <a:ea typeface="標楷體" pitchFamily="65" charset="-120"/>
                <a:cs typeface="+mn-cs"/>
              </a:rPr>
              <a:t>降至 </a:t>
            </a:r>
            <a:r>
              <a:rPr kumimoji="1" lang="en-US" altLang="zh-TW" sz="2000" kern="1200" dirty="0">
                <a:solidFill>
                  <a:schemeClr val="tx1"/>
                </a:solidFill>
                <a:latin typeface="標楷體" pitchFamily="65" charset="-120"/>
                <a:ea typeface="標楷體" pitchFamily="65" charset="-120"/>
                <a:cs typeface="+mn-cs"/>
              </a:rPr>
              <a:t>1990 </a:t>
            </a:r>
            <a:r>
              <a:rPr kumimoji="1" lang="zh-TW" altLang="en-US" sz="2000" kern="1200" dirty="0">
                <a:solidFill>
                  <a:schemeClr val="tx1"/>
                </a:solidFill>
                <a:latin typeface="標楷體" pitchFamily="65" charset="-120"/>
                <a:ea typeface="標楷體" pitchFamily="65" charset="-120"/>
                <a:cs typeface="+mn-cs"/>
              </a:rPr>
              <a:t>年的 </a:t>
            </a:r>
            <a:r>
              <a:rPr kumimoji="1" lang="en-US" altLang="zh-TW" sz="2000" kern="1200" dirty="0">
                <a:solidFill>
                  <a:schemeClr val="tx1"/>
                </a:solidFill>
                <a:latin typeface="標楷體" pitchFamily="65" charset="-120"/>
                <a:ea typeface="標楷體" pitchFamily="65" charset="-120"/>
                <a:cs typeface="+mn-cs"/>
              </a:rPr>
              <a:t>2.3</a:t>
            </a:r>
            <a:r>
              <a:rPr kumimoji="1" lang="zh-TW" altLang="en-US" sz="2000" kern="1200" dirty="0">
                <a:solidFill>
                  <a:schemeClr val="tx1"/>
                </a:solidFill>
                <a:latin typeface="標楷體" pitchFamily="65" charset="-120"/>
                <a:ea typeface="標楷體" pitchFamily="65" charset="-120"/>
                <a:cs typeface="+mn-cs"/>
              </a:rPr>
              <a:t>，到了 </a:t>
            </a:r>
            <a:r>
              <a:rPr kumimoji="1" lang="en-US" altLang="zh-TW" sz="2000" kern="1200" dirty="0">
                <a:solidFill>
                  <a:schemeClr val="tx1"/>
                </a:solidFill>
                <a:latin typeface="標楷體" pitchFamily="65" charset="-120"/>
                <a:ea typeface="標楷體" pitchFamily="65" charset="-120"/>
                <a:cs typeface="+mn-cs"/>
              </a:rPr>
              <a:t>2010 </a:t>
            </a:r>
            <a:r>
              <a:rPr kumimoji="1" lang="zh-TW" altLang="en-US" sz="2000" kern="1200" dirty="0">
                <a:solidFill>
                  <a:schemeClr val="tx1"/>
                </a:solidFill>
                <a:latin typeface="標楷體" pitchFamily="65" charset="-120"/>
                <a:ea typeface="標楷體" pitchFamily="65" charset="-120"/>
                <a:cs typeface="+mn-cs"/>
              </a:rPr>
              <a:t>年進一步</a:t>
            </a:r>
          </a:p>
          <a:p>
            <a:pPr indent="-457200"/>
            <a:r>
              <a:rPr kumimoji="1" lang="zh-TW" altLang="en-US" sz="2000" kern="1200" dirty="0">
                <a:solidFill>
                  <a:schemeClr val="tx1"/>
                </a:solidFill>
                <a:latin typeface="標楷體" pitchFamily="65" charset="-120"/>
                <a:ea typeface="標楷體" pitchFamily="65" charset="-120"/>
                <a:cs typeface="+mn-cs"/>
              </a:rPr>
              <a:t>降至 </a:t>
            </a:r>
            <a:r>
              <a:rPr kumimoji="1" lang="en-US" altLang="zh-TW" sz="2000" kern="1200" dirty="0">
                <a:solidFill>
                  <a:schemeClr val="tx1"/>
                </a:solidFill>
                <a:latin typeface="標楷體" pitchFamily="65" charset="-120"/>
                <a:ea typeface="標楷體" pitchFamily="65" charset="-120"/>
                <a:cs typeface="+mn-cs"/>
              </a:rPr>
              <a:t>1.5</a:t>
            </a:r>
            <a:r>
              <a:rPr kumimoji="1" lang="zh-TW" altLang="en-US" sz="2000" kern="1200" dirty="0">
                <a:solidFill>
                  <a:schemeClr val="tx1"/>
                </a:solidFill>
                <a:latin typeface="標楷體" pitchFamily="65" charset="-120"/>
                <a:ea typeface="標楷體" pitchFamily="65" charset="-120"/>
                <a:cs typeface="+mn-cs"/>
              </a:rPr>
              <a:t>。邁入 </a:t>
            </a:r>
            <a:r>
              <a:rPr kumimoji="1" lang="en-US" altLang="zh-TW" sz="2000" kern="1200" dirty="0">
                <a:solidFill>
                  <a:schemeClr val="tx1"/>
                </a:solidFill>
                <a:latin typeface="標楷體" pitchFamily="65" charset="-120"/>
                <a:ea typeface="標楷體" pitchFamily="65" charset="-120"/>
                <a:cs typeface="+mn-cs"/>
              </a:rPr>
              <a:t>21 </a:t>
            </a:r>
            <a:r>
              <a:rPr kumimoji="1" lang="zh-TW" altLang="en-US" sz="2000" kern="1200" dirty="0">
                <a:solidFill>
                  <a:schemeClr val="tx1"/>
                </a:solidFill>
                <a:latin typeface="標楷體" pitchFamily="65" charset="-120"/>
                <a:ea typeface="標楷體" pitchFamily="65" charset="-120"/>
                <a:cs typeface="+mn-cs"/>
              </a:rPr>
              <a:t>世紀後，中國雖仍以 </a:t>
            </a:r>
            <a:r>
              <a:rPr kumimoji="1" lang="en-US" altLang="zh-TW" sz="2000" kern="1200" dirty="0">
                <a:solidFill>
                  <a:schemeClr val="tx1"/>
                </a:solidFill>
                <a:latin typeface="標楷體" pitchFamily="65" charset="-120"/>
                <a:ea typeface="標楷體" pitchFamily="65" charset="-120"/>
                <a:cs typeface="+mn-cs"/>
              </a:rPr>
              <a:t>13 </a:t>
            </a:r>
            <a:r>
              <a:rPr kumimoji="1" lang="zh-TW" altLang="en-US" sz="2000" kern="1200" dirty="0">
                <a:solidFill>
                  <a:schemeClr val="tx1"/>
                </a:solidFill>
                <a:latin typeface="標楷體" pitchFamily="65" charset="-120"/>
                <a:ea typeface="標楷體" pitchFamily="65" charset="-120"/>
                <a:cs typeface="+mn-cs"/>
              </a:rPr>
              <a:t>億人口居全球之冠，但停滯的人口成長和老齡化加速，「人口紅利」正逐漸消失。因此，</a:t>
            </a:r>
            <a:r>
              <a:rPr kumimoji="1" lang="en-US" altLang="zh-TW" sz="2000" kern="1200" dirty="0">
                <a:solidFill>
                  <a:schemeClr val="tx1"/>
                </a:solidFill>
                <a:latin typeface="標楷體" pitchFamily="65" charset="-120"/>
                <a:ea typeface="標楷體" pitchFamily="65" charset="-120"/>
                <a:cs typeface="+mn-cs"/>
              </a:rPr>
              <a:t>2013 </a:t>
            </a:r>
            <a:r>
              <a:rPr kumimoji="1" lang="zh-TW" altLang="en-US" sz="2000" kern="1200" dirty="0">
                <a:solidFill>
                  <a:schemeClr val="tx1"/>
                </a:solidFill>
                <a:latin typeface="標楷體" pitchFamily="65" charset="-120"/>
                <a:ea typeface="標楷體" pitchFamily="65" charset="-120"/>
                <a:cs typeface="+mn-cs"/>
              </a:rPr>
              <a:t>年的中國實行「單獨二孩」（一方是獨生子女的夫婦可生育第一個子女），</a:t>
            </a:r>
            <a:r>
              <a:rPr kumimoji="1" lang="en-US" altLang="zh-TW" sz="2000" kern="1200" dirty="0">
                <a:solidFill>
                  <a:schemeClr val="tx1"/>
                </a:solidFill>
                <a:latin typeface="標楷體" pitchFamily="65" charset="-120"/>
                <a:ea typeface="標楷體" pitchFamily="65" charset="-120"/>
                <a:cs typeface="+mn-cs"/>
              </a:rPr>
              <a:t>2015 </a:t>
            </a:r>
            <a:r>
              <a:rPr kumimoji="1" lang="zh-TW" altLang="en-US" sz="2000" kern="1200" dirty="0">
                <a:solidFill>
                  <a:schemeClr val="tx1"/>
                </a:solidFill>
                <a:latin typeface="標楷體" pitchFamily="65" charset="-120"/>
                <a:ea typeface="標楷體" pitchFamily="65" charset="-120"/>
                <a:cs typeface="+mn-cs"/>
              </a:rPr>
              <a:t>年進一步開放「全面二孩」政策，讓推行逾 </a:t>
            </a:r>
            <a:r>
              <a:rPr kumimoji="1" lang="en-US" altLang="zh-TW" sz="2000" kern="1200" dirty="0">
                <a:solidFill>
                  <a:schemeClr val="tx1"/>
                </a:solidFill>
                <a:latin typeface="標楷體" pitchFamily="65" charset="-120"/>
                <a:ea typeface="標楷體" pitchFamily="65" charset="-120"/>
                <a:cs typeface="+mn-cs"/>
              </a:rPr>
              <a:t>40 </a:t>
            </a:r>
            <a:r>
              <a:rPr kumimoji="1" lang="zh-TW" altLang="en-US" sz="2000" kern="1200" dirty="0">
                <a:solidFill>
                  <a:schemeClr val="tx1"/>
                </a:solidFill>
                <a:latin typeface="標楷體" pitchFamily="65" charset="-120"/>
                <a:ea typeface="標楷體" pitchFamily="65" charset="-120"/>
                <a:cs typeface="+mn-cs"/>
              </a:rPr>
              <a:t>年的「一胎化」政策正式走入歷史。中國認為「全面二孩」新政，可以緩解日</a:t>
            </a:r>
          </a:p>
          <a:p>
            <a:pPr indent="-457200"/>
            <a:r>
              <a:rPr kumimoji="1" lang="zh-TW" altLang="en-US" sz="2000" kern="1200" dirty="0">
                <a:solidFill>
                  <a:schemeClr val="tx1"/>
                </a:solidFill>
                <a:latin typeface="標楷體" pitchFamily="65" charset="-120"/>
                <a:ea typeface="標楷體" pitchFamily="65" charset="-120"/>
                <a:cs typeface="+mn-cs"/>
              </a:rPr>
              <a:t>益沉重的人口問題，但從實際數據來看，在 </a:t>
            </a:r>
            <a:r>
              <a:rPr kumimoji="1" lang="en-US" altLang="zh-TW" sz="2000" kern="1200" dirty="0">
                <a:solidFill>
                  <a:schemeClr val="tx1"/>
                </a:solidFill>
                <a:latin typeface="標楷體" pitchFamily="65" charset="-120"/>
                <a:ea typeface="標楷體" pitchFamily="65" charset="-120"/>
                <a:cs typeface="+mn-cs"/>
              </a:rPr>
              <a:t>2016 </a:t>
            </a:r>
            <a:r>
              <a:rPr kumimoji="1" lang="zh-TW" altLang="en-US" sz="2000" kern="1200" dirty="0">
                <a:solidFill>
                  <a:schemeClr val="tx1"/>
                </a:solidFill>
                <a:latin typeface="標楷體" pitchFamily="65" charset="-120"/>
                <a:ea typeface="標楷體" pitchFamily="65" charset="-120"/>
                <a:cs typeface="+mn-cs"/>
              </a:rPr>
              <a:t>年出生人口達 </a:t>
            </a:r>
            <a:r>
              <a:rPr kumimoji="1" lang="en-US" altLang="zh-TW" sz="2000" kern="1200" dirty="0">
                <a:solidFill>
                  <a:schemeClr val="tx1"/>
                </a:solidFill>
                <a:latin typeface="標楷體" pitchFamily="65" charset="-120"/>
                <a:ea typeface="標楷體" pitchFamily="65" charset="-120"/>
                <a:cs typeface="+mn-cs"/>
              </a:rPr>
              <a:t>1,786 </a:t>
            </a:r>
            <a:r>
              <a:rPr kumimoji="1" lang="zh-TW" altLang="en-US" sz="2000" kern="1200" dirty="0">
                <a:solidFill>
                  <a:schemeClr val="tx1"/>
                </a:solidFill>
                <a:latin typeface="標楷體" pitchFamily="65" charset="-120"/>
                <a:ea typeface="標楷體" pitchFamily="65" charset="-120"/>
                <a:cs typeface="+mn-cs"/>
              </a:rPr>
              <a:t>萬人，創 </a:t>
            </a:r>
            <a:r>
              <a:rPr kumimoji="1" lang="en-US" altLang="zh-TW" sz="2000" kern="1200" dirty="0">
                <a:solidFill>
                  <a:schemeClr val="tx1"/>
                </a:solidFill>
                <a:latin typeface="標楷體" pitchFamily="65" charset="-120"/>
                <a:ea typeface="標楷體" pitchFamily="65" charset="-120"/>
                <a:cs typeface="+mn-cs"/>
              </a:rPr>
              <a:t>2000 </a:t>
            </a:r>
            <a:r>
              <a:rPr kumimoji="1" lang="zh-TW" altLang="en-US" sz="2000" kern="1200" dirty="0">
                <a:solidFill>
                  <a:schemeClr val="tx1"/>
                </a:solidFill>
                <a:latin typeface="標楷體" pitchFamily="65" charset="-120"/>
                <a:ea typeface="標楷體" pitchFamily="65" charset="-120"/>
                <a:cs typeface="+mn-cs"/>
              </a:rPr>
              <a:t>年來最高峰，之後便反轉直下。</a:t>
            </a:r>
            <a:endParaRPr kumimoji="1" lang="en-US" altLang="zh-TW" sz="2000" kern="1200" dirty="0">
              <a:solidFill>
                <a:schemeClr val="tx1"/>
              </a:solidFill>
              <a:latin typeface="標楷體" pitchFamily="65" charset="-120"/>
              <a:ea typeface="標楷體" pitchFamily="65" charset="-120"/>
              <a:cs typeface="+mn-cs"/>
            </a:endParaRPr>
          </a:p>
          <a:p>
            <a:r>
              <a:rPr kumimoji="1" lang="en-US" altLang="zh-TW" sz="2000" kern="1200" dirty="0">
                <a:solidFill>
                  <a:schemeClr val="tx1"/>
                </a:solidFill>
                <a:latin typeface="標楷體" pitchFamily="65" charset="-120"/>
                <a:ea typeface="標楷體" pitchFamily="65" charset="-120"/>
                <a:cs typeface="+mn-cs"/>
              </a:rPr>
              <a:t>1.</a:t>
            </a:r>
            <a:r>
              <a:rPr kumimoji="1" lang="zh-TW" altLang="en-US" sz="2000" kern="1200" dirty="0">
                <a:solidFill>
                  <a:schemeClr val="tx1"/>
                </a:solidFill>
                <a:latin typeface="標楷體" pitchFamily="65" charset="-120"/>
                <a:ea typeface="標楷體" pitchFamily="65" charset="-120"/>
                <a:cs typeface="+mn-cs"/>
              </a:rPr>
              <a:t>「中國認為</a:t>
            </a:r>
            <a:r>
              <a:rPr kumimoji="1" lang="en-US" altLang="zh-TW" sz="2000" kern="1200" dirty="0">
                <a:solidFill>
                  <a:schemeClr val="tx1"/>
                </a:solidFill>
                <a:latin typeface="標楷體" pitchFamily="65" charset="-120"/>
                <a:ea typeface="標楷體" pitchFamily="65" charset="-120"/>
                <a:cs typeface="+mn-cs"/>
              </a:rPr>
              <a:t>『</a:t>
            </a:r>
            <a:r>
              <a:rPr kumimoji="1" lang="zh-TW" altLang="en-US" sz="2000" kern="1200" dirty="0">
                <a:solidFill>
                  <a:schemeClr val="tx1"/>
                </a:solidFill>
                <a:latin typeface="標楷體" pitchFamily="65" charset="-120"/>
                <a:ea typeface="標楷體" pitchFamily="65" charset="-120"/>
                <a:cs typeface="+mn-cs"/>
              </a:rPr>
              <a:t>全面二孩</a:t>
            </a:r>
            <a:r>
              <a:rPr kumimoji="1" lang="en-US" altLang="zh-TW" sz="2000" kern="1200" dirty="0">
                <a:solidFill>
                  <a:schemeClr val="tx1"/>
                </a:solidFill>
                <a:latin typeface="標楷體" pitchFamily="65" charset="-120"/>
                <a:ea typeface="標楷體" pitchFamily="65" charset="-120"/>
                <a:cs typeface="+mn-cs"/>
              </a:rPr>
              <a:t>』</a:t>
            </a:r>
            <a:r>
              <a:rPr kumimoji="1" lang="zh-TW" altLang="en-US" sz="2000" kern="1200" dirty="0">
                <a:solidFill>
                  <a:schemeClr val="tx1"/>
                </a:solidFill>
                <a:latin typeface="標楷體" pitchFamily="65" charset="-120"/>
                <a:ea typeface="標楷體" pitchFamily="65" charset="-120"/>
                <a:cs typeface="+mn-cs"/>
              </a:rPr>
              <a:t>新政，可以緩解日益沉重的人口問題」，上述中的人口問題主要為下列何者？</a:t>
            </a:r>
            <a:r>
              <a:rPr kumimoji="1" lang="en-US" altLang="zh-TW" sz="2000" kern="1200" dirty="0">
                <a:solidFill>
                  <a:schemeClr val="tx1"/>
                </a:solidFill>
                <a:latin typeface="標楷體" pitchFamily="65" charset="-120"/>
                <a:ea typeface="標楷體" pitchFamily="65" charset="-120"/>
                <a:cs typeface="+mn-cs"/>
              </a:rPr>
              <a:t>(</a:t>
            </a:r>
            <a:r>
              <a:rPr kumimoji="1" lang="zh-TW" altLang="en-US" sz="2000" kern="1200" dirty="0">
                <a:solidFill>
                  <a:schemeClr val="tx1"/>
                </a:solidFill>
                <a:latin typeface="標楷體" pitchFamily="65" charset="-120"/>
                <a:ea typeface="標楷體" pitchFamily="65" charset="-120"/>
                <a:cs typeface="+mn-cs"/>
              </a:rPr>
              <a:t>甲</a:t>
            </a:r>
            <a:r>
              <a:rPr kumimoji="1" lang="en-US" altLang="zh-TW" sz="2000" kern="1200" dirty="0">
                <a:solidFill>
                  <a:schemeClr val="tx1"/>
                </a:solidFill>
                <a:latin typeface="標楷體" pitchFamily="65" charset="-120"/>
                <a:ea typeface="標楷體" pitchFamily="65" charset="-120"/>
                <a:cs typeface="+mn-cs"/>
              </a:rPr>
              <a:t>)</a:t>
            </a:r>
            <a:r>
              <a:rPr kumimoji="1" lang="zh-TW" altLang="en-US" sz="2000" kern="1200" dirty="0">
                <a:solidFill>
                  <a:schemeClr val="tx1"/>
                </a:solidFill>
                <a:latin typeface="標楷體" pitchFamily="65" charset="-120"/>
                <a:ea typeface="標楷體" pitchFamily="65" charset="-120"/>
                <a:cs typeface="+mn-cs"/>
              </a:rPr>
              <a:t>人口分布不均</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rPr>
              <a:t>乙</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cs typeface="+mn-cs"/>
              </a:rPr>
              <a:t>性別比失衡</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rPr>
              <a:t>丙</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cs typeface="+mn-cs"/>
              </a:rPr>
              <a:t>勞動力不足</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rPr>
              <a:t>丁</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cs typeface="+mn-cs"/>
              </a:rPr>
              <a:t>人口老化　</a:t>
            </a:r>
            <a:endParaRPr kumimoji="1" lang="en-US" altLang="zh-TW" sz="2000" kern="1200" dirty="0">
              <a:solidFill>
                <a:schemeClr val="tx1"/>
              </a:solidFill>
              <a:latin typeface="標楷體" pitchFamily="65" charset="-120"/>
              <a:ea typeface="標楷體" pitchFamily="65" charset="-120"/>
              <a:cs typeface="+mn-cs"/>
            </a:endParaRPr>
          </a:p>
          <a:p>
            <a:r>
              <a:rPr kumimoji="1" lang="en-US" altLang="zh-TW" sz="2000" kern="1200" dirty="0">
                <a:solidFill>
                  <a:schemeClr val="tx1"/>
                </a:solidFill>
                <a:latin typeface="標楷體" pitchFamily="65" charset="-120"/>
                <a:ea typeface="標楷體" pitchFamily="65" charset="-120"/>
                <a:cs typeface="+mn-cs"/>
              </a:rPr>
              <a:t>(A)</a:t>
            </a:r>
            <a:r>
              <a:rPr kumimoji="1" lang="zh-TW" altLang="en-US" sz="2000" kern="1200" dirty="0">
                <a:solidFill>
                  <a:schemeClr val="tx1"/>
                </a:solidFill>
                <a:latin typeface="標楷體" pitchFamily="65" charset="-120"/>
                <a:ea typeface="標楷體" pitchFamily="65" charset="-120"/>
                <a:cs typeface="+mn-cs"/>
              </a:rPr>
              <a:t>甲乙　     </a:t>
            </a:r>
            <a:r>
              <a:rPr kumimoji="1" lang="en-US" altLang="zh-TW" sz="2000" kern="1200" dirty="0">
                <a:solidFill>
                  <a:schemeClr val="tx1"/>
                </a:solidFill>
                <a:latin typeface="標楷體" pitchFamily="65" charset="-120"/>
                <a:ea typeface="標楷體" pitchFamily="65" charset="-120"/>
                <a:cs typeface="+mn-cs"/>
              </a:rPr>
              <a:t>(B)</a:t>
            </a:r>
            <a:r>
              <a:rPr kumimoji="1" lang="zh-TW" altLang="en-US" sz="2000" kern="1200" dirty="0">
                <a:solidFill>
                  <a:schemeClr val="tx1"/>
                </a:solidFill>
                <a:latin typeface="標楷體" pitchFamily="65" charset="-120"/>
                <a:ea typeface="標楷體" pitchFamily="65" charset="-120"/>
                <a:cs typeface="+mn-cs"/>
              </a:rPr>
              <a:t>乙丙　            　     </a:t>
            </a:r>
            <a:r>
              <a:rPr kumimoji="1" lang="en-US" altLang="zh-TW" sz="2000" kern="1200" dirty="0">
                <a:solidFill>
                  <a:schemeClr val="tx1"/>
                </a:solidFill>
                <a:latin typeface="標楷體" pitchFamily="65" charset="-120"/>
                <a:ea typeface="標楷體" pitchFamily="65" charset="-120"/>
                <a:cs typeface="+mn-cs"/>
              </a:rPr>
              <a:t>(D)</a:t>
            </a:r>
            <a:r>
              <a:rPr kumimoji="1" lang="zh-TW" altLang="en-US" sz="2000" kern="1200" dirty="0">
                <a:solidFill>
                  <a:schemeClr val="tx1"/>
                </a:solidFill>
                <a:latin typeface="標楷體" pitchFamily="65" charset="-120"/>
                <a:ea typeface="標楷體" pitchFamily="65" charset="-120"/>
                <a:cs typeface="+mn-cs"/>
              </a:rPr>
              <a:t>甲丁</a:t>
            </a:r>
            <a:endParaRPr kumimoji="1" lang="en-US" altLang="zh-TW" sz="2000" kern="1200" dirty="0">
              <a:solidFill>
                <a:schemeClr val="tx1"/>
              </a:solidFill>
              <a:latin typeface="標楷體" pitchFamily="65" charset="-120"/>
              <a:ea typeface="標楷體" pitchFamily="65" charset="-120"/>
              <a:cs typeface="+mn-cs"/>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190702" y="6039156"/>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P.211</a:t>
            </a:r>
            <a:r>
              <a:rPr lang="zh-TW" altLang="en-US" sz="2000" dirty="0">
                <a:solidFill>
                  <a:schemeClr val="bg1"/>
                </a:solidFill>
                <a:latin typeface="Times New Roman" pitchFamily="18" charset="0"/>
              </a:rPr>
              <a:t>混合題第 </a:t>
            </a:r>
            <a:r>
              <a:rPr lang="en-US" altLang="zh-TW" sz="2000" dirty="0">
                <a:solidFill>
                  <a:schemeClr val="bg1"/>
                </a:solidFill>
                <a:latin typeface="Times New Roman" pitchFamily="18" charset="0"/>
              </a:rPr>
              <a:t>1.</a:t>
            </a:r>
            <a:r>
              <a:rPr lang="zh-TW" altLang="en-US" sz="2000" dirty="0">
                <a:solidFill>
                  <a:schemeClr val="bg1"/>
                </a:solidFill>
                <a:latin typeface="Times New Roman" pitchFamily="18" charset="0"/>
              </a:rPr>
              <a:t>、</a:t>
            </a:r>
            <a:r>
              <a:rPr lang="en-US" altLang="zh-TW" sz="2000" dirty="0">
                <a:solidFill>
                  <a:schemeClr val="bg1"/>
                </a:solidFill>
                <a:latin typeface="Times New Roman" pitchFamily="18" charset="0"/>
              </a:rPr>
              <a:t>2.</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8" name="Text Box 4"/>
          <p:cNvSpPr txBox="1">
            <a:spLocks noChangeArrowheads="1"/>
          </p:cNvSpPr>
          <p:nvPr/>
        </p:nvSpPr>
        <p:spPr bwMode="auto">
          <a:xfrm>
            <a:off x="4283968" y="5618230"/>
            <a:ext cx="1080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pPr eaLnBrk="1" hangingPunct="1"/>
            <a:r>
              <a:rPr lang="en-US" altLang="zh-TW" sz="2000" dirty="0">
                <a:latin typeface="標楷體" pitchFamily="65" charset="-120"/>
              </a:rPr>
              <a:t>(C)</a:t>
            </a:r>
            <a:r>
              <a:rPr lang="zh-TW" altLang="en-US" sz="2000" kern="1200" dirty="0">
                <a:latin typeface="標楷體" pitchFamily="65" charset="-120"/>
              </a:rPr>
              <a:t>丙丁</a:t>
            </a:r>
            <a:endParaRPr lang="zh-TW" altLang="en-US" sz="2000" dirty="0">
              <a:latin typeface="標楷體" pitchFamily="65" charset="-120"/>
            </a:endParaRPr>
          </a:p>
        </p:txBody>
      </p:sp>
      <p:sp>
        <p:nvSpPr>
          <p:cNvPr id="10" name="Rectangle 8"/>
          <p:cNvSpPr>
            <a:spLocks noChangeArrowheads="1"/>
          </p:cNvSpPr>
          <p:nvPr/>
        </p:nvSpPr>
        <p:spPr bwMode="auto">
          <a:xfrm>
            <a:off x="574674" y="6018340"/>
            <a:ext cx="658961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從題幹敘述可得知，「全面二孩」目的在解決因一胎化政策所造成的勞動力不足與人口老化的問題，故選</a:t>
            </a:r>
            <a:r>
              <a:rPr kumimoji="1" lang="en-US" altLang="zh-TW" sz="2000" dirty="0">
                <a:solidFill>
                  <a:srgbClr val="FF0000"/>
                </a:solidFill>
                <a:latin typeface="標楷體" pitchFamily="65" charset="-120"/>
                <a:ea typeface="標楷體" pitchFamily="65" charset="-120"/>
              </a:rPr>
              <a:t>(C)</a:t>
            </a:r>
            <a:r>
              <a:rPr kumimoji="1" lang="zh-TW" altLang="en-US" sz="2000" dirty="0">
                <a:solidFill>
                  <a:srgbClr val="FF0000"/>
                </a:solidFill>
                <a:latin typeface="標楷體" pitchFamily="65" charset="-120"/>
                <a:ea typeface="標楷體" pitchFamily="65" charset="-120"/>
              </a:rPr>
              <a:t>。</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58246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8">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8">
                                            <p:txEl>
                                              <p:pRg st="0" end="0"/>
                                            </p:txEl>
                                          </p:spTgt>
                                        </p:tgtEl>
                                        <p:attrNameLst>
                                          <p:attrName>style.fontStyle</p:attrName>
                                        </p:attrNameLst>
                                      </p:cBhvr>
                                      <p:to>
                                        <p:strVal val="normal"/>
                                      </p:to>
                                    </p:set>
                                    <p:set>
                                      <p:cBhvr override="childStyle">
                                        <p:cTn id="9" dur="indefinite"/>
                                        <p:tgtEl>
                                          <p:spTgt spid="8">
                                            <p:txEl>
                                              <p:pRg st="0" end="0"/>
                                            </p:txEl>
                                          </p:spTgt>
                                        </p:tgtEl>
                                        <p:attrNameLst>
                                          <p:attrName>style.fontWeight</p:attrName>
                                        </p:attrNameLst>
                                      </p:cBhvr>
                                      <p:to>
                                        <p:strVal val="bold"/>
                                      </p:to>
                                    </p:set>
                                    <p:set>
                                      <p:cBhvr override="childStyle">
                                        <p:cTn id="10" dur="indefinite"/>
                                        <p:tgtEl>
                                          <p:spTgt spid="8">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4" y="1052736"/>
            <a:ext cx="817378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r>
              <a:rPr kumimoji="1" lang="zh-TW" altLang="en-US" sz="1800" kern="1200" dirty="0">
                <a:solidFill>
                  <a:schemeClr val="tx1"/>
                </a:solidFill>
                <a:latin typeface="標楷體" pitchFamily="65" charset="-120"/>
                <a:ea typeface="標楷體" pitchFamily="65" charset="-120"/>
                <a:cs typeface="+mn-cs"/>
              </a:rPr>
              <a:t>中國社科院最近提出警告，中國正面臨數 </a:t>
            </a:r>
            <a:r>
              <a:rPr kumimoji="1" lang="en-US" altLang="zh-TW" sz="1800" kern="1200" dirty="0">
                <a:solidFill>
                  <a:schemeClr val="tx1"/>
                </a:solidFill>
                <a:latin typeface="標楷體" pitchFamily="65" charset="-120"/>
                <a:ea typeface="標楷體" pitchFamily="65" charset="-120"/>
                <a:cs typeface="+mn-cs"/>
              </a:rPr>
              <a:t>10 </a:t>
            </a:r>
            <a:r>
              <a:rPr kumimoji="1" lang="zh-TW" altLang="en-US" sz="1800" kern="1200" dirty="0">
                <a:solidFill>
                  <a:schemeClr val="tx1"/>
                </a:solidFill>
                <a:latin typeface="標楷體" pitchFamily="65" charset="-120"/>
                <a:ea typeface="標楷體" pitchFamily="65" charset="-120"/>
                <a:cs typeface="+mn-cs"/>
              </a:rPr>
              <a:t>年來最急劇的人口下降，最快在 </a:t>
            </a:r>
            <a:r>
              <a:rPr kumimoji="1" lang="en-US" altLang="zh-TW" sz="1800" kern="1200" dirty="0">
                <a:solidFill>
                  <a:schemeClr val="tx1"/>
                </a:solidFill>
                <a:latin typeface="標楷體" pitchFamily="65" charset="-120"/>
                <a:ea typeface="標楷體" pitchFamily="65" charset="-120"/>
                <a:cs typeface="+mn-cs"/>
              </a:rPr>
              <a:t>2027</a:t>
            </a:r>
            <a:r>
              <a:rPr kumimoji="1" lang="zh-TW" altLang="en-US" sz="1800" kern="1200" dirty="0">
                <a:solidFill>
                  <a:schemeClr val="tx1"/>
                </a:solidFill>
                <a:latin typeface="標楷體" pitchFamily="65" charset="-120"/>
                <a:ea typeface="標楷體" pitchFamily="65" charset="-120"/>
                <a:cs typeface="+mn-cs"/>
              </a:rPr>
              <a:t> 年將步入人口負成長時代。回顧中國人口政策，從 </a:t>
            </a:r>
            <a:r>
              <a:rPr kumimoji="1" lang="en-US" altLang="zh-TW" sz="1800" kern="1200" dirty="0">
                <a:solidFill>
                  <a:schemeClr val="tx1"/>
                </a:solidFill>
                <a:latin typeface="標楷體" pitchFamily="65" charset="-120"/>
                <a:ea typeface="標楷體" pitchFamily="65" charset="-120"/>
                <a:cs typeface="+mn-cs"/>
              </a:rPr>
              <a:t>1960 </a:t>
            </a:r>
            <a:r>
              <a:rPr kumimoji="1" lang="zh-TW" altLang="en-US" sz="1800" kern="1200" dirty="0">
                <a:solidFill>
                  <a:schemeClr val="tx1"/>
                </a:solidFill>
                <a:latin typeface="標楷體" pitchFamily="65" charset="-120"/>
                <a:ea typeface="標楷體" pitchFamily="65" charset="-120"/>
                <a:cs typeface="+mn-cs"/>
              </a:rPr>
              <a:t>年代「晚、稀、少」的計畫生育政策，</a:t>
            </a:r>
            <a:r>
              <a:rPr kumimoji="1" lang="en-US" altLang="zh-TW" sz="1800" kern="1200" dirty="0">
                <a:solidFill>
                  <a:schemeClr val="tx1"/>
                </a:solidFill>
                <a:latin typeface="標楷體" pitchFamily="65" charset="-120"/>
                <a:ea typeface="標楷體" pitchFamily="65" charset="-120"/>
                <a:cs typeface="+mn-cs"/>
              </a:rPr>
              <a:t>1970 </a:t>
            </a:r>
            <a:r>
              <a:rPr kumimoji="1" lang="zh-TW" altLang="en-US" sz="1800" kern="1200" dirty="0">
                <a:solidFill>
                  <a:schemeClr val="tx1"/>
                </a:solidFill>
                <a:latin typeface="標楷體" pitchFamily="65" charset="-120"/>
                <a:ea typeface="標楷體" pitchFamily="65" charset="-120"/>
                <a:cs typeface="+mn-cs"/>
              </a:rPr>
              <a:t>年代在全中國推行的「一胎化」政策，讓中國的總和生育率（每名婦女一生平均生子數）快速下滑，從 </a:t>
            </a:r>
            <a:r>
              <a:rPr kumimoji="1" lang="en-US" altLang="zh-TW" sz="1800" kern="1200" dirty="0">
                <a:solidFill>
                  <a:schemeClr val="tx1"/>
                </a:solidFill>
                <a:latin typeface="標楷體" pitchFamily="65" charset="-120"/>
                <a:ea typeface="標楷體" pitchFamily="65" charset="-120"/>
                <a:cs typeface="+mn-cs"/>
              </a:rPr>
              <a:t>1973 </a:t>
            </a:r>
            <a:r>
              <a:rPr kumimoji="1" lang="zh-TW" altLang="en-US" sz="1800" kern="1200" dirty="0">
                <a:solidFill>
                  <a:schemeClr val="tx1"/>
                </a:solidFill>
                <a:latin typeface="標楷體" pitchFamily="65" charset="-120"/>
                <a:ea typeface="標楷體" pitchFamily="65" charset="-120"/>
                <a:cs typeface="+mn-cs"/>
              </a:rPr>
              <a:t>年的 </a:t>
            </a:r>
            <a:r>
              <a:rPr kumimoji="1" lang="en-US" altLang="zh-TW" sz="1800" kern="1200" dirty="0">
                <a:solidFill>
                  <a:schemeClr val="tx1"/>
                </a:solidFill>
                <a:latin typeface="標楷體" pitchFamily="65" charset="-120"/>
                <a:ea typeface="標楷體" pitchFamily="65" charset="-120"/>
                <a:cs typeface="+mn-cs"/>
              </a:rPr>
              <a:t>4.54 </a:t>
            </a:r>
            <a:r>
              <a:rPr kumimoji="1" lang="zh-TW" altLang="en-US" sz="1800" kern="1200" dirty="0">
                <a:solidFill>
                  <a:schemeClr val="tx1"/>
                </a:solidFill>
                <a:latin typeface="標楷體" pitchFamily="65" charset="-120"/>
                <a:ea typeface="標楷體" pitchFamily="65" charset="-120"/>
                <a:cs typeface="+mn-cs"/>
              </a:rPr>
              <a:t>降至 </a:t>
            </a:r>
            <a:r>
              <a:rPr kumimoji="1" lang="en-US" altLang="zh-TW" sz="1800" kern="1200" dirty="0">
                <a:solidFill>
                  <a:schemeClr val="tx1"/>
                </a:solidFill>
                <a:latin typeface="標楷體" pitchFamily="65" charset="-120"/>
                <a:ea typeface="標楷體" pitchFamily="65" charset="-120"/>
                <a:cs typeface="+mn-cs"/>
              </a:rPr>
              <a:t>1990 </a:t>
            </a:r>
            <a:r>
              <a:rPr kumimoji="1" lang="zh-TW" altLang="en-US" sz="1800" kern="1200" dirty="0">
                <a:solidFill>
                  <a:schemeClr val="tx1"/>
                </a:solidFill>
                <a:latin typeface="標楷體" pitchFamily="65" charset="-120"/>
                <a:ea typeface="標楷體" pitchFamily="65" charset="-120"/>
                <a:cs typeface="+mn-cs"/>
              </a:rPr>
              <a:t>年的 </a:t>
            </a:r>
            <a:r>
              <a:rPr kumimoji="1" lang="en-US" altLang="zh-TW" sz="1800" kern="1200" dirty="0">
                <a:solidFill>
                  <a:schemeClr val="tx1"/>
                </a:solidFill>
                <a:latin typeface="標楷體" pitchFamily="65" charset="-120"/>
                <a:ea typeface="標楷體" pitchFamily="65" charset="-120"/>
                <a:cs typeface="+mn-cs"/>
              </a:rPr>
              <a:t>2.3</a:t>
            </a:r>
            <a:r>
              <a:rPr kumimoji="1" lang="zh-TW" altLang="en-US" sz="1800" kern="1200" dirty="0">
                <a:solidFill>
                  <a:schemeClr val="tx1"/>
                </a:solidFill>
                <a:latin typeface="標楷體" pitchFamily="65" charset="-120"/>
                <a:ea typeface="標楷體" pitchFamily="65" charset="-120"/>
                <a:cs typeface="+mn-cs"/>
              </a:rPr>
              <a:t>，到了 </a:t>
            </a:r>
            <a:r>
              <a:rPr kumimoji="1" lang="en-US" altLang="zh-TW" sz="1800" kern="1200" dirty="0">
                <a:solidFill>
                  <a:schemeClr val="tx1"/>
                </a:solidFill>
                <a:latin typeface="標楷體" pitchFamily="65" charset="-120"/>
                <a:ea typeface="標楷體" pitchFamily="65" charset="-120"/>
                <a:cs typeface="+mn-cs"/>
              </a:rPr>
              <a:t>2010 </a:t>
            </a:r>
            <a:r>
              <a:rPr kumimoji="1" lang="zh-TW" altLang="en-US" sz="1800" kern="1200" dirty="0">
                <a:solidFill>
                  <a:schemeClr val="tx1"/>
                </a:solidFill>
                <a:latin typeface="標楷體" pitchFamily="65" charset="-120"/>
                <a:ea typeface="標楷體" pitchFamily="65" charset="-120"/>
                <a:cs typeface="+mn-cs"/>
              </a:rPr>
              <a:t>年進一步</a:t>
            </a:r>
          </a:p>
          <a:p>
            <a:pPr indent="-457200"/>
            <a:r>
              <a:rPr kumimoji="1" lang="zh-TW" altLang="en-US" sz="1800" kern="1200" dirty="0">
                <a:solidFill>
                  <a:schemeClr val="tx1"/>
                </a:solidFill>
                <a:latin typeface="標楷體" pitchFamily="65" charset="-120"/>
                <a:ea typeface="標楷體" pitchFamily="65" charset="-120"/>
                <a:cs typeface="+mn-cs"/>
              </a:rPr>
              <a:t>降至 </a:t>
            </a:r>
            <a:r>
              <a:rPr kumimoji="1" lang="en-US" altLang="zh-TW" sz="1800" kern="1200" dirty="0">
                <a:solidFill>
                  <a:schemeClr val="tx1"/>
                </a:solidFill>
                <a:latin typeface="標楷體" pitchFamily="65" charset="-120"/>
                <a:ea typeface="標楷體" pitchFamily="65" charset="-120"/>
                <a:cs typeface="+mn-cs"/>
              </a:rPr>
              <a:t>1.5</a:t>
            </a:r>
            <a:r>
              <a:rPr kumimoji="1" lang="zh-TW" altLang="en-US" sz="1800" kern="1200" dirty="0">
                <a:solidFill>
                  <a:schemeClr val="tx1"/>
                </a:solidFill>
                <a:latin typeface="標楷體" pitchFamily="65" charset="-120"/>
                <a:ea typeface="標楷體" pitchFamily="65" charset="-120"/>
                <a:cs typeface="+mn-cs"/>
              </a:rPr>
              <a:t>。邁入 </a:t>
            </a:r>
            <a:r>
              <a:rPr kumimoji="1" lang="en-US" altLang="zh-TW" sz="1800" kern="1200" dirty="0">
                <a:solidFill>
                  <a:schemeClr val="tx1"/>
                </a:solidFill>
                <a:latin typeface="標楷體" pitchFamily="65" charset="-120"/>
                <a:ea typeface="標楷體" pitchFamily="65" charset="-120"/>
                <a:cs typeface="+mn-cs"/>
              </a:rPr>
              <a:t>21 </a:t>
            </a:r>
            <a:r>
              <a:rPr kumimoji="1" lang="zh-TW" altLang="en-US" sz="1800" kern="1200" dirty="0">
                <a:solidFill>
                  <a:schemeClr val="tx1"/>
                </a:solidFill>
                <a:latin typeface="標楷體" pitchFamily="65" charset="-120"/>
                <a:ea typeface="標楷體" pitchFamily="65" charset="-120"/>
                <a:cs typeface="+mn-cs"/>
              </a:rPr>
              <a:t>世紀後，中國雖仍以 </a:t>
            </a:r>
            <a:r>
              <a:rPr kumimoji="1" lang="en-US" altLang="zh-TW" sz="1800" kern="1200" dirty="0">
                <a:solidFill>
                  <a:schemeClr val="tx1"/>
                </a:solidFill>
                <a:latin typeface="標楷體" pitchFamily="65" charset="-120"/>
                <a:ea typeface="標楷體" pitchFamily="65" charset="-120"/>
                <a:cs typeface="+mn-cs"/>
              </a:rPr>
              <a:t>13 </a:t>
            </a:r>
            <a:r>
              <a:rPr kumimoji="1" lang="zh-TW" altLang="en-US" sz="1800" kern="1200" dirty="0">
                <a:solidFill>
                  <a:schemeClr val="tx1"/>
                </a:solidFill>
                <a:latin typeface="標楷體" pitchFamily="65" charset="-120"/>
                <a:ea typeface="標楷體" pitchFamily="65" charset="-120"/>
                <a:cs typeface="+mn-cs"/>
              </a:rPr>
              <a:t>億人口居全球之冠，但停滯的人口成長和老齡化加速，「人口紅利」正逐漸消失。因此，</a:t>
            </a:r>
            <a:r>
              <a:rPr kumimoji="1" lang="en-US" altLang="zh-TW" sz="1800" kern="1200" dirty="0">
                <a:solidFill>
                  <a:schemeClr val="tx1"/>
                </a:solidFill>
                <a:latin typeface="標楷體" pitchFamily="65" charset="-120"/>
                <a:ea typeface="標楷體" pitchFamily="65" charset="-120"/>
                <a:cs typeface="+mn-cs"/>
              </a:rPr>
              <a:t>2013 </a:t>
            </a:r>
            <a:r>
              <a:rPr kumimoji="1" lang="zh-TW" altLang="en-US" sz="1800" kern="1200" dirty="0">
                <a:solidFill>
                  <a:schemeClr val="tx1"/>
                </a:solidFill>
                <a:latin typeface="標楷體" pitchFamily="65" charset="-120"/>
                <a:ea typeface="標楷體" pitchFamily="65" charset="-120"/>
                <a:cs typeface="+mn-cs"/>
              </a:rPr>
              <a:t>年的中國實行「單獨二孩」（一方是獨生子女的夫婦可生育第一個子女），</a:t>
            </a:r>
            <a:r>
              <a:rPr kumimoji="1" lang="en-US" altLang="zh-TW" sz="1800" kern="1200" dirty="0">
                <a:solidFill>
                  <a:schemeClr val="tx1"/>
                </a:solidFill>
                <a:latin typeface="標楷體" pitchFamily="65" charset="-120"/>
                <a:ea typeface="標楷體" pitchFamily="65" charset="-120"/>
                <a:cs typeface="+mn-cs"/>
              </a:rPr>
              <a:t>2015 </a:t>
            </a:r>
            <a:r>
              <a:rPr kumimoji="1" lang="zh-TW" altLang="en-US" sz="1800" kern="1200" dirty="0">
                <a:solidFill>
                  <a:schemeClr val="tx1"/>
                </a:solidFill>
                <a:latin typeface="標楷體" pitchFamily="65" charset="-120"/>
                <a:ea typeface="標楷體" pitchFamily="65" charset="-120"/>
                <a:cs typeface="+mn-cs"/>
              </a:rPr>
              <a:t>年進一步開放「全面二孩」政策，讓推行逾 </a:t>
            </a:r>
            <a:r>
              <a:rPr kumimoji="1" lang="en-US" altLang="zh-TW" sz="1800" kern="1200" dirty="0">
                <a:solidFill>
                  <a:schemeClr val="tx1"/>
                </a:solidFill>
                <a:latin typeface="標楷體" pitchFamily="65" charset="-120"/>
                <a:ea typeface="標楷體" pitchFamily="65" charset="-120"/>
                <a:cs typeface="+mn-cs"/>
              </a:rPr>
              <a:t>40 </a:t>
            </a:r>
            <a:r>
              <a:rPr kumimoji="1" lang="zh-TW" altLang="en-US" sz="1800" kern="1200" dirty="0">
                <a:solidFill>
                  <a:schemeClr val="tx1"/>
                </a:solidFill>
                <a:latin typeface="標楷體" pitchFamily="65" charset="-120"/>
                <a:ea typeface="標楷體" pitchFamily="65" charset="-120"/>
                <a:cs typeface="+mn-cs"/>
              </a:rPr>
              <a:t>年的「一胎化」政策正式走入歷史。中國認為「全面二孩」新政，可以緩解日</a:t>
            </a:r>
          </a:p>
          <a:p>
            <a:pPr indent="-457200"/>
            <a:r>
              <a:rPr kumimoji="1" lang="zh-TW" altLang="en-US" sz="1800" kern="1200" dirty="0">
                <a:solidFill>
                  <a:schemeClr val="tx1"/>
                </a:solidFill>
                <a:latin typeface="標楷體" pitchFamily="65" charset="-120"/>
                <a:ea typeface="標楷體" pitchFamily="65" charset="-120"/>
                <a:cs typeface="+mn-cs"/>
              </a:rPr>
              <a:t>益沉重的人口問題，但從實際數據來看，在 </a:t>
            </a:r>
            <a:r>
              <a:rPr kumimoji="1" lang="en-US" altLang="zh-TW" sz="1800" kern="1200" dirty="0">
                <a:solidFill>
                  <a:schemeClr val="tx1"/>
                </a:solidFill>
                <a:latin typeface="標楷體" pitchFamily="65" charset="-120"/>
                <a:ea typeface="標楷體" pitchFamily="65" charset="-120"/>
                <a:cs typeface="+mn-cs"/>
              </a:rPr>
              <a:t>2016 </a:t>
            </a:r>
            <a:r>
              <a:rPr kumimoji="1" lang="zh-TW" altLang="en-US" sz="1800" kern="1200" dirty="0">
                <a:solidFill>
                  <a:schemeClr val="tx1"/>
                </a:solidFill>
                <a:latin typeface="標楷體" pitchFamily="65" charset="-120"/>
                <a:ea typeface="標楷體" pitchFamily="65" charset="-120"/>
                <a:cs typeface="+mn-cs"/>
              </a:rPr>
              <a:t>年出生人口達 </a:t>
            </a:r>
            <a:r>
              <a:rPr kumimoji="1" lang="en-US" altLang="zh-TW" sz="1800" kern="1200" dirty="0">
                <a:solidFill>
                  <a:schemeClr val="tx1"/>
                </a:solidFill>
                <a:latin typeface="標楷體" pitchFamily="65" charset="-120"/>
                <a:ea typeface="標楷體" pitchFamily="65" charset="-120"/>
                <a:cs typeface="+mn-cs"/>
              </a:rPr>
              <a:t>1,786 </a:t>
            </a:r>
            <a:r>
              <a:rPr kumimoji="1" lang="zh-TW" altLang="en-US" sz="1800" kern="1200" dirty="0">
                <a:solidFill>
                  <a:schemeClr val="tx1"/>
                </a:solidFill>
                <a:latin typeface="標楷體" pitchFamily="65" charset="-120"/>
                <a:ea typeface="標楷體" pitchFamily="65" charset="-120"/>
                <a:cs typeface="+mn-cs"/>
              </a:rPr>
              <a:t>萬人，創 </a:t>
            </a:r>
            <a:r>
              <a:rPr kumimoji="1" lang="en-US" altLang="zh-TW" sz="1800" kern="1200" dirty="0">
                <a:solidFill>
                  <a:schemeClr val="tx1"/>
                </a:solidFill>
                <a:latin typeface="標楷體" pitchFamily="65" charset="-120"/>
                <a:ea typeface="標楷體" pitchFamily="65" charset="-120"/>
                <a:cs typeface="+mn-cs"/>
              </a:rPr>
              <a:t>2000 </a:t>
            </a:r>
            <a:r>
              <a:rPr kumimoji="1" lang="zh-TW" altLang="en-US" sz="1800" kern="1200" dirty="0">
                <a:solidFill>
                  <a:schemeClr val="tx1"/>
                </a:solidFill>
                <a:latin typeface="標楷體" pitchFamily="65" charset="-120"/>
                <a:ea typeface="標楷體" pitchFamily="65" charset="-120"/>
                <a:cs typeface="+mn-cs"/>
              </a:rPr>
              <a:t>年來最高峰，之後便反轉直下。</a:t>
            </a:r>
            <a:endParaRPr kumimoji="1" lang="en-US" altLang="zh-TW" sz="1800" kern="1200" dirty="0">
              <a:solidFill>
                <a:schemeClr val="tx1"/>
              </a:solidFill>
              <a:latin typeface="標楷體" pitchFamily="65" charset="-120"/>
              <a:ea typeface="標楷體" pitchFamily="65" charset="-120"/>
              <a:cs typeface="+mn-cs"/>
            </a:endParaRPr>
          </a:p>
          <a:p>
            <a:r>
              <a:rPr kumimoji="1" lang="en-US" altLang="zh-TW" sz="1800" kern="1200" dirty="0">
                <a:solidFill>
                  <a:schemeClr val="tx1"/>
                </a:solidFill>
                <a:latin typeface="標楷體" pitchFamily="65" charset="-120"/>
                <a:ea typeface="標楷體" pitchFamily="65" charset="-120"/>
                <a:cs typeface="+mn-cs"/>
              </a:rPr>
              <a:t>2.</a:t>
            </a:r>
            <a:r>
              <a:rPr kumimoji="1" lang="zh-TW" altLang="en-US" sz="1800" kern="1200" dirty="0">
                <a:solidFill>
                  <a:schemeClr val="tx1"/>
                </a:solidFill>
                <a:latin typeface="標楷體" pitchFamily="65" charset="-120"/>
                <a:ea typeface="標楷體" pitchFamily="65" charset="-120"/>
                <a:cs typeface="+mn-cs"/>
              </a:rPr>
              <a:t> </a:t>
            </a:r>
            <a:r>
              <a:rPr kumimoji="1" lang="en-US" altLang="zh-TW" sz="1800" kern="1200" dirty="0">
                <a:solidFill>
                  <a:schemeClr val="tx1"/>
                </a:solidFill>
                <a:latin typeface="標楷體" pitchFamily="65" charset="-120"/>
                <a:ea typeface="標楷體" pitchFamily="65" charset="-120"/>
                <a:cs typeface="+mn-cs"/>
              </a:rPr>
              <a:t>2018 </a:t>
            </a:r>
            <a:r>
              <a:rPr kumimoji="1" lang="zh-TW" altLang="en-US" sz="1800" kern="1200" dirty="0">
                <a:solidFill>
                  <a:schemeClr val="tx1"/>
                </a:solidFill>
                <a:latin typeface="標楷體" pitchFamily="65" charset="-120"/>
                <a:ea typeface="標楷體" pitchFamily="65" charset="-120"/>
                <a:cs typeface="+mn-cs"/>
              </a:rPr>
              <a:t>年中國人口出生率為 </a:t>
            </a:r>
            <a:r>
              <a:rPr kumimoji="1" lang="en-US" altLang="zh-TW" sz="1800" kern="1200" dirty="0">
                <a:solidFill>
                  <a:schemeClr val="tx1"/>
                </a:solidFill>
                <a:latin typeface="標楷體" pitchFamily="65" charset="-120"/>
                <a:ea typeface="標楷體" pitchFamily="65" charset="-120"/>
                <a:cs typeface="+mn-cs"/>
              </a:rPr>
              <a:t>10.94 ‰</a:t>
            </a:r>
            <a:r>
              <a:rPr kumimoji="1" lang="zh-TW" altLang="en-US" sz="1800" kern="1200" dirty="0">
                <a:solidFill>
                  <a:schemeClr val="tx1"/>
                </a:solidFill>
                <a:latin typeface="標楷體" pitchFamily="65" charset="-120"/>
                <a:ea typeface="標楷體" pitchFamily="65" charset="-120"/>
                <a:cs typeface="+mn-cs"/>
              </a:rPr>
              <a:t>，比 </a:t>
            </a:r>
            <a:r>
              <a:rPr kumimoji="1" lang="en-US" altLang="zh-TW" sz="1800" kern="1200" dirty="0">
                <a:solidFill>
                  <a:schemeClr val="tx1"/>
                </a:solidFill>
                <a:latin typeface="標楷體" pitchFamily="65" charset="-120"/>
                <a:ea typeface="標楷體" pitchFamily="65" charset="-120"/>
                <a:cs typeface="+mn-cs"/>
              </a:rPr>
              <a:t>2017 </a:t>
            </a:r>
            <a:r>
              <a:rPr kumimoji="1" lang="zh-TW" altLang="en-US" sz="1800" kern="1200" dirty="0">
                <a:solidFill>
                  <a:schemeClr val="tx1"/>
                </a:solidFill>
                <a:latin typeface="標楷體" pitchFamily="65" charset="-120"/>
                <a:ea typeface="標楷體" pitchFamily="65" charset="-120"/>
                <a:cs typeface="+mn-cs"/>
              </a:rPr>
              <a:t>年下降了 </a:t>
            </a:r>
            <a:r>
              <a:rPr kumimoji="1" lang="en-US" altLang="zh-TW" sz="1800" kern="1200" dirty="0">
                <a:solidFill>
                  <a:schemeClr val="tx1"/>
                </a:solidFill>
                <a:latin typeface="標楷體" pitchFamily="65" charset="-120"/>
                <a:ea typeface="標楷體" pitchFamily="65" charset="-120"/>
                <a:cs typeface="+mn-cs"/>
              </a:rPr>
              <a:t>1.49 </a:t>
            </a:r>
            <a:r>
              <a:rPr kumimoji="1" lang="zh-TW" altLang="en-US" sz="1800" kern="1200" dirty="0">
                <a:solidFill>
                  <a:schemeClr val="tx1"/>
                </a:solidFill>
                <a:latin typeface="標楷體" pitchFamily="65" charset="-120"/>
                <a:ea typeface="標楷體" pitchFamily="65" charset="-120"/>
                <a:cs typeface="+mn-cs"/>
              </a:rPr>
              <a:t>個千分點；</a:t>
            </a:r>
            <a:r>
              <a:rPr kumimoji="1" lang="en-US" altLang="zh-TW" sz="1800" kern="1200" dirty="0">
                <a:solidFill>
                  <a:schemeClr val="tx1"/>
                </a:solidFill>
                <a:latin typeface="標楷體" pitchFamily="65" charset="-120"/>
                <a:ea typeface="標楷體" pitchFamily="65" charset="-120"/>
                <a:cs typeface="+mn-cs"/>
              </a:rPr>
              <a:t>2018 </a:t>
            </a:r>
            <a:r>
              <a:rPr kumimoji="1" lang="zh-TW" altLang="en-US" sz="1800" kern="1200" dirty="0">
                <a:solidFill>
                  <a:schemeClr val="tx1"/>
                </a:solidFill>
                <a:latin typeface="標楷體" pitchFamily="65" charset="-120"/>
                <a:ea typeface="標楷體" pitchFamily="65" charset="-120"/>
                <a:cs typeface="+mn-cs"/>
              </a:rPr>
              <a:t>年中國人口死亡率為 </a:t>
            </a:r>
            <a:r>
              <a:rPr kumimoji="1" lang="en-US" altLang="zh-TW" sz="1800" kern="1200" dirty="0">
                <a:solidFill>
                  <a:schemeClr val="tx1"/>
                </a:solidFill>
                <a:latin typeface="標楷體" pitchFamily="65" charset="-120"/>
                <a:ea typeface="標楷體" pitchFamily="65" charset="-120"/>
                <a:cs typeface="+mn-cs"/>
              </a:rPr>
              <a:t>7.13 ‰</a:t>
            </a:r>
            <a:r>
              <a:rPr kumimoji="1" lang="zh-TW" altLang="en-US" sz="1800" kern="1200" dirty="0">
                <a:solidFill>
                  <a:schemeClr val="tx1"/>
                </a:solidFill>
                <a:latin typeface="標楷體" pitchFamily="65" charset="-120"/>
                <a:ea typeface="標楷體" pitchFamily="65" charset="-120"/>
                <a:cs typeface="+mn-cs"/>
              </a:rPr>
              <a:t>。下圖為人口轉型模式圖。根據上述，中國目前正處於下圖中人口轉型的哪一階段？（請寫出代號與階段名稱）</a:t>
            </a:r>
            <a:endParaRPr kumimoji="1" lang="en-US" altLang="zh-TW" sz="1800" kern="1200" dirty="0">
              <a:solidFill>
                <a:schemeClr val="tx1"/>
              </a:solidFill>
              <a:latin typeface="標楷體" pitchFamily="65" charset="-120"/>
              <a:ea typeface="標楷體" pitchFamily="65" charset="-120"/>
              <a:cs typeface="+mn-cs"/>
            </a:endParaRPr>
          </a:p>
          <a:p>
            <a:r>
              <a:rPr kumimoji="1" lang="zh-TW" altLang="en-US" sz="1800" kern="1200" dirty="0">
                <a:solidFill>
                  <a:schemeClr val="tx1"/>
                </a:solidFill>
                <a:latin typeface="標楷體" pitchFamily="65" charset="-120"/>
                <a:ea typeface="標楷體" pitchFamily="65" charset="-120"/>
                <a:cs typeface="+mn-cs"/>
              </a:rPr>
              <a:t>答：</a:t>
            </a:r>
            <a:endParaRPr kumimoji="1" lang="en-US" altLang="zh-TW" sz="1800" kern="1200" dirty="0">
              <a:solidFill>
                <a:schemeClr val="tx1"/>
              </a:solidFill>
              <a:latin typeface="標楷體" pitchFamily="65" charset="-120"/>
              <a:ea typeface="標楷體" pitchFamily="65" charset="-120"/>
              <a:cs typeface="+mn-cs"/>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190702" y="6039156"/>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P.211</a:t>
            </a:r>
            <a:r>
              <a:rPr lang="zh-TW" altLang="en-US" sz="2000" dirty="0">
                <a:solidFill>
                  <a:schemeClr val="bg1"/>
                </a:solidFill>
                <a:latin typeface="Times New Roman" pitchFamily="18" charset="0"/>
              </a:rPr>
              <a:t>混合題第 </a:t>
            </a:r>
            <a:r>
              <a:rPr lang="en-US" altLang="zh-TW" sz="2000" dirty="0">
                <a:solidFill>
                  <a:schemeClr val="bg1"/>
                </a:solidFill>
                <a:latin typeface="Times New Roman" pitchFamily="18" charset="0"/>
              </a:rPr>
              <a:t>1.</a:t>
            </a:r>
            <a:r>
              <a:rPr lang="zh-TW" altLang="en-US" sz="2000" dirty="0">
                <a:solidFill>
                  <a:schemeClr val="bg1"/>
                </a:solidFill>
                <a:latin typeface="Times New Roman" pitchFamily="18" charset="0"/>
              </a:rPr>
              <a:t>、</a:t>
            </a:r>
            <a:r>
              <a:rPr lang="en-US" altLang="zh-TW" sz="2000" dirty="0">
                <a:solidFill>
                  <a:schemeClr val="bg1"/>
                </a:solidFill>
                <a:latin typeface="Times New Roman" pitchFamily="18" charset="0"/>
              </a:rPr>
              <a:t>2.</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Rectangle 8"/>
          <p:cNvSpPr>
            <a:spLocks noChangeArrowheads="1"/>
          </p:cNvSpPr>
          <p:nvPr/>
        </p:nvSpPr>
        <p:spPr bwMode="auto">
          <a:xfrm>
            <a:off x="323528" y="5655314"/>
            <a:ext cx="316835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中國目前的人口成長已進入低出生、低死亡、低成長的低穩定階段。</a:t>
            </a:r>
          </a:p>
        </p:txBody>
      </p:sp>
      <p:sp>
        <p:nvSpPr>
          <p:cNvPr id="12" name="矩形 11"/>
          <p:cNvSpPr>
            <a:spLocks noChangeArrowheads="1"/>
          </p:cNvSpPr>
          <p:nvPr/>
        </p:nvSpPr>
        <p:spPr bwMode="auto">
          <a:xfrm>
            <a:off x="1098198" y="5157192"/>
            <a:ext cx="2105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丁、低穩定階段。</a:t>
            </a:r>
          </a:p>
        </p:txBody>
      </p:sp>
      <p:pic>
        <p:nvPicPr>
          <p:cNvPr id="1536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334" r="1910"/>
          <a:stretch/>
        </p:blipFill>
        <p:spPr bwMode="auto">
          <a:xfrm>
            <a:off x="3419872" y="5229200"/>
            <a:ext cx="3647256" cy="1597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211299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5653134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74699"/>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835292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1.</a:t>
            </a:r>
            <a:r>
              <a:rPr lang="zh-TW" altLang="en-US" sz="2400" dirty="0"/>
              <a:t>請填寫出代號與名稱。</a:t>
            </a:r>
            <a:endParaRPr lang="en-US" altLang="zh-TW" sz="2400" dirty="0">
              <a:latin typeface="標楷體" pitchFamily="65" charset="-120"/>
            </a:endParaRPr>
          </a:p>
          <a:p>
            <a:r>
              <a:rPr lang="en-US" altLang="zh-TW" sz="2400" dirty="0">
                <a:latin typeface="標楷體" pitchFamily="65" charset="-120"/>
              </a:rPr>
              <a:t>(1)</a:t>
            </a:r>
            <a:r>
              <a:rPr lang="zh-TW" altLang="en-US" sz="2400" dirty="0">
                <a:latin typeface="標楷體" pitchFamily="65" charset="-120"/>
              </a:rPr>
              <a:t>副熱帶季風氣候與溫帶季風</a:t>
            </a:r>
            <a:endParaRPr lang="en-US" altLang="zh-TW" sz="2400" dirty="0">
              <a:latin typeface="標楷體" pitchFamily="65" charset="-120"/>
            </a:endParaRPr>
          </a:p>
          <a:p>
            <a:r>
              <a:rPr lang="zh-TW" altLang="en-US" sz="2400" dirty="0">
                <a:latin typeface="標楷體" pitchFamily="65" charset="-120"/>
              </a:rPr>
              <a:t>氣候的地理界線（山脈）</a:t>
            </a:r>
            <a:endParaRPr lang="en-US" altLang="zh-TW" sz="2400" dirty="0">
              <a:latin typeface="標楷體" pitchFamily="65" charset="-120"/>
            </a:endParaRPr>
          </a:p>
          <a:p>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r>
              <a:rPr lang="zh-TW" altLang="en-US" sz="2400" dirty="0">
                <a:latin typeface="標楷體" pitchFamily="65" charset="-120"/>
              </a:rPr>
              <a:t>　</a:t>
            </a:r>
          </a:p>
          <a:p>
            <a:r>
              <a:rPr lang="en-US" altLang="zh-TW" sz="2400" dirty="0">
                <a:latin typeface="標楷體" pitchFamily="65" charset="-120"/>
              </a:rPr>
              <a:t>(2)</a:t>
            </a:r>
            <a:r>
              <a:rPr lang="zh-TW" altLang="en-US" sz="2400" dirty="0">
                <a:latin typeface="標楷體" pitchFamily="65" charset="-120"/>
              </a:rPr>
              <a:t>溫帶季風氣候與溫帶半乾燥</a:t>
            </a:r>
            <a:endParaRPr lang="en-US" altLang="zh-TW" sz="2400" dirty="0">
              <a:latin typeface="標楷體" pitchFamily="65" charset="-120"/>
            </a:endParaRPr>
          </a:p>
          <a:p>
            <a:r>
              <a:rPr lang="zh-TW" altLang="en-US" sz="2400" dirty="0">
                <a:latin typeface="標楷體" pitchFamily="65" charset="-120"/>
              </a:rPr>
              <a:t>氣候的地理界線（山脈）</a:t>
            </a:r>
            <a:endParaRPr lang="en-US" altLang="zh-TW" sz="2400" dirty="0">
              <a:latin typeface="標楷體" pitchFamily="65" charset="-120"/>
            </a:endParaRPr>
          </a:p>
          <a:p>
            <a:r>
              <a:rPr lang="zh-TW" altLang="en-US" sz="2400" dirty="0">
                <a:latin typeface="標楷體" pitchFamily="65" charset="-120"/>
              </a:rPr>
              <a:t>：</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r>
              <a:rPr lang="zh-TW" altLang="en-US" sz="2400" dirty="0">
                <a:latin typeface="標楷體" pitchFamily="65" charset="-120"/>
              </a:rPr>
              <a:t>　</a:t>
            </a:r>
          </a:p>
          <a:p>
            <a:r>
              <a:rPr lang="en-US" altLang="zh-TW" sz="2400" dirty="0">
                <a:latin typeface="標楷體" pitchFamily="65" charset="-120"/>
              </a:rPr>
              <a:t>(3)</a:t>
            </a:r>
            <a:r>
              <a:rPr lang="zh-TW" altLang="en-US" sz="2400" dirty="0">
                <a:latin typeface="標楷體" pitchFamily="65" charset="-120"/>
              </a:rPr>
              <a:t>亞洲冬季冷高壓的發源地之</a:t>
            </a:r>
            <a:endParaRPr lang="en-US" altLang="zh-TW" sz="2400" dirty="0">
              <a:latin typeface="標楷體" pitchFamily="65" charset="-120"/>
            </a:endParaRPr>
          </a:p>
          <a:p>
            <a:r>
              <a:rPr lang="zh-TW" altLang="en-US" sz="2400" dirty="0">
                <a:latin typeface="標楷體" pitchFamily="65" charset="-120"/>
              </a:rPr>
              <a:t>一：</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r>
              <a:rPr lang="zh-TW" altLang="en-US" sz="2400" dirty="0">
                <a:latin typeface="標楷體" pitchFamily="65" charset="-120"/>
              </a:rPr>
              <a:t>　</a:t>
            </a:r>
          </a:p>
          <a:p>
            <a:r>
              <a:rPr lang="en-US" altLang="zh-TW" sz="2400" dirty="0">
                <a:latin typeface="標楷體" pitchFamily="65" charset="-120"/>
              </a:rPr>
              <a:t>(4)</a:t>
            </a:r>
            <a:r>
              <a:rPr lang="zh-TW" altLang="en-US" sz="2400" dirty="0">
                <a:latin typeface="標楷體" pitchFamily="65" charset="-120"/>
              </a:rPr>
              <a:t>由北部松嫩平原、南部遼河平原、東北部三江平原構成東亞最大的平原，富含肥沃的黑土，但人口相對其他平原稀少，機械化程度高：</a:t>
            </a:r>
            <a:r>
              <a:rPr lang="zh-TW" altLang="en-US" sz="2400" u="sng" dirty="0">
                <a:solidFill>
                  <a:srgbClr val="FF0000"/>
                </a:solidFill>
                <a:latin typeface="標楷體" pitchFamily="65" charset="-120"/>
              </a:rPr>
              <a:t>              </a:t>
            </a:r>
            <a:r>
              <a:rPr lang="en-US" altLang="zh-TW" sz="2400" dirty="0">
                <a:solidFill>
                  <a:schemeClr val="bg1"/>
                </a:solidFill>
                <a:latin typeface="標楷體" pitchFamily="65" charset="-120"/>
              </a:rPr>
              <a:t>.</a:t>
            </a:r>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0647" y="1133446"/>
            <a:ext cx="4102503" cy="3231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a:spLocks noChangeArrowheads="1"/>
          </p:cNvSpPr>
          <p:nvPr/>
        </p:nvSpPr>
        <p:spPr bwMode="auto">
          <a:xfrm>
            <a:off x="1315205" y="2118791"/>
            <a:ext cx="14565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400" kern="1200" dirty="0">
                <a:solidFill>
                  <a:srgbClr val="FF0000"/>
                </a:solidFill>
                <a:latin typeface="標楷體" pitchFamily="65" charset="-120"/>
                <a:ea typeface="標楷體" pitchFamily="65" charset="-120"/>
                <a:cs typeface="Times New Roman" pitchFamily="18" charset="0"/>
              </a:rPr>
              <a:t>D</a:t>
            </a:r>
            <a:r>
              <a:rPr lang="zh-TW" altLang="en-US" sz="2400" kern="1200" dirty="0">
                <a:solidFill>
                  <a:srgbClr val="FF0000"/>
                </a:solidFill>
                <a:latin typeface="標楷體" pitchFamily="65" charset="-120"/>
                <a:ea typeface="標楷體" pitchFamily="65" charset="-120"/>
                <a:cs typeface="Times New Roman" pitchFamily="18" charset="0"/>
              </a:rPr>
              <a:t>：秦嶺</a:t>
            </a:r>
          </a:p>
        </p:txBody>
      </p:sp>
      <p:sp>
        <p:nvSpPr>
          <p:cNvPr id="13" name="矩形 12"/>
          <p:cNvSpPr>
            <a:spLocks noChangeArrowheads="1"/>
          </p:cNvSpPr>
          <p:nvPr/>
        </p:nvSpPr>
        <p:spPr bwMode="auto">
          <a:xfrm>
            <a:off x="1099180" y="3212976"/>
            <a:ext cx="2104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400" kern="1200" dirty="0">
                <a:solidFill>
                  <a:srgbClr val="FF0000"/>
                </a:solidFill>
                <a:latin typeface="標楷體" pitchFamily="65" charset="-120"/>
                <a:ea typeface="標楷體" pitchFamily="65" charset="-120"/>
                <a:cs typeface="Times New Roman" pitchFamily="18" charset="0"/>
              </a:rPr>
              <a:t>B</a:t>
            </a:r>
            <a:r>
              <a:rPr lang="zh-TW" altLang="en-US" sz="2400" kern="1200" dirty="0">
                <a:solidFill>
                  <a:srgbClr val="FF0000"/>
                </a:solidFill>
                <a:latin typeface="標楷體" pitchFamily="65" charset="-120"/>
                <a:ea typeface="標楷體" pitchFamily="65" charset="-120"/>
                <a:cs typeface="Times New Roman" pitchFamily="18" charset="0"/>
              </a:rPr>
              <a:t>：大興安嶺</a:t>
            </a:r>
          </a:p>
        </p:txBody>
      </p:sp>
      <p:sp>
        <p:nvSpPr>
          <p:cNvPr id="14" name="矩形 13"/>
          <p:cNvSpPr>
            <a:spLocks noChangeArrowheads="1"/>
          </p:cNvSpPr>
          <p:nvPr/>
        </p:nvSpPr>
        <p:spPr bwMode="auto">
          <a:xfrm>
            <a:off x="1403648" y="3958029"/>
            <a:ext cx="25179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甲：內蒙古高原</a:t>
            </a:r>
          </a:p>
        </p:txBody>
      </p:sp>
      <p:sp>
        <p:nvSpPr>
          <p:cNvPr id="15" name="矩形 14"/>
          <p:cNvSpPr>
            <a:spLocks noChangeArrowheads="1"/>
          </p:cNvSpPr>
          <p:nvPr/>
        </p:nvSpPr>
        <p:spPr bwMode="auto">
          <a:xfrm>
            <a:off x="3768313" y="5055567"/>
            <a:ext cx="2104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丁：東北平原</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65</a:t>
            </a:fld>
            <a:endParaRPr lang="zh-TW" sz="1400">
              <a:solidFill>
                <a:schemeClr val="dk1"/>
              </a:solidFill>
              <a:latin typeface="Arial"/>
              <a:ea typeface="Arial"/>
              <a:cs typeface="Arial"/>
              <a:sym typeface="Arial"/>
            </a:endParaRPr>
          </a:p>
        </p:txBody>
      </p:sp>
      <p:sp>
        <p:nvSpPr>
          <p:cNvPr id="16" name="矩形 15"/>
          <p:cNvSpPr>
            <a:spLocks noChangeArrowheads="1"/>
          </p:cNvSpPr>
          <p:nvPr/>
        </p:nvSpPr>
        <p:spPr bwMode="auto">
          <a:xfrm>
            <a:off x="0" y="-2070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err="1">
                <a:solidFill>
                  <a:srgbClr val="FF0000"/>
                </a:solidFill>
              </a:rPr>
              <a:t>p.190</a:t>
            </a:r>
            <a:endParaRPr lang="zh-TW" altLang="en-US" sz="3600" b="0" dirty="0"/>
          </a:p>
        </p:txBody>
      </p:sp>
    </p:spTree>
    <p:extLst>
      <p:ext uri="{BB962C8B-B14F-4D97-AF65-F5344CB8AC3E}">
        <p14:creationId xmlns:p14="http://schemas.microsoft.com/office/powerpoint/2010/main" val="2410913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in)">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792088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4.</a:t>
            </a:r>
            <a:r>
              <a:rPr lang="zh-TW" altLang="en-US" sz="2400" dirty="0"/>
              <a:t>右圖為中國某地的氣候圖，請問它最可能位於下列哪一地區？</a:t>
            </a:r>
            <a:r>
              <a:rPr lang="zh-TW" altLang="en-US" sz="2400" dirty="0">
                <a:latin typeface="標楷體" pitchFamily="65" charset="-120"/>
              </a:rPr>
              <a:t>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東北地區</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華北地區     </a:t>
            </a:r>
            <a:r>
              <a:rPr lang="en-US" altLang="zh-TW" sz="2400" dirty="0">
                <a:latin typeface="標楷體" pitchFamily="65" charset="-120"/>
              </a:rPr>
              <a:t>(D)</a:t>
            </a:r>
            <a:r>
              <a:rPr lang="zh-TW" altLang="en-US" sz="2400" dirty="0">
                <a:latin typeface="標楷體" pitchFamily="65" charset="-120"/>
              </a:rPr>
              <a:t>華中地區</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12" name="Rectangle 8"/>
          <p:cNvSpPr>
            <a:spLocks noChangeArrowheads="1"/>
          </p:cNvSpPr>
          <p:nvPr/>
        </p:nvSpPr>
        <p:spPr bwMode="auto">
          <a:xfrm>
            <a:off x="1269189" y="4077072"/>
            <a:ext cx="524702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此地年降水量僅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35 mm</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，年溫差約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40</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℃，最冷月月均溫低於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0</a:t>
            </a:r>
            <a:r>
              <a:rPr kumimoji="1" lang="zh-TW" altLang="en-US" sz="2000" kern="1200" dirty="0">
                <a:solidFill>
                  <a:srgbClr val="FF0000"/>
                </a:solidFill>
                <a:latin typeface="標楷體" panose="03000509000000000000" pitchFamily="65" charset="-120"/>
                <a:ea typeface="標楷體" panose="03000509000000000000" pitchFamily="65" charset="-120"/>
              </a:rPr>
              <a:t> ℃ </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，應為溫帶乾燥氣候，故該地位於</a:t>
            </a:r>
            <a:r>
              <a:rPr lang="en-US" altLang="zh-TW" sz="2000" dirty="0">
                <a:solidFill>
                  <a:srgbClr val="FF0000"/>
                </a:solidFill>
                <a:latin typeface="標楷體" pitchFamily="65" charset="-120"/>
                <a:ea typeface="標楷體" panose="03000509000000000000" pitchFamily="65" charset="-120"/>
              </a:rPr>
              <a:t>(A)</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西部地區。</a:t>
            </a:r>
          </a:p>
        </p:txBody>
      </p:sp>
      <p:sp>
        <p:nvSpPr>
          <p:cNvPr id="9" name="Text Box 3"/>
          <p:cNvSpPr txBox="1">
            <a:spLocks noChangeArrowheads="1"/>
          </p:cNvSpPr>
          <p:nvPr/>
        </p:nvSpPr>
        <p:spPr bwMode="auto">
          <a:xfrm>
            <a:off x="836293" y="1772816"/>
            <a:ext cx="2348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dirty="0">
                <a:latin typeface="標楷體" pitchFamily="65" charset="-120"/>
              </a:rPr>
              <a:t>西部地區</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8" y="1556792"/>
            <a:ext cx="2105025"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86031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7776864"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5.</a:t>
            </a:r>
            <a:r>
              <a:rPr lang="zh-TW" altLang="en-US" sz="2400" dirty="0"/>
              <a:t>中國東半部的季風氣候區，由南而北依序出現熱帶季風、副熱帶季風與溫帶季風等氣候類型，主要與下列哪一項地理因素有關？</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降水量</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距海遠近     </a:t>
            </a:r>
            <a:r>
              <a:rPr lang="en-US" altLang="zh-TW" sz="2400" dirty="0">
                <a:latin typeface="標楷體" pitchFamily="65" charset="-120"/>
              </a:rPr>
              <a:t>(D)</a:t>
            </a:r>
            <a:r>
              <a:rPr lang="zh-TW" altLang="en-US" sz="2400" dirty="0">
                <a:latin typeface="標楷體" pitchFamily="65" charset="-120"/>
              </a:rPr>
              <a:t>季風方向</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12" name="Rectangle 8"/>
          <p:cNvSpPr>
            <a:spLocks noChangeArrowheads="1"/>
          </p:cNvSpPr>
          <p:nvPr/>
        </p:nvSpPr>
        <p:spPr bwMode="auto">
          <a:xfrm>
            <a:off x="1269189" y="4077072"/>
            <a:ext cx="524702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中國東半部由南而北依序出現熱帶季風、副熱帶季風與溫帶季風等氣候類型，最主要與</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緯度高低所造成的最冷月月均溫差異有關。</a:t>
            </a:r>
          </a:p>
        </p:txBody>
      </p:sp>
      <p:sp>
        <p:nvSpPr>
          <p:cNvPr id="9" name="Text Box 3"/>
          <p:cNvSpPr txBox="1">
            <a:spLocks noChangeArrowheads="1"/>
          </p:cNvSpPr>
          <p:nvPr/>
        </p:nvSpPr>
        <p:spPr bwMode="auto">
          <a:xfrm>
            <a:off x="850432" y="2118791"/>
            <a:ext cx="16530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(A)</a:t>
            </a:r>
            <a:r>
              <a:rPr lang="zh-TW" altLang="en-US" sz="2400" dirty="0">
                <a:latin typeface="標楷體" pitchFamily="65" charset="-120"/>
              </a:rPr>
              <a:t>緯度</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56613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7776864"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6.</a:t>
            </a:r>
            <a:r>
              <a:rPr lang="zh-TW" altLang="en-US" sz="2400" dirty="0"/>
              <a:t>日本新潟的氣溫與降水資料如右圖所示。其冬季降水狀況，與下列何者的關係最密切？</a:t>
            </a:r>
            <a:endParaRPr lang="en-US" altLang="zh-TW" sz="2400" dirty="0"/>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地勢高聳，氣溫低</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赤道低壓帶籠罩</a:t>
            </a:r>
            <a:endParaRPr lang="en-US" altLang="zh-TW" sz="2400" dirty="0">
              <a:latin typeface="標楷體" pitchFamily="65" charset="-120"/>
            </a:endParaRPr>
          </a:p>
          <a:p>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(D)</a:t>
            </a:r>
            <a:r>
              <a:rPr lang="zh-TW" altLang="en-US" sz="2400" dirty="0">
                <a:latin typeface="標楷體" pitchFamily="65" charset="-120"/>
              </a:rPr>
              <a:t>季風方向</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12" name="Rectangle 8"/>
          <p:cNvSpPr>
            <a:spLocks noChangeArrowheads="1"/>
          </p:cNvSpPr>
          <p:nvPr/>
        </p:nvSpPr>
        <p:spPr bwMode="auto">
          <a:xfrm>
            <a:off x="1269189" y="4077072"/>
            <a:ext cx="524702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(C)</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新潟位於飛驒山脈西側，冬天盛行的西北季風越過日本海時會帶來水氣，降地形雨，故冬季多雨。</a:t>
            </a:r>
          </a:p>
        </p:txBody>
      </p:sp>
      <p:sp>
        <p:nvSpPr>
          <p:cNvPr id="9" name="Text Box 3"/>
          <p:cNvSpPr txBox="1">
            <a:spLocks noChangeArrowheads="1"/>
          </p:cNvSpPr>
          <p:nvPr/>
        </p:nvSpPr>
        <p:spPr bwMode="auto">
          <a:xfrm>
            <a:off x="850436" y="2510314"/>
            <a:ext cx="30963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latin typeface="標楷體" pitchFamily="65" charset="-120"/>
              </a:rPr>
              <a:t>涼流經過沿岸地區</a:t>
            </a:r>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00" y="1628800"/>
            <a:ext cx="1865864"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77589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9254733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176592"/>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806489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7.</a:t>
            </a:r>
            <a:r>
              <a:rPr lang="zh-TW" altLang="en-US" sz="2400" dirty="0"/>
              <a:t>國際援助與國際事件的發生，深深影響日本戰後崛起。下列哪一事件「不」在上述之列？</a:t>
            </a:r>
            <a:r>
              <a:rPr lang="zh-TW" altLang="en-US" sz="2400" dirty="0">
                <a:latin typeface="標楷體" pitchFamily="65" charset="-120"/>
              </a:rPr>
              <a:t>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 </a:t>
            </a:r>
            <a:r>
              <a:rPr lang="en-US" altLang="zh-TW" sz="2400" dirty="0">
                <a:latin typeface="標楷體" pitchFamily="65" charset="-120"/>
              </a:rPr>
              <a:t>1950 </a:t>
            </a:r>
            <a:r>
              <a:rPr lang="zh-TW" altLang="en-US" sz="2400" dirty="0">
                <a:latin typeface="標楷體" pitchFamily="65" charset="-120"/>
              </a:rPr>
              <a:t>年代韓戰爆發</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 </a:t>
            </a:r>
            <a:r>
              <a:rPr lang="en-US" altLang="zh-TW" sz="2400" dirty="0">
                <a:latin typeface="標楷體" pitchFamily="65" charset="-120"/>
              </a:rPr>
              <a:t>1970 </a:t>
            </a:r>
            <a:r>
              <a:rPr lang="zh-TW" altLang="en-US" sz="2400" dirty="0">
                <a:latin typeface="標楷體" pitchFamily="65" charset="-120"/>
              </a:rPr>
              <a:t>年代石油危機</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(D)</a:t>
            </a:r>
            <a:r>
              <a:rPr lang="zh-TW" altLang="en-US" sz="2400" dirty="0">
                <a:latin typeface="標楷體" pitchFamily="65" charset="-120"/>
              </a:rPr>
              <a:t>美國援助</a:t>
            </a:r>
          </a:p>
        </p:txBody>
      </p:sp>
      <p:sp>
        <p:nvSpPr>
          <p:cNvPr id="12" name="Rectangle 8"/>
          <p:cNvSpPr>
            <a:spLocks noChangeArrowheads="1"/>
          </p:cNvSpPr>
          <p:nvPr/>
        </p:nvSpPr>
        <p:spPr bwMode="auto">
          <a:xfrm>
            <a:off x="1187624" y="4149080"/>
            <a:ext cx="669674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kern="1200" dirty="0">
                <a:solidFill>
                  <a:srgbClr val="FF0000"/>
                </a:solidFill>
                <a:latin typeface="標楷體" panose="03000509000000000000" pitchFamily="65" charset="-120"/>
                <a:ea typeface="標楷體" panose="03000509000000000000" pitchFamily="65" charset="-120"/>
                <a:cs typeface="+mn-cs"/>
              </a:rPr>
              <a:t>(C)</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日本在第二次大戰挫敗，非第一次世界大戰。</a:t>
            </a:r>
            <a:endParaRPr kumimoji="1" lang="en-US" altLang="zh-TW" sz="2400" kern="1200" dirty="0">
              <a:solidFill>
                <a:srgbClr val="FF0000"/>
              </a:solidFill>
              <a:latin typeface="標楷體" panose="03000509000000000000" pitchFamily="65" charset="-120"/>
              <a:ea typeface="標楷體" panose="03000509000000000000" pitchFamily="65" charset="-120"/>
              <a:cs typeface="+mn-cs"/>
            </a:endParaRPr>
          </a:p>
          <a:p>
            <a:endParaRPr kumimoji="1" lang="en-US" altLang="zh-TW" sz="2400" kern="1200" dirty="0">
              <a:solidFill>
                <a:srgbClr val="FF0000"/>
              </a:solidFill>
              <a:latin typeface="標楷體" panose="03000509000000000000" pitchFamily="65" charset="-120"/>
              <a:ea typeface="標楷體" panose="03000509000000000000" pitchFamily="65" charset="-120"/>
              <a:cs typeface="+mn-cs"/>
            </a:endParaRPr>
          </a:p>
          <a:p>
            <a:r>
              <a:rPr kumimoji="1" lang="en-US" altLang="zh-TW" sz="2400" kern="1200" dirty="0">
                <a:solidFill>
                  <a:srgbClr val="FF0000"/>
                </a:solidFill>
                <a:latin typeface="標楷體" panose="03000509000000000000" pitchFamily="65" charset="-120"/>
                <a:ea typeface="標楷體" panose="03000509000000000000" pitchFamily="65" charset="-120"/>
                <a:cs typeface="+mn-cs"/>
              </a:rPr>
              <a:t>(A)</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韓戰爆發，日本成為美國軍需品的補給站。</a:t>
            </a:r>
            <a:r>
              <a:rPr kumimoji="1" lang="en-US" altLang="zh-TW" sz="2400" kern="1200" dirty="0">
                <a:solidFill>
                  <a:srgbClr val="FF0000"/>
                </a:solidFill>
                <a:latin typeface="標楷體" panose="03000509000000000000" pitchFamily="65" charset="-120"/>
                <a:ea typeface="標楷體" panose="03000509000000000000" pitchFamily="65" charset="-120"/>
                <a:cs typeface="+mn-cs"/>
              </a:rPr>
              <a:t>(B)</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藉由石油危機，推出省油汽車。</a:t>
            </a:r>
            <a:endParaRPr kumimoji="1" lang="en-US" altLang="zh-TW" sz="2400" kern="1200" dirty="0">
              <a:solidFill>
                <a:srgbClr val="FF0000"/>
              </a:solidFill>
              <a:latin typeface="標楷體" panose="03000509000000000000" pitchFamily="65" charset="-120"/>
              <a:ea typeface="標楷體" panose="03000509000000000000" pitchFamily="65" charset="-120"/>
              <a:cs typeface="+mn-cs"/>
            </a:endParaRPr>
          </a:p>
          <a:p>
            <a:r>
              <a:rPr kumimoji="1" lang="en-US" altLang="zh-TW" sz="2400" kern="1200" dirty="0">
                <a:solidFill>
                  <a:srgbClr val="FF0000"/>
                </a:solidFill>
                <a:latin typeface="標楷體" panose="03000509000000000000" pitchFamily="65" charset="-120"/>
                <a:ea typeface="標楷體" panose="03000509000000000000" pitchFamily="65" charset="-120"/>
                <a:cs typeface="+mn-cs"/>
              </a:rPr>
              <a:t>(D)</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美國提供資金援助，重建日本工業。</a:t>
            </a:r>
          </a:p>
        </p:txBody>
      </p:sp>
      <p:sp>
        <p:nvSpPr>
          <p:cNvPr id="9" name="Text Box 3"/>
          <p:cNvSpPr txBox="1">
            <a:spLocks noChangeArrowheads="1"/>
          </p:cNvSpPr>
          <p:nvPr/>
        </p:nvSpPr>
        <p:spPr bwMode="auto">
          <a:xfrm>
            <a:off x="997727" y="2510314"/>
            <a:ext cx="31683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latin typeface="標楷體" pitchFamily="65" charset="-120"/>
              </a:rPr>
              <a:t>第一次世界大戰</a:t>
            </a: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855848" y="5403115"/>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70</a:t>
            </a:fld>
            <a:endParaRPr lang="zh-TW" sz="1400">
              <a:solidFill>
                <a:schemeClr val="dk1"/>
              </a:solidFill>
              <a:latin typeface="Arial"/>
              <a:ea typeface="Arial"/>
              <a:cs typeface="Arial"/>
              <a:sym typeface="Arial"/>
            </a:endParaRPr>
          </a:p>
        </p:txBody>
      </p:sp>
      <p:sp>
        <p:nvSpPr>
          <p:cNvPr id="13" name="矩形 12"/>
          <p:cNvSpPr>
            <a:spLocks noChangeArrowheads="1"/>
          </p:cNvSpPr>
          <p:nvPr/>
        </p:nvSpPr>
        <p:spPr bwMode="auto">
          <a:xfrm>
            <a:off x="523516" y="226250"/>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p.193</a:t>
            </a:r>
            <a:endParaRPr lang="zh-TW" altLang="en-US" b="0" dirty="0"/>
          </a:p>
        </p:txBody>
      </p:sp>
    </p:spTree>
    <p:extLst>
      <p:ext uri="{BB962C8B-B14F-4D97-AF65-F5344CB8AC3E}">
        <p14:creationId xmlns:p14="http://schemas.microsoft.com/office/powerpoint/2010/main" val="54469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170538"/>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806489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8.</a:t>
            </a:r>
            <a:r>
              <a:rPr lang="zh-TW" altLang="en-US" sz="2400" dirty="0"/>
              <a:t>下圖為年資、薪資和生產力的關係圖，此圖代表的意義為何？</a:t>
            </a:r>
            <a:r>
              <a:rPr lang="zh-TW" altLang="en-US" sz="2400" dirty="0">
                <a:latin typeface="標楷體" pitchFamily="65" charset="-120"/>
              </a:rPr>
              <a:t>  </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生產力隨著薪資增加</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生產力隨著時間遞增</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(D)</a:t>
            </a:r>
            <a:r>
              <a:rPr lang="zh-TW" altLang="en-US" sz="2400" dirty="0">
                <a:latin typeface="標楷體" pitchFamily="65" charset="-120"/>
              </a:rPr>
              <a:t>薪資與生產力呈反比</a:t>
            </a:r>
          </a:p>
        </p:txBody>
      </p:sp>
      <p:sp>
        <p:nvSpPr>
          <p:cNvPr id="12" name="Rectangle 8"/>
          <p:cNvSpPr>
            <a:spLocks noChangeArrowheads="1"/>
          </p:cNvSpPr>
          <p:nvPr/>
        </p:nvSpPr>
        <p:spPr bwMode="auto">
          <a:xfrm>
            <a:off x="1043608" y="5142383"/>
            <a:ext cx="66967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kern="1200" dirty="0">
                <a:solidFill>
                  <a:srgbClr val="FF0000"/>
                </a:solidFill>
                <a:latin typeface="標楷體" panose="03000509000000000000" pitchFamily="65" charset="-120"/>
                <a:ea typeface="標楷體" panose="03000509000000000000" pitchFamily="65" charset="-120"/>
                <a:cs typeface="+mn-cs"/>
              </a:rPr>
              <a:t>(B)</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薪資以年資長短為標準，年資長、薪資高。</a:t>
            </a:r>
          </a:p>
        </p:txBody>
      </p:sp>
      <p:sp>
        <p:nvSpPr>
          <p:cNvPr id="9" name="Text Box 3"/>
          <p:cNvSpPr txBox="1">
            <a:spLocks noChangeArrowheads="1"/>
          </p:cNvSpPr>
          <p:nvPr/>
        </p:nvSpPr>
        <p:spPr bwMode="auto">
          <a:xfrm>
            <a:off x="971600" y="4005064"/>
            <a:ext cx="31683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dirty="0">
                <a:latin typeface="標楷體" pitchFamily="65" charset="-120"/>
              </a:rPr>
              <a:t>薪資隨著年資增加</a:t>
            </a:r>
          </a:p>
        </p:txBody>
      </p:sp>
      <p:pic>
        <p:nvPicPr>
          <p:cNvPr id="11" name="Picture 5" descr="a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408014">
            <a:off x="7855848" y="5403115"/>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4194" y="1700808"/>
            <a:ext cx="2205300"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71</a:t>
            </a:fld>
            <a:endParaRPr lang="zh-TW" sz="1400">
              <a:solidFill>
                <a:schemeClr val="dk1"/>
              </a:solidFill>
              <a:latin typeface="Arial"/>
              <a:ea typeface="Arial"/>
              <a:cs typeface="Arial"/>
              <a:sym typeface="Arial"/>
            </a:endParaRPr>
          </a:p>
        </p:txBody>
      </p:sp>
      <p:sp>
        <p:nvSpPr>
          <p:cNvPr id="13" name="矩形 12"/>
          <p:cNvSpPr>
            <a:spLocks noChangeArrowheads="1"/>
          </p:cNvSpPr>
          <p:nvPr/>
        </p:nvSpPr>
        <p:spPr bwMode="auto">
          <a:xfrm>
            <a:off x="523516" y="226250"/>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p.194</a:t>
            </a:r>
            <a:endParaRPr lang="zh-TW" altLang="en-US" b="0" dirty="0"/>
          </a:p>
        </p:txBody>
      </p:sp>
    </p:spTree>
    <p:extLst>
      <p:ext uri="{BB962C8B-B14F-4D97-AF65-F5344CB8AC3E}">
        <p14:creationId xmlns:p14="http://schemas.microsoft.com/office/powerpoint/2010/main" val="112214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3" y="1054224"/>
            <a:ext cx="7776864"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9.</a:t>
            </a:r>
            <a:r>
              <a:rPr lang="zh-TW" altLang="en-US" sz="2400" dirty="0">
                <a:latin typeface="標楷體" panose="03000509000000000000" pitchFamily="65" charset="-120"/>
              </a:rPr>
              <a:t> </a:t>
            </a:r>
            <a:r>
              <a:rPr lang="en-US" altLang="zh-TW" sz="2400" dirty="0">
                <a:latin typeface="標楷體" panose="03000509000000000000" pitchFamily="65" charset="-120"/>
              </a:rPr>
              <a:t>2008 </a:t>
            </a:r>
            <a:r>
              <a:rPr lang="zh-TW" altLang="en-US" sz="2400" dirty="0">
                <a:latin typeface="標楷體" panose="03000509000000000000" pitchFamily="65" charset="-120"/>
              </a:rPr>
              <a:t>年以後，日本企業採取僱用臨時工，以解決短期勞工不足的現象。請問企業採取上述策略的主要目的為何？</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提供員工退休保障</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增加國家就業率</a:t>
            </a:r>
            <a:endParaRPr lang="en-US" altLang="zh-TW" sz="2400" dirty="0">
              <a:latin typeface="標楷體" pitchFamily="65" charset="-120"/>
            </a:endParaRPr>
          </a:p>
          <a:p>
            <a:r>
              <a:rPr lang="en-US" altLang="zh-TW" sz="2400" dirty="0">
                <a:latin typeface="標楷體" pitchFamily="65" charset="-120"/>
              </a:rPr>
              <a:t>   </a:t>
            </a:r>
          </a:p>
          <a:p>
            <a:r>
              <a:rPr lang="en-US" altLang="zh-TW" sz="2400" dirty="0">
                <a:latin typeface="標楷體" pitchFamily="65" charset="-120"/>
              </a:rPr>
              <a:t>   (D)</a:t>
            </a:r>
            <a:r>
              <a:rPr lang="zh-TW" altLang="en-US" sz="2400" dirty="0">
                <a:latin typeface="標楷體" pitchFamily="65" charset="-120"/>
              </a:rPr>
              <a:t>企業水平整合</a:t>
            </a:r>
          </a:p>
        </p:txBody>
      </p:sp>
      <p:sp>
        <p:nvSpPr>
          <p:cNvPr id="12" name="Rectangle 8"/>
          <p:cNvSpPr>
            <a:spLocks noChangeArrowheads="1"/>
          </p:cNvSpPr>
          <p:nvPr/>
        </p:nvSpPr>
        <p:spPr bwMode="auto">
          <a:xfrm>
            <a:off x="1187624" y="4149080"/>
            <a:ext cx="66967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kern="1200" dirty="0">
                <a:solidFill>
                  <a:srgbClr val="FF0000"/>
                </a:solidFill>
                <a:latin typeface="標楷體" panose="03000509000000000000" pitchFamily="65" charset="-120"/>
                <a:ea typeface="標楷體" panose="03000509000000000000" pitchFamily="65" charset="-120"/>
                <a:cs typeface="+mn-cs"/>
              </a:rPr>
              <a:t>(C)</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僱用臨時工以解決缺工問題。</a:t>
            </a:r>
          </a:p>
        </p:txBody>
      </p:sp>
      <p:sp>
        <p:nvSpPr>
          <p:cNvPr id="9" name="Text Box 3"/>
          <p:cNvSpPr txBox="1">
            <a:spLocks noChangeArrowheads="1"/>
          </p:cNvSpPr>
          <p:nvPr/>
        </p:nvSpPr>
        <p:spPr bwMode="auto">
          <a:xfrm>
            <a:off x="1000063" y="2877909"/>
            <a:ext cx="31683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latin typeface="標楷體" pitchFamily="65" charset="-120"/>
              </a:rPr>
              <a:t>有效運用人力</a:t>
            </a: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855848" y="5403115"/>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16324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3" y="1054224"/>
            <a:ext cx="7776864"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10.</a:t>
            </a:r>
            <a:r>
              <a:rPr lang="zh-TW" altLang="en-US" sz="2400" dirty="0"/>
              <a:t>日本經濟發展面臨的問題何者與「金融政策寬鬆」有關？</a:t>
            </a:r>
            <a:r>
              <a:rPr lang="zh-TW" altLang="en-US" sz="2400" dirty="0">
                <a:latin typeface="標楷體" pitchFamily="65" charset="-120"/>
              </a:rPr>
              <a:t>   </a:t>
            </a:r>
            <a:endParaRPr lang="en-US" altLang="zh-TW" sz="2400" dirty="0">
              <a:latin typeface="標楷體" pitchFamily="65" charset="-120"/>
            </a:endParaRPr>
          </a:p>
          <a:p>
            <a:r>
              <a:rPr lang="en-US" altLang="zh-TW" sz="2400" dirty="0">
                <a:latin typeface="標楷體" pitchFamily="65" charset="-120"/>
              </a:rPr>
              <a:t>   (A)</a:t>
            </a:r>
            <a:r>
              <a:rPr lang="zh-TW" altLang="en-US" sz="2400" dirty="0">
                <a:latin typeface="標楷體" pitchFamily="65" charset="-120"/>
              </a:rPr>
              <a:t>勞力不足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產業空洞化</a:t>
            </a:r>
            <a:endParaRPr lang="en-US" altLang="zh-TW" sz="2400" dirty="0">
              <a:latin typeface="標楷體" pitchFamily="65" charset="-120"/>
            </a:endParaRPr>
          </a:p>
          <a:p>
            <a:endParaRPr lang="en-US" altLang="zh-TW" sz="2400" dirty="0">
              <a:latin typeface="標楷體" pitchFamily="65" charset="-120"/>
            </a:endParaRPr>
          </a:p>
          <a:p>
            <a:r>
              <a:rPr lang="en-US" altLang="zh-TW" sz="2400" dirty="0">
                <a:latin typeface="標楷體" pitchFamily="65" charset="-120"/>
              </a:rPr>
              <a:t>   (D)</a:t>
            </a:r>
            <a:r>
              <a:rPr lang="zh-TW" altLang="en-US" sz="2400" dirty="0">
                <a:latin typeface="標楷體" pitchFamily="65" charset="-120"/>
              </a:rPr>
              <a:t>大企業彈性小</a:t>
            </a:r>
          </a:p>
        </p:txBody>
      </p:sp>
      <p:sp>
        <p:nvSpPr>
          <p:cNvPr id="12" name="Rectangle 8"/>
          <p:cNvSpPr>
            <a:spLocks noChangeArrowheads="1"/>
          </p:cNvSpPr>
          <p:nvPr/>
        </p:nvSpPr>
        <p:spPr bwMode="auto">
          <a:xfrm>
            <a:off x="1187624" y="4149080"/>
            <a:ext cx="61206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kern="1200" dirty="0">
                <a:solidFill>
                  <a:srgbClr val="FF0000"/>
                </a:solidFill>
                <a:latin typeface="標楷體" panose="03000509000000000000" pitchFamily="65" charset="-120"/>
                <a:ea typeface="標楷體" panose="03000509000000000000" pitchFamily="65" charset="-120"/>
                <a:cs typeface="+mn-cs"/>
              </a:rPr>
              <a:t>(C)</a:t>
            </a:r>
            <a:r>
              <a:rPr kumimoji="1" lang="zh-TW" altLang="en-US" sz="2400" kern="1200" dirty="0">
                <a:solidFill>
                  <a:srgbClr val="FF0000"/>
                </a:solidFill>
                <a:latin typeface="標楷體" panose="03000509000000000000" pitchFamily="65" charset="-120"/>
                <a:ea typeface="標楷體" panose="03000509000000000000" pitchFamily="65" charset="-120"/>
                <a:cs typeface="+mn-cs"/>
              </a:rPr>
              <a:t>低利率使借貸壓力降低，市場資金過多，導致經濟泡沫化現象。</a:t>
            </a:r>
          </a:p>
        </p:txBody>
      </p:sp>
      <p:sp>
        <p:nvSpPr>
          <p:cNvPr id="9" name="Text Box 3"/>
          <p:cNvSpPr txBox="1">
            <a:spLocks noChangeArrowheads="1"/>
          </p:cNvSpPr>
          <p:nvPr/>
        </p:nvSpPr>
        <p:spPr bwMode="auto">
          <a:xfrm>
            <a:off x="989018" y="2519023"/>
            <a:ext cx="19442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latin typeface="標楷體" pitchFamily="65" charset="-120"/>
              </a:rPr>
              <a:t>泡沫經濟</a:t>
            </a: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855848" y="5403115"/>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5315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8144611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    自 </a:t>
            </a:r>
            <a:r>
              <a:rPr kumimoji="1" lang="en-US" altLang="zh-TW" sz="2000" dirty="0">
                <a:solidFill>
                  <a:schemeClr val="tx1"/>
                </a:solidFill>
                <a:latin typeface="標楷體" pitchFamily="65" charset="-120"/>
                <a:ea typeface="標楷體" pitchFamily="65" charset="-120"/>
              </a:rPr>
              <a:t>2006 </a:t>
            </a:r>
            <a:r>
              <a:rPr kumimoji="1" lang="zh-TW" altLang="en-US" sz="2000" dirty="0">
                <a:solidFill>
                  <a:schemeClr val="tx1"/>
                </a:solidFill>
                <a:latin typeface="標楷體" pitchFamily="65" charset="-120"/>
                <a:ea typeface="標楷體" pitchFamily="65" charset="-120"/>
              </a:rPr>
              <a:t>年起中國外匯存底超越日本，至今穩居世界第一後，</a:t>
            </a:r>
            <a:r>
              <a:rPr kumimoji="1" lang="en-US" altLang="zh-TW" sz="2000" dirty="0">
                <a:solidFill>
                  <a:schemeClr val="tx1"/>
                </a:solidFill>
                <a:latin typeface="標楷體" pitchFamily="65" charset="-120"/>
                <a:ea typeface="標楷體" pitchFamily="65" charset="-120"/>
              </a:rPr>
              <a:t>2005 </a:t>
            </a:r>
            <a:r>
              <a:rPr kumimoji="1" lang="zh-TW" altLang="en-US" sz="2000" dirty="0">
                <a:solidFill>
                  <a:schemeClr val="tx1"/>
                </a:solidFill>
                <a:latin typeface="標楷體" pitchFamily="65" charset="-120"/>
                <a:ea typeface="標楷體" pitchFamily="65" charset="-120"/>
              </a:rPr>
              <a:t>年中國聯想集團買下 </a:t>
            </a:r>
            <a:r>
              <a:rPr kumimoji="1" lang="en-US" altLang="zh-TW" sz="2000" dirty="0">
                <a:solidFill>
                  <a:schemeClr val="tx1"/>
                </a:solidFill>
                <a:latin typeface="標楷體" pitchFamily="65" charset="-120"/>
                <a:ea typeface="標楷體" pitchFamily="65" charset="-120"/>
              </a:rPr>
              <a:t>IBM </a:t>
            </a:r>
            <a:r>
              <a:rPr kumimoji="1" lang="zh-TW" altLang="en-US" sz="2000" dirty="0">
                <a:solidFill>
                  <a:schemeClr val="tx1"/>
                </a:solidFill>
                <a:latin typeface="標楷體" pitchFamily="65" charset="-120"/>
                <a:ea typeface="標楷體" pitchFamily="65" charset="-120"/>
              </a:rPr>
              <a:t>的 </a:t>
            </a:r>
            <a:r>
              <a:rPr kumimoji="1" lang="en-US" altLang="zh-TW" sz="2000" dirty="0">
                <a:solidFill>
                  <a:schemeClr val="tx1"/>
                </a:solidFill>
                <a:latin typeface="標楷體" pitchFamily="65" charset="-120"/>
                <a:ea typeface="標楷體" pitchFamily="65" charset="-120"/>
              </a:rPr>
              <a:t>PC </a:t>
            </a:r>
            <a:r>
              <a:rPr kumimoji="1" lang="zh-TW" altLang="en-US" sz="2000" dirty="0">
                <a:solidFill>
                  <a:schemeClr val="tx1"/>
                </a:solidFill>
                <a:latin typeface="標楷體" pitchFamily="65" charset="-120"/>
                <a:ea typeface="標楷體" pitchFamily="65" charset="-120"/>
              </a:rPr>
              <a:t>部門全世界譁然，象徵中國充足的資金開啟對外投資之路。從亞非新興市場，到歐美先進國家，從能源、原物料到高科技、食衣住行育樂各種製造業與服務業，中資企業持有的資產已經遍布全球（右圖）。請問：</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1.</a:t>
            </a:r>
            <a:r>
              <a:rPr kumimoji="1" lang="zh-TW" altLang="en-US" sz="2000" dirty="0">
                <a:solidFill>
                  <a:schemeClr val="tx1"/>
                </a:solidFill>
                <a:latin typeface="標楷體" pitchFamily="65" charset="-120"/>
                <a:ea typeface="標楷體" pitchFamily="65" charset="-120"/>
              </a:rPr>
              <a:t>從統計圖中可以看到，</a:t>
            </a:r>
            <a:r>
              <a:rPr kumimoji="1" lang="en-US" altLang="zh-TW" sz="2000" dirty="0">
                <a:solidFill>
                  <a:schemeClr val="tx1"/>
                </a:solidFill>
                <a:latin typeface="標楷體" pitchFamily="65" charset="-120"/>
                <a:ea typeface="標楷體" pitchFamily="65" charset="-120"/>
              </a:rPr>
              <a:t>2007 ∼</a:t>
            </a:r>
          </a:p>
          <a:p>
            <a:r>
              <a:rPr kumimoji="1" lang="en-US" altLang="zh-TW" sz="2000" dirty="0">
                <a:solidFill>
                  <a:schemeClr val="tx1"/>
                </a:solidFill>
                <a:latin typeface="標楷體" pitchFamily="65" charset="-120"/>
                <a:ea typeface="標楷體" pitchFamily="65" charset="-120"/>
              </a:rPr>
              <a:t> 2008 </a:t>
            </a:r>
            <a:r>
              <a:rPr kumimoji="1" lang="zh-TW" altLang="en-US" sz="2000" dirty="0">
                <a:solidFill>
                  <a:schemeClr val="tx1"/>
                </a:solidFill>
                <a:latin typeface="標楷體" pitchFamily="65" charset="-120"/>
                <a:ea typeface="標楷體" pitchFamily="65" charset="-120"/>
              </a:rPr>
              <a:t>年中國對外投資金額暴增，</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因此時有許多「物美價廉」的標</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的值得趁機併購，與下列哪一重</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大事件最密切相關？</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(A)</a:t>
            </a:r>
            <a:r>
              <a:rPr kumimoji="1" lang="zh-TW" altLang="en-US" sz="2000" dirty="0">
                <a:solidFill>
                  <a:schemeClr val="tx1"/>
                </a:solidFill>
                <a:latin typeface="標楷體" pitchFamily="65" charset="-120"/>
                <a:ea typeface="標楷體" pitchFamily="65" charset="-120"/>
              </a:rPr>
              <a:t>日本泡沫經濟</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(B)</a:t>
            </a:r>
            <a:r>
              <a:rPr kumimoji="1" lang="zh-TW" altLang="en-US" sz="2000" dirty="0">
                <a:solidFill>
                  <a:schemeClr val="tx1"/>
                </a:solidFill>
                <a:latin typeface="標楷體" pitchFamily="65" charset="-120"/>
                <a:ea typeface="標楷體" pitchFamily="65" charset="-120"/>
              </a:rPr>
              <a:t>亞洲金融風暴</a:t>
            </a:r>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(D)</a:t>
            </a:r>
            <a:r>
              <a:rPr kumimoji="1" lang="zh-TW" altLang="en-US" sz="2000" dirty="0">
                <a:solidFill>
                  <a:schemeClr val="tx1"/>
                </a:solidFill>
                <a:latin typeface="標楷體" pitchFamily="65" charset="-120"/>
                <a:ea typeface="標楷體" pitchFamily="65" charset="-120"/>
              </a:rPr>
              <a:t>中國改革開放</a:t>
            </a:r>
            <a:endParaRPr kumimoji="1" lang="en-US" altLang="zh-TW" sz="2000" dirty="0">
              <a:solidFill>
                <a:schemeClr val="tx1"/>
              </a:solidFill>
              <a:latin typeface="標楷體" pitchFamily="65" charset="-120"/>
              <a:ea typeface="標楷體" pitchFamily="65" charset="-120"/>
            </a:endParaRPr>
          </a:p>
          <a:p>
            <a:endParaRPr kumimoji="1" lang="zh-TW" altLang="en-US" sz="2000" dirty="0">
              <a:solidFill>
                <a:schemeClr val="tx1"/>
              </a:solidFill>
              <a:latin typeface="標楷體" pitchFamily="65" charset="-120"/>
              <a:ea typeface="標楷體" pitchFamily="65" charset="-120"/>
            </a:endParaRPr>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693" y="228521"/>
            <a:ext cx="516255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3"/>
          <p:cNvSpPr txBox="1">
            <a:spLocks noChangeArrowheads="1"/>
          </p:cNvSpPr>
          <p:nvPr/>
        </p:nvSpPr>
        <p:spPr bwMode="auto">
          <a:xfrm>
            <a:off x="340946" y="4733853"/>
            <a:ext cx="21959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000" dirty="0">
                <a:latin typeface="標楷體" pitchFamily="65" charset="-120"/>
              </a:rPr>
              <a:t>(C)</a:t>
            </a:r>
            <a:r>
              <a:rPr lang="zh-TW" altLang="en-US" sz="2000" dirty="0">
                <a:latin typeface="標楷體" pitchFamily="65" charset="-120"/>
              </a:rPr>
              <a:t>全球金融風暴</a:t>
            </a:r>
          </a:p>
        </p:txBody>
      </p:sp>
      <p:sp>
        <p:nvSpPr>
          <p:cNvPr id="13" name="Rectangle 8"/>
          <p:cNvSpPr>
            <a:spLocks noChangeArrowheads="1"/>
          </p:cNvSpPr>
          <p:nvPr/>
        </p:nvSpPr>
        <p:spPr bwMode="auto">
          <a:xfrm>
            <a:off x="899592" y="5517232"/>
            <a:ext cx="612068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2007 ∼ 2008 </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年正值全球金融海嘯，中國因金融國際化程度不高，金融體系較為封閉，所受衝擊不大，成為唯一外資直接投資與證券投資持續成長的國家。</a:t>
            </a:r>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2564904"/>
            <a:ext cx="4104329" cy="2745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75</a:t>
            </a:fld>
            <a:endParaRPr lang="zh-TW" sz="1400">
              <a:solidFill>
                <a:schemeClr val="dk1"/>
              </a:solidFill>
              <a:latin typeface="Arial"/>
              <a:ea typeface="Arial"/>
              <a:cs typeface="Arial"/>
              <a:sym typeface="Arial"/>
            </a:endParaRPr>
          </a:p>
        </p:txBody>
      </p:sp>
      <p:sp>
        <p:nvSpPr>
          <p:cNvPr id="11" name="矩形 10"/>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p.196</a:t>
            </a:r>
            <a:endParaRPr lang="zh-TW" altLang="en-US" b="0" dirty="0"/>
          </a:p>
        </p:txBody>
      </p:sp>
    </p:spTree>
    <p:extLst>
      <p:ext uri="{BB962C8B-B14F-4D97-AF65-F5344CB8AC3E}">
        <p14:creationId xmlns:p14="http://schemas.microsoft.com/office/powerpoint/2010/main" val="7024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2">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2">
                                            <p:txEl>
                                              <p:pRg st="0" end="0"/>
                                            </p:txEl>
                                          </p:spTgt>
                                        </p:tgtEl>
                                        <p:attrNameLst>
                                          <p:attrName>style.fontStyle</p:attrName>
                                        </p:attrNameLst>
                                      </p:cBhvr>
                                      <p:to>
                                        <p:strVal val="normal"/>
                                      </p:to>
                                    </p:set>
                                    <p:set>
                                      <p:cBhvr override="childStyle">
                                        <p:cTn id="9" dur="indefinite"/>
                                        <p:tgtEl>
                                          <p:spTgt spid="12">
                                            <p:txEl>
                                              <p:pRg st="0" end="0"/>
                                            </p:txEl>
                                          </p:spTgt>
                                        </p:tgtEl>
                                        <p:attrNameLst>
                                          <p:attrName>style.fontWeight</p:attrName>
                                        </p:attrNameLst>
                                      </p:cBhvr>
                                      <p:to>
                                        <p:strVal val="bold"/>
                                      </p:to>
                                    </p:set>
                                    <p:set>
                                      <p:cBhvr override="childStyle">
                                        <p:cTn id="10" dur="indefinite"/>
                                        <p:tgtEl>
                                          <p:spTgt spid="12">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400" dirty="0">
                <a:solidFill>
                  <a:schemeClr val="tx1"/>
                </a:solidFill>
                <a:latin typeface="標楷體" pitchFamily="65" charset="-120"/>
                <a:ea typeface="標楷體" pitchFamily="65" charset="-120"/>
              </a:rPr>
              <a:t>2.</a:t>
            </a:r>
            <a:r>
              <a:rPr kumimoji="1" lang="zh-TW" altLang="en-US" sz="2400" dirty="0">
                <a:solidFill>
                  <a:schemeClr val="tx1"/>
                </a:solidFill>
                <a:latin typeface="標楷體" pitchFamily="65" charset="-120"/>
                <a:ea typeface="標楷體" pitchFamily="65" charset="-120"/>
              </a:rPr>
              <a:t>全球資本流動的現代，對於外來投資通常採歡迎立場，外資能夠提供資金需求促進經濟，但目前愈來愈多的西方國家對外國投資帶來的國家安全風險感到擔憂，例如</a:t>
            </a:r>
            <a:r>
              <a:rPr kumimoji="1" lang="en-US" altLang="zh-TW" sz="2400" dirty="0">
                <a:solidFill>
                  <a:schemeClr val="tx1"/>
                </a:solidFill>
                <a:latin typeface="標楷體" pitchFamily="65" charset="-120"/>
                <a:ea typeface="標楷體" pitchFamily="65" charset="-120"/>
              </a:rPr>
              <a:t>2016 </a:t>
            </a:r>
            <a:r>
              <a:rPr kumimoji="1" lang="zh-TW" altLang="en-US" sz="2400" dirty="0">
                <a:solidFill>
                  <a:schemeClr val="tx1"/>
                </a:solidFill>
                <a:latin typeface="標楷體" pitchFamily="65" charset="-120"/>
                <a:ea typeface="標楷體" pitchFamily="65" charset="-120"/>
              </a:rPr>
              <a:t>年中國電器公司美的集團收購德國機器人製造商庫卡（</a:t>
            </a:r>
            <a:r>
              <a:rPr kumimoji="1" lang="en-US" altLang="zh-TW" sz="2400" dirty="0" err="1">
                <a:solidFill>
                  <a:schemeClr val="tx1"/>
                </a:solidFill>
                <a:latin typeface="標楷體" pitchFamily="65" charset="-120"/>
                <a:ea typeface="標楷體" pitchFamily="65" charset="-120"/>
              </a:rPr>
              <a:t>Kuka</a:t>
            </a:r>
            <a:r>
              <a:rPr kumimoji="1" lang="zh-TW" altLang="en-US" sz="2400" dirty="0">
                <a:solidFill>
                  <a:schemeClr val="tx1"/>
                </a:solidFill>
                <a:latin typeface="標楷體" pitchFamily="65" charset="-120"/>
                <a:ea typeface="標楷體" pitchFamily="65" charset="-120"/>
              </a:rPr>
              <a:t>），當時引起德國內部非常大的反彈，原因是庫卡是世界最大的機器人製造商之一，更在德國工業</a:t>
            </a:r>
            <a:r>
              <a:rPr kumimoji="1" lang="en-US" altLang="zh-TW" sz="2400" dirty="0">
                <a:solidFill>
                  <a:schemeClr val="tx1"/>
                </a:solidFill>
                <a:latin typeface="標楷體" pitchFamily="65" charset="-120"/>
                <a:ea typeface="標楷體" pitchFamily="65" charset="-120"/>
              </a:rPr>
              <a:t>4.0 </a:t>
            </a:r>
            <a:r>
              <a:rPr kumimoji="1" lang="zh-TW" altLang="en-US" sz="2400" dirty="0">
                <a:solidFill>
                  <a:schemeClr val="tx1"/>
                </a:solidFill>
                <a:latin typeface="標楷體" pitchFamily="65" charset="-120"/>
                <a:ea typeface="標楷體" pitchFamily="65" charset="-120"/>
              </a:rPr>
              <a:t>計畫中占有重要地位，該收購案讓德國加強對歐盟以外企業的投資監管。</a:t>
            </a:r>
            <a:r>
              <a:rPr kumimoji="1" lang="en-US" altLang="zh-TW" sz="2400" dirty="0">
                <a:solidFill>
                  <a:schemeClr val="tx1"/>
                </a:solidFill>
                <a:latin typeface="標楷體" pitchFamily="65" charset="-120"/>
                <a:ea typeface="標楷體" pitchFamily="65" charset="-120"/>
              </a:rPr>
              <a:t>2019</a:t>
            </a:r>
            <a:r>
              <a:rPr kumimoji="1" lang="zh-TW" altLang="en-US" sz="2400" dirty="0">
                <a:solidFill>
                  <a:schemeClr val="tx1"/>
                </a:solidFill>
                <a:latin typeface="標楷體" pitchFamily="65" charset="-120"/>
                <a:ea typeface="標楷體" pitchFamily="65" charset="-120"/>
              </a:rPr>
              <a:t> 年 </a:t>
            </a:r>
            <a:r>
              <a:rPr kumimoji="1" lang="en-US" altLang="zh-TW" sz="2400" dirty="0">
                <a:solidFill>
                  <a:schemeClr val="tx1"/>
                </a:solidFill>
                <a:latin typeface="標楷體" pitchFamily="65" charset="-120"/>
                <a:ea typeface="標楷體" pitchFamily="65" charset="-120"/>
              </a:rPr>
              <a:t>2 </a:t>
            </a:r>
            <a:r>
              <a:rPr kumimoji="1" lang="zh-TW" altLang="en-US" sz="2400" dirty="0">
                <a:solidFill>
                  <a:schemeClr val="tx1"/>
                </a:solidFill>
                <a:latin typeface="標楷體" pitchFamily="65" charset="-120"/>
                <a:ea typeface="標楷體" pitchFamily="65" charset="-120"/>
              </a:rPr>
              <a:t>月，歐盟通過第一個「中資條款」，將嚴加審視境外投資、收購，尤其是中國資金，審查的範圍涵蓋機器人、人工智慧、能源和基礎設施等。根據上述，西方國家為何要嚴格審查部分領域的外來投資？請以一句話說明。（以 </a:t>
            </a:r>
            <a:r>
              <a:rPr kumimoji="1" lang="en-US" altLang="zh-TW" sz="2400" dirty="0">
                <a:solidFill>
                  <a:schemeClr val="tx1"/>
                </a:solidFill>
                <a:latin typeface="標楷體" pitchFamily="65" charset="-120"/>
                <a:ea typeface="標楷體" pitchFamily="65" charset="-120"/>
              </a:rPr>
              <a:t>30 </a:t>
            </a:r>
            <a:r>
              <a:rPr kumimoji="1" lang="zh-TW" altLang="en-US" sz="2400" dirty="0">
                <a:solidFill>
                  <a:schemeClr val="tx1"/>
                </a:solidFill>
                <a:latin typeface="標楷體" pitchFamily="65" charset="-120"/>
                <a:ea typeface="標楷體" pitchFamily="65" charset="-120"/>
              </a:rPr>
              <a:t>字為限）</a:t>
            </a:r>
            <a:endParaRPr kumimoji="1" lang="en-US" altLang="zh-TW" sz="2400" dirty="0">
              <a:solidFill>
                <a:schemeClr val="tx1"/>
              </a:solidFill>
              <a:latin typeface="標楷體" pitchFamily="65" charset="-120"/>
              <a:ea typeface="標楷體" pitchFamily="65" charset="-120"/>
            </a:endParaRPr>
          </a:p>
          <a:p>
            <a:r>
              <a:rPr kumimoji="1" lang="zh-TW" altLang="en-US" sz="2400" dirty="0">
                <a:solidFill>
                  <a:schemeClr val="tx1"/>
                </a:solidFill>
                <a:latin typeface="標楷體" pitchFamily="65" charset="-120"/>
                <a:ea typeface="標楷體" pitchFamily="65" charset="-120"/>
              </a:rPr>
              <a:t>答：</a:t>
            </a:r>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516255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a:spLocks noChangeArrowheads="1"/>
          </p:cNvSpPr>
          <p:nvPr/>
        </p:nvSpPr>
        <p:spPr bwMode="auto">
          <a:xfrm>
            <a:off x="971600" y="5085184"/>
            <a:ext cx="69127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西方國家為了防止外資威脅國家安全，以及避免核心技術外流的問題。</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66714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400" dirty="0">
                <a:solidFill>
                  <a:schemeClr val="tx1"/>
                </a:solidFill>
                <a:latin typeface="標楷體" pitchFamily="65" charset="-120"/>
                <a:ea typeface="標楷體" pitchFamily="65" charset="-120"/>
              </a:rPr>
              <a:t>3.</a:t>
            </a:r>
            <a:r>
              <a:rPr kumimoji="1" lang="zh-TW" altLang="en-US" sz="2400" dirty="0">
                <a:solidFill>
                  <a:schemeClr val="tx1"/>
                </a:solidFill>
                <a:latin typeface="標楷體" pitchFamily="65" charset="-120"/>
                <a:ea typeface="標楷體" pitchFamily="65" charset="-120"/>
              </a:rPr>
              <a:t> </a:t>
            </a:r>
            <a:r>
              <a:rPr kumimoji="1" lang="en-US" altLang="zh-TW" sz="2400" dirty="0">
                <a:solidFill>
                  <a:schemeClr val="tx1"/>
                </a:solidFill>
                <a:latin typeface="標楷體" pitchFamily="65" charset="-120"/>
                <a:ea typeface="標楷體" pitchFamily="65" charset="-120"/>
              </a:rPr>
              <a:t>2018 </a:t>
            </a:r>
            <a:r>
              <a:rPr kumimoji="1" lang="zh-TW" altLang="en-US" sz="2400" dirty="0">
                <a:solidFill>
                  <a:schemeClr val="tx1"/>
                </a:solidFill>
                <a:latin typeface="標楷體" pitchFamily="65" charset="-120"/>
                <a:ea typeface="標楷體" pitchFamily="65" charset="-120"/>
              </a:rPr>
              <a:t>年度假天堂馬爾地夫因政黨轉換，驚爆出前朝因參與中國「一帶一路」開發計畫，積欠中國高達 </a:t>
            </a:r>
            <a:r>
              <a:rPr kumimoji="1" lang="en-US" altLang="zh-TW" sz="2400" dirty="0">
                <a:solidFill>
                  <a:schemeClr val="tx1"/>
                </a:solidFill>
                <a:latin typeface="標楷體" pitchFamily="65" charset="-120"/>
                <a:ea typeface="標楷體" pitchFamily="65" charset="-120"/>
              </a:rPr>
              <a:t>15 </a:t>
            </a:r>
            <a:r>
              <a:rPr kumimoji="1" lang="zh-TW" altLang="en-US" sz="2400" dirty="0">
                <a:solidFill>
                  <a:schemeClr val="tx1"/>
                </a:solidFill>
                <a:latin typeface="標楷體" pitchFamily="65" charset="-120"/>
                <a:ea typeface="標楷體" pitchFamily="65" charset="-120"/>
              </a:rPr>
              <a:t>億美元外債無力償還，恐變中國領土，請從經濟結構分析（下表），為何馬爾地夫難以拒絕中國的合作開發計畫？（註：「一帶一路」計畫由中國主席習近平在 </a:t>
            </a:r>
            <a:r>
              <a:rPr kumimoji="1" lang="en-US" altLang="zh-TW" sz="2400" dirty="0">
                <a:solidFill>
                  <a:schemeClr val="tx1"/>
                </a:solidFill>
                <a:latin typeface="標楷體" pitchFamily="65" charset="-120"/>
                <a:ea typeface="標楷體" pitchFamily="65" charset="-120"/>
              </a:rPr>
              <a:t>2013 </a:t>
            </a:r>
            <a:r>
              <a:rPr kumimoji="1" lang="zh-TW" altLang="en-US" sz="2400" dirty="0">
                <a:solidFill>
                  <a:schemeClr val="tx1"/>
                </a:solidFill>
                <a:latin typeface="標楷體" pitchFamily="65" charset="-120"/>
                <a:ea typeface="標楷體" pitchFamily="65" charset="-120"/>
              </a:rPr>
              <a:t>年首度宣布，目標鎖定環繞地球建設鐵公路和港口，中國則提供許多參與計畫國家數十億美元的貸款，來進行建設。）</a:t>
            </a:r>
            <a:endParaRPr kumimoji="1" lang="en-US" altLang="zh-TW" sz="2400" dirty="0">
              <a:solidFill>
                <a:schemeClr val="tx1"/>
              </a:solidFill>
              <a:latin typeface="標楷體" pitchFamily="65" charset="-120"/>
              <a:ea typeface="標楷體" pitchFamily="65" charset="-120"/>
            </a:endParaRPr>
          </a:p>
          <a:p>
            <a:r>
              <a:rPr kumimoji="1" lang="zh-TW" altLang="en-US" sz="2400" dirty="0">
                <a:solidFill>
                  <a:schemeClr val="tx1"/>
                </a:solidFill>
                <a:latin typeface="標楷體" pitchFamily="65" charset="-120"/>
                <a:ea typeface="標楷體" pitchFamily="65" charset="-120"/>
              </a:rPr>
              <a:t>答：</a:t>
            </a:r>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516255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a:spLocks noChangeArrowheads="1"/>
          </p:cNvSpPr>
          <p:nvPr/>
        </p:nvSpPr>
        <p:spPr bwMode="auto">
          <a:xfrm>
            <a:off x="1028526" y="3631077"/>
            <a:ext cx="548769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因為馬爾地夫極度仰賴觀光業，中國為其主要客源國，而中國客源易受政治影響而波動，加上「一帶一路」中資對當地基礎設施的投入，導致馬爾地夫在經濟發展上相當依賴中國。</a:t>
            </a:r>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216" y="3429000"/>
            <a:ext cx="213360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30174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4005056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052561" y="897672"/>
            <a:ext cx="5679679" cy="6480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fontAlgn="base">
              <a:spcBef>
                <a:spcPct val="0"/>
              </a:spcBef>
              <a:spcAft>
                <a:spcPct val="0"/>
              </a:spcAft>
              <a:buClrTx/>
              <a:buSzTx/>
            </a:pPr>
            <a:endParaRPr lang="en-US" altLang="zh-TW" sz="2400" dirty="0">
              <a:solidFill>
                <a:schemeClr val="bg2">
                  <a:lumMod val="75000"/>
                </a:schemeClr>
              </a:solidFill>
              <a:latin typeface="標楷體" pitchFamily="65" charset="-120"/>
              <a:ea typeface="標楷體" pitchFamily="65" charset="-120"/>
            </a:endParaRPr>
          </a:p>
          <a:p>
            <a:pPr fontAlgn="base">
              <a:spcBef>
                <a:spcPct val="0"/>
              </a:spcBef>
              <a:spcAft>
                <a:spcPct val="0"/>
              </a:spcAft>
              <a:buClrTx/>
              <a:buSzTx/>
            </a:pPr>
            <a:r>
              <a:rPr lang="zh-TW" altLang="en-US" sz="2400" dirty="0">
                <a:solidFill>
                  <a:schemeClr val="bg2">
                    <a:lumMod val="75000"/>
                  </a:schemeClr>
                </a:solidFill>
                <a:latin typeface="標楷體" pitchFamily="65" charset="-120"/>
                <a:ea typeface="標楷體" pitchFamily="65" charset="-120"/>
              </a:rPr>
              <a:t>北漂</a:t>
            </a:r>
            <a:endParaRPr lang="en-US" altLang="zh-TW" sz="2400" dirty="0">
              <a:solidFill>
                <a:schemeClr val="bg2">
                  <a:lumMod val="75000"/>
                </a:schemeClr>
              </a:solidFill>
              <a:latin typeface="標楷體" pitchFamily="65" charset="-120"/>
              <a:ea typeface="標楷體" pitchFamily="65" charset="-12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696" y="260648"/>
            <a:ext cx="2464875" cy="605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a:xfrm>
            <a:off x="739540" y="3573016"/>
            <a:ext cx="7648884" cy="8523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kern="1200" dirty="0">
                <a:solidFill>
                  <a:schemeClr val="tx1"/>
                </a:solidFill>
                <a:latin typeface="標楷體" pitchFamily="65" charset="-120"/>
                <a:ea typeface="標楷體" pitchFamily="65" charset="-120"/>
                <a:cs typeface="+mj-cs"/>
              </a:rPr>
              <a:t>    北京為中國首都，吸引大量外地民眾前來工作求學，但這些外來者卻因高房價及中國戶籍分隔政策，難以取得北京戶口。此類人時常移動、搬遷，加上心理也呈現漂移狀態，缺少心靈的安全感和歸屬感，給人飄忽不定的感覺，故得「北漂」一詞。</a:t>
            </a:r>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79</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p.199</a:t>
            </a:r>
            <a:endParaRPr lang="zh-TW" altLang="en-US" b="0" dirty="0"/>
          </a:p>
        </p:txBody>
      </p:sp>
    </p:spTree>
    <p:extLst>
      <p:ext uri="{BB962C8B-B14F-4D97-AF65-F5344CB8AC3E}">
        <p14:creationId xmlns:p14="http://schemas.microsoft.com/office/powerpoint/2010/main" val="27115083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3" y="1126232"/>
            <a:ext cx="813690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000" dirty="0">
                <a:latin typeface="標楷體" pitchFamily="65" charset="-120"/>
              </a:rPr>
              <a:t>11.</a:t>
            </a:r>
            <a:r>
              <a:rPr lang="zh-TW" altLang="en-US" sz="2000" dirty="0">
                <a:latin typeface="標楷體" panose="03000509000000000000" pitchFamily="65" charset="-120"/>
              </a:rPr>
              <a:t>日本人口老化的速度非常快，</a:t>
            </a:r>
            <a:r>
              <a:rPr lang="en-US" altLang="zh-TW" sz="2000" dirty="0">
                <a:latin typeface="標楷體" panose="03000509000000000000" pitchFamily="65" charset="-120"/>
              </a:rPr>
              <a:t>2017 </a:t>
            </a:r>
            <a:r>
              <a:rPr lang="zh-TW" altLang="en-US" sz="2000" dirty="0">
                <a:latin typeface="標楷體" panose="03000509000000000000" pitchFamily="65" charset="-120"/>
              </a:rPr>
              <a:t>年 </a:t>
            </a:r>
            <a:r>
              <a:rPr lang="en-US" altLang="zh-TW" sz="2000" dirty="0">
                <a:latin typeface="標楷體" panose="03000509000000000000" pitchFamily="65" charset="-120"/>
              </a:rPr>
              <a:t>65 </a:t>
            </a:r>
            <a:r>
              <a:rPr lang="zh-TW" altLang="en-US" sz="2000" dirty="0">
                <a:latin typeface="標楷體" panose="03000509000000000000" pitchFamily="65" charset="-120"/>
              </a:rPr>
              <a:t>歲以上的老人已占人口的 </a:t>
            </a:r>
            <a:r>
              <a:rPr lang="en-US" altLang="zh-TW" sz="2000" dirty="0">
                <a:latin typeface="標楷體" panose="03000509000000000000" pitchFamily="65" charset="-120"/>
              </a:rPr>
              <a:t>27.7 %</a:t>
            </a:r>
            <a:r>
              <a:rPr lang="zh-TW" altLang="en-US" sz="2000" dirty="0">
                <a:latin typeface="標楷體" panose="03000509000000000000" pitchFamily="65" charset="-120"/>
              </a:rPr>
              <a:t>，預估</a:t>
            </a:r>
            <a:r>
              <a:rPr lang="en-US" altLang="zh-TW" sz="2000" dirty="0">
                <a:latin typeface="標楷體" panose="03000509000000000000" pitchFamily="65" charset="-120"/>
              </a:rPr>
              <a:t>2025 </a:t>
            </a:r>
            <a:r>
              <a:rPr lang="zh-TW" altLang="en-US" sz="2000" dirty="0">
                <a:latin typeface="標楷體" panose="03000509000000000000" pitchFamily="65" charset="-120"/>
              </a:rPr>
              <a:t>年會增加至 </a:t>
            </a:r>
            <a:r>
              <a:rPr lang="en-US" altLang="zh-TW" sz="2000" dirty="0">
                <a:latin typeface="標楷體" panose="03000509000000000000" pitchFamily="65" charset="-120"/>
              </a:rPr>
              <a:t>33 %</a:t>
            </a:r>
            <a:r>
              <a:rPr lang="zh-TW" altLang="en-US" sz="2000" dirty="0">
                <a:latin typeface="標楷體" panose="03000509000000000000" pitchFamily="65" charset="-120"/>
              </a:rPr>
              <a:t>。隨著老年人口增加，日本廣設照護機構，但照護人員不足一直很難解決，引進外勞並非長久之計，於是日本企業研發「輔助機械」來協助照顧老人。日本機器人製造商 </a:t>
            </a:r>
            <a:r>
              <a:rPr lang="en-US" altLang="zh-TW" sz="2000" dirty="0" err="1">
                <a:latin typeface="標楷體" panose="03000509000000000000" pitchFamily="65" charset="-120"/>
              </a:rPr>
              <a:t>Cyberdyne</a:t>
            </a:r>
            <a:r>
              <a:rPr lang="en-US" altLang="zh-TW" sz="2000" dirty="0">
                <a:latin typeface="標楷體" panose="03000509000000000000" pitchFamily="65" charset="-120"/>
              </a:rPr>
              <a:t> </a:t>
            </a:r>
            <a:r>
              <a:rPr lang="zh-TW" altLang="en-US" sz="2000" dirty="0">
                <a:latin typeface="標楷體" panose="03000509000000000000" pitchFamily="65" charset="-120"/>
              </a:rPr>
              <a:t>推出的「混合輔助肢體」（</a:t>
            </a:r>
            <a:r>
              <a:rPr lang="en-US" altLang="zh-TW" sz="2000" dirty="0">
                <a:latin typeface="標楷體" panose="03000509000000000000" pitchFamily="65" charset="-120"/>
              </a:rPr>
              <a:t>hybrid assistive</a:t>
            </a:r>
          </a:p>
          <a:p>
            <a:r>
              <a:rPr lang="zh-TW" altLang="en-US" sz="2000" dirty="0">
                <a:latin typeface="標楷體" panose="03000509000000000000" pitchFamily="65" charset="-120"/>
              </a:rPr>
              <a:t>    </a:t>
            </a:r>
            <a:r>
              <a:rPr lang="en-US" altLang="zh-TW" sz="2000" dirty="0">
                <a:latin typeface="標楷體" panose="03000509000000000000" pitchFamily="65" charset="-120"/>
              </a:rPr>
              <a:t>leg, HAL</a:t>
            </a:r>
            <a:r>
              <a:rPr lang="zh-TW" altLang="en-US" sz="2000" dirty="0">
                <a:latin typeface="標楷體" panose="03000509000000000000" pitchFamily="65" charset="-120"/>
              </a:rPr>
              <a:t>），將機械外骨骼穿戴於肢體上，它能透過偵測肌肉脈動，估測使用者的移動意圖並協助肢體移動，可以幫助銀髮族行走及護理人員移動病患， 減少照護人員的負擔。請問： </a:t>
            </a:r>
            <a:endParaRPr lang="en-US" altLang="zh-TW" sz="2000" dirty="0">
              <a:latin typeface="標楷體" pitchFamily="65" charset="-120"/>
            </a:endParaRPr>
          </a:p>
          <a:p>
            <a:r>
              <a:rPr lang="en-US" altLang="zh-TW" sz="2000" dirty="0">
                <a:latin typeface="標楷體" pitchFamily="65" charset="-120"/>
              </a:rPr>
              <a:t>(1)</a:t>
            </a:r>
            <a:r>
              <a:rPr lang="zh-TW" altLang="en-US" sz="2000" dirty="0">
                <a:latin typeface="標楷體" pitchFamily="65" charset="-120"/>
              </a:rPr>
              <a:t>日本老年人口比例增加快速的主要原因有哪兩個？</a:t>
            </a:r>
            <a:r>
              <a:rPr lang="en-US" altLang="zh-TW" sz="2000" dirty="0">
                <a:latin typeface="標楷體" pitchFamily="65" charset="-120"/>
              </a:rPr>
              <a:t>(</a:t>
            </a:r>
            <a:r>
              <a:rPr lang="zh-TW" altLang="en-US" sz="2000" dirty="0">
                <a:latin typeface="標楷體" pitchFamily="65" charset="-120"/>
              </a:rPr>
              <a:t>甲</a:t>
            </a:r>
            <a:r>
              <a:rPr lang="en-US" altLang="zh-TW" sz="2000" dirty="0">
                <a:latin typeface="標楷體" pitchFamily="65" charset="-120"/>
              </a:rPr>
              <a:t>)</a:t>
            </a:r>
            <a:r>
              <a:rPr lang="zh-TW" altLang="en-US" sz="2000" dirty="0">
                <a:latin typeface="標楷體" pitchFamily="65" charset="-120"/>
              </a:rPr>
              <a:t>平均生育率下降</a:t>
            </a:r>
            <a:r>
              <a:rPr lang="en-US" altLang="zh-TW" sz="2000" dirty="0">
                <a:latin typeface="標楷體" pitchFamily="65" charset="-120"/>
              </a:rPr>
              <a:t>(</a:t>
            </a:r>
            <a:r>
              <a:rPr lang="zh-TW" altLang="en-US" sz="2000" dirty="0">
                <a:latin typeface="標楷體" pitchFamily="65" charset="-120"/>
              </a:rPr>
              <a:t>乙</a:t>
            </a:r>
            <a:r>
              <a:rPr lang="en-US" altLang="zh-TW" sz="2000" dirty="0">
                <a:latin typeface="標楷體" pitchFamily="65" charset="-120"/>
              </a:rPr>
              <a:t>)</a:t>
            </a:r>
            <a:r>
              <a:rPr lang="zh-TW" altLang="en-US" sz="2000" dirty="0">
                <a:latin typeface="標楷體" pitchFamily="65" charset="-120"/>
              </a:rPr>
              <a:t>老年人福利制度完善</a:t>
            </a:r>
            <a:r>
              <a:rPr lang="en-US" altLang="zh-TW" sz="2000" dirty="0">
                <a:latin typeface="標楷體" pitchFamily="65" charset="-120"/>
              </a:rPr>
              <a:t>(</a:t>
            </a:r>
            <a:r>
              <a:rPr lang="zh-TW" altLang="en-US" sz="2000" dirty="0">
                <a:latin typeface="標楷體" pitchFamily="65" charset="-120"/>
              </a:rPr>
              <a:t>丙</a:t>
            </a:r>
            <a:r>
              <a:rPr lang="en-US" altLang="zh-TW" sz="2000" dirty="0">
                <a:latin typeface="標楷體" pitchFamily="65" charset="-120"/>
              </a:rPr>
              <a:t>)</a:t>
            </a:r>
            <a:r>
              <a:rPr lang="zh-TW" altLang="en-US" sz="2000" dirty="0">
                <a:latin typeface="標楷體" pitchFamily="65" charset="-120"/>
              </a:rPr>
              <a:t>平均壽命提高</a:t>
            </a:r>
            <a:r>
              <a:rPr lang="en-US" altLang="zh-TW" sz="2000" dirty="0">
                <a:latin typeface="標楷體" pitchFamily="65" charset="-120"/>
              </a:rPr>
              <a:t>(</a:t>
            </a:r>
            <a:r>
              <a:rPr lang="zh-TW" altLang="en-US" sz="2000" dirty="0">
                <a:latin typeface="標楷體" pitchFamily="65" charset="-120"/>
              </a:rPr>
              <a:t>丁</a:t>
            </a:r>
            <a:r>
              <a:rPr lang="en-US" altLang="zh-TW" sz="2000" dirty="0">
                <a:latin typeface="標楷體" pitchFamily="65" charset="-120"/>
              </a:rPr>
              <a:t>)</a:t>
            </a:r>
            <a:r>
              <a:rPr lang="zh-TW" altLang="en-US" sz="2000" dirty="0">
                <a:latin typeface="標楷體" pitchFamily="65" charset="-120"/>
              </a:rPr>
              <a:t>國際移工比率低</a:t>
            </a:r>
            <a:endParaRPr lang="en-US" altLang="zh-TW" sz="2000" dirty="0">
              <a:latin typeface="標楷體" pitchFamily="65" charset="-120"/>
            </a:endParaRPr>
          </a:p>
          <a:p>
            <a:r>
              <a:rPr lang="zh-TW" altLang="en-US" sz="2000" dirty="0">
                <a:latin typeface="標楷體" pitchFamily="65" charset="-120"/>
              </a:rPr>
              <a:t>   </a:t>
            </a:r>
            <a:r>
              <a:rPr lang="en-US" altLang="zh-TW" sz="2000" dirty="0">
                <a:latin typeface="標楷體" pitchFamily="65" charset="-120"/>
              </a:rPr>
              <a:t>(A)</a:t>
            </a:r>
            <a:r>
              <a:rPr lang="zh-TW" altLang="en-US" sz="2000" dirty="0">
                <a:latin typeface="標楷體" pitchFamily="65" charset="-120"/>
              </a:rPr>
              <a:t>甲乙</a:t>
            </a:r>
            <a:r>
              <a:rPr lang="en-US" altLang="zh-TW" sz="2000" dirty="0">
                <a:latin typeface="標楷體" pitchFamily="65" charset="-120"/>
              </a:rPr>
              <a:t>  </a:t>
            </a:r>
            <a:r>
              <a:rPr lang="zh-TW" altLang="en-US" sz="2000" dirty="0">
                <a:latin typeface="標楷體" pitchFamily="65" charset="-120"/>
              </a:rPr>
              <a:t>                 </a:t>
            </a:r>
            <a:r>
              <a:rPr lang="en-US" altLang="zh-TW" sz="2000" dirty="0">
                <a:latin typeface="標楷體" pitchFamily="65" charset="-120"/>
              </a:rPr>
              <a:t>(C)</a:t>
            </a:r>
            <a:r>
              <a:rPr lang="zh-TW" altLang="en-US" sz="2000" dirty="0">
                <a:latin typeface="標楷體" pitchFamily="65" charset="-120"/>
              </a:rPr>
              <a:t>乙丙        </a:t>
            </a:r>
            <a:r>
              <a:rPr lang="en-US" altLang="zh-TW" sz="2000" dirty="0">
                <a:latin typeface="標楷體" pitchFamily="65" charset="-120"/>
              </a:rPr>
              <a:t>(D)</a:t>
            </a:r>
            <a:r>
              <a:rPr lang="zh-TW" altLang="en-US" sz="2000" dirty="0">
                <a:latin typeface="標楷體" pitchFamily="65" charset="-120"/>
              </a:rPr>
              <a:t>丙丁</a:t>
            </a:r>
          </a:p>
        </p:txBody>
      </p:sp>
      <p:sp>
        <p:nvSpPr>
          <p:cNvPr id="11" name="Text Box 3"/>
          <p:cNvSpPr txBox="1">
            <a:spLocks noChangeArrowheads="1"/>
          </p:cNvSpPr>
          <p:nvPr/>
        </p:nvSpPr>
        <p:spPr bwMode="auto">
          <a:xfrm>
            <a:off x="2492477" y="4491702"/>
            <a:ext cx="12961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pPr eaLnBrk="1" hangingPunct="1"/>
            <a:r>
              <a:rPr lang="en-US" altLang="zh-TW" sz="2000" dirty="0">
                <a:latin typeface="標楷體" pitchFamily="65" charset="-120"/>
              </a:rPr>
              <a:t>(B)</a:t>
            </a:r>
            <a:r>
              <a:rPr lang="zh-TW" altLang="en-US" sz="2000" dirty="0">
                <a:latin typeface="標楷體" pitchFamily="65" charset="-120"/>
              </a:rPr>
              <a:t>甲丙</a:t>
            </a:r>
          </a:p>
        </p:txBody>
      </p:sp>
      <p:sp>
        <p:nvSpPr>
          <p:cNvPr id="12" name="Rectangle 8"/>
          <p:cNvSpPr>
            <a:spLocks noChangeArrowheads="1"/>
          </p:cNvSpPr>
          <p:nvPr/>
        </p:nvSpPr>
        <p:spPr bwMode="auto">
          <a:xfrm>
            <a:off x="980309" y="5157192"/>
            <a:ext cx="56166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(1)(B)(</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甲</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出生人口下降，出生率降低，幼年人口比例相對下降，而</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丙</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平均壽命提高，老年人口比例相對上升。</a:t>
            </a:r>
          </a:p>
        </p:txBody>
      </p:sp>
      <p:pic>
        <p:nvPicPr>
          <p:cNvPr id="13"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735523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7" y="188640"/>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3" y="1126232"/>
            <a:ext cx="813690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000" dirty="0">
                <a:latin typeface="標楷體" pitchFamily="65" charset="-120"/>
              </a:rPr>
              <a:t>12.</a:t>
            </a:r>
            <a:r>
              <a:rPr lang="zh-TW" altLang="en-US" sz="2000" dirty="0">
                <a:latin typeface="標楷體" panose="03000509000000000000" pitchFamily="65" charset="-120"/>
              </a:rPr>
              <a:t>日本人口老化的速度非常快，</a:t>
            </a:r>
            <a:r>
              <a:rPr lang="en-US" altLang="zh-TW" sz="2000" dirty="0">
                <a:latin typeface="標楷體" panose="03000509000000000000" pitchFamily="65" charset="-120"/>
              </a:rPr>
              <a:t>2017 </a:t>
            </a:r>
            <a:r>
              <a:rPr lang="zh-TW" altLang="en-US" sz="2000" dirty="0">
                <a:latin typeface="標楷體" panose="03000509000000000000" pitchFamily="65" charset="-120"/>
              </a:rPr>
              <a:t>年 </a:t>
            </a:r>
            <a:r>
              <a:rPr lang="en-US" altLang="zh-TW" sz="2000" dirty="0">
                <a:latin typeface="標楷體" panose="03000509000000000000" pitchFamily="65" charset="-120"/>
              </a:rPr>
              <a:t>65 </a:t>
            </a:r>
            <a:r>
              <a:rPr lang="zh-TW" altLang="en-US" sz="2000" dirty="0">
                <a:latin typeface="標楷體" panose="03000509000000000000" pitchFamily="65" charset="-120"/>
              </a:rPr>
              <a:t>歲以上的老人已占人口的 </a:t>
            </a:r>
            <a:r>
              <a:rPr lang="en-US" altLang="zh-TW" sz="2000" dirty="0">
                <a:latin typeface="標楷體" panose="03000509000000000000" pitchFamily="65" charset="-120"/>
              </a:rPr>
              <a:t>27.7 %</a:t>
            </a:r>
            <a:r>
              <a:rPr lang="zh-TW" altLang="en-US" sz="2000" dirty="0">
                <a:latin typeface="標楷體" panose="03000509000000000000" pitchFamily="65" charset="-120"/>
              </a:rPr>
              <a:t>，預估</a:t>
            </a:r>
            <a:r>
              <a:rPr lang="en-US" altLang="zh-TW" sz="2000" dirty="0">
                <a:latin typeface="標楷體" panose="03000509000000000000" pitchFamily="65" charset="-120"/>
              </a:rPr>
              <a:t>2025 </a:t>
            </a:r>
            <a:r>
              <a:rPr lang="zh-TW" altLang="en-US" sz="2000" dirty="0">
                <a:latin typeface="標楷體" panose="03000509000000000000" pitchFamily="65" charset="-120"/>
              </a:rPr>
              <a:t>年會增加至 </a:t>
            </a:r>
            <a:r>
              <a:rPr lang="en-US" altLang="zh-TW" sz="2000" dirty="0">
                <a:latin typeface="標楷體" panose="03000509000000000000" pitchFamily="65" charset="-120"/>
              </a:rPr>
              <a:t>33 %</a:t>
            </a:r>
            <a:r>
              <a:rPr lang="zh-TW" altLang="en-US" sz="2000" dirty="0">
                <a:latin typeface="標楷體" panose="03000509000000000000" pitchFamily="65" charset="-120"/>
              </a:rPr>
              <a:t>。隨著老年人口增加，日本廣設照護機構，但照護人員不足一直很難解決，引進外勞並非長久之計，於是日本企業研發「輔助機械」來協助照顧老人。日本機器人製造商 </a:t>
            </a:r>
            <a:r>
              <a:rPr lang="en-US" altLang="zh-TW" sz="2000" dirty="0" err="1">
                <a:latin typeface="標楷體" panose="03000509000000000000" pitchFamily="65" charset="-120"/>
              </a:rPr>
              <a:t>Cyberdyne</a:t>
            </a:r>
            <a:r>
              <a:rPr lang="en-US" altLang="zh-TW" sz="2000" dirty="0">
                <a:latin typeface="標楷體" panose="03000509000000000000" pitchFamily="65" charset="-120"/>
              </a:rPr>
              <a:t> </a:t>
            </a:r>
            <a:r>
              <a:rPr lang="zh-TW" altLang="en-US" sz="2000" dirty="0">
                <a:latin typeface="標楷體" panose="03000509000000000000" pitchFamily="65" charset="-120"/>
              </a:rPr>
              <a:t>推出的「混合輔助肢體」（</a:t>
            </a:r>
            <a:r>
              <a:rPr lang="en-US" altLang="zh-TW" sz="2000" dirty="0">
                <a:latin typeface="標楷體" panose="03000509000000000000" pitchFamily="65" charset="-120"/>
              </a:rPr>
              <a:t>hybrid assistive</a:t>
            </a:r>
          </a:p>
          <a:p>
            <a:r>
              <a:rPr lang="zh-TW" altLang="en-US" sz="2000" dirty="0">
                <a:latin typeface="標楷體" panose="03000509000000000000" pitchFamily="65" charset="-120"/>
              </a:rPr>
              <a:t>    </a:t>
            </a:r>
            <a:r>
              <a:rPr lang="en-US" altLang="zh-TW" sz="2000" dirty="0">
                <a:latin typeface="標楷體" panose="03000509000000000000" pitchFamily="65" charset="-120"/>
              </a:rPr>
              <a:t>leg, HAL</a:t>
            </a:r>
            <a:r>
              <a:rPr lang="zh-TW" altLang="en-US" sz="2000" dirty="0">
                <a:latin typeface="標楷體" panose="03000509000000000000" pitchFamily="65" charset="-120"/>
              </a:rPr>
              <a:t>），將機械外骨骼穿戴於肢體上，它能透過偵測肌肉脈動，估測使用者的移動意圖並協助肢體移動，可以幫助銀髮族行走及護理人員移動病患， 減少照護人員的負擔。請問： </a:t>
            </a:r>
            <a:endParaRPr lang="en-US" altLang="zh-TW" sz="2000" dirty="0">
              <a:latin typeface="標楷體" pitchFamily="65" charset="-120"/>
            </a:endParaRPr>
          </a:p>
          <a:p>
            <a:r>
              <a:rPr lang="en-US" altLang="zh-TW" sz="2000" dirty="0">
                <a:latin typeface="標楷體" pitchFamily="65" charset="-120"/>
              </a:rPr>
              <a:t>(2)</a:t>
            </a:r>
            <a:r>
              <a:rPr lang="zh-TW" altLang="en-US" sz="2000" dirty="0">
                <a:latin typeface="標楷體" pitchFamily="65" charset="-120"/>
              </a:rPr>
              <a:t>日本人口結構轉變對產業發展的影響為何？</a:t>
            </a:r>
            <a:endParaRPr lang="en-US" altLang="zh-TW" sz="2000" dirty="0">
              <a:latin typeface="標楷體" pitchFamily="65" charset="-120"/>
            </a:endParaRPr>
          </a:p>
          <a:p>
            <a:r>
              <a:rPr lang="zh-TW" altLang="en-US" sz="2000" dirty="0">
                <a:latin typeface="標楷體" pitchFamily="65" charset="-120"/>
              </a:rPr>
              <a:t>   </a:t>
            </a:r>
            <a:r>
              <a:rPr lang="en-US" altLang="zh-TW" sz="2000" dirty="0">
                <a:latin typeface="標楷體" pitchFamily="65" charset="-120"/>
              </a:rPr>
              <a:t>(A)</a:t>
            </a:r>
            <a:r>
              <a:rPr lang="zh-TW" altLang="en-US" sz="2000" dirty="0">
                <a:latin typeface="標楷體" pitchFamily="65" charset="-120"/>
              </a:rPr>
              <a:t>國內產業空洞化      </a:t>
            </a:r>
            <a:r>
              <a:rPr lang="en-US" altLang="zh-TW" sz="2000" dirty="0">
                <a:latin typeface="標楷體" pitchFamily="65" charset="-120"/>
              </a:rPr>
              <a:t>(B)</a:t>
            </a:r>
            <a:r>
              <a:rPr lang="zh-TW" altLang="en-US" sz="2000" dirty="0">
                <a:latin typeface="標楷體" pitchFamily="65" charset="-120"/>
              </a:rPr>
              <a:t>瓦解終生僱用制</a:t>
            </a:r>
            <a:endParaRPr lang="en-US" altLang="zh-TW" sz="2000" dirty="0">
              <a:latin typeface="標楷體" pitchFamily="65" charset="-120"/>
            </a:endParaRPr>
          </a:p>
          <a:p>
            <a:r>
              <a:rPr lang="zh-TW" altLang="en-US" sz="2000" dirty="0">
                <a:latin typeface="標楷體" pitchFamily="65" charset="-120"/>
              </a:rPr>
              <a:t>   </a:t>
            </a:r>
            <a:r>
              <a:rPr lang="en-US" altLang="zh-TW" sz="2000" dirty="0">
                <a:latin typeface="標楷體" pitchFamily="65" charset="-120"/>
              </a:rPr>
              <a:t>(C)</a:t>
            </a:r>
            <a:r>
              <a:rPr lang="zh-TW" altLang="en-US" sz="2000" dirty="0">
                <a:latin typeface="標楷體" pitchFamily="65" charset="-120"/>
              </a:rPr>
              <a:t>派遣工制度盛行</a:t>
            </a:r>
          </a:p>
        </p:txBody>
      </p:sp>
      <p:sp>
        <p:nvSpPr>
          <p:cNvPr id="11" name="Text Box 3"/>
          <p:cNvSpPr txBox="1">
            <a:spLocks noChangeArrowheads="1"/>
          </p:cNvSpPr>
          <p:nvPr/>
        </p:nvSpPr>
        <p:spPr bwMode="auto">
          <a:xfrm>
            <a:off x="3851920" y="4177543"/>
            <a:ext cx="25115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pPr eaLnBrk="1" hangingPunct="1"/>
            <a:r>
              <a:rPr lang="en-US" altLang="zh-TW" sz="2000" dirty="0">
                <a:latin typeface="標楷體" pitchFamily="65" charset="-120"/>
              </a:rPr>
              <a:t>(D)</a:t>
            </a:r>
            <a:r>
              <a:rPr lang="zh-TW" altLang="en-US" sz="2000" dirty="0">
                <a:latin typeface="標楷體" pitchFamily="65" charset="-120"/>
              </a:rPr>
              <a:t>社會勞動力不足</a:t>
            </a:r>
          </a:p>
        </p:txBody>
      </p:sp>
      <p:sp>
        <p:nvSpPr>
          <p:cNvPr id="12" name="Rectangle 8"/>
          <p:cNvSpPr>
            <a:spLocks noChangeArrowheads="1"/>
          </p:cNvSpPr>
          <p:nvPr/>
        </p:nvSpPr>
        <p:spPr bwMode="auto">
          <a:xfrm>
            <a:off x="980309" y="5157192"/>
            <a:ext cx="561662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(2)(D)</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壯年人口比例降低，加上嚴格移民政策，</a:t>
            </a:r>
          </a:p>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導致產業的勞動力不足。</a:t>
            </a:r>
          </a:p>
        </p:txBody>
      </p:sp>
      <p:pic>
        <p:nvPicPr>
          <p:cNvPr id="13"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90290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6895104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1800" dirty="0">
                <a:solidFill>
                  <a:schemeClr val="tx1"/>
                </a:solidFill>
                <a:latin typeface="標楷體" pitchFamily="65" charset="-120"/>
                <a:ea typeface="標楷體" pitchFamily="65" charset="-120"/>
              </a:rPr>
              <a:t>    </a:t>
            </a:r>
            <a:r>
              <a:rPr kumimoji="1" lang="en-US" altLang="zh-TW" sz="1800" dirty="0">
                <a:solidFill>
                  <a:schemeClr val="tx1"/>
                </a:solidFill>
                <a:latin typeface="標楷體" pitchFamily="65" charset="-120"/>
                <a:ea typeface="標楷體" pitchFamily="65" charset="-120"/>
              </a:rPr>
              <a:t>2015 </a:t>
            </a:r>
            <a:r>
              <a:rPr kumimoji="1" lang="zh-TW" altLang="en-US" sz="1800" dirty="0">
                <a:solidFill>
                  <a:schemeClr val="tx1"/>
                </a:solidFill>
                <a:latin typeface="標楷體" pitchFamily="65" charset="-120"/>
                <a:ea typeface="標楷體" pitchFamily="65" charset="-120"/>
              </a:rPr>
              <a:t>年一部關於中國霧霾的調查紀錄片</a:t>
            </a:r>
            <a:r>
              <a:rPr kumimoji="1" lang="en-US" altLang="zh-TW" sz="1800" dirty="0">
                <a:solidFill>
                  <a:schemeClr val="tx1"/>
                </a:solidFill>
                <a:latin typeface="標楷體" pitchFamily="65" charset="-120"/>
                <a:ea typeface="標楷體" pitchFamily="65" charset="-120"/>
              </a:rPr>
              <a:t>《</a:t>
            </a:r>
            <a:r>
              <a:rPr kumimoji="1" lang="zh-TW" altLang="en-US" sz="1800" dirty="0">
                <a:solidFill>
                  <a:schemeClr val="tx1"/>
                </a:solidFill>
                <a:latin typeface="標楷體" pitchFamily="65" charset="-120"/>
                <a:ea typeface="標楷體" pitchFamily="65" charset="-120"/>
              </a:rPr>
              <a:t>穹頂之下─同呼吸，共命運</a:t>
            </a:r>
            <a:r>
              <a:rPr kumimoji="1" lang="en-US" altLang="zh-TW" sz="1800" dirty="0">
                <a:solidFill>
                  <a:schemeClr val="tx1"/>
                </a:solidFill>
                <a:latin typeface="標楷體" pitchFamily="65" charset="-120"/>
                <a:ea typeface="標楷體" pitchFamily="65" charset="-120"/>
              </a:rPr>
              <a:t>》</a:t>
            </a:r>
            <a:r>
              <a:rPr kumimoji="1" lang="zh-TW" altLang="en-US" sz="1800" dirty="0">
                <a:solidFill>
                  <a:schemeClr val="tx1"/>
                </a:solidFill>
                <a:latin typeface="標楷體" pitchFamily="65" charset="-120"/>
                <a:ea typeface="標楷體" pitchFamily="65" charset="-120"/>
              </a:rPr>
              <a:t>，讓我們注意到天空的顏色、呼吸的空氣品質，以及所牽連的產業發展與空汙監督管理問題。霧霾在臺灣稱為霾害，組成包括化石性燃料燃燒、土壤揚塵、二次汙染等多樣來源。全球空氣品質監測網</a:t>
            </a:r>
            <a:r>
              <a:rPr kumimoji="1" lang="en-US" altLang="zh-TW" sz="1800" dirty="0">
                <a:solidFill>
                  <a:schemeClr val="tx1"/>
                </a:solidFill>
                <a:latin typeface="標楷體" pitchFamily="65" charset="-120"/>
                <a:ea typeface="標楷體" pitchFamily="65" charset="-120"/>
              </a:rPr>
              <a:t>http://aqicn.org/here/hk/</a:t>
            </a:r>
            <a:r>
              <a:rPr kumimoji="1" lang="zh-TW" altLang="en-US" sz="1800" dirty="0">
                <a:solidFill>
                  <a:schemeClr val="tx1"/>
                </a:solidFill>
                <a:latin typeface="標楷體" pitchFamily="65" charset="-120"/>
                <a:ea typeface="標楷體" pitchFamily="65" charset="-120"/>
              </a:rPr>
              <a:t>）記錄了全球一萬個以上的觀測站數據，能查詢各地不同的空氣汙染物數值（下圖）。汙染物質能透過風力吹拂影響周遭國家，如蒙古及中國西北地區的沙漠提供豐富沙源，被風捲起的沙塵暴造成懸浮顆粒相對較大的空氣汙染，連帶影響日本、南韓的空氣品質下降。根據上文敘述，請問：</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69742"/>
            <a:ext cx="519112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378029"/>
            <a:ext cx="5400600" cy="3301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83</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p.201</a:t>
            </a:r>
            <a:endParaRPr lang="zh-TW" altLang="en-US" b="0" dirty="0"/>
          </a:p>
        </p:txBody>
      </p:sp>
    </p:spTree>
    <p:extLst>
      <p:ext uri="{BB962C8B-B14F-4D97-AF65-F5344CB8AC3E}">
        <p14:creationId xmlns:p14="http://schemas.microsoft.com/office/powerpoint/2010/main" val="13500952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dirty="0">
                <a:solidFill>
                  <a:schemeClr val="tx1"/>
                </a:solidFill>
                <a:latin typeface="標楷體" pitchFamily="65" charset="-120"/>
                <a:ea typeface="標楷體" pitchFamily="65" charset="-120"/>
              </a:rPr>
              <a:t>4.</a:t>
            </a:r>
            <a:r>
              <a:rPr kumimoji="1" lang="zh-TW" altLang="en-US" sz="2000" dirty="0">
                <a:solidFill>
                  <a:schemeClr val="tx1"/>
                </a:solidFill>
                <a:latin typeface="標楷體" pitchFamily="65" charset="-120"/>
                <a:ea typeface="標楷體" pitchFamily="65" charset="-120"/>
              </a:rPr>
              <a:t>從下圖顯示，</a:t>
            </a:r>
            <a:r>
              <a:rPr kumimoji="1" lang="zh-TW" altLang="en-US" sz="2000" u="sng" dirty="0">
                <a:solidFill>
                  <a:srgbClr val="FF0000"/>
                </a:solidFill>
                <a:latin typeface="標楷體" pitchFamily="65" charset="-120"/>
                <a:ea typeface="標楷體" pitchFamily="65" charset="-120"/>
              </a:rPr>
              <a:t>        </a:t>
            </a:r>
            <a:r>
              <a:rPr kumimoji="1" lang="zh-TW" altLang="en-US" sz="2000" dirty="0">
                <a:solidFill>
                  <a:schemeClr val="tx1"/>
                </a:solidFill>
                <a:latin typeface="標楷體" pitchFamily="65" charset="-120"/>
                <a:ea typeface="標楷體" pitchFamily="65" charset="-120"/>
              </a:rPr>
              <a:t>（臺灣╱中國）空氣品質不佳的情形最為嚴重，根據中國環保部指出，北京、杭州、廣州、深圳的廢氣來源</a:t>
            </a:r>
            <a:r>
              <a:rPr kumimoji="1" lang="zh-TW" altLang="en-US" sz="2000" u="sng" dirty="0">
                <a:solidFill>
                  <a:srgbClr val="FF0000"/>
                </a:solidFill>
                <a:latin typeface="標楷體" pitchFamily="65" charset="-120"/>
                <a:ea typeface="標楷體" pitchFamily="65" charset="-120"/>
              </a:rPr>
              <a:t>           </a:t>
            </a:r>
            <a:r>
              <a:rPr kumimoji="1" lang="en-US" altLang="zh-TW" sz="2000" dirty="0">
                <a:solidFill>
                  <a:schemeClr val="bg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（燃煤╱汽機車╱揚塵）占最大宗；石家莊、南京首要汙染源則為</a:t>
            </a:r>
            <a:r>
              <a:rPr kumimoji="1" lang="zh-TW" altLang="en-US" sz="2000" u="sng" dirty="0">
                <a:solidFill>
                  <a:srgbClr val="FF0000"/>
                </a:solidFill>
                <a:latin typeface="標楷體" pitchFamily="65" charset="-120"/>
                <a:ea typeface="標楷體" pitchFamily="65" charset="-120"/>
              </a:rPr>
              <a:t>       </a:t>
            </a:r>
            <a:r>
              <a:rPr kumimoji="1" lang="en-US" altLang="zh-TW" sz="2000" dirty="0">
                <a:solidFill>
                  <a:schemeClr val="bg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　（燃煤╱汽機車╱揚塵）；天津、上海、寧波的空汙元凶為</a:t>
            </a:r>
            <a:r>
              <a:rPr kumimoji="1" lang="zh-TW" altLang="en-US" sz="2000" u="sng" dirty="0">
                <a:solidFill>
                  <a:srgbClr val="FF0000"/>
                </a:solidFill>
                <a:latin typeface="標楷體" pitchFamily="65" charset="-120"/>
                <a:ea typeface="標楷體" pitchFamily="65" charset="-120"/>
              </a:rPr>
              <a:t>         </a:t>
            </a:r>
            <a:r>
              <a:rPr kumimoji="1" lang="zh-TW" altLang="en-US" sz="2000" dirty="0">
                <a:solidFill>
                  <a:schemeClr val="tx1"/>
                </a:solidFill>
                <a:latin typeface="標楷體" pitchFamily="65" charset="-120"/>
                <a:ea typeface="標楷體" pitchFamily="65" charset="-120"/>
              </a:rPr>
              <a:t>（燃煤╱汽機車╱揚塵）、工業生產。</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88640"/>
            <a:ext cx="519112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2748684"/>
            <a:ext cx="6141646" cy="37550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2339752" y="1069705"/>
            <a:ext cx="9361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中國</a:t>
            </a:r>
          </a:p>
        </p:txBody>
      </p:sp>
      <p:sp>
        <p:nvSpPr>
          <p:cNvPr id="9" name="矩形 8"/>
          <p:cNvSpPr>
            <a:spLocks noChangeArrowheads="1"/>
          </p:cNvSpPr>
          <p:nvPr/>
        </p:nvSpPr>
        <p:spPr bwMode="auto">
          <a:xfrm>
            <a:off x="7236296" y="1372706"/>
            <a:ext cx="1080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汽機車</a:t>
            </a:r>
          </a:p>
        </p:txBody>
      </p:sp>
      <p:sp>
        <p:nvSpPr>
          <p:cNvPr id="12" name="矩形 11"/>
          <p:cNvSpPr>
            <a:spLocks noChangeArrowheads="1"/>
          </p:cNvSpPr>
          <p:nvPr/>
        </p:nvSpPr>
        <p:spPr bwMode="auto">
          <a:xfrm>
            <a:off x="7884366" y="1685258"/>
            <a:ext cx="7920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燃煤</a:t>
            </a:r>
          </a:p>
        </p:txBody>
      </p:sp>
      <p:sp>
        <p:nvSpPr>
          <p:cNvPr id="13" name="矩形 12"/>
          <p:cNvSpPr>
            <a:spLocks noChangeArrowheads="1"/>
          </p:cNvSpPr>
          <p:nvPr/>
        </p:nvSpPr>
        <p:spPr bwMode="auto">
          <a:xfrm>
            <a:off x="7251944" y="1966188"/>
            <a:ext cx="7920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揚塵</a:t>
            </a:r>
          </a:p>
        </p:txBody>
      </p:sp>
      <p:sp>
        <p:nvSpPr>
          <p:cNvPr id="14" name="Rectangle 8"/>
          <p:cNvSpPr>
            <a:spLocks noChangeArrowheads="1"/>
          </p:cNvSpPr>
          <p:nvPr/>
        </p:nvSpPr>
        <p:spPr bwMode="auto">
          <a:xfrm>
            <a:off x="6732240" y="2482438"/>
            <a:ext cx="2303388"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kern="1200" dirty="0">
                <a:solidFill>
                  <a:srgbClr val="FF0000"/>
                </a:solidFill>
                <a:latin typeface="標楷體" panose="03000509000000000000" pitchFamily="65" charset="-120"/>
                <a:ea typeface="標楷體" panose="03000509000000000000" pitchFamily="65" charset="-120"/>
                <a:cs typeface="+mn-cs"/>
              </a:rPr>
              <a:t>北京、廣州以及深圳等城市因每日上百萬輛的汽機車通勤排放的廢氣，成為空汙的首要來源；石家莊、南京因燃煤能源結構，使其成為空汙治理的首要對象；天津、上海、寧波來自北方的沙塵還有都市中大量的建築工地所揚起的沙塵與工業生產汙染，成為該地區主要的汙染來源。研究結果顯示，「機動車、工業生產、燃煤、揚塵等是當前中國大部分城市環境空氣中顆粒物的主要汙染來源，約占 </a:t>
            </a:r>
            <a:r>
              <a:rPr kumimoji="1" lang="en-US" altLang="zh-TW" kern="1200" dirty="0">
                <a:solidFill>
                  <a:srgbClr val="FF0000"/>
                </a:solidFill>
                <a:latin typeface="標楷體" panose="03000509000000000000" pitchFamily="65" charset="-120"/>
                <a:ea typeface="標楷體" panose="03000509000000000000" pitchFamily="65" charset="-120"/>
                <a:cs typeface="+mn-cs"/>
              </a:rPr>
              <a:t>85 % </a:t>
            </a:r>
            <a:r>
              <a:rPr kumimoji="1" lang="zh-TW" altLang="en-US" kern="1200" dirty="0">
                <a:solidFill>
                  <a:srgbClr val="FF0000"/>
                </a:solidFill>
                <a:latin typeface="標楷體" panose="03000509000000000000" pitchFamily="65" charset="-120"/>
                <a:ea typeface="標楷體" panose="03000509000000000000" pitchFamily="65" charset="-120"/>
                <a:cs typeface="+mn-cs"/>
              </a:rPr>
              <a:t>～ </a:t>
            </a:r>
            <a:r>
              <a:rPr kumimoji="1" lang="en-US" altLang="zh-TW" kern="1200" dirty="0">
                <a:solidFill>
                  <a:srgbClr val="FF0000"/>
                </a:solidFill>
                <a:latin typeface="標楷體" panose="03000509000000000000" pitchFamily="65" charset="-120"/>
                <a:ea typeface="標楷體" panose="03000509000000000000" pitchFamily="65" charset="-120"/>
                <a:cs typeface="+mn-cs"/>
              </a:rPr>
              <a:t>90%</a:t>
            </a:r>
            <a:r>
              <a:rPr kumimoji="1" lang="zh-TW" altLang="en-US" kern="1200" dirty="0">
                <a:solidFill>
                  <a:srgbClr val="FF0000"/>
                </a:solidFill>
                <a:latin typeface="標楷體" panose="03000509000000000000" pitchFamily="65" charset="-120"/>
                <a:ea typeface="標楷體" panose="03000509000000000000" pitchFamily="65" charset="-120"/>
                <a:cs typeface="+mn-cs"/>
              </a:rPr>
              <a:t>。」</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58728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ox(i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i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dirty="0">
                <a:solidFill>
                  <a:schemeClr val="tx1"/>
                </a:solidFill>
                <a:latin typeface="標楷體" pitchFamily="65" charset="-120"/>
                <a:ea typeface="標楷體" pitchFamily="65" charset="-120"/>
              </a:rPr>
              <a:t>5.</a:t>
            </a:r>
            <a:r>
              <a:rPr kumimoji="1" lang="zh-TW" altLang="en-US" sz="2000" dirty="0">
                <a:solidFill>
                  <a:schemeClr val="tx1"/>
                </a:solidFill>
                <a:latin typeface="標楷體" pitchFamily="65" charset="-120"/>
                <a:ea typeface="標楷體" pitchFamily="65" charset="-120"/>
              </a:rPr>
              <a:t>蒙古及中國西北地區的沙塵暴常會影響整個東亞地區，包括日本、南韓、臺灣、菲律賓，範圍相當遼闊。請問通常發生在什麼季節？</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答：</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88640"/>
            <a:ext cx="519112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809" y="2492896"/>
            <a:ext cx="6141646" cy="37550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827584" y="1660738"/>
            <a:ext cx="30243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春季（冬末春初）。</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06284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dirty="0">
                <a:solidFill>
                  <a:schemeClr val="tx1"/>
                </a:solidFill>
                <a:latin typeface="標楷體" pitchFamily="65" charset="-120"/>
                <a:ea typeface="標楷體" pitchFamily="65" charset="-120"/>
              </a:rPr>
              <a:t>6.</a:t>
            </a:r>
            <a:r>
              <a:rPr kumimoji="1" lang="zh-TW" altLang="en-US" sz="2000" dirty="0">
                <a:solidFill>
                  <a:schemeClr val="tx1"/>
                </a:solidFill>
                <a:latin typeface="標楷體" pitchFamily="65" charset="-120"/>
                <a:ea typeface="標楷體" pitchFamily="65" charset="-120"/>
              </a:rPr>
              <a:t> 「東亞沙塵暴的主要源地位於北緯 </a:t>
            </a:r>
            <a:r>
              <a:rPr kumimoji="1" lang="en-US" altLang="zh-TW" sz="2000" dirty="0">
                <a:solidFill>
                  <a:schemeClr val="tx1"/>
                </a:solidFill>
                <a:latin typeface="標楷體" pitchFamily="65" charset="-120"/>
                <a:ea typeface="標楷體" pitchFamily="65" charset="-120"/>
              </a:rPr>
              <a:t>35 </a:t>
            </a:r>
            <a:r>
              <a:rPr kumimoji="1" lang="zh-TW" altLang="en-US" sz="2000" dirty="0">
                <a:solidFill>
                  <a:schemeClr val="tx1"/>
                </a:solidFill>
                <a:latin typeface="標楷體" pitchFamily="65" charset="-120"/>
                <a:ea typeface="標楷體" pitchFamily="65" charset="-120"/>
              </a:rPr>
              <a:t>度以北的中國西北和華北、蒙古一帶，沙塵暴發生後，細顆粒的揚塵容易隨著高空的氣流向東傳送，影響日本、韓國。」根據上述，揚塵傳送至日、韓與哪一風帶關係最密切？</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(A)</a:t>
            </a:r>
            <a:r>
              <a:rPr kumimoji="1" lang="zh-TW" altLang="en-US" sz="2000" dirty="0">
                <a:solidFill>
                  <a:schemeClr val="tx1"/>
                </a:solidFill>
                <a:latin typeface="標楷體" pitchFamily="65" charset="-120"/>
                <a:ea typeface="標楷體" pitchFamily="65" charset="-120"/>
              </a:rPr>
              <a:t>信風帶                     </a:t>
            </a:r>
            <a:r>
              <a:rPr kumimoji="1" lang="en-US" altLang="zh-TW" sz="2000" dirty="0">
                <a:solidFill>
                  <a:schemeClr val="tx1"/>
                </a:solidFill>
                <a:latin typeface="標楷體" pitchFamily="65" charset="-120"/>
                <a:ea typeface="標楷體" pitchFamily="65" charset="-120"/>
              </a:rPr>
              <a:t>(C)</a:t>
            </a:r>
            <a:r>
              <a:rPr kumimoji="1" lang="zh-TW" altLang="en-US" sz="2000" dirty="0">
                <a:solidFill>
                  <a:schemeClr val="tx1"/>
                </a:solidFill>
                <a:latin typeface="標楷體" pitchFamily="65" charset="-120"/>
                <a:ea typeface="標楷體" pitchFamily="65" charset="-120"/>
              </a:rPr>
              <a:t>極地東風帶      </a:t>
            </a:r>
            <a:r>
              <a:rPr kumimoji="1" lang="en-US" altLang="zh-TW" sz="2000" dirty="0">
                <a:solidFill>
                  <a:schemeClr val="tx1"/>
                </a:solidFill>
                <a:latin typeface="標楷體" pitchFamily="65" charset="-120"/>
                <a:ea typeface="標楷體" pitchFamily="65" charset="-120"/>
              </a:rPr>
              <a:t>(D)</a:t>
            </a:r>
            <a:r>
              <a:rPr kumimoji="1" lang="zh-TW" altLang="en-US" sz="2000" dirty="0">
                <a:solidFill>
                  <a:schemeClr val="tx1"/>
                </a:solidFill>
                <a:latin typeface="標楷體" pitchFamily="65" charset="-120"/>
                <a:ea typeface="標楷體" pitchFamily="65" charset="-120"/>
              </a:rPr>
              <a:t>間熱帶輻合帶</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88640"/>
            <a:ext cx="519112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809" y="2492896"/>
            <a:ext cx="6141646" cy="37550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395536" y="6247978"/>
            <a:ext cx="69127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從緯度位置以及向東傳送的條件判斷，主要受西風的影響。</a:t>
            </a:r>
          </a:p>
        </p:txBody>
      </p:sp>
      <p:sp>
        <p:nvSpPr>
          <p:cNvPr id="9" name="Text Box 3"/>
          <p:cNvSpPr txBox="1">
            <a:spLocks noChangeArrowheads="1"/>
          </p:cNvSpPr>
          <p:nvPr/>
        </p:nvSpPr>
        <p:spPr bwMode="auto">
          <a:xfrm>
            <a:off x="2229948" y="1993034"/>
            <a:ext cx="15499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pPr eaLnBrk="1" hangingPunct="1"/>
            <a:r>
              <a:rPr lang="en-US" altLang="zh-TW" sz="2000" dirty="0">
                <a:latin typeface="標楷體" pitchFamily="65" charset="-120"/>
              </a:rPr>
              <a:t>(B)</a:t>
            </a:r>
            <a:r>
              <a:rPr lang="zh-TW" altLang="en-US" sz="2000" dirty="0">
                <a:latin typeface="標楷體" pitchFamily="65" charset="-120"/>
              </a:rPr>
              <a:t>西風帶</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65958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ox(i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東亞各國經濟崛起皆是透過出口導向，在二戰後承接美國的區位移轉，達成國家經濟快速成長，透過貿易發展出互賴合作關係，而伴隨不對等的金流，卻又是國家衝突和競爭的來源，甚至引爆貿易戰。</a:t>
            </a:r>
          </a:p>
          <a:p>
            <a:r>
              <a:rPr kumimoji="1" lang="en-US" altLang="zh-TW" sz="2000" dirty="0">
                <a:solidFill>
                  <a:schemeClr val="tx1"/>
                </a:solidFill>
                <a:latin typeface="標楷體" pitchFamily="65" charset="-120"/>
                <a:ea typeface="標楷體" pitchFamily="65" charset="-120"/>
              </a:rPr>
              <a:t>7.</a:t>
            </a:r>
            <a:r>
              <a:rPr kumimoji="1" lang="zh-TW" altLang="en-US" sz="2000" dirty="0">
                <a:solidFill>
                  <a:schemeClr val="tx1"/>
                </a:solidFill>
                <a:latin typeface="標楷體" pitchFamily="65" charset="-120"/>
                <a:ea typeface="標楷體" pitchFamily="65" charset="-120"/>
              </a:rPr>
              <a:t>以下為東亞各國及美國進出口額前五名貿易對象統計數據。請問：</a:t>
            </a:r>
            <a:endParaRPr kumimoji="1" lang="en-US" altLang="zh-TW"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20761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2364172"/>
            <a:ext cx="5328592" cy="4069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87</a:t>
            </a:fld>
            <a:endParaRPr lang="zh-TW" sz="1400">
              <a:solidFill>
                <a:schemeClr val="dk1"/>
              </a:solidFill>
              <a:latin typeface="Arial"/>
              <a:ea typeface="Arial"/>
              <a:cs typeface="Arial"/>
              <a:sym typeface="Arial"/>
            </a:endParaRPr>
          </a:p>
        </p:txBody>
      </p:sp>
      <p:sp>
        <p:nvSpPr>
          <p:cNvPr id="9" name="矩形 8"/>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p.202</a:t>
            </a:r>
            <a:endParaRPr lang="zh-TW" altLang="en-US" b="0" dirty="0"/>
          </a:p>
        </p:txBody>
      </p:sp>
    </p:spTree>
    <p:extLst>
      <p:ext uri="{BB962C8B-B14F-4D97-AF65-F5344CB8AC3E}">
        <p14:creationId xmlns:p14="http://schemas.microsoft.com/office/powerpoint/2010/main" val="38074452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dirty="0">
                <a:solidFill>
                  <a:schemeClr val="tx1"/>
                </a:solidFill>
                <a:latin typeface="標楷體" pitchFamily="65" charset="-120"/>
                <a:ea typeface="標楷體" pitchFamily="65" charset="-120"/>
              </a:rPr>
              <a:t>(1)</a:t>
            </a:r>
            <a:r>
              <a:rPr kumimoji="1" lang="zh-TW" altLang="en-US" sz="2000" dirty="0">
                <a:solidFill>
                  <a:schemeClr val="tx1"/>
                </a:solidFill>
                <a:latin typeface="標楷體" pitchFamily="65" charset="-120"/>
                <a:ea typeface="標楷體" pitchFamily="65" charset="-120"/>
              </a:rPr>
              <a:t>貿易依存度是衡量各國經濟</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對外貿易的依賴程度，計算方式為進出口總和占該國</a:t>
            </a:r>
            <a:r>
              <a:rPr kumimoji="1" lang="en-US" altLang="zh-TW" sz="2000" dirty="0">
                <a:solidFill>
                  <a:schemeClr val="tx1"/>
                </a:solidFill>
                <a:latin typeface="標楷體" pitchFamily="65" charset="-120"/>
                <a:ea typeface="標楷體" pitchFamily="65" charset="-120"/>
              </a:rPr>
              <a:t>GDP </a:t>
            </a:r>
            <a:r>
              <a:rPr kumimoji="1" lang="zh-TW" altLang="en-US" sz="2000" dirty="0">
                <a:solidFill>
                  <a:schemeClr val="tx1"/>
                </a:solidFill>
                <a:latin typeface="標楷體" pitchFamily="65" charset="-120"/>
                <a:ea typeface="標楷體" pitchFamily="65" charset="-120"/>
              </a:rPr>
              <a:t>的比率。根據上頁表貿易數據各國進出口占比結構及下表貿易依存度分析（甲乙丙丁戊代表東亞各國及美國），下列敘述何者正確？（多選題）</a:t>
            </a:r>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(A)</a:t>
            </a:r>
            <a:r>
              <a:rPr kumimoji="1" lang="zh-TW" altLang="en-US" sz="2000" dirty="0">
                <a:solidFill>
                  <a:schemeClr val="tx1"/>
                </a:solidFill>
                <a:latin typeface="標楷體" pitchFamily="65" charset="-120"/>
                <a:ea typeface="標楷體" pitchFamily="65" charset="-120"/>
              </a:rPr>
              <a:t>甲國貿易依存度最高，代表該國經濟發展最好。</a:t>
            </a:r>
          </a:p>
          <a:p>
            <a:r>
              <a:rPr kumimoji="1" lang="en-US" altLang="zh-TW" sz="2000" dirty="0">
                <a:solidFill>
                  <a:schemeClr val="tx1"/>
                </a:solidFill>
                <a:latin typeface="標楷體" pitchFamily="65" charset="-120"/>
                <a:ea typeface="標楷體" pitchFamily="65" charset="-120"/>
              </a:rPr>
              <a:t>(B)</a:t>
            </a:r>
            <a:r>
              <a:rPr kumimoji="1" lang="zh-TW" altLang="en-US" sz="2000" dirty="0">
                <a:solidFill>
                  <a:schemeClr val="tx1"/>
                </a:solidFill>
                <a:latin typeface="標楷體" pitchFamily="65" charset="-120"/>
                <a:ea typeface="標楷體" pitchFamily="65" charset="-120"/>
              </a:rPr>
              <a:t>甲乙兩國主要的進出口對象皆為丙國。</a:t>
            </a:r>
          </a:p>
          <a:p>
            <a:r>
              <a:rPr kumimoji="1" lang="en-US" altLang="zh-TW" sz="2000" dirty="0">
                <a:solidFill>
                  <a:schemeClr val="tx1"/>
                </a:solidFill>
                <a:latin typeface="標楷體" pitchFamily="65" charset="-120"/>
                <a:ea typeface="標楷體" pitchFamily="65" charset="-120"/>
              </a:rPr>
              <a:t>(C)</a:t>
            </a:r>
            <a:r>
              <a:rPr kumimoji="1" lang="zh-TW" altLang="en-US" sz="2000" dirty="0">
                <a:solidFill>
                  <a:schemeClr val="tx1"/>
                </a:solidFill>
                <a:latin typeface="標楷體" pitchFamily="65" charset="-120"/>
                <a:ea typeface="標楷體" pitchFamily="65" charset="-120"/>
              </a:rPr>
              <a:t>戊國相較於其他四國更容易受到國際景氣影響。</a:t>
            </a:r>
          </a:p>
          <a:p>
            <a:r>
              <a:rPr kumimoji="1" lang="en-US" altLang="zh-TW" sz="2000" dirty="0">
                <a:solidFill>
                  <a:schemeClr val="tx1"/>
                </a:solidFill>
                <a:latin typeface="標楷體" pitchFamily="65" charset="-120"/>
                <a:ea typeface="標楷體" pitchFamily="65" charset="-120"/>
              </a:rPr>
              <a:t>(D)</a:t>
            </a:r>
            <a:r>
              <a:rPr kumimoji="1" lang="zh-TW" altLang="en-US" sz="2000" dirty="0">
                <a:solidFill>
                  <a:schemeClr val="tx1"/>
                </a:solidFill>
                <a:latin typeface="標楷體" pitchFamily="65" charset="-120"/>
                <a:ea typeface="標楷體" pitchFamily="65" charset="-120"/>
              </a:rPr>
              <a:t>經濟全球化有助於貿易依存度提高。</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答：</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913584" y="4725144"/>
            <a:ext cx="1512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000" kern="1200" dirty="0">
                <a:solidFill>
                  <a:srgbClr val="FF0000"/>
                </a:solidFill>
                <a:latin typeface="標楷體" pitchFamily="65" charset="-120"/>
                <a:ea typeface="標楷體" pitchFamily="65" charset="-120"/>
                <a:cs typeface="Times New Roman" pitchFamily="18" charset="0"/>
              </a:rPr>
              <a:t>(B)(D)</a:t>
            </a:r>
            <a:r>
              <a:rPr lang="zh-TW" altLang="en-US" sz="2000" kern="1200" dirty="0">
                <a:solidFill>
                  <a:srgbClr val="FF0000"/>
                </a:solidFill>
                <a:latin typeface="標楷體" pitchFamily="65" charset="-120"/>
                <a:ea typeface="標楷體" pitchFamily="65" charset="-120"/>
                <a:cs typeface="Times New Roman" pitchFamily="18" charset="0"/>
              </a:rPr>
              <a:t>。</a:t>
            </a:r>
          </a:p>
        </p:txBody>
      </p:sp>
      <p:sp>
        <p:nvSpPr>
          <p:cNvPr id="12" name="矩形 11"/>
          <p:cNvSpPr>
            <a:spLocks noChangeArrowheads="1"/>
          </p:cNvSpPr>
          <p:nvPr/>
        </p:nvSpPr>
        <p:spPr bwMode="auto">
          <a:xfrm>
            <a:off x="2051720" y="5036983"/>
            <a:ext cx="56886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1800" kern="1200" dirty="0">
                <a:solidFill>
                  <a:srgbClr val="FF0000"/>
                </a:solidFill>
                <a:latin typeface="標楷體" pitchFamily="65" charset="-120"/>
                <a:ea typeface="標楷體" pitchFamily="65" charset="-120"/>
                <a:cs typeface="Times New Roman" pitchFamily="18" charset="0"/>
              </a:rPr>
              <a:t>(1)</a:t>
            </a:r>
            <a:r>
              <a:rPr lang="zh-TW" altLang="en-US" sz="1800" kern="1200" dirty="0">
                <a:solidFill>
                  <a:srgbClr val="FF0000"/>
                </a:solidFill>
                <a:latin typeface="標楷體" pitchFamily="65" charset="-120"/>
                <a:ea typeface="標楷體" pitchFamily="65" charset="-120"/>
                <a:cs typeface="Times New Roman" pitchFamily="18" charset="0"/>
              </a:rPr>
              <a:t>甲乙丙丁戊分別為：臺灣、南韓、中國、日本、美國。</a:t>
            </a:r>
            <a:r>
              <a:rPr lang="en-US" altLang="zh-TW" sz="1800" kern="1200" dirty="0">
                <a:solidFill>
                  <a:srgbClr val="FF0000"/>
                </a:solidFill>
                <a:latin typeface="標楷體" pitchFamily="65" charset="-120"/>
                <a:ea typeface="標楷體" pitchFamily="65" charset="-120"/>
                <a:cs typeface="Times New Roman" pitchFamily="18" charset="0"/>
              </a:rPr>
              <a:t>(A)</a:t>
            </a:r>
            <a:r>
              <a:rPr lang="zh-TW" altLang="en-US" sz="1800" kern="1200" dirty="0">
                <a:solidFill>
                  <a:srgbClr val="FF0000"/>
                </a:solidFill>
                <a:latin typeface="標楷體" pitchFamily="65" charset="-120"/>
                <a:ea typeface="標楷體" pitchFamily="65" charset="-120"/>
                <a:cs typeface="Times New Roman" pitchFamily="18" charset="0"/>
              </a:rPr>
              <a:t>貿易依存度代表一國對國際市場的依賴程度，與該國的經濟發展無絕對相關。</a:t>
            </a:r>
            <a:r>
              <a:rPr lang="en-US" altLang="zh-TW" sz="1800" kern="1200" dirty="0">
                <a:solidFill>
                  <a:srgbClr val="FF0000"/>
                </a:solidFill>
                <a:latin typeface="標楷體" pitchFamily="65" charset="-120"/>
                <a:ea typeface="標楷體" pitchFamily="65" charset="-120"/>
                <a:cs typeface="Times New Roman" pitchFamily="18" charset="0"/>
              </a:rPr>
              <a:t>(C)</a:t>
            </a:r>
            <a:r>
              <a:rPr lang="zh-TW" altLang="en-US" sz="1800" kern="1200" dirty="0">
                <a:solidFill>
                  <a:srgbClr val="FF0000"/>
                </a:solidFill>
                <a:latin typeface="標楷體" pitchFamily="65" charset="-120"/>
                <a:ea typeface="標楷體" pitchFamily="65" charset="-120"/>
                <a:cs typeface="Times New Roman" pitchFamily="18" charset="0"/>
              </a:rPr>
              <a:t>貿易依存度愈高，愈容易受到國際景氣影響，如甲、乙國。</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2391916"/>
            <a:ext cx="5857875" cy="1181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50710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    東亞各國經濟崛起皆是透過出口導向，在二戰後承接美國的區位移轉，達成國家經濟快速成長，透過貿易發展出互賴合作關係，而伴隨不對等的金流，卻又是國家衝突和競爭的來源，甚至引爆貿易戰。</a:t>
            </a:r>
          </a:p>
          <a:p>
            <a:r>
              <a:rPr kumimoji="1" lang="en-US" altLang="zh-TW" sz="2000" dirty="0">
                <a:solidFill>
                  <a:schemeClr val="tx1"/>
                </a:solidFill>
                <a:latin typeface="標楷體" pitchFamily="65" charset="-120"/>
                <a:ea typeface="標楷體" pitchFamily="65" charset="-120"/>
              </a:rPr>
              <a:t>7.</a:t>
            </a:r>
            <a:r>
              <a:rPr kumimoji="1" lang="zh-TW" altLang="en-US" sz="2000" dirty="0">
                <a:solidFill>
                  <a:schemeClr val="tx1"/>
                </a:solidFill>
                <a:latin typeface="標楷體" pitchFamily="65" charset="-120"/>
                <a:ea typeface="標楷體" pitchFamily="65" charset="-120"/>
              </a:rPr>
              <a:t>以下為東亞各國及美國進出口額前五名貿易對象統計數據。請問：</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(2)</a:t>
            </a:r>
            <a:r>
              <a:rPr kumimoji="1" lang="zh-TW" altLang="en-US" sz="2000" dirty="0">
                <a:solidFill>
                  <a:schemeClr val="tx1"/>
                </a:solidFill>
                <a:latin typeface="標楷體" pitchFamily="65" charset="-120"/>
                <a:ea typeface="標楷體" pitchFamily="65" charset="-120"/>
              </a:rPr>
              <a:t>關於各國間貿易數據分析，</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下列敘述何者正確？（多選題）</a:t>
            </a:r>
          </a:p>
          <a:p>
            <a:r>
              <a:rPr kumimoji="1" lang="zh-TW" altLang="en-US" sz="2000" dirty="0">
                <a:solidFill>
                  <a:schemeClr val="tx1"/>
                </a:solidFill>
                <a:latin typeface="標楷體" pitchFamily="65" charset="-120"/>
                <a:ea typeface="標楷體" pitchFamily="65" charset="-120"/>
              </a:rPr>
              <a:t>甲、中國對其他四國最具影響</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力</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乙、其他四國對日本均為逆差。 </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丙、臺灣對其他四國的總貿易</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額比例為順差。</a:t>
            </a:r>
          </a:p>
          <a:p>
            <a:r>
              <a:rPr kumimoji="1" lang="zh-TW" altLang="en-US" sz="2000" dirty="0">
                <a:solidFill>
                  <a:schemeClr val="tx1"/>
                </a:solidFill>
                <a:latin typeface="標楷體" pitchFamily="65" charset="-120"/>
                <a:ea typeface="標楷體" pitchFamily="65" charset="-120"/>
              </a:rPr>
              <a:t>丁、美國對其他四國均為逆差。</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答：</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949382" y="4725144"/>
            <a:ext cx="1512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甲乙丁。</a:t>
            </a:r>
          </a:p>
        </p:txBody>
      </p:sp>
      <p:sp>
        <p:nvSpPr>
          <p:cNvPr id="12" name="矩形 11"/>
          <p:cNvSpPr>
            <a:spLocks noChangeArrowheads="1"/>
          </p:cNvSpPr>
          <p:nvPr/>
        </p:nvSpPr>
        <p:spPr bwMode="auto">
          <a:xfrm>
            <a:off x="442202" y="5125254"/>
            <a:ext cx="333771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000" kern="1200" dirty="0">
                <a:solidFill>
                  <a:srgbClr val="FF0000"/>
                </a:solidFill>
                <a:latin typeface="標楷體" pitchFamily="65" charset="-120"/>
                <a:ea typeface="標楷體" pitchFamily="65" charset="-120"/>
                <a:cs typeface="Times New Roman" pitchFamily="18" charset="0"/>
              </a:rPr>
              <a:t>(2)</a:t>
            </a:r>
            <a:r>
              <a:rPr lang="zh-TW" altLang="en-US" sz="2000" kern="1200" dirty="0">
                <a:solidFill>
                  <a:srgbClr val="FF0000"/>
                </a:solidFill>
                <a:latin typeface="標楷體" pitchFamily="65" charset="-120"/>
                <a:ea typeface="標楷體" pitchFamily="65" charset="-120"/>
                <a:cs typeface="Times New Roman" pitchFamily="18" charset="0"/>
              </a:rPr>
              <a:t>丙、臺灣對其他四國的總貿易額比例為逆差：出口：</a:t>
            </a:r>
            <a:r>
              <a:rPr lang="en-US" altLang="zh-TW" sz="2000" kern="1200" dirty="0">
                <a:solidFill>
                  <a:srgbClr val="FF0000"/>
                </a:solidFill>
                <a:latin typeface="標楷體" pitchFamily="65" charset="-120"/>
                <a:ea typeface="標楷體" pitchFamily="65" charset="-120"/>
                <a:cs typeface="Times New Roman" pitchFamily="18" charset="0"/>
              </a:rPr>
              <a:t>28</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12</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6</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5</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51</a:t>
            </a:r>
            <a:r>
              <a:rPr lang="zh-TW" altLang="en-US" sz="2000" kern="1200" dirty="0">
                <a:solidFill>
                  <a:srgbClr val="FF0000"/>
                </a:solidFill>
                <a:latin typeface="標楷體" pitchFamily="65" charset="-120"/>
                <a:ea typeface="標楷體" pitchFamily="65" charset="-120"/>
                <a:cs typeface="Times New Roman" pitchFamily="18" charset="0"/>
              </a:rPr>
              <a:t> ％；進口：</a:t>
            </a:r>
            <a:r>
              <a:rPr lang="en-US" altLang="zh-TW" sz="2000" kern="1200" dirty="0">
                <a:solidFill>
                  <a:srgbClr val="FF0000"/>
                </a:solidFill>
                <a:latin typeface="標楷體" pitchFamily="65" charset="-120"/>
                <a:ea typeface="標楷體" pitchFamily="65" charset="-120"/>
                <a:cs typeface="Times New Roman" pitchFamily="18" charset="0"/>
              </a:rPr>
              <a:t>19</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16</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12</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7</a:t>
            </a:r>
            <a:r>
              <a:rPr lang="zh-TW" altLang="en-US" sz="2000" kern="1200" dirty="0">
                <a:solidFill>
                  <a:srgbClr val="FF0000"/>
                </a:solidFill>
                <a:latin typeface="標楷體" pitchFamily="65" charset="-120"/>
                <a:ea typeface="標楷體" pitchFamily="65" charset="-120"/>
                <a:cs typeface="Times New Roman" pitchFamily="18" charset="0"/>
              </a:rPr>
              <a:t>＝</a:t>
            </a:r>
            <a:r>
              <a:rPr lang="en-US" altLang="zh-TW" sz="2000" kern="1200" dirty="0">
                <a:solidFill>
                  <a:srgbClr val="FF0000"/>
                </a:solidFill>
                <a:latin typeface="標楷體" pitchFamily="65" charset="-120"/>
                <a:ea typeface="標楷體" pitchFamily="65" charset="-120"/>
                <a:cs typeface="Times New Roman" pitchFamily="18" charset="0"/>
              </a:rPr>
              <a:t>54</a:t>
            </a:r>
            <a:r>
              <a:rPr lang="zh-TW" altLang="en-US" sz="2000" kern="1200" dirty="0">
                <a:solidFill>
                  <a:srgbClr val="FF0000"/>
                </a:solidFill>
                <a:latin typeface="標楷體" pitchFamily="65" charset="-120"/>
                <a:ea typeface="標楷體" pitchFamily="65" charset="-120"/>
                <a:cs typeface="Times New Roman" pitchFamily="18" charset="0"/>
              </a:rPr>
              <a:t> ％。</a:t>
            </a:r>
          </a:p>
        </p:txBody>
      </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936" y="2420887"/>
            <a:ext cx="5009738" cy="3826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55581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dirty="0">
                <a:solidFill>
                  <a:schemeClr val="tx1"/>
                </a:solidFill>
                <a:latin typeface="標楷體" pitchFamily="65" charset="-120"/>
                <a:ea typeface="標楷體" pitchFamily="65" charset="-120"/>
              </a:rPr>
              <a:t>8.</a:t>
            </a:r>
            <a:r>
              <a:rPr kumimoji="1" lang="zh-TW" altLang="en-US" sz="2000" dirty="0">
                <a:solidFill>
                  <a:schemeClr val="tx1"/>
                </a:solidFill>
                <a:latin typeface="標楷體" pitchFamily="65" charset="-120"/>
                <a:ea typeface="標楷體" pitchFamily="65" charset="-120"/>
              </a:rPr>
              <a:t>中國對美國有巨大順差，其輸出美國項目金額最高為手機及生活電器類，請以 </a:t>
            </a:r>
            <a:r>
              <a:rPr kumimoji="1" lang="en-US" altLang="zh-TW" sz="2000" dirty="0">
                <a:solidFill>
                  <a:schemeClr val="tx1"/>
                </a:solidFill>
                <a:latin typeface="標楷體" pitchFamily="65" charset="-120"/>
                <a:ea typeface="標楷體" pitchFamily="65" charset="-120"/>
              </a:rPr>
              <a:t>2017 </a:t>
            </a:r>
            <a:r>
              <a:rPr kumimoji="1" lang="zh-TW" altLang="en-US" sz="2000" dirty="0">
                <a:solidFill>
                  <a:schemeClr val="tx1"/>
                </a:solidFill>
                <a:latin typeface="標楷體" pitchFamily="65" charset="-120"/>
                <a:ea typeface="標楷體" pitchFamily="65" charset="-120"/>
              </a:rPr>
              <a:t>年上市售價 </a:t>
            </a:r>
            <a:r>
              <a:rPr kumimoji="1" lang="en-US" altLang="zh-TW" sz="2000" dirty="0">
                <a:solidFill>
                  <a:schemeClr val="tx1"/>
                </a:solidFill>
                <a:latin typeface="標楷體" pitchFamily="65" charset="-120"/>
                <a:ea typeface="標楷體" pitchFamily="65" charset="-120"/>
              </a:rPr>
              <a:t>999 </a:t>
            </a:r>
            <a:r>
              <a:rPr kumimoji="1" lang="zh-TW" altLang="en-US" sz="2000" dirty="0">
                <a:solidFill>
                  <a:schemeClr val="tx1"/>
                </a:solidFill>
                <a:latin typeface="標楷體" pitchFamily="65" charset="-120"/>
                <a:ea typeface="標楷體" pitchFamily="65" charset="-120"/>
              </a:rPr>
              <a:t>美元的</a:t>
            </a:r>
            <a:r>
              <a:rPr kumimoji="1" lang="en-US" altLang="zh-TW" sz="2000" dirty="0">
                <a:solidFill>
                  <a:schemeClr val="tx1"/>
                </a:solidFill>
                <a:latin typeface="標楷體" pitchFamily="65" charset="-120"/>
                <a:ea typeface="標楷體" pitchFamily="65" charset="-120"/>
              </a:rPr>
              <a:t>iPhone X </a:t>
            </a:r>
            <a:r>
              <a:rPr kumimoji="1" lang="zh-TW" altLang="en-US" sz="2000" dirty="0">
                <a:solidFill>
                  <a:schemeClr val="tx1"/>
                </a:solidFill>
                <a:latin typeface="標楷體" pitchFamily="65" charset="-120"/>
                <a:ea typeface="標楷體" pitchFamily="65" charset="-120"/>
              </a:rPr>
              <a:t>手機為例，圖</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二</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為 </a:t>
            </a:r>
            <a:r>
              <a:rPr kumimoji="1" lang="en-US" altLang="zh-TW" sz="2000" dirty="0">
                <a:solidFill>
                  <a:schemeClr val="tx1"/>
                </a:solidFill>
                <a:latin typeface="標楷體" pitchFamily="65" charset="-120"/>
                <a:ea typeface="標楷體" pitchFamily="65" charset="-120"/>
              </a:rPr>
              <a:t>iPhone X </a:t>
            </a:r>
            <a:r>
              <a:rPr kumimoji="1" lang="zh-TW" altLang="en-US" sz="2000" dirty="0">
                <a:solidFill>
                  <a:schemeClr val="tx1"/>
                </a:solidFill>
                <a:latin typeface="標楷體" pitchFamily="65" charset="-120"/>
                <a:ea typeface="標楷體" pitchFamily="65" charset="-120"/>
              </a:rPr>
              <a:t>手機硬體成本分析，請配合圖</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一</a:t>
            </a:r>
            <a:r>
              <a:rPr kumimoji="1" lang="en-US" altLang="zh-TW" sz="2000" dirty="0">
                <a:solidFill>
                  <a:schemeClr val="tx1"/>
                </a:solidFill>
                <a:latin typeface="標楷體" pitchFamily="65" charset="-120"/>
                <a:ea typeface="標楷體" pitchFamily="65" charset="-120"/>
              </a:rPr>
              <a:t>) iPhone </a:t>
            </a:r>
            <a:r>
              <a:rPr kumimoji="1" lang="zh-TW" altLang="en-US" sz="2000" dirty="0">
                <a:solidFill>
                  <a:schemeClr val="tx1"/>
                </a:solidFill>
                <a:latin typeface="標楷體" pitchFamily="65" charset="-120"/>
                <a:ea typeface="標楷體" pitchFamily="65" charset="-120"/>
              </a:rPr>
              <a:t>供應鏈廠商，回答下列問題：</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(1)iPhone X </a:t>
            </a:r>
            <a:r>
              <a:rPr kumimoji="1" lang="zh-TW" altLang="en-US" sz="2000" dirty="0">
                <a:solidFill>
                  <a:schemeClr val="tx1"/>
                </a:solidFill>
                <a:latin typeface="標楷體" pitchFamily="65" charset="-120"/>
                <a:ea typeface="標楷體" pitchFamily="65" charset="-120"/>
              </a:rPr>
              <a:t>手機中附加價值較高的零件由哪一</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國家生產？</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答：</a:t>
            </a:r>
            <a:endParaRPr kumimoji="1" lang="en-US" altLang="zh-TW"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182981"/>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899592" y="2591031"/>
            <a:ext cx="1512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南韓。</a:t>
            </a:r>
          </a:p>
        </p:txBody>
      </p:sp>
      <p:sp>
        <p:nvSpPr>
          <p:cNvPr id="12" name="矩形 11"/>
          <p:cNvSpPr>
            <a:spLocks noChangeArrowheads="1"/>
          </p:cNvSpPr>
          <p:nvPr/>
        </p:nvSpPr>
        <p:spPr bwMode="auto">
          <a:xfrm>
            <a:off x="863716" y="2982406"/>
            <a:ext cx="57245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1800" kern="1200" dirty="0">
                <a:solidFill>
                  <a:srgbClr val="FF0000"/>
                </a:solidFill>
                <a:latin typeface="標楷體" pitchFamily="65" charset="-120"/>
                <a:ea typeface="標楷體" pitchFamily="65" charset="-120"/>
                <a:cs typeface="Times New Roman" pitchFamily="18" charset="0"/>
              </a:rPr>
              <a:t>(1)</a:t>
            </a:r>
            <a:r>
              <a:rPr lang="zh-TW" altLang="en-US" sz="1800" kern="1200" dirty="0">
                <a:solidFill>
                  <a:srgbClr val="FF0000"/>
                </a:solidFill>
                <a:latin typeface="標楷體" pitchFamily="65" charset="-120"/>
                <a:ea typeface="標楷體" pitchFamily="65" charset="-120"/>
                <a:cs typeface="Times New Roman" pitchFamily="18" charset="0"/>
              </a:rPr>
              <a:t>根據圖可得知最高附價價值零件為螢幕（</a:t>
            </a:r>
            <a:r>
              <a:rPr lang="en-US" altLang="zh-TW" sz="1800" kern="1200" dirty="0">
                <a:solidFill>
                  <a:srgbClr val="FF0000"/>
                </a:solidFill>
                <a:latin typeface="標楷體" pitchFamily="65" charset="-120"/>
                <a:ea typeface="標楷體" pitchFamily="65" charset="-120"/>
                <a:cs typeface="Times New Roman" pitchFamily="18" charset="0"/>
              </a:rPr>
              <a:t>80</a:t>
            </a:r>
            <a:r>
              <a:rPr lang="zh-TW" altLang="en-US" sz="1800" kern="1200" dirty="0">
                <a:solidFill>
                  <a:srgbClr val="FF0000"/>
                </a:solidFill>
                <a:latin typeface="標楷體" pitchFamily="65" charset="-120"/>
                <a:ea typeface="標楷體" pitchFamily="65" charset="-120"/>
                <a:cs typeface="Times New Roman" pitchFamily="18" charset="0"/>
              </a:rPr>
              <a:t> 美元），</a:t>
            </a:r>
          </a:p>
          <a:p>
            <a:r>
              <a:rPr lang="zh-TW" altLang="en-US" sz="1800" kern="1200" dirty="0">
                <a:solidFill>
                  <a:srgbClr val="FF0000"/>
                </a:solidFill>
                <a:latin typeface="標楷體" pitchFamily="65" charset="-120"/>
                <a:ea typeface="標楷體" pitchFamily="65" charset="-120"/>
                <a:cs typeface="Times New Roman" pitchFamily="18" charset="0"/>
              </a:rPr>
              <a:t>由南韓的三星（</a:t>
            </a:r>
            <a:r>
              <a:rPr lang="en-US" altLang="zh-TW" sz="1800" kern="1200" dirty="0">
                <a:solidFill>
                  <a:srgbClr val="FF0000"/>
                </a:solidFill>
                <a:latin typeface="標楷體" pitchFamily="65" charset="-120"/>
                <a:ea typeface="標楷體" pitchFamily="65" charset="-120"/>
                <a:cs typeface="Times New Roman" pitchFamily="18" charset="0"/>
              </a:rPr>
              <a:t>Samsung</a:t>
            </a:r>
            <a:r>
              <a:rPr lang="zh-TW" altLang="en-US" sz="1800" kern="1200" dirty="0">
                <a:solidFill>
                  <a:srgbClr val="FF0000"/>
                </a:solidFill>
                <a:latin typeface="標楷體" pitchFamily="65" charset="-120"/>
                <a:ea typeface="標楷體" pitchFamily="65" charset="-120"/>
                <a:cs typeface="Times New Roman" pitchFamily="18" charset="0"/>
              </a:rPr>
              <a:t>）提供。</a:t>
            </a:r>
          </a:p>
        </p:txBody>
      </p:sp>
      <p:pic>
        <p:nvPicPr>
          <p:cNvPr id="276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588" y="3884218"/>
            <a:ext cx="5248275" cy="280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8224" y="2076065"/>
            <a:ext cx="2030674" cy="4229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90</a:t>
            </a:fld>
            <a:endParaRPr lang="zh-TW" sz="1400">
              <a:solidFill>
                <a:schemeClr val="dk1"/>
              </a:solidFill>
              <a:latin typeface="Arial"/>
              <a:ea typeface="Arial"/>
              <a:cs typeface="Arial"/>
              <a:sym typeface="Arial"/>
            </a:endParaRPr>
          </a:p>
        </p:txBody>
      </p:sp>
      <p:sp>
        <p:nvSpPr>
          <p:cNvPr id="13" name="矩形 12"/>
          <p:cNvSpPr>
            <a:spLocks noChangeArrowheads="1"/>
          </p:cNvSpPr>
          <p:nvPr/>
        </p:nvSpPr>
        <p:spPr bwMode="auto">
          <a:xfrm>
            <a:off x="249843" y="89965"/>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err="1">
                <a:solidFill>
                  <a:srgbClr val="FF0000"/>
                </a:solidFill>
              </a:rPr>
              <a:t>p.203</a:t>
            </a:r>
            <a:endParaRPr lang="zh-TW" altLang="en-US" b="0" dirty="0"/>
          </a:p>
        </p:txBody>
      </p:sp>
    </p:spTree>
    <p:extLst>
      <p:ext uri="{BB962C8B-B14F-4D97-AF65-F5344CB8AC3E}">
        <p14:creationId xmlns:p14="http://schemas.microsoft.com/office/powerpoint/2010/main" val="154079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dirty="0">
                <a:solidFill>
                  <a:schemeClr val="tx1"/>
                </a:solidFill>
                <a:latin typeface="標楷體" pitchFamily="65" charset="-120"/>
                <a:ea typeface="標楷體" pitchFamily="65" charset="-120"/>
              </a:rPr>
              <a:t>8.</a:t>
            </a:r>
            <a:r>
              <a:rPr kumimoji="1" lang="zh-TW" altLang="en-US" sz="2000" dirty="0">
                <a:solidFill>
                  <a:schemeClr val="tx1"/>
                </a:solidFill>
                <a:latin typeface="標楷體" pitchFamily="65" charset="-120"/>
                <a:ea typeface="標楷體" pitchFamily="65" charset="-120"/>
              </a:rPr>
              <a:t>中國對美國有巨大順差，其輸出美國項目金額最高為手機及生活電器類，請以 </a:t>
            </a:r>
            <a:r>
              <a:rPr kumimoji="1" lang="en-US" altLang="zh-TW" sz="2000" dirty="0">
                <a:solidFill>
                  <a:schemeClr val="tx1"/>
                </a:solidFill>
                <a:latin typeface="標楷體" pitchFamily="65" charset="-120"/>
                <a:ea typeface="標楷體" pitchFamily="65" charset="-120"/>
              </a:rPr>
              <a:t>2017 </a:t>
            </a:r>
            <a:r>
              <a:rPr kumimoji="1" lang="zh-TW" altLang="en-US" sz="2000" dirty="0">
                <a:solidFill>
                  <a:schemeClr val="tx1"/>
                </a:solidFill>
                <a:latin typeface="標楷體" pitchFamily="65" charset="-120"/>
                <a:ea typeface="標楷體" pitchFamily="65" charset="-120"/>
              </a:rPr>
              <a:t>年上市售價 </a:t>
            </a:r>
            <a:r>
              <a:rPr kumimoji="1" lang="en-US" altLang="zh-TW" sz="2000" dirty="0">
                <a:solidFill>
                  <a:schemeClr val="tx1"/>
                </a:solidFill>
                <a:latin typeface="標楷體" pitchFamily="65" charset="-120"/>
                <a:ea typeface="標楷體" pitchFamily="65" charset="-120"/>
              </a:rPr>
              <a:t>999 </a:t>
            </a:r>
            <a:r>
              <a:rPr kumimoji="1" lang="zh-TW" altLang="en-US" sz="2000" dirty="0">
                <a:solidFill>
                  <a:schemeClr val="tx1"/>
                </a:solidFill>
                <a:latin typeface="標楷體" pitchFamily="65" charset="-120"/>
                <a:ea typeface="標楷體" pitchFamily="65" charset="-120"/>
              </a:rPr>
              <a:t>美元的</a:t>
            </a:r>
            <a:r>
              <a:rPr kumimoji="1" lang="en-US" altLang="zh-TW" sz="2000" dirty="0">
                <a:solidFill>
                  <a:schemeClr val="tx1"/>
                </a:solidFill>
                <a:latin typeface="標楷體" pitchFamily="65" charset="-120"/>
                <a:ea typeface="標楷體" pitchFamily="65" charset="-120"/>
              </a:rPr>
              <a:t>iPhone X </a:t>
            </a:r>
            <a:r>
              <a:rPr kumimoji="1" lang="zh-TW" altLang="en-US" sz="2000" dirty="0">
                <a:solidFill>
                  <a:schemeClr val="tx1"/>
                </a:solidFill>
                <a:latin typeface="標楷體" pitchFamily="65" charset="-120"/>
                <a:ea typeface="標楷體" pitchFamily="65" charset="-120"/>
              </a:rPr>
              <a:t>手機為例，圖</a:t>
            </a:r>
            <a:r>
              <a:rPr kumimoji="1" lang="en-US" altLang="zh-TW" sz="2000" dirty="0">
                <a:solidFill>
                  <a:schemeClr val="tx1"/>
                </a:solidFill>
                <a:latin typeface="標楷體" pitchFamily="65" charset="-120"/>
                <a:ea typeface="標楷體" pitchFamily="65" charset="-120"/>
              </a:rPr>
              <a:t>2</a:t>
            </a:r>
            <a:r>
              <a:rPr kumimoji="1" lang="zh-TW" altLang="en-US" sz="2000" dirty="0">
                <a:solidFill>
                  <a:schemeClr val="tx1"/>
                </a:solidFill>
                <a:latin typeface="標楷體" pitchFamily="65" charset="-120"/>
                <a:ea typeface="標楷體" pitchFamily="65" charset="-120"/>
              </a:rPr>
              <a:t>為 </a:t>
            </a:r>
            <a:r>
              <a:rPr kumimoji="1" lang="en-US" altLang="zh-TW" sz="2000" dirty="0">
                <a:solidFill>
                  <a:schemeClr val="tx1"/>
                </a:solidFill>
                <a:latin typeface="標楷體" pitchFamily="65" charset="-120"/>
                <a:ea typeface="標楷體" pitchFamily="65" charset="-120"/>
              </a:rPr>
              <a:t>iPhone X </a:t>
            </a:r>
            <a:r>
              <a:rPr kumimoji="1" lang="zh-TW" altLang="en-US" sz="2000" dirty="0">
                <a:solidFill>
                  <a:schemeClr val="tx1"/>
                </a:solidFill>
                <a:latin typeface="標楷體" pitchFamily="65" charset="-120"/>
                <a:ea typeface="標楷體" pitchFamily="65" charset="-120"/>
              </a:rPr>
              <a:t>手機硬體成本分析，請配合圖</a:t>
            </a:r>
            <a:r>
              <a:rPr kumimoji="1" lang="en-US" altLang="zh-TW" sz="2000" dirty="0">
                <a:solidFill>
                  <a:schemeClr val="tx1"/>
                </a:solidFill>
                <a:latin typeface="標楷體" pitchFamily="65" charset="-120"/>
                <a:ea typeface="標楷體" pitchFamily="65" charset="-120"/>
              </a:rPr>
              <a:t>1 iPhone </a:t>
            </a:r>
            <a:r>
              <a:rPr kumimoji="1" lang="zh-TW" altLang="en-US" sz="2000" dirty="0">
                <a:solidFill>
                  <a:schemeClr val="tx1"/>
                </a:solidFill>
                <a:latin typeface="標楷體" pitchFamily="65" charset="-120"/>
                <a:ea typeface="標楷體" pitchFamily="65" charset="-120"/>
              </a:rPr>
              <a:t>供應鏈廠商，回答下列問題：</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(2)</a:t>
            </a:r>
            <a:r>
              <a:rPr kumimoji="1" lang="zh-TW" altLang="en-US" sz="2000" dirty="0">
                <a:solidFill>
                  <a:schemeClr val="tx1"/>
                </a:solidFill>
                <a:latin typeface="標楷體" pitchFamily="65" charset="-120"/>
                <a:ea typeface="標楷體" pitchFamily="65" charset="-120"/>
              </a:rPr>
              <a:t>下圖為微笑曲線，關於 </a:t>
            </a:r>
            <a:r>
              <a:rPr kumimoji="1" lang="en-US" altLang="zh-TW" sz="2000" dirty="0">
                <a:solidFill>
                  <a:schemeClr val="tx1"/>
                </a:solidFill>
                <a:latin typeface="標楷體" pitchFamily="65" charset="-120"/>
                <a:ea typeface="標楷體" pitchFamily="65" charset="-120"/>
              </a:rPr>
              <a:t>iPhone </a:t>
            </a:r>
            <a:r>
              <a:rPr kumimoji="1" lang="zh-TW" altLang="en-US" sz="2000" dirty="0">
                <a:solidFill>
                  <a:schemeClr val="tx1"/>
                </a:solidFill>
                <a:latin typeface="標楷體" pitchFamily="65" charset="-120"/>
                <a:ea typeface="標楷體" pitchFamily="65" charset="-120"/>
              </a:rPr>
              <a:t>產業鏈角色分析，下列何者正確？</a:t>
            </a:r>
          </a:p>
          <a:p>
            <a:r>
              <a:rPr kumimoji="1" lang="en-US" altLang="zh-TW" sz="2000" dirty="0">
                <a:solidFill>
                  <a:schemeClr val="tx1"/>
                </a:solidFill>
                <a:latin typeface="標楷體" pitchFamily="65" charset="-120"/>
                <a:ea typeface="標楷體" pitchFamily="65" charset="-120"/>
              </a:rPr>
              <a:t>(A)</a:t>
            </a:r>
            <a:r>
              <a:rPr kumimoji="1" lang="zh-TW" altLang="en-US" sz="2000" dirty="0">
                <a:solidFill>
                  <a:schemeClr val="tx1"/>
                </a:solidFill>
                <a:latin typeface="標楷體" pitchFamily="65" charset="-120"/>
                <a:ea typeface="標楷體" pitchFamily="65" charset="-120"/>
              </a:rPr>
              <a:t>    的產業鏈角色位在右圖中的乙與丙</a:t>
            </a:r>
          </a:p>
          <a:p>
            <a:r>
              <a:rPr kumimoji="1" lang="en-US" altLang="zh-TW" sz="2000" dirty="0">
                <a:solidFill>
                  <a:schemeClr val="tx1"/>
                </a:solidFill>
                <a:latin typeface="標楷體" pitchFamily="65" charset="-120"/>
                <a:ea typeface="標楷體" pitchFamily="65" charset="-120"/>
              </a:rPr>
              <a:t>(B)</a:t>
            </a:r>
            <a:r>
              <a:rPr kumimoji="1" lang="zh-TW" altLang="en-US" sz="2000" dirty="0">
                <a:solidFill>
                  <a:schemeClr val="tx1"/>
                </a:solidFill>
                <a:latin typeface="標楷體" pitchFamily="65" charset="-120"/>
                <a:ea typeface="標楷體" pitchFamily="65" charset="-120"/>
              </a:rPr>
              <a:t>         的產業鏈角色位在右圖中的甲</a:t>
            </a:r>
          </a:p>
          <a:p>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(D)</a:t>
            </a:r>
            <a:r>
              <a:rPr kumimoji="1" lang="zh-TW" altLang="en-US" sz="2000" dirty="0">
                <a:solidFill>
                  <a:schemeClr val="tx1"/>
                </a:solidFill>
                <a:latin typeface="標楷體" pitchFamily="65" charset="-120"/>
                <a:ea typeface="標楷體" pitchFamily="65" charset="-120"/>
              </a:rPr>
              <a:t>        屬於低階零件製造及組裝勞力的產業鏈角色</a:t>
            </a:r>
            <a:endParaRPr kumimoji="1" lang="en-US" altLang="zh-TW"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1"/>
          <p:cNvSpPr>
            <a:spLocks noChangeArrowheads="1"/>
          </p:cNvSpPr>
          <p:nvPr/>
        </p:nvSpPr>
        <p:spPr bwMode="auto">
          <a:xfrm>
            <a:off x="107504" y="5992997"/>
            <a:ext cx="77154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kern="1200" dirty="0">
                <a:solidFill>
                  <a:srgbClr val="FF0000"/>
                </a:solidFill>
                <a:latin typeface="標楷體" pitchFamily="65" charset="-120"/>
                <a:ea typeface="標楷體" pitchFamily="65" charset="-120"/>
                <a:cs typeface="Times New Roman" pitchFamily="18" charset="0"/>
              </a:rPr>
              <a:t>(2)(C)</a:t>
            </a:r>
            <a:r>
              <a:rPr lang="zh-TW" altLang="en-US" kern="1200" dirty="0">
                <a:solidFill>
                  <a:srgbClr val="FF0000"/>
                </a:solidFill>
                <a:latin typeface="標楷體" pitchFamily="65" charset="-120"/>
                <a:ea typeface="標楷體" pitchFamily="65" charset="-120"/>
                <a:cs typeface="Times New Roman" pitchFamily="18" charset="0"/>
              </a:rPr>
              <a:t>高通（</a:t>
            </a:r>
            <a:r>
              <a:rPr lang="en-US" altLang="zh-TW" kern="1200" dirty="0">
                <a:solidFill>
                  <a:srgbClr val="FF0000"/>
                </a:solidFill>
                <a:latin typeface="標楷體" pitchFamily="65" charset="-120"/>
                <a:ea typeface="標楷體" pitchFamily="65" charset="-120"/>
                <a:cs typeface="Times New Roman" pitchFamily="18" charset="0"/>
              </a:rPr>
              <a:t>Qualcomm</a:t>
            </a:r>
            <a:r>
              <a:rPr lang="zh-TW" altLang="en-US" kern="1200" dirty="0">
                <a:solidFill>
                  <a:srgbClr val="FF0000"/>
                </a:solidFill>
                <a:latin typeface="標楷體" pitchFamily="65" charset="-120"/>
                <a:ea typeface="標楷體" pitchFamily="65" charset="-120"/>
                <a:cs typeface="Times New Roman" pitchFamily="18" charset="0"/>
              </a:rPr>
              <a:t>）掌有晶片生產的核心技術，因此擁有大量行動通訊專利。</a:t>
            </a:r>
            <a:r>
              <a:rPr lang="en-US" altLang="zh-TW" kern="1200" dirty="0">
                <a:solidFill>
                  <a:srgbClr val="FF0000"/>
                </a:solidFill>
                <a:latin typeface="標楷體" pitchFamily="65" charset="-120"/>
                <a:ea typeface="標楷體" pitchFamily="65" charset="-120"/>
                <a:cs typeface="Times New Roman" pitchFamily="18" charset="0"/>
              </a:rPr>
              <a:t>(A)</a:t>
            </a:r>
            <a:r>
              <a:rPr lang="zh-TW" altLang="en-US" kern="1200" dirty="0">
                <a:solidFill>
                  <a:srgbClr val="FF0000"/>
                </a:solidFill>
                <a:latin typeface="標楷體" pitchFamily="65" charset="-120"/>
                <a:ea typeface="標楷體" pitchFamily="65" charset="-120"/>
                <a:cs typeface="Times New Roman" pitchFamily="18" charset="0"/>
              </a:rPr>
              <a:t>蘋果掌握研發、廣告與銷售，分別屬於微笑曲線中的甲、丙位置。</a:t>
            </a:r>
            <a:r>
              <a:rPr lang="en-US" altLang="zh-TW" kern="1200" dirty="0">
                <a:solidFill>
                  <a:srgbClr val="FF0000"/>
                </a:solidFill>
                <a:latin typeface="標楷體" pitchFamily="65" charset="-120"/>
                <a:ea typeface="標楷體" pitchFamily="65" charset="-120"/>
                <a:cs typeface="Times New Roman" pitchFamily="18" charset="0"/>
              </a:rPr>
              <a:t>(B)</a:t>
            </a:r>
            <a:r>
              <a:rPr lang="zh-TW" altLang="en-US" kern="1200" dirty="0">
                <a:solidFill>
                  <a:srgbClr val="FF0000"/>
                </a:solidFill>
                <a:latin typeface="標楷體" pitchFamily="65" charset="-120"/>
                <a:ea typeface="標楷體" pitchFamily="65" charset="-120"/>
                <a:cs typeface="Times New Roman" pitchFamily="18" charset="0"/>
              </a:rPr>
              <a:t>歌爾聲學（</a:t>
            </a:r>
            <a:r>
              <a:rPr lang="en-US" altLang="zh-TW" kern="1200" dirty="0" err="1">
                <a:solidFill>
                  <a:srgbClr val="FF0000"/>
                </a:solidFill>
                <a:latin typeface="標楷體" pitchFamily="65" charset="-120"/>
                <a:ea typeface="標楷體" pitchFamily="65" charset="-120"/>
                <a:cs typeface="Times New Roman" pitchFamily="18" charset="0"/>
              </a:rPr>
              <a:t>Goertek</a:t>
            </a:r>
            <a:r>
              <a:rPr lang="zh-TW" altLang="en-US" kern="1200" dirty="0">
                <a:solidFill>
                  <a:srgbClr val="FF0000"/>
                </a:solidFill>
                <a:latin typeface="標楷體" pitchFamily="65" charset="-120"/>
                <a:ea typeface="標楷體" pitchFamily="65" charset="-120"/>
                <a:cs typeface="Times New Roman" pitchFamily="18" charset="0"/>
              </a:rPr>
              <a:t>）屬於低階零件製造及組裝勞力，位於微笑曲線中乙的位置。</a:t>
            </a:r>
            <a:r>
              <a:rPr lang="en-US" altLang="zh-TW" kern="1200" dirty="0">
                <a:solidFill>
                  <a:srgbClr val="FF0000"/>
                </a:solidFill>
                <a:latin typeface="標楷體" pitchFamily="65" charset="-120"/>
                <a:ea typeface="標楷體" pitchFamily="65" charset="-120"/>
                <a:cs typeface="Times New Roman" pitchFamily="18" charset="0"/>
              </a:rPr>
              <a:t>(D)</a:t>
            </a:r>
            <a:r>
              <a:rPr lang="zh-TW" altLang="en-US" kern="1200" dirty="0">
                <a:solidFill>
                  <a:srgbClr val="FF0000"/>
                </a:solidFill>
                <a:latin typeface="標楷體" pitchFamily="65" charset="-120"/>
                <a:ea typeface="標楷體" pitchFamily="65" charset="-120"/>
                <a:cs typeface="Times New Roman" pitchFamily="18" charset="0"/>
              </a:rPr>
              <a:t>台積電（</a:t>
            </a:r>
            <a:r>
              <a:rPr lang="en-US" altLang="zh-TW" kern="1200" dirty="0" err="1">
                <a:solidFill>
                  <a:srgbClr val="FF0000"/>
                </a:solidFill>
                <a:latin typeface="標楷體" pitchFamily="65" charset="-120"/>
                <a:ea typeface="標楷體" pitchFamily="65" charset="-120"/>
                <a:cs typeface="Times New Roman" pitchFamily="18" charset="0"/>
              </a:rPr>
              <a:t>tsmc</a:t>
            </a:r>
            <a:r>
              <a:rPr lang="zh-TW" altLang="en-US" kern="1200" dirty="0">
                <a:solidFill>
                  <a:srgbClr val="FF0000"/>
                </a:solidFill>
                <a:latin typeface="標楷體" pitchFamily="65" charset="-120"/>
                <a:ea typeface="標楷體" pitchFamily="65" charset="-120"/>
                <a:cs typeface="Times New Roman" pitchFamily="18" charset="0"/>
              </a:rPr>
              <a:t>）屬於高階零件及製程研發。</a:t>
            </a:r>
          </a:p>
        </p:txBody>
      </p:sp>
      <p:sp>
        <p:nvSpPr>
          <p:cNvPr id="11" name="Text Box 4"/>
          <p:cNvSpPr txBox="1">
            <a:spLocks noChangeArrowheads="1"/>
          </p:cNvSpPr>
          <p:nvPr/>
        </p:nvSpPr>
        <p:spPr bwMode="auto">
          <a:xfrm>
            <a:off x="349655" y="2898817"/>
            <a:ext cx="47984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000" dirty="0">
                <a:latin typeface="標楷體" pitchFamily="65" charset="-120"/>
              </a:rPr>
              <a:t>(C)</a:t>
            </a:r>
            <a:r>
              <a:rPr lang="zh-TW" altLang="en-US" sz="2000" dirty="0">
                <a:latin typeface="標楷體" pitchFamily="65" charset="-120"/>
              </a:rPr>
              <a:t>         擁 有大量行動通訊專利</a:t>
            </a:r>
          </a:p>
        </p:txBody>
      </p:sp>
      <p:pic>
        <p:nvPicPr>
          <p:cNvPr id="286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108" y="2328295"/>
            <a:ext cx="329002" cy="360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402" y="2662208"/>
            <a:ext cx="1000125" cy="29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402" y="2967552"/>
            <a:ext cx="1323975"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6402" y="3271838"/>
            <a:ext cx="828675"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67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347" y="4509120"/>
            <a:ext cx="2022234" cy="1203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5903" y="3624250"/>
            <a:ext cx="4439386" cy="2368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8264" y="2420888"/>
            <a:ext cx="1749281" cy="3643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32808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ox(in)">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CEA30D-BE8C-41A1-8815-385BBFF2D858}"/>
              </a:ext>
            </a:extLst>
          </p:cNvPr>
          <p:cNvSpPr>
            <a:spLocks noGrp="1"/>
          </p:cNvSpPr>
          <p:nvPr>
            <p:ph type="title"/>
          </p:nvPr>
        </p:nvSpPr>
        <p:spPr/>
        <p:txBody>
          <a:bodyPr/>
          <a:lstStyle/>
          <a:p>
            <a:endParaRPr lang="zh-TW" altLang="en-US"/>
          </a:p>
        </p:txBody>
      </p:sp>
      <p:sp>
        <p:nvSpPr>
          <p:cNvPr id="3" name="文字版面配置區 2">
            <a:extLst>
              <a:ext uri="{FF2B5EF4-FFF2-40B4-BE49-F238E27FC236}">
                <a16:creationId xmlns:a16="http://schemas.microsoft.com/office/drawing/2014/main" id="{E4FCF749-893C-400A-AD06-4E86C7814CF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0F387C84-72FB-4E6C-A835-7F3D8888C28E}"/>
              </a:ext>
            </a:extLst>
          </p:cNvPr>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5886190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投影片編號版面配置區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FDED1440-0173-400D-A951-D5BE6FA714DF}" type="slidenum">
              <a:rPr lang="en-US" altLang="zh-TW" sz="1400"/>
              <a:pPr>
                <a:spcBef>
                  <a:spcPct val="0"/>
                </a:spcBef>
                <a:buFontTx/>
                <a:buNone/>
              </a:pPr>
              <a:t>93</a:t>
            </a:fld>
            <a:endParaRPr lang="en-US" altLang="zh-TW" sz="1400"/>
          </a:p>
        </p:txBody>
      </p:sp>
      <p:sp>
        <p:nvSpPr>
          <p:cNvPr id="68611" name="Rectangle 2"/>
          <p:cNvSpPr>
            <a:spLocks noGrp="1" noChangeArrowheads="1"/>
          </p:cNvSpPr>
          <p:nvPr>
            <p:ph type="title"/>
          </p:nvPr>
        </p:nvSpPr>
        <p:spPr>
          <a:xfrm>
            <a:off x="169070" y="268331"/>
            <a:ext cx="8805862" cy="1143000"/>
          </a:xfrm>
        </p:spPr>
        <p:txBody>
          <a:bodyPr/>
          <a:lstStyle/>
          <a:p>
            <a:r>
              <a:rPr lang="en-US" altLang="zh-TW" dirty="0">
                <a:solidFill>
                  <a:srgbClr val="FF00FF"/>
                </a:solidFill>
              </a:rPr>
              <a:t>(</a:t>
            </a:r>
            <a:r>
              <a:rPr lang="zh-TW" altLang="en-US" dirty="0">
                <a:solidFill>
                  <a:srgbClr val="FF00FF"/>
                </a:solidFill>
              </a:rPr>
              <a:t>補充</a:t>
            </a:r>
            <a:r>
              <a:rPr lang="en-US" altLang="zh-TW" dirty="0">
                <a:solidFill>
                  <a:srgbClr val="FF00FF"/>
                </a:solidFill>
              </a:rPr>
              <a:t>2)</a:t>
            </a:r>
            <a:br>
              <a:rPr lang="en-US" altLang="zh-TW" dirty="0">
                <a:solidFill>
                  <a:srgbClr val="FF00FF"/>
                </a:solidFill>
              </a:rPr>
            </a:br>
            <a:r>
              <a:rPr lang="zh-TW" altLang="en-US" dirty="0"/>
              <a:t>季風氣候</a:t>
            </a:r>
            <a:r>
              <a:rPr lang="en-US" altLang="zh-TW" dirty="0"/>
              <a:t>──</a:t>
            </a:r>
            <a:r>
              <a:rPr lang="zh-TW" altLang="en-US" b="1" dirty="0">
                <a:solidFill>
                  <a:srgbClr val="FF0000"/>
                </a:solidFill>
              </a:rPr>
              <a:t>風向隨季節</a:t>
            </a:r>
            <a:r>
              <a:rPr lang="zh-TW" altLang="en-US" b="1" dirty="0">
                <a:solidFill>
                  <a:schemeClr val="tx1"/>
                </a:solidFill>
              </a:rPr>
              <a:t>交替</a:t>
            </a:r>
            <a:r>
              <a:rPr lang="zh-TW" altLang="en-US" b="1" dirty="0">
                <a:solidFill>
                  <a:srgbClr val="FF0000"/>
                </a:solidFill>
              </a:rPr>
              <a:t>變化</a:t>
            </a:r>
            <a:endParaRPr lang="zh-TW" altLang="en-US" dirty="0"/>
          </a:p>
        </p:txBody>
      </p:sp>
      <p:graphicFrame>
        <p:nvGraphicFramePr>
          <p:cNvPr id="68613" name="Object 4"/>
          <p:cNvGraphicFramePr>
            <a:graphicFrameLocks noGrp="1" noChangeAspect="1"/>
          </p:cNvGraphicFramePr>
          <p:nvPr>
            <p:ph sz="half" idx="2"/>
          </p:nvPr>
        </p:nvGraphicFramePr>
        <p:xfrm>
          <a:off x="-1189038" y="2133600"/>
          <a:ext cx="10983913" cy="4297363"/>
        </p:xfrm>
        <a:graphic>
          <a:graphicData uri="http://schemas.openxmlformats.org/presentationml/2006/ole">
            <mc:AlternateContent xmlns:mc="http://schemas.openxmlformats.org/markup-compatibility/2006">
              <mc:Choice xmlns:v="urn:schemas-microsoft-com:vml" Requires="v">
                <p:oleObj name="Document" r:id="rId3" imgW="5356322" imgH="2101112" progId="Word.Document.8">
                  <p:embed/>
                </p:oleObj>
              </mc:Choice>
              <mc:Fallback>
                <p:oleObj name="Document" r:id="rId3" imgW="5356322" imgH="2101112" progId="Word.Document.8">
                  <p:embed/>
                  <p:pic>
                    <p:nvPicPr>
                      <p:cNvPr id="68613" name="Object 4"/>
                      <p:cNvPicPr>
                        <a:picLocks noChangeAspect="1" noChangeArrowheads="1"/>
                      </p:cNvPicPr>
                      <p:nvPr/>
                    </p:nvPicPr>
                    <p:blipFill>
                      <a:blip r:embed="rId4"/>
                      <a:srcRect/>
                      <a:stretch>
                        <a:fillRect/>
                      </a:stretch>
                    </p:blipFill>
                    <p:spPr bwMode="auto">
                      <a:xfrm>
                        <a:off x="-1189038" y="2133600"/>
                        <a:ext cx="10983913" cy="429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1" y="1700809"/>
            <a:ext cx="4572000"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64241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投影片編號版面配置區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FDED1440-0173-400D-A951-D5BE6FA714DF}" type="slidenum">
              <a:rPr lang="en-US" altLang="zh-TW" sz="1400"/>
              <a:pPr>
                <a:spcBef>
                  <a:spcPct val="0"/>
                </a:spcBef>
                <a:buFontTx/>
                <a:buNone/>
              </a:pPr>
              <a:t>94</a:t>
            </a:fld>
            <a:endParaRPr lang="en-US" altLang="zh-TW" sz="1400"/>
          </a:p>
        </p:txBody>
      </p:sp>
      <p:sp>
        <p:nvSpPr>
          <p:cNvPr id="68611" name="Rectangle 2"/>
          <p:cNvSpPr>
            <a:spLocks noGrp="1" noChangeArrowheads="1"/>
          </p:cNvSpPr>
          <p:nvPr>
            <p:ph type="title"/>
          </p:nvPr>
        </p:nvSpPr>
        <p:spPr>
          <a:xfrm>
            <a:off x="169070" y="268331"/>
            <a:ext cx="8805862" cy="1143000"/>
          </a:xfrm>
        </p:spPr>
        <p:txBody>
          <a:bodyPr/>
          <a:lstStyle/>
          <a:p>
            <a:r>
              <a:rPr lang="en-US" altLang="zh-TW" dirty="0">
                <a:solidFill>
                  <a:srgbClr val="FF00FF"/>
                </a:solidFill>
              </a:rPr>
              <a:t>(</a:t>
            </a:r>
            <a:r>
              <a:rPr lang="zh-TW" altLang="en-US" dirty="0">
                <a:solidFill>
                  <a:srgbClr val="FF00FF"/>
                </a:solidFill>
              </a:rPr>
              <a:t>補充</a:t>
            </a:r>
            <a:r>
              <a:rPr lang="en-US" altLang="zh-TW" dirty="0">
                <a:solidFill>
                  <a:srgbClr val="FF00FF"/>
                </a:solidFill>
              </a:rPr>
              <a:t>2)</a:t>
            </a:r>
            <a:br>
              <a:rPr lang="en-US" altLang="zh-TW" dirty="0">
                <a:solidFill>
                  <a:srgbClr val="FF00FF"/>
                </a:solidFill>
              </a:rPr>
            </a:br>
            <a:r>
              <a:rPr lang="zh-TW" altLang="en-US" dirty="0"/>
              <a:t>季風氣候</a:t>
            </a:r>
            <a:r>
              <a:rPr lang="en-US" altLang="zh-TW" dirty="0"/>
              <a:t>──</a:t>
            </a:r>
            <a:r>
              <a:rPr lang="zh-TW" altLang="en-US" b="1" dirty="0">
                <a:solidFill>
                  <a:srgbClr val="FF0000"/>
                </a:solidFill>
              </a:rPr>
              <a:t>風向隨季節</a:t>
            </a:r>
            <a:r>
              <a:rPr lang="zh-TW" altLang="en-US" b="1" dirty="0">
                <a:solidFill>
                  <a:schemeClr val="tx1"/>
                </a:solidFill>
              </a:rPr>
              <a:t>交替</a:t>
            </a:r>
            <a:r>
              <a:rPr lang="zh-TW" altLang="en-US" b="1" dirty="0">
                <a:solidFill>
                  <a:srgbClr val="FF0000"/>
                </a:solidFill>
              </a:rPr>
              <a:t>變化</a:t>
            </a:r>
            <a:endParaRPr lang="zh-TW" altLang="en-US" dirty="0"/>
          </a:p>
        </p:txBody>
      </p:sp>
      <p:graphicFrame>
        <p:nvGraphicFramePr>
          <p:cNvPr id="68613" name="Object 4"/>
          <p:cNvGraphicFramePr>
            <a:graphicFrameLocks noGrp="1" noChangeAspect="1"/>
          </p:cNvGraphicFramePr>
          <p:nvPr>
            <p:ph sz="half" idx="2"/>
          </p:nvPr>
        </p:nvGraphicFramePr>
        <p:xfrm>
          <a:off x="-1188640" y="1764797"/>
          <a:ext cx="9289032" cy="4935807"/>
        </p:xfrm>
        <a:graphic>
          <a:graphicData uri="http://schemas.openxmlformats.org/presentationml/2006/ole">
            <mc:AlternateContent xmlns:mc="http://schemas.openxmlformats.org/markup-compatibility/2006">
              <mc:Choice xmlns:v="urn:schemas-microsoft-com:vml" Requires="v">
                <p:oleObj name="Document" r:id="rId3" imgW="3071984" imgH="2101984" progId="Word.Document.8">
                  <p:embed/>
                </p:oleObj>
              </mc:Choice>
              <mc:Fallback>
                <p:oleObj name="Document" r:id="rId3" imgW="3071984" imgH="2101984" progId="Word.Document.8">
                  <p:embed/>
                  <p:pic>
                    <p:nvPicPr>
                      <p:cNvPr id="68613" name="Object 4"/>
                      <p:cNvPicPr>
                        <a:picLocks noChangeAspect="1" noChangeArrowheads="1"/>
                      </p:cNvPicPr>
                      <p:nvPr/>
                    </p:nvPicPr>
                    <p:blipFill>
                      <a:blip r:embed="rId4"/>
                      <a:srcRect/>
                      <a:stretch>
                        <a:fillRect/>
                      </a:stretch>
                    </p:blipFill>
                    <p:spPr bwMode="auto">
                      <a:xfrm>
                        <a:off x="-1188640" y="1764797"/>
                        <a:ext cx="9289032" cy="493580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774482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3CA15-EEDA-4E0A-B4E7-FBF050CDE9A7}"/>
              </a:ext>
            </a:extLst>
          </p:cNvPr>
          <p:cNvSpPr>
            <a:spLocks noGrp="1"/>
          </p:cNvSpPr>
          <p:nvPr>
            <p:ph type="title"/>
          </p:nvPr>
        </p:nvSpPr>
        <p:spPr/>
        <p:txBody>
          <a:bodyPr/>
          <a:lstStyle/>
          <a:p>
            <a:endParaRPr lang="zh-TW" altLang="en-US"/>
          </a:p>
        </p:txBody>
      </p:sp>
      <p:sp>
        <p:nvSpPr>
          <p:cNvPr id="3" name="文字版面配置區 2">
            <a:extLst>
              <a:ext uri="{FF2B5EF4-FFF2-40B4-BE49-F238E27FC236}">
                <a16:creationId xmlns:a16="http://schemas.microsoft.com/office/drawing/2014/main" id="{45F6F5E1-C4C6-4E9F-8FEB-2B5A157ED16B}"/>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FD9EEBF0-3384-429D-90D1-FBA061CD8B4C}"/>
              </a:ext>
            </a:extLst>
          </p:cNvPr>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95</a:t>
            </a:fld>
            <a:endParaRPr lang="zh-TW" sz="1400">
              <a:solidFill>
                <a:schemeClr val="dk1"/>
              </a:solidFill>
              <a:latin typeface="Arial"/>
              <a:ea typeface="Arial"/>
              <a:cs typeface="Arial"/>
              <a:sym typeface="Arial"/>
            </a:endParaRPr>
          </a:p>
        </p:txBody>
      </p:sp>
      <p:pic>
        <p:nvPicPr>
          <p:cNvPr id="5" name="Picture 2">
            <a:extLst>
              <a:ext uri="{FF2B5EF4-FFF2-40B4-BE49-F238E27FC236}">
                <a16:creationId xmlns:a16="http://schemas.microsoft.com/office/drawing/2014/main" id="{CA781FF4-094A-48AF-9AA1-E0EFD6507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21888" y="-387424"/>
            <a:ext cx="21098344" cy="12970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11553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39937" y="4905711"/>
            <a:ext cx="7772400" cy="1362075"/>
          </a:xfrm>
        </p:spPr>
        <p:txBody>
          <a:bodyPr/>
          <a:lstStyle/>
          <a:p>
            <a:endParaRPr lang="zh-TW" altLang="en-US"/>
          </a:p>
        </p:txBody>
      </p:sp>
      <p:sp>
        <p:nvSpPr>
          <p:cNvPr id="3" name="文字版面配置區 2"/>
          <p:cNvSpPr>
            <a:spLocks noGrp="1"/>
          </p:cNvSpPr>
          <p:nvPr>
            <p:ph type="body" idx="1"/>
          </p:nvPr>
        </p:nvSpPr>
        <p:spPr>
          <a:xfrm>
            <a:off x="5139937" y="3405524"/>
            <a:ext cx="7772400" cy="1500187"/>
          </a:xfrm>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5639418" y="430560"/>
            <a:ext cx="8149251" cy="43204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4.</a:t>
            </a:r>
            <a:r>
              <a:rPr lang="zh-TW" altLang="en-US" dirty="0">
                <a:solidFill>
                  <a:srgbClr val="FF0000"/>
                </a:solidFill>
                <a:latin typeface="標楷體" pitchFamily="65" charset="-120"/>
                <a:ea typeface="標楷體" pitchFamily="65" charset="-120"/>
              </a:rPr>
              <a:t>臺灣、南韓</a:t>
            </a:r>
            <a:r>
              <a:rPr lang="zh-TW" altLang="en-US" dirty="0">
                <a:latin typeface="標楷體" pitchFamily="65" charset="-120"/>
                <a:ea typeface="標楷體" pitchFamily="65" charset="-120"/>
              </a:rPr>
              <a:t>經濟</a:t>
            </a:r>
            <a:r>
              <a:rPr lang="zh-TW" altLang="en-US" dirty="0">
                <a:solidFill>
                  <a:srgbClr val="FF0000"/>
                </a:solidFill>
                <a:latin typeface="標楷體" pitchFamily="65" charset="-120"/>
                <a:ea typeface="標楷體" pitchFamily="65" charset="-120"/>
              </a:rPr>
              <a:t>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勞力密集型產業轉移。</a:t>
            </a:r>
          </a:p>
        </p:txBody>
      </p:sp>
      <p:graphicFrame>
        <p:nvGraphicFramePr>
          <p:cNvPr id="9" name="Group 47"/>
          <p:cNvGraphicFramePr>
            <a:graphicFrameLocks noGrp="1"/>
          </p:cNvGraphicFramePr>
          <p:nvPr/>
        </p:nvGraphicFramePr>
        <p:xfrm>
          <a:off x="4597136" y="1059025"/>
          <a:ext cx="8856984" cy="3168650"/>
        </p:xfrm>
        <a:graphic>
          <a:graphicData uri="http://schemas.openxmlformats.org/drawingml/2006/table">
            <a:tbl>
              <a:tblPr/>
              <a:tblGrid>
                <a:gridCol w="1728192">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4103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23430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1960 </a:t>
                      </a:r>
                      <a:r>
                        <a:rPr lang="zh-TW" altLang="en-US" sz="20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（接受日本勞力密集型產業</a:t>
                      </a:r>
                      <a:r>
                        <a:rPr lang="zh-TW" altLang="en-US" sz="2000" b="0" i="0" u="none" strike="noStrike" cap="none" dirty="0">
                          <a:solidFill>
                            <a:schemeClr val="tx1"/>
                          </a:solidFill>
                          <a:latin typeface="標楷體" pitchFamily="65" charset="-120"/>
                          <a:ea typeface="標楷體" pitchFamily="65" charset="-120"/>
                          <a:cs typeface="Arial"/>
                          <a:sym typeface="Arial"/>
                        </a:rPr>
                        <a:t>空間移轉）</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重點產業：勞力密集型產業</a:t>
                      </a:r>
                    </a:p>
                    <a:p>
                      <a:r>
                        <a:rPr lang="zh-TW" altLang="en-US" sz="2000" b="0" i="0" u="none" strike="noStrike" cap="none" dirty="0">
                          <a:solidFill>
                            <a:schemeClr val="tx1"/>
                          </a:solidFill>
                          <a:latin typeface="標楷體" pitchFamily="65" charset="-120"/>
                          <a:ea typeface="標楷體" pitchFamily="65" charset="-120"/>
                          <a:cs typeface="Arial"/>
                          <a:sym typeface="Arial"/>
                        </a:rPr>
                        <a:t>承接日本外移的勞力密集產業，臺灣、南韓政府提出</a:t>
                      </a:r>
                      <a:r>
                        <a:rPr lang="zh-TW" altLang="en-US" sz="2000" b="0" i="0" u="none" strike="noStrike" cap="none" dirty="0">
                          <a:solidFill>
                            <a:srgbClr val="FF0000"/>
                          </a:solidFill>
                          <a:latin typeface="標楷體" pitchFamily="65" charset="-120"/>
                          <a:ea typeface="標楷體" pitchFamily="65" charset="-120"/>
                          <a:cs typeface="Arial"/>
                          <a:sym typeface="Arial"/>
                        </a:rPr>
                        <a:t>優惠政策吸引外資</a:t>
                      </a:r>
                      <a:r>
                        <a:rPr lang="zh-TW" altLang="en-US" sz="2000" b="0" i="0" u="none" strike="noStrike" cap="none" dirty="0">
                          <a:solidFill>
                            <a:schemeClr val="tx1"/>
                          </a:solidFill>
                          <a:latin typeface="標楷體" pitchFamily="65" charset="-120"/>
                          <a:ea typeface="標楷體" pitchFamily="65" charset="-120"/>
                          <a:cs typeface="Arial"/>
                          <a:sym typeface="Arial"/>
                        </a:rPr>
                        <a:t>，使兩國得以</a:t>
                      </a:r>
                      <a:r>
                        <a:rPr lang="zh-TW" altLang="en-US" sz="2000" b="0" i="0" u="none" strike="noStrike" cap="none" dirty="0">
                          <a:solidFill>
                            <a:srgbClr val="FF0000"/>
                          </a:solidFill>
                          <a:latin typeface="標楷體" pitchFamily="65" charset="-120"/>
                          <a:ea typeface="標楷體" pitchFamily="65" charset="-120"/>
                          <a:cs typeface="Arial"/>
                          <a:sym typeface="Arial"/>
                        </a:rPr>
                        <a:t>開始大量出口</a:t>
                      </a:r>
                      <a:r>
                        <a:rPr lang="zh-TW" altLang="en-US" sz="2000" b="0" i="0" u="none" strike="noStrike" cap="none" dirty="0">
                          <a:solidFill>
                            <a:schemeClr val="tx1"/>
                          </a:solidFill>
                          <a:latin typeface="標楷體" pitchFamily="65" charset="-120"/>
                          <a:ea typeface="標楷體" pitchFamily="65" charset="-120"/>
                          <a:cs typeface="Arial"/>
                          <a:sym typeface="Arial"/>
                        </a:rPr>
                        <a:t>換匯，</a:t>
                      </a:r>
                      <a:r>
                        <a:rPr lang="zh-TW" altLang="en-US" sz="2000" b="0" i="0" u="none" strike="noStrike" cap="none" dirty="0">
                          <a:solidFill>
                            <a:srgbClr val="FF0000"/>
                          </a:solidFill>
                          <a:latin typeface="標楷體" pitchFamily="65" charset="-120"/>
                          <a:ea typeface="標楷體" pitchFamily="65" charset="-120"/>
                          <a:cs typeface="Arial"/>
                          <a:sym typeface="Arial"/>
                        </a:rPr>
                        <a:t>經濟開始快速成長</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1970 </a:t>
                      </a:r>
                      <a:r>
                        <a:rPr lang="zh-TW" altLang="en-US" sz="20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（石油危機</a:t>
                      </a:r>
                      <a:r>
                        <a:rPr lang="zh-TW" altLang="en-US" sz="2000" b="0" i="0" u="none" strike="noStrike" cap="none" dirty="0">
                          <a:solidFill>
                            <a:schemeClr val="tx1"/>
                          </a:solidFill>
                          <a:latin typeface="標楷體" pitchFamily="65" charset="-120"/>
                          <a:ea typeface="標楷體" pitchFamily="65" charset="-120"/>
                          <a:cs typeface="Arial"/>
                          <a:sym typeface="Arial"/>
                        </a:rPr>
                        <a:t>：國際原油價格大漲，使全球經濟重創）</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重點產業：</a:t>
                      </a:r>
                      <a:r>
                        <a:rPr lang="zh-TW" altLang="en-US" sz="20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全球景氣凍結，減緩了臺灣、南韓的出口買氣，兩國</a:t>
                      </a:r>
                      <a:r>
                        <a:rPr lang="zh-TW" altLang="en-US" sz="2000" b="0" i="0" u="none" strike="noStrike" cap="none" dirty="0">
                          <a:solidFill>
                            <a:srgbClr val="FF0000"/>
                          </a:solidFill>
                          <a:latin typeface="標楷體" pitchFamily="65" charset="-120"/>
                          <a:ea typeface="標楷體" pitchFamily="65" charset="-120"/>
                          <a:cs typeface="Arial"/>
                          <a:sym typeface="Arial"/>
                        </a:rPr>
                        <a:t>承襲日本重化工業</a:t>
                      </a:r>
                      <a:r>
                        <a:rPr lang="zh-TW" altLang="en-US" sz="2000" b="0" i="0" u="none" strike="noStrike" cap="none" dirty="0">
                          <a:solidFill>
                            <a:schemeClr val="tx1"/>
                          </a:solidFill>
                          <a:latin typeface="標楷體" pitchFamily="65" charset="-120"/>
                          <a:ea typeface="標楷體" pitchFamily="65" charset="-120"/>
                          <a:cs typeface="Arial"/>
                          <a:sym typeface="Arial"/>
                        </a:rPr>
                        <a:t>並加強相關投資，</a:t>
                      </a:r>
                      <a:r>
                        <a:rPr lang="zh-TW" altLang="en-US" sz="2000" b="0" i="0" u="none" strike="noStrike" cap="none" dirty="0">
                          <a:solidFill>
                            <a:srgbClr val="FF0000"/>
                          </a:solidFill>
                          <a:latin typeface="標楷體" pitchFamily="65" charset="-120"/>
                          <a:ea typeface="標楷體" pitchFamily="65" charset="-120"/>
                          <a:cs typeface="Arial"/>
                          <a:sym typeface="Arial"/>
                        </a:rPr>
                        <a:t>讓國內生產材料得以自給</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擴大內需，刺激經濟，產業升級，鋼鐵、造船產業</a:t>
                      </a:r>
                      <a:r>
                        <a:rPr lang="zh-TW" altLang="en-US" sz="2000" b="0" i="0" u="none" strike="noStrike" cap="none" dirty="0">
                          <a:solidFill>
                            <a:srgbClr val="FF0000"/>
                          </a:solidFill>
                          <a:latin typeface="標楷體" pitchFamily="65" charset="-120"/>
                          <a:ea typeface="標楷體" pitchFamily="65" charset="-120"/>
                          <a:cs typeface="Arial"/>
                          <a:sym typeface="Arial"/>
                        </a:rPr>
                        <a:t>日漸搶食日本</a:t>
                      </a:r>
                      <a:r>
                        <a:rPr lang="zh-TW" altLang="en-US" sz="2000" b="0" i="0" u="none" strike="noStrike" cap="none" dirty="0">
                          <a:solidFill>
                            <a:schemeClr val="tx1"/>
                          </a:solidFill>
                          <a:latin typeface="標楷體" pitchFamily="65" charset="-120"/>
                          <a:ea typeface="標楷體" pitchFamily="65" charset="-120"/>
                          <a:cs typeface="Arial"/>
                          <a:sym typeface="Arial"/>
                        </a:rPr>
                        <a:t>國際</a:t>
                      </a:r>
                      <a:r>
                        <a:rPr lang="zh-TW" altLang="en-US" sz="2000" b="0" i="0" u="none" strike="noStrike" cap="none" dirty="0">
                          <a:solidFill>
                            <a:srgbClr val="FF0000"/>
                          </a:solidFill>
                          <a:latin typeface="標楷體" pitchFamily="65" charset="-120"/>
                          <a:ea typeface="標楷體" pitchFamily="65" charset="-120"/>
                          <a:cs typeface="Arial"/>
                          <a:sym typeface="Arial"/>
                        </a:rPr>
                        <a:t>出口市場</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投影片編號版面配置區 5"/>
          <p:cNvSpPr>
            <a:spLocks noGrp="1"/>
          </p:cNvSpPr>
          <p:nvPr>
            <p:ph type="sldNum" idx="12"/>
          </p:nvPr>
        </p:nvSpPr>
        <p:spPr>
          <a:xfrm>
            <a:off x="6581754" y="6487804"/>
            <a:ext cx="2289175" cy="476250"/>
          </a:xfrm>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96</a:t>
            </a:fld>
            <a:endParaRPr lang="zh-TW" sz="1400">
              <a:solidFill>
                <a:schemeClr val="dk1"/>
              </a:solidFill>
              <a:latin typeface="Arial"/>
              <a:ea typeface="Arial"/>
              <a:cs typeface="Arial"/>
              <a:sym typeface="Arial"/>
            </a:endParaRPr>
          </a:p>
        </p:txBody>
      </p:sp>
      <p:graphicFrame>
        <p:nvGraphicFramePr>
          <p:cNvPr id="8" name="表格 7"/>
          <p:cNvGraphicFramePr>
            <a:graphicFrameLocks noGrp="1"/>
          </p:cNvGraphicFramePr>
          <p:nvPr/>
        </p:nvGraphicFramePr>
        <p:xfrm>
          <a:off x="4597136" y="4215843"/>
          <a:ext cx="8856984" cy="2528193"/>
        </p:xfrm>
        <a:graphic>
          <a:graphicData uri="http://schemas.openxmlformats.org/drawingml/2006/table">
            <a:tbl>
              <a:tblPr/>
              <a:tblGrid>
                <a:gridCol w="1728192">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1342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1980 </a:t>
                      </a:r>
                      <a:r>
                        <a:rPr lang="zh-TW" altLang="en-US" sz="20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重點產業：</a:t>
                      </a:r>
                      <a:r>
                        <a:rPr lang="zh-TW" altLang="en-US" sz="2000" b="0" i="0" u="none" strike="noStrike" cap="none" dirty="0">
                          <a:solidFill>
                            <a:srgbClr val="FF0000"/>
                          </a:solidFill>
                          <a:latin typeface="標楷體" pitchFamily="65" charset="-120"/>
                          <a:ea typeface="標楷體" pitchFamily="65" charset="-120"/>
                          <a:cs typeface="Arial"/>
                          <a:sym typeface="Arial"/>
                        </a:rPr>
                        <a:t>高科技</a:t>
                      </a:r>
                      <a:r>
                        <a:rPr lang="zh-TW" altLang="en-US" sz="2000" b="0" i="0" u="none" strike="noStrike" cap="none" dirty="0">
                          <a:solidFill>
                            <a:schemeClr val="tx1"/>
                          </a:solidFill>
                          <a:latin typeface="標楷體" pitchFamily="65" charset="-120"/>
                          <a:ea typeface="標楷體" pitchFamily="65" charset="-120"/>
                          <a:cs typeface="Arial"/>
                          <a:sym typeface="Arial"/>
                        </a:rPr>
                        <a:t>產業</a:t>
                      </a:r>
                    </a:p>
                    <a:p>
                      <a:r>
                        <a:rPr lang="zh-TW" altLang="en-US" sz="2000" b="0" i="0" u="none" strike="noStrike" cap="none" dirty="0">
                          <a:solidFill>
                            <a:schemeClr val="tx1"/>
                          </a:solidFill>
                          <a:latin typeface="標楷體" pitchFamily="65" charset="-120"/>
                          <a:ea typeface="標楷體" pitchFamily="65" charset="-120"/>
                          <a:cs typeface="Arial"/>
                          <a:sym typeface="Arial"/>
                        </a:rPr>
                        <a:t>臺灣、南韓政府調整工業策略，轉而發展高科技產業：</a:t>
                      </a:r>
                    </a:p>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臺</a:t>
                      </a:r>
                      <a:r>
                        <a:rPr lang="zh-TW" altLang="en-US" sz="2000" b="0" i="0" u="none" strike="noStrike" cap="none" dirty="0">
                          <a:solidFill>
                            <a:schemeClr val="tx1"/>
                          </a:solidFill>
                          <a:latin typeface="標楷體" pitchFamily="65" charset="-120"/>
                          <a:ea typeface="標楷體" pitchFamily="65" charset="-120"/>
                          <a:cs typeface="Arial"/>
                          <a:sym typeface="Arial"/>
                        </a:rPr>
                        <a:t>灣建立</a:t>
                      </a:r>
                      <a:r>
                        <a:rPr lang="zh-TW" altLang="en-US" sz="2000" b="0" i="0" u="none" strike="noStrike" cap="none" dirty="0">
                          <a:solidFill>
                            <a:srgbClr val="FF0000"/>
                          </a:solidFill>
                          <a:latin typeface="標楷體" pitchFamily="65" charset="-120"/>
                          <a:ea typeface="標楷體" pitchFamily="65" charset="-120"/>
                          <a:cs typeface="Arial"/>
                          <a:sym typeface="Arial"/>
                        </a:rPr>
                        <a:t>科學工業園區</a:t>
                      </a:r>
                      <a:r>
                        <a:rPr lang="zh-TW" altLang="en-US" sz="2000" b="0" i="0" u="none" strike="noStrike" cap="none" dirty="0">
                          <a:solidFill>
                            <a:schemeClr val="tx1"/>
                          </a:solidFill>
                          <a:latin typeface="標楷體" pitchFamily="65" charset="-120"/>
                          <a:ea typeface="標楷體" pitchFamily="65" charset="-120"/>
                          <a:cs typeface="Arial"/>
                          <a:sym typeface="Arial"/>
                        </a:rPr>
                        <a:t>發展</a:t>
                      </a:r>
                      <a:r>
                        <a:rPr lang="zh-TW" altLang="en-US" sz="2000" b="0" i="0" u="none" strike="noStrike" cap="none" dirty="0">
                          <a:solidFill>
                            <a:srgbClr val="FF0000"/>
                          </a:solidFill>
                          <a:latin typeface="標楷體" pitchFamily="65" charset="-120"/>
                          <a:ea typeface="標楷體" pitchFamily="65" charset="-120"/>
                          <a:cs typeface="Arial"/>
                          <a:sym typeface="Arial"/>
                        </a:rPr>
                        <a:t>半導體</a:t>
                      </a:r>
                      <a:r>
                        <a:rPr lang="zh-TW" altLang="en-US" sz="2000" b="0" i="0" u="none" strike="noStrike" cap="none" dirty="0">
                          <a:solidFill>
                            <a:schemeClr val="tx1"/>
                          </a:solidFill>
                          <a:latin typeface="標楷體" pitchFamily="65" charset="-120"/>
                          <a:ea typeface="標楷體" pitchFamily="65" charset="-120"/>
                          <a:cs typeface="Arial"/>
                          <a:sym typeface="Arial"/>
                        </a:rPr>
                        <a:t>產業聚落</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rgbClr val="FF0000"/>
                          </a:solidFill>
                          <a:latin typeface="標楷體" pitchFamily="65" charset="-120"/>
                          <a:ea typeface="標楷體" pitchFamily="65" charset="-120"/>
                          <a:cs typeface="Arial"/>
                          <a:sym typeface="Arial"/>
                        </a:rPr>
                        <a:t>南韓</a:t>
                      </a:r>
                      <a:r>
                        <a:rPr lang="zh-TW" altLang="en-US" sz="2000" b="0" i="0" u="none" strike="noStrike" cap="none" dirty="0">
                          <a:solidFill>
                            <a:schemeClr val="tx1"/>
                          </a:solidFill>
                          <a:latin typeface="標楷體" pitchFamily="65" charset="-120"/>
                          <a:ea typeface="標楷體" pitchFamily="65" charset="-120"/>
                          <a:cs typeface="Arial"/>
                          <a:sym typeface="Arial"/>
                        </a:rPr>
                        <a:t>透過</a:t>
                      </a:r>
                      <a:r>
                        <a:rPr lang="zh-TW" altLang="en-US" sz="2000" b="0" i="0" u="none" strike="noStrike" cap="none" dirty="0">
                          <a:solidFill>
                            <a:srgbClr val="FF0000"/>
                          </a:solidFill>
                          <a:latin typeface="標楷體" pitchFamily="65" charset="-120"/>
                          <a:ea typeface="標楷體" pitchFamily="65" charset="-120"/>
                          <a:cs typeface="Arial"/>
                          <a:sym typeface="Arial"/>
                        </a:rPr>
                        <a:t>財閥三星集團</a:t>
                      </a:r>
                      <a:r>
                        <a:rPr lang="zh-TW" altLang="en-US" sz="2000" b="0" i="0" u="none" strike="noStrike" cap="none" dirty="0">
                          <a:solidFill>
                            <a:schemeClr val="tx1"/>
                          </a:solidFill>
                          <a:latin typeface="標楷體" pitchFamily="65" charset="-120"/>
                          <a:ea typeface="標楷體" pitchFamily="65" charset="-120"/>
                          <a:cs typeface="Arial"/>
                          <a:sym typeface="Arial"/>
                        </a:rPr>
                        <a:t>逐步展開世界</a:t>
                      </a:r>
                      <a:r>
                        <a:rPr lang="zh-TW" altLang="en-US" sz="2000" b="0" i="0" u="none" strike="noStrike" cap="none" dirty="0">
                          <a:solidFill>
                            <a:srgbClr val="FF0000"/>
                          </a:solidFill>
                          <a:latin typeface="標楷體" pitchFamily="65" charset="-120"/>
                          <a:ea typeface="標楷體" pitchFamily="65" charset="-120"/>
                          <a:cs typeface="Arial"/>
                          <a:sym typeface="Arial"/>
                        </a:rPr>
                        <a:t>電子業</a:t>
                      </a:r>
                      <a:r>
                        <a:rPr lang="zh-TW" altLang="en-US" sz="2000" b="0" i="0" u="none" strike="noStrike" cap="none" dirty="0">
                          <a:solidFill>
                            <a:schemeClr val="tx1"/>
                          </a:solidFill>
                          <a:latin typeface="標楷體" pitchFamily="65" charset="-120"/>
                          <a:ea typeface="標楷體" pitchFamily="65" charset="-120"/>
                          <a:cs typeface="Arial"/>
                          <a:sym typeface="Arial"/>
                        </a:rPr>
                        <a:t>大國的版圖</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553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2000" b="0" i="0" u="none" strike="noStrike" cap="none" dirty="0">
                          <a:solidFill>
                            <a:srgbClr val="FF0000"/>
                          </a:solidFill>
                          <a:latin typeface="標楷體" pitchFamily="65" charset="-120"/>
                          <a:ea typeface="標楷體" pitchFamily="65" charset="-120"/>
                          <a:cs typeface="Arial"/>
                          <a:sym typeface="Arial"/>
                        </a:rPr>
                        <a:t>1990 </a:t>
                      </a:r>
                      <a:r>
                        <a:rPr lang="zh-TW" altLang="en-US" sz="2000" b="0" i="0" u="none" strike="noStrike" cap="none" dirty="0">
                          <a:solidFill>
                            <a:srgbClr val="FF0000"/>
                          </a:solidFill>
                          <a:latin typeface="標楷體" pitchFamily="65" charset="-120"/>
                          <a:ea typeface="標楷體" pitchFamily="65" charset="-120"/>
                          <a:cs typeface="Arial"/>
                          <a:sym typeface="Arial"/>
                        </a:rPr>
                        <a:t>年代∼ </a:t>
                      </a:r>
                      <a:br>
                        <a:rPr lang="zh-TW" altLang="en-US" sz="2000" b="0" i="0" u="none" strike="noStrike" cap="none" dirty="0">
                          <a:solidFill>
                            <a:srgbClr val="FF0000"/>
                          </a:solidFill>
                          <a:latin typeface="標楷體" pitchFamily="65" charset="-120"/>
                          <a:ea typeface="標楷體" pitchFamily="65" charset="-120"/>
                          <a:cs typeface="Arial"/>
                          <a:sym typeface="Arial"/>
                        </a:rPr>
                      </a:br>
                      <a:r>
                        <a:rPr lang="zh-TW" altLang="en-US" sz="2000" b="0" i="0" u="none" strike="noStrike" cap="none" dirty="0">
                          <a:solidFill>
                            <a:srgbClr val="FF0000"/>
                          </a:solidFill>
                          <a:latin typeface="標楷體" pitchFamily="65" charset="-120"/>
                          <a:ea typeface="標楷體" pitchFamily="65" charset="-120"/>
                          <a:cs typeface="Arial"/>
                          <a:sym typeface="Arial"/>
                        </a:rPr>
                        <a:t>（亞洲金融危機）</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製造業</a:t>
                      </a:r>
                      <a:r>
                        <a:rPr lang="zh-TW" altLang="en-US" sz="2000" b="0" i="0" u="none" strike="noStrike" cap="none" dirty="0">
                          <a:solidFill>
                            <a:schemeClr val="tx1"/>
                          </a:solidFill>
                          <a:latin typeface="標楷體" pitchFamily="65" charset="-120"/>
                          <a:ea typeface="標楷體" pitchFamily="65" charset="-120"/>
                          <a:cs typeface="Arial"/>
                          <a:sym typeface="Arial"/>
                        </a:rPr>
                        <a:t>持續</a:t>
                      </a:r>
                      <a:r>
                        <a:rPr lang="zh-TW" altLang="en-US" sz="2000" b="0" i="0" u="none" strike="noStrike" cap="none" dirty="0">
                          <a:solidFill>
                            <a:srgbClr val="FF0000"/>
                          </a:solidFill>
                          <a:latin typeface="標楷體" pitchFamily="65" charset="-120"/>
                          <a:ea typeface="標楷體" pitchFamily="65" charset="-120"/>
                          <a:cs typeface="Arial"/>
                          <a:sym typeface="Arial"/>
                        </a:rPr>
                        <a:t>西進中國，臺灣、南韓</a:t>
                      </a:r>
                      <a:r>
                        <a:rPr lang="zh-TW" altLang="en-US" sz="2000" b="0" i="0" u="none" strike="noStrike" cap="none" dirty="0">
                          <a:solidFill>
                            <a:schemeClr val="tx1"/>
                          </a:solidFill>
                          <a:latin typeface="標楷體" pitchFamily="65" charset="-120"/>
                          <a:ea typeface="標楷體" pitchFamily="65" charset="-120"/>
                          <a:cs typeface="Arial"/>
                          <a:sym typeface="Arial"/>
                        </a:rPr>
                        <a:t>經濟</a:t>
                      </a:r>
                      <a:r>
                        <a:rPr lang="zh-TW" altLang="en-US" sz="2000" b="0" i="0" u="none" strike="noStrike" cap="none" dirty="0">
                          <a:solidFill>
                            <a:srgbClr val="FF0000"/>
                          </a:solidFill>
                          <a:latin typeface="標楷體" pitchFamily="65" charset="-120"/>
                          <a:ea typeface="標楷體" pitchFamily="65" charset="-120"/>
                          <a:cs typeface="Arial"/>
                          <a:sym typeface="Arial"/>
                        </a:rPr>
                        <a:t>成長</a:t>
                      </a:r>
                      <a:r>
                        <a:rPr lang="zh-TW" altLang="en-US" sz="2000" b="0" i="0" u="none" strike="noStrike" cap="none" dirty="0">
                          <a:solidFill>
                            <a:schemeClr val="tx1"/>
                          </a:solidFill>
                          <a:latin typeface="標楷體" pitchFamily="65" charset="-120"/>
                          <a:ea typeface="標楷體" pitchFamily="65" charset="-120"/>
                          <a:cs typeface="Arial"/>
                          <a:sym typeface="Arial"/>
                        </a:rPr>
                        <a:t>明顯</a:t>
                      </a:r>
                      <a:r>
                        <a:rPr lang="zh-TW" altLang="en-US" sz="2000" b="0" i="0" u="none" strike="noStrike" cap="none" dirty="0">
                          <a:solidFill>
                            <a:srgbClr val="FF0000"/>
                          </a:solidFill>
                          <a:latin typeface="標楷體" pitchFamily="65" charset="-120"/>
                          <a:ea typeface="標楷體" pitchFamily="65" charset="-120"/>
                          <a:cs typeface="Arial"/>
                          <a:sym typeface="Arial"/>
                        </a:rPr>
                        <a:t>趨緩</a:t>
                      </a:r>
                    </a:p>
                    <a:p>
                      <a:r>
                        <a:rPr lang="en-US" altLang="zh-TW" sz="2000" b="0" i="0" u="none" strike="noStrike" cap="none" dirty="0">
                          <a:solidFill>
                            <a:schemeClr val="tx1"/>
                          </a:solidFill>
                          <a:latin typeface="標楷體" pitchFamily="65" charset="-120"/>
                          <a:ea typeface="標楷體" pitchFamily="65" charset="-120"/>
                          <a:cs typeface="Arial"/>
                          <a:sym typeface="Arial"/>
                        </a:rPr>
                        <a:t>(</a:t>
                      </a:r>
                      <a:r>
                        <a:rPr lang="en-US" altLang="zh-TW" sz="2000" b="0" i="0" u="none" strike="noStrike" cap="none" dirty="0">
                          <a:solidFill>
                            <a:srgbClr val="FF0000"/>
                          </a:solidFill>
                          <a:latin typeface="標楷體" pitchFamily="65" charset="-120"/>
                          <a:ea typeface="標楷體" pitchFamily="65" charset="-120"/>
                          <a:cs typeface="Arial"/>
                          <a:sym typeface="Arial"/>
                        </a:rPr>
                        <a:t>2)1997</a:t>
                      </a:r>
                      <a:r>
                        <a:rPr lang="zh-TW" altLang="en-US" sz="2000" b="0" i="0" u="none" strike="noStrike" cap="none" dirty="0">
                          <a:solidFill>
                            <a:srgbClr val="FF0000"/>
                          </a:solidFill>
                          <a:latin typeface="標楷體" pitchFamily="65" charset="-120"/>
                          <a:ea typeface="標楷體" pitchFamily="65" charset="-120"/>
                          <a:cs typeface="Arial"/>
                          <a:sym typeface="Arial"/>
                        </a:rPr>
                        <a:t>年亞洲金融危機，南韓財閥倒閉，國家瀕臨破產</a:t>
                      </a:r>
                      <a:r>
                        <a:rPr lang="zh-TW" altLang="en-US" sz="2000" b="0" i="0" u="none" strike="noStrike" cap="none" dirty="0">
                          <a:solidFill>
                            <a:schemeClr val="tx1"/>
                          </a:solidFill>
                          <a:latin typeface="標楷體" pitchFamily="65" charset="-120"/>
                          <a:ea typeface="標楷體" pitchFamily="65" charset="-120"/>
                          <a:cs typeface="Arial"/>
                          <a:sym typeface="Arial"/>
                        </a:rPr>
                        <a:t>，政府</a:t>
                      </a:r>
                      <a:r>
                        <a:rPr lang="zh-TW" altLang="en-US" sz="2000" b="0" i="0" u="none" strike="noStrike" cap="none" dirty="0">
                          <a:solidFill>
                            <a:srgbClr val="FF0000"/>
                          </a:solidFill>
                          <a:latin typeface="標楷體" pitchFamily="65" charset="-120"/>
                          <a:ea typeface="標楷體" pitchFamily="65" charset="-120"/>
                          <a:cs typeface="Arial"/>
                          <a:sym typeface="Arial"/>
                        </a:rPr>
                        <a:t>藉機改革</a:t>
                      </a:r>
                      <a:r>
                        <a:rPr lang="zh-TW" altLang="en-US" sz="2000" b="0" i="0" u="none" strike="noStrike" cap="none" dirty="0">
                          <a:solidFill>
                            <a:schemeClr val="tx1"/>
                          </a:solidFill>
                          <a:latin typeface="標楷體" pitchFamily="65" charset="-120"/>
                          <a:ea typeface="標楷體" pitchFamily="65" charset="-120"/>
                          <a:cs typeface="Arial"/>
                          <a:sym typeface="Arial"/>
                        </a:rPr>
                        <a:t>弊端，重組財閥、改善投資環境，</a:t>
                      </a:r>
                      <a:r>
                        <a:rPr lang="zh-TW" altLang="en-US" sz="2000" b="0" i="0" u="none" strike="noStrike" cap="none" dirty="0">
                          <a:solidFill>
                            <a:srgbClr val="FF0000"/>
                          </a:solidFill>
                          <a:latin typeface="標楷體" pitchFamily="65" charset="-120"/>
                          <a:ea typeface="標楷體" pitchFamily="65" charset="-120"/>
                          <a:cs typeface="Arial"/>
                          <a:sym typeface="Arial"/>
                        </a:rPr>
                        <a:t>經濟成長再創高峰</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矩形 9"/>
          <p:cNvSpPr>
            <a:spLocks noChangeArrowheads="1"/>
          </p:cNvSpPr>
          <p:nvPr/>
        </p:nvSpPr>
        <p:spPr bwMode="auto">
          <a:xfrm>
            <a:off x="4597136" y="-109311"/>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p.206</a:t>
            </a:r>
            <a:endParaRPr lang="zh-TW" altLang="en-US" b="0" dirty="0"/>
          </a:p>
        </p:txBody>
      </p:sp>
      <p:sp>
        <p:nvSpPr>
          <p:cNvPr id="11" name="矩形 10">
            <a:extLst>
              <a:ext uri="{FF2B5EF4-FFF2-40B4-BE49-F238E27FC236}">
                <a16:creationId xmlns:a16="http://schemas.microsoft.com/office/drawing/2014/main" id="{A3E4E45B-DF22-41F7-B4CA-B5264CA62C89}"/>
              </a:ext>
            </a:extLst>
          </p:cNvPr>
          <p:cNvSpPr>
            <a:spLocks noChangeArrowheads="1"/>
          </p:cNvSpPr>
          <p:nvPr/>
        </p:nvSpPr>
        <p:spPr bwMode="auto">
          <a:xfrm>
            <a:off x="0" y="-20706"/>
            <a:ext cx="1130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dirty="0">
                <a:solidFill>
                  <a:srgbClr val="FF0000"/>
                </a:solidFill>
              </a:rPr>
              <a:t>p.205</a:t>
            </a:r>
            <a:endParaRPr lang="zh-TW" altLang="en-US" b="0" dirty="0"/>
          </a:p>
        </p:txBody>
      </p:sp>
      <p:sp>
        <p:nvSpPr>
          <p:cNvPr id="12" name="Rectangle 3">
            <a:extLst>
              <a:ext uri="{FF2B5EF4-FFF2-40B4-BE49-F238E27FC236}">
                <a16:creationId xmlns:a16="http://schemas.microsoft.com/office/drawing/2014/main" id="{743039B2-1BA9-43F3-BCEC-8F5569038F34}"/>
              </a:ext>
            </a:extLst>
          </p:cNvPr>
          <p:cNvSpPr txBox="1">
            <a:spLocks noChangeArrowheads="1"/>
          </p:cNvSpPr>
          <p:nvPr/>
        </p:nvSpPr>
        <p:spPr>
          <a:xfrm>
            <a:off x="1067418" y="403095"/>
            <a:ext cx="9144000" cy="76198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日本經濟轉型歷程</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日本在</a:t>
            </a:r>
            <a:r>
              <a:rPr lang="zh-TW" altLang="en-US" dirty="0">
                <a:solidFill>
                  <a:srgbClr val="FF0000"/>
                </a:solidFill>
                <a:latin typeface="標楷體" pitchFamily="65" charset="-120"/>
                <a:ea typeface="標楷體" pitchFamily="65" charset="-120"/>
              </a:rPr>
              <a:t>明治維新</a:t>
            </a:r>
            <a:r>
              <a:rPr lang="zh-TW" altLang="en-US" dirty="0">
                <a:latin typeface="標楷體" pitchFamily="65" charset="-120"/>
                <a:ea typeface="標楷體" pitchFamily="65" charset="-120"/>
              </a:rPr>
              <a:t>時</a:t>
            </a:r>
            <a:r>
              <a:rPr lang="zh-TW" altLang="en-US" dirty="0">
                <a:solidFill>
                  <a:srgbClr val="FF0000"/>
                </a:solidFill>
                <a:latin typeface="標楷體" pitchFamily="65" charset="-120"/>
                <a:ea typeface="標楷體" pitchFamily="65" charset="-120"/>
              </a:rPr>
              <a:t>即</a:t>
            </a:r>
            <a:r>
              <a:rPr lang="zh-TW" altLang="en-US" dirty="0">
                <a:latin typeface="標楷體" pitchFamily="65" charset="-120"/>
                <a:ea typeface="標楷體" pitchFamily="65" charset="-120"/>
              </a:rPr>
              <a:t>積極</a:t>
            </a:r>
            <a:r>
              <a:rPr lang="zh-TW" altLang="en-US" dirty="0">
                <a:solidFill>
                  <a:srgbClr val="FF0000"/>
                </a:solidFill>
                <a:latin typeface="標楷體" pitchFamily="65" charset="-120"/>
                <a:ea typeface="標楷體" pitchFamily="65" charset="-120"/>
              </a:rPr>
              <a:t>現代化</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成為</a:t>
            </a:r>
            <a:r>
              <a:rPr lang="zh-TW" altLang="en-US" dirty="0">
                <a:solidFill>
                  <a:srgbClr val="FF0000"/>
                </a:solidFill>
                <a:latin typeface="標楷體" pitchFamily="65" charset="-120"/>
                <a:ea typeface="標楷體" pitchFamily="65" charset="-120"/>
              </a:rPr>
              <a:t>東亞工業化的先驅</a:t>
            </a:r>
            <a:r>
              <a:rPr lang="zh-TW" altLang="en-US" dirty="0">
                <a:latin typeface="標楷體" pitchFamily="65" charset="-120"/>
                <a:ea typeface="標楷體" pitchFamily="65" charset="-120"/>
              </a:rPr>
              <a:t>。</a:t>
            </a:r>
          </a:p>
        </p:txBody>
      </p:sp>
      <p:graphicFrame>
        <p:nvGraphicFramePr>
          <p:cNvPr id="13" name="Group 47">
            <a:extLst>
              <a:ext uri="{FF2B5EF4-FFF2-40B4-BE49-F238E27FC236}">
                <a16:creationId xmlns:a16="http://schemas.microsoft.com/office/drawing/2014/main" id="{7BB305F9-4305-49F5-A165-1E44B74D7075}"/>
              </a:ext>
            </a:extLst>
          </p:cNvPr>
          <p:cNvGraphicFramePr>
            <a:graphicFrameLocks noGrp="1"/>
          </p:cNvGraphicFramePr>
          <p:nvPr/>
        </p:nvGraphicFramePr>
        <p:xfrm>
          <a:off x="0" y="1094993"/>
          <a:ext cx="8941339" cy="2913422"/>
        </p:xfrm>
        <a:graphic>
          <a:graphicData uri="http://schemas.openxmlformats.org/drawingml/2006/table">
            <a:tbl>
              <a:tblPr/>
              <a:tblGrid>
                <a:gridCol w="2088232">
                  <a:extLst>
                    <a:ext uri="{9D8B030D-6E8A-4147-A177-3AD203B41FA5}">
                      <a16:colId xmlns:a16="http://schemas.microsoft.com/office/drawing/2014/main" val="20000"/>
                    </a:ext>
                  </a:extLst>
                </a:gridCol>
                <a:gridCol w="6853107">
                  <a:extLst>
                    <a:ext uri="{9D8B030D-6E8A-4147-A177-3AD203B41FA5}">
                      <a16:colId xmlns:a16="http://schemas.microsoft.com/office/drawing/2014/main" val="20001"/>
                    </a:ext>
                  </a:extLst>
                </a:gridCol>
              </a:tblGrid>
              <a:tr h="239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959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1950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韓戰</a:t>
                      </a:r>
                      <a:r>
                        <a:rPr lang="zh-TW" altLang="en-US" sz="1800" b="0" i="0" u="none" strike="noStrike" cap="none" dirty="0">
                          <a:solidFill>
                            <a:schemeClr val="tx1"/>
                          </a:solidFill>
                          <a:latin typeface="標楷體" pitchFamily="65" charset="-120"/>
                          <a:ea typeface="標楷體" pitchFamily="65" charset="-120"/>
                          <a:cs typeface="Arial"/>
                          <a:sym typeface="Arial"/>
                        </a:rPr>
                        <a:t>：美國扶助日本、臺灣、南韓，發展經濟以圍堵共產勢力）</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日本現代化的腳步較早，工業及人力水準高，成為美國外移勞力密集產業的主要承接者，產品出口美國得以賺取大量外匯</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韓戰期間，更因生產美軍軍需而獲得部分工業技術</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6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1960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出口累積大量外匯成為產業升級的資本，政府政策轉向發展鋼鐵、造船、電機為主的重化工業</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自給外亦大量出口，同一時期</a:t>
                      </a:r>
                      <a:r>
                        <a:rPr lang="zh-TW" altLang="en-US" sz="1800" b="0" i="0" u="none" strike="noStrike" cap="none" dirty="0">
                          <a:solidFill>
                            <a:srgbClr val="FF0000"/>
                          </a:solidFill>
                          <a:latin typeface="標楷體" pitchFamily="65" charset="-120"/>
                          <a:ea typeface="標楷體" pitchFamily="65" charset="-120"/>
                          <a:cs typeface="Arial"/>
                          <a:sym typeface="Arial"/>
                        </a:rPr>
                        <a:t>勞力密集型產業因國內薪資提升而外移，並逐漸衰退</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4" name="表格 13">
            <a:extLst>
              <a:ext uri="{FF2B5EF4-FFF2-40B4-BE49-F238E27FC236}">
                <a16:creationId xmlns:a16="http://schemas.microsoft.com/office/drawing/2014/main" id="{5C0BB99D-35B9-46DC-9438-3085C37FCFB5}"/>
              </a:ext>
            </a:extLst>
          </p:cNvPr>
          <p:cNvGraphicFramePr>
            <a:graphicFrameLocks noGrp="1"/>
          </p:cNvGraphicFramePr>
          <p:nvPr/>
        </p:nvGraphicFramePr>
        <p:xfrm>
          <a:off x="0" y="4047321"/>
          <a:ext cx="8928992" cy="2852896"/>
        </p:xfrm>
        <a:graphic>
          <a:graphicData uri="http://schemas.openxmlformats.org/drawingml/2006/table">
            <a:tbl>
              <a:tblPr/>
              <a:tblGrid>
                <a:gridCol w="2088232">
                  <a:extLst>
                    <a:ext uri="{9D8B030D-6E8A-4147-A177-3AD203B41FA5}">
                      <a16:colId xmlns:a16="http://schemas.microsoft.com/office/drawing/2014/main" val="20000"/>
                    </a:ext>
                  </a:extLst>
                </a:gridCol>
                <a:gridCol w="6840760">
                  <a:extLst>
                    <a:ext uri="{9D8B030D-6E8A-4147-A177-3AD203B41FA5}">
                      <a16:colId xmlns:a16="http://schemas.microsoft.com/office/drawing/2014/main" val="20001"/>
                    </a:ext>
                  </a:extLst>
                </a:gridCol>
              </a:tblGrid>
              <a:tr h="12961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1970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石油危機</a:t>
                      </a:r>
                      <a:r>
                        <a:rPr lang="zh-TW" altLang="en-US" sz="1800" b="0" i="0" u="none" strike="noStrike" cap="none" dirty="0">
                          <a:solidFill>
                            <a:schemeClr val="tx1"/>
                          </a:solidFill>
                          <a:latin typeface="標楷體" pitchFamily="65" charset="-120"/>
                          <a:ea typeface="標楷體" pitchFamily="65" charset="-120"/>
                          <a:cs typeface="Arial"/>
                          <a:sym typeface="Arial"/>
                        </a:rPr>
                        <a:t>：國際</a:t>
                      </a:r>
                      <a:r>
                        <a:rPr lang="zh-TW" altLang="en-US" sz="1800" b="0" i="0" u="none" strike="noStrike" cap="none" dirty="0">
                          <a:solidFill>
                            <a:srgbClr val="FF0000"/>
                          </a:solidFill>
                          <a:latin typeface="標楷體" pitchFamily="65" charset="-120"/>
                          <a:ea typeface="標楷體" pitchFamily="65" charset="-120"/>
                          <a:cs typeface="Arial"/>
                          <a:sym typeface="Arial"/>
                        </a:rPr>
                        <a:t>原油價格大漲，使全球經濟重創</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高科技產業</a:t>
                      </a:r>
                    </a:p>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重化工業高度仰賴石油，在油價暴漲後，日本出現戰後首度經濟負成長，因此具低耗能特性的半導體、電子產業急遽成長</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chemeClr val="tx1"/>
                          </a:solidFill>
                          <a:latin typeface="標楷體" pitchFamily="65" charset="-120"/>
                          <a:ea typeface="標楷體" pitchFamily="65" charset="-120"/>
                          <a:cs typeface="Arial"/>
                          <a:sym typeface="Arial"/>
                        </a:rPr>
                        <a:t>隨著</a:t>
                      </a:r>
                      <a:r>
                        <a:rPr lang="zh-TW" altLang="en-US" sz="1800" b="0" i="0" u="none" strike="noStrike" cap="none" dirty="0">
                          <a:solidFill>
                            <a:srgbClr val="FF0000"/>
                          </a:solidFill>
                          <a:latin typeface="標楷體" pitchFamily="65" charset="-120"/>
                          <a:ea typeface="標楷體" pitchFamily="65" charset="-120"/>
                          <a:cs typeface="Arial"/>
                          <a:sym typeface="Arial"/>
                        </a:rPr>
                        <a:t>工資</a:t>
                      </a:r>
                      <a:r>
                        <a:rPr lang="zh-TW" altLang="en-US" sz="1800" b="0" i="0" u="none" strike="noStrike" cap="none" dirty="0">
                          <a:solidFill>
                            <a:schemeClr val="tx1"/>
                          </a:solidFill>
                          <a:latin typeface="標楷體" pitchFamily="65" charset="-120"/>
                          <a:ea typeface="標楷體" pitchFamily="65" charset="-120"/>
                          <a:cs typeface="Arial"/>
                          <a:sym typeface="Arial"/>
                        </a:rPr>
                        <a:t>不斷</a:t>
                      </a:r>
                      <a:r>
                        <a:rPr lang="zh-TW" altLang="en-US" sz="1800" b="0" i="0" u="none" strike="noStrike" cap="none" dirty="0">
                          <a:solidFill>
                            <a:srgbClr val="FF0000"/>
                          </a:solidFill>
                          <a:latin typeface="標楷體" pitchFamily="65" charset="-120"/>
                          <a:ea typeface="標楷體" pitchFamily="65" charset="-120"/>
                          <a:cs typeface="Arial"/>
                          <a:sym typeface="Arial"/>
                        </a:rPr>
                        <a:t>提升，環境</a:t>
                      </a:r>
                      <a:r>
                        <a:rPr lang="zh-TW" altLang="en-US" sz="1800" b="0" i="0" u="none" strike="noStrike" cap="none" dirty="0">
                          <a:solidFill>
                            <a:schemeClr val="tx1"/>
                          </a:solidFill>
                          <a:latin typeface="標楷體" pitchFamily="65" charset="-120"/>
                          <a:ea typeface="標楷體" pitchFamily="65" charset="-120"/>
                          <a:cs typeface="Arial"/>
                          <a:sym typeface="Arial"/>
                        </a:rPr>
                        <a:t>公害</a:t>
                      </a:r>
                      <a:r>
                        <a:rPr lang="zh-TW" altLang="en-US" sz="1800" b="0" i="0" u="none" strike="noStrike" cap="none" dirty="0">
                          <a:solidFill>
                            <a:srgbClr val="FF0000"/>
                          </a:solidFill>
                          <a:latin typeface="標楷體" pitchFamily="65" charset="-120"/>
                          <a:ea typeface="標楷體" pitchFamily="65" charset="-120"/>
                          <a:cs typeface="Arial"/>
                          <a:sym typeface="Arial"/>
                        </a:rPr>
                        <a:t>受</a:t>
                      </a:r>
                      <a:r>
                        <a:rPr lang="zh-TW" altLang="en-US" sz="1800" b="0" i="0" u="none" strike="noStrike" cap="none" dirty="0">
                          <a:solidFill>
                            <a:schemeClr val="tx1"/>
                          </a:solidFill>
                          <a:latin typeface="標楷體" pitchFamily="65" charset="-120"/>
                          <a:ea typeface="標楷體" pitchFamily="65" charset="-120"/>
                          <a:cs typeface="Arial"/>
                          <a:sym typeface="Arial"/>
                        </a:rPr>
                        <a:t>到</a:t>
                      </a:r>
                      <a:r>
                        <a:rPr lang="zh-TW" altLang="en-US" sz="1800" b="0" i="0" u="none" strike="noStrike" cap="none" dirty="0">
                          <a:solidFill>
                            <a:srgbClr val="FF0000"/>
                          </a:solidFill>
                          <a:latin typeface="標楷體" pitchFamily="65" charset="-120"/>
                          <a:ea typeface="標楷體" pitchFamily="65" charset="-120"/>
                          <a:cs typeface="Arial"/>
                          <a:sym typeface="Arial"/>
                        </a:rPr>
                        <a:t>重視</a:t>
                      </a:r>
                      <a:r>
                        <a:rPr lang="zh-TW" altLang="en-US" sz="1800" b="0" i="0" u="none" strike="noStrike" cap="none" dirty="0">
                          <a:solidFill>
                            <a:schemeClr val="tx1"/>
                          </a:solidFill>
                          <a:latin typeface="標楷體" pitchFamily="65" charset="-120"/>
                          <a:ea typeface="標楷體" pitchFamily="65" charset="-120"/>
                          <a:cs typeface="Arial"/>
                          <a:sym typeface="Arial"/>
                        </a:rPr>
                        <a:t>，工業生產</a:t>
                      </a:r>
                      <a:r>
                        <a:rPr lang="zh-TW" altLang="en-US" sz="1800" b="0" i="0" u="none" strike="noStrike" cap="none" dirty="0">
                          <a:solidFill>
                            <a:srgbClr val="FF0000"/>
                          </a:solidFill>
                          <a:latin typeface="標楷體" pitchFamily="65" charset="-120"/>
                          <a:ea typeface="標楷體" pitchFamily="65" charset="-120"/>
                          <a:cs typeface="Arial"/>
                          <a:sym typeface="Arial"/>
                        </a:rPr>
                        <a:t>成本提升</a:t>
                      </a:r>
                      <a:r>
                        <a:rPr lang="zh-TW" altLang="en-US" sz="1800" b="0" i="0" u="none" strike="noStrike" cap="none" dirty="0">
                          <a:solidFill>
                            <a:schemeClr val="tx1"/>
                          </a:solidFill>
                          <a:latin typeface="標楷體" pitchFamily="65" charset="-120"/>
                          <a:ea typeface="標楷體" pitchFamily="65" charset="-120"/>
                          <a:cs typeface="Arial"/>
                          <a:sym typeface="Arial"/>
                        </a:rPr>
                        <a:t>，經濟</a:t>
                      </a:r>
                      <a:r>
                        <a:rPr lang="zh-TW" altLang="en-US" sz="1800" b="0" i="0" u="none" strike="noStrike" cap="none" dirty="0">
                          <a:solidFill>
                            <a:srgbClr val="FF0000"/>
                          </a:solidFill>
                          <a:latin typeface="標楷體" pitchFamily="65" charset="-120"/>
                          <a:ea typeface="標楷體" pitchFamily="65" charset="-120"/>
                          <a:cs typeface="Arial"/>
                          <a:sym typeface="Arial"/>
                        </a:rPr>
                        <a:t>成長速度趨緩</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26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1980 </a:t>
                      </a:r>
                      <a:r>
                        <a:rPr lang="zh-TW" altLang="en-US" sz="1800" b="0" i="0" u="none" strike="noStrike" cap="none" dirty="0">
                          <a:solidFill>
                            <a:srgbClr val="FF0000"/>
                          </a:solidFill>
                          <a:latin typeface="標楷體" pitchFamily="65" charset="-120"/>
                          <a:ea typeface="標楷體" pitchFamily="65" charset="-120"/>
                          <a:cs typeface="Arial"/>
                          <a:sym typeface="Arial"/>
                        </a:rPr>
                        <a:t>年代</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日本</a:t>
                      </a:r>
                      <a:r>
                        <a:rPr lang="zh-TW" altLang="en-US" sz="1800" b="0" i="0" u="none" strike="noStrike" cap="none" dirty="0">
                          <a:solidFill>
                            <a:srgbClr val="FF0000"/>
                          </a:solidFill>
                          <a:latin typeface="標楷體" pitchFamily="65" charset="-120"/>
                          <a:ea typeface="標楷體" pitchFamily="65" charset="-120"/>
                          <a:cs typeface="Arial"/>
                          <a:sym typeface="Arial"/>
                        </a:rPr>
                        <a:t>長期對美國貿易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，造成貿易摩擦，</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使日圓</a:t>
                      </a:r>
                      <a:r>
                        <a:rPr lang="zh-TW" altLang="en-US" sz="1800" b="0" i="0" u="none" strike="noStrike" cap="none" dirty="0">
                          <a:solidFill>
                            <a:srgbClr val="FF0000"/>
                          </a:solidFill>
                          <a:latin typeface="標楷體" pitchFamily="65" charset="-120"/>
                          <a:ea typeface="標楷體" pitchFamily="65" charset="-120"/>
                          <a:cs typeface="Arial"/>
                          <a:sym typeface="Arial"/>
                        </a:rPr>
                        <a:t>被迫</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出口重挫</a:t>
                      </a:r>
                      <a:r>
                        <a:rPr lang="zh-TW" altLang="en-US" sz="1800" b="0" i="0" u="none" strike="noStrike" cap="none" dirty="0">
                          <a:solidFill>
                            <a:schemeClr val="tx1"/>
                          </a:solidFill>
                          <a:latin typeface="標楷體" pitchFamily="65" charset="-120"/>
                          <a:ea typeface="標楷體" pitchFamily="65" charset="-120"/>
                          <a:cs typeface="Arial"/>
                          <a:sym typeface="Arial"/>
                        </a:rPr>
                        <a:t>，國內</a:t>
                      </a:r>
                      <a:r>
                        <a:rPr lang="zh-TW" altLang="en-US" sz="1800" b="0" i="0" u="none" strike="noStrike" cap="none" dirty="0">
                          <a:solidFill>
                            <a:srgbClr val="FF0000"/>
                          </a:solidFill>
                          <a:latin typeface="標楷體" pitchFamily="65" charset="-120"/>
                          <a:ea typeface="標楷體" pitchFamily="65" charset="-120"/>
                          <a:cs typeface="Arial"/>
                          <a:sym typeface="Arial"/>
                        </a:rPr>
                        <a:t>經濟轉以內需為主</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歷經</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後，進入</a:t>
                      </a:r>
                      <a:r>
                        <a:rPr lang="zh-TW" altLang="en-US" sz="1800" b="0" i="0" u="none" strike="noStrike" cap="none" dirty="0">
                          <a:solidFill>
                            <a:srgbClr val="FF0000"/>
                          </a:solidFill>
                          <a:latin typeface="標楷體" pitchFamily="65" charset="-120"/>
                          <a:ea typeface="標楷體" pitchFamily="65" charset="-120"/>
                          <a:cs typeface="Arial"/>
                          <a:sym typeface="Arial"/>
                        </a:rPr>
                        <a:t>長期經濟低迷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rgbClr val="FF0000"/>
                          </a:solidFill>
                          <a:latin typeface="標楷體" pitchFamily="65" charset="-120"/>
                          <a:ea typeface="標楷體" pitchFamily="65" charset="-120"/>
                          <a:cs typeface="Arial"/>
                          <a:sym typeface="Arial"/>
                        </a:rPr>
                        <a:t>1990</a:t>
                      </a:r>
                      <a:r>
                        <a:rPr lang="zh-TW" altLang="en-US" sz="1800" b="0" i="0" u="none" strike="noStrike" cap="none" dirty="0">
                          <a:solidFill>
                            <a:schemeClr val="tx1"/>
                          </a:solidFill>
                          <a:latin typeface="標楷體" pitchFamily="65" charset="-120"/>
                          <a:ea typeface="標楷體" pitchFamily="65" charset="-120"/>
                          <a:cs typeface="Arial"/>
                          <a:sym typeface="Arial"/>
                        </a:rPr>
                        <a:t>年代</a:t>
                      </a:r>
                      <a:r>
                        <a:rPr lang="en-US" altLang="zh-TW" sz="1800" b="0" i="0" u="none" strike="noStrike" cap="none" dirty="0">
                          <a:solidFill>
                            <a:srgbClr val="FF0000"/>
                          </a:solidFill>
                          <a:latin typeface="標楷體" pitchFamily="65" charset="-120"/>
                          <a:ea typeface="標楷體" pitchFamily="65" charset="-120"/>
                          <a:cs typeface="Arial"/>
                          <a:sym typeface="Arial"/>
                        </a:rPr>
                        <a:t>∼ </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亞洲金融危機</a:t>
                      </a:r>
                      <a:r>
                        <a:rPr lang="zh-TW" altLang="en-US" sz="1800" b="0" i="0" u="none" strike="noStrike" cap="none" dirty="0">
                          <a:solidFill>
                            <a:schemeClr val="tx1"/>
                          </a:solidFill>
                          <a:latin typeface="標楷體" pitchFamily="65" charset="-120"/>
                          <a:ea typeface="標楷體" pitchFamily="65" charset="-120"/>
                          <a:cs typeface="Arial"/>
                          <a:sym typeface="Arial"/>
                        </a:rPr>
                        <a: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經濟持續低迷，轉而</a:t>
                      </a:r>
                      <a:r>
                        <a:rPr lang="zh-TW" altLang="en-US" sz="1800" b="0" i="0" u="none" strike="noStrike" cap="none" dirty="0">
                          <a:solidFill>
                            <a:srgbClr val="FF0000"/>
                          </a:solidFill>
                          <a:latin typeface="標楷體" pitchFamily="65" charset="-120"/>
                          <a:ea typeface="標楷體" pitchFamily="65" charset="-120"/>
                          <a:cs typeface="Arial"/>
                          <a:sym typeface="Arial"/>
                        </a:rPr>
                        <a:t>強化觀光及文化輸出</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5" name="矩形 14">
            <a:extLst>
              <a:ext uri="{FF2B5EF4-FFF2-40B4-BE49-F238E27FC236}">
                <a16:creationId xmlns:a16="http://schemas.microsoft.com/office/drawing/2014/main" id="{7EED58F4-EEED-4648-93D8-6E82888A45A6}"/>
              </a:ext>
            </a:extLst>
          </p:cNvPr>
          <p:cNvSpPr>
            <a:spLocks noChangeArrowheads="1"/>
          </p:cNvSpPr>
          <p:nvPr/>
        </p:nvSpPr>
        <p:spPr bwMode="auto">
          <a:xfrm>
            <a:off x="4680520" y="5415473"/>
            <a:ext cx="716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順差</a:t>
            </a:r>
          </a:p>
        </p:txBody>
      </p:sp>
      <p:sp>
        <p:nvSpPr>
          <p:cNvPr id="16" name="矩形 15">
            <a:extLst>
              <a:ext uri="{FF2B5EF4-FFF2-40B4-BE49-F238E27FC236}">
                <a16:creationId xmlns:a16="http://schemas.microsoft.com/office/drawing/2014/main" id="{9A26D6CB-C20A-4742-BAC5-4B47BA795DB7}"/>
              </a:ext>
            </a:extLst>
          </p:cNvPr>
          <p:cNvSpPr>
            <a:spLocks noChangeArrowheads="1"/>
          </p:cNvSpPr>
          <p:nvPr/>
        </p:nvSpPr>
        <p:spPr bwMode="auto">
          <a:xfrm>
            <a:off x="3384376" y="5677103"/>
            <a:ext cx="792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升值</a:t>
            </a:r>
          </a:p>
        </p:txBody>
      </p:sp>
      <p:sp>
        <p:nvSpPr>
          <p:cNvPr id="17" name="矩形 16">
            <a:extLst>
              <a:ext uri="{FF2B5EF4-FFF2-40B4-BE49-F238E27FC236}">
                <a16:creationId xmlns:a16="http://schemas.microsoft.com/office/drawing/2014/main" id="{96775E72-ABC1-41BC-968A-53A493035B43}"/>
              </a:ext>
            </a:extLst>
          </p:cNvPr>
          <p:cNvSpPr>
            <a:spLocks noChangeArrowheads="1"/>
          </p:cNvSpPr>
          <p:nvPr/>
        </p:nvSpPr>
        <p:spPr bwMode="auto">
          <a:xfrm>
            <a:off x="3024336" y="5974526"/>
            <a:ext cx="1400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泡沫經濟</a:t>
            </a:r>
          </a:p>
        </p:txBody>
      </p:sp>
    </p:spTree>
    <p:extLst>
      <p:ext uri="{BB962C8B-B14F-4D97-AF65-F5344CB8AC3E}">
        <p14:creationId xmlns:p14="http://schemas.microsoft.com/office/powerpoint/2010/main" val="359781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ox(i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in)">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theme/theme1.xml><?xml version="1.0" encoding="utf-8"?>
<a:theme xmlns:a="http://schemas.openxmlformats.org/drawingml/2006/main" name="default">
  <a:themeElements>
    <a:clrScheme name="default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6477</TotalTime>
  <Words>15384</Words>
  <Application>Microsoft Office PowerPoint</Application>
  <PresentationFormat>如螢幕大小 (4:3)</PresentationFormat>
  <Paragraphs>1315</Paragraphs>
  <Slides>96</Slides>
  <Notes>33</Notes>
  <HiddenSlides>0</HiddenSlides>
  <MMClips>0</MMClips>
  <ScaleCrop>false</ScaleCrop>
  <HeadingPairs>
    <vt:vector size="8" baseType="variant">
      <vt:variant>
        <vt:lpstr>使用字型</vt:lpstr>
      </vt:variant>
      <vt:variant>
        <vt:i4>12</vt:i4>
      </vt:variant>
      <vt:variant>
        <vt:lpstr>佈景主題</vt:lpstr>
      </vt:variant>
      <vt:variant>
        <vt:i4>1</vt:i4>
      </vt:variant>
      <vt:variant>
        <vt:lpstr>內嵌 OLE 伺服程式</vt:lpstr>
      </vt:variant>
      <vt:variant>
        <vt:i4>1</vt:i4>
      </vt:variant>
      <vt:variant>
        <vt:lpstr>投影片標題</vt:lpstr>
      </vt:variant>
      <vt:variant>
        <vt:i4>96</vt:i4>
      </vt:variant>
    </vt:vector>
  </HeadingPairs>
  <TitlesOfParts>
    <vt:vector size="110" baseType="lpstr">
      <vt:lpstr>Microsoft YaHei</vt:lpstr>
      <vt:lpstr>Noto Sans Symbols</vt:lpstr>
      <vt:lpstr>華康POP1體 Std W5</vt:lpstr>
      <vt:lpstr>微軟正黑體</vt:lpstr>
      <vt:lpstr>微軟正黑體</vt:lpstr>
      <vt:lpstr>新細明體</vt:lpstr>
      <vt:lpstr>新細明體</vt:lpstr>
      <vt:lpstr>標楷體</vt:lpstr>
      <vt:lpstr>Arial</vt:lpstr>
      <vt:lpstr>Calibri</vt:lpstr>
      <vt:lpstr>Roboto</vt:lpstr>
      <vt:lpstr>Times New Roman</vt:lpstr>
      <vt:lpstr>default</vt:lpstr>
      <vt:lpstr>Document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(補充1) 3氣候區 </vt:lpstr>
      <vt:lpstr>(補充2) 季風氣候──風向隨季節交替變化</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貨幣 升貶值 vs 貿易 進出口</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END </vt:lpstr>
      <vt:lpstr>PowerPoint 簡報</vt:lpstr>
      <vt:lpstr>PowerPoint 簡報</vt:lpstr>
      <vt:lpstr>試題演練</vt:lpstr>
      <vt:lpstr>試題演練</vt:lpstr>
      <vt:lpstr>試題演練</vt:lpstr>
      <vt:lpstr>試題演練</vt:lpstr>
      <vt:lpstr>試題演練</vt:lpstr>
      <vt:lpstr>試題演練</vt:lpstr>
      <vt:lpstr>試題演練</vt:lpstr>
      <vt:lpstr>試題演練</vt:lpstr>
      <vt:lpstr>試題演練</vt:lpstr>
      <vt:lpstr>試題演練</vt:lpstr>
      <vt:lpstr>試題演練</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(補充2) 季風氣候──風向隨季節交替變化</vt:lpstr>
      <vt:lpstr>(補充2) 季風氣候──風向隨季節交替變化</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梁景文</dc:creator>
  <cp:lastModifiedBy>景美女中</cp:lastModifiedBy>
  <cp:revision>309</cp:revision>
  <dcterms:modified xsi:type="dcterms:W3CDTF">2026-05-18T06:57:37Z</dcterms:modified>
</cp:coreProperties>
</file>