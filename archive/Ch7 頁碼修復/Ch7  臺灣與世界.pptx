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44" r:id="rId1"/>
  </p:sldMasterIdLst>
  <p:notesMasterIdLst>
    <p:notesMasterId r:id="rId80"/>
  </p:notesMasterIdLst>
  <p:sldIdLst>
    <p:sldId id="258" r:id="rId2"/>
    <p:sldId id="426" r:id="rId3"/>
    <p:sldId id="538" r:id="rId4"/>
    <p:sldId id="484" r:id="rId5"/>
    <p:sldId id="485" r:id="rId6"/>
    <p:sldId id="560" r:id="rId7"/>
    <p:sldId id="583" r:id="rId8"/>
    <p:sldId id="584" r:id="rId9"/>
    <p:sldId id="486" r:id="rId10"/>
    <p:sldId id="561" r:id="rId11"/>
    <p:sldId id="585" r:id="rId12"/>
    <p:sldId id="586" r:id="rId13"/>
    <p:sldId id="570" r:id="rId14"/>
    <p:sldId id="587" r:id="rId15"/>
    <p:sldId id="588" r:id="rId16"/>
    <p:sldId id="593" r:id="rId17"/>
    <p:sldId id="592" r:id="rId18"/>
    <p:sldId id="487" r:id="rId19"/>
    <p:sldId id="491" r:id="rId20"/>
    <p:sldId id="492" r:id="rId21"/>
    <p:sldId id="563" r:id="rId22"/>
    <p:sldId id="564" r:id="rId23"/>
    <p:sldId id="565" r:id="rId24"/>
    <p:sldId id="568" r:id="rId25"/>
    <p:sldId id="406" r:id="rId26"/>
    <p:sldId id="407" r:id="rId27"/>
    <p:sldId id="589" r:id="rId28"/>
    <p:sldId id="590" r:id="rId29"/>
    <p:sldId id="569" r:id="rId30"/>
    <p:sldId id="493" r:id="rId31"/>
    <p:sldId id="494" r:id="rId32"/>
    <p:sldId id="497" r:id="rId33"/>
    <p:sldId id="496" r:id="rId34"/>
    <p:sldId id="539" r:id="rId35"/>
    <p:sldId id="410" r:id="rId36"/>
    <p:sldId id="501" r:id="rId37"/>
    <p:sldId id="503" r:id="rId38"/>
    <p:sldId id="502" r:id="rId39"/>
    <p:sldId id="504" r:id="rId40"/>
    <p:sldId id="505" r:id="rId41"/>
    <p:sldId id="506" r:id="rId42"/>
    <p:sldId id="507" r:id="rId43"/>
    <p:sldId id="508" r:id="rId44"/>
    <p:sldId id="510" r:id="rId45"/>
    <p:sldId id="591" r:id="rId46"/>
    <p:sldId id="540" r:id="rId47"/>
    <p:sldId id="514" r:id="rId48"/>
    <p:sldId id="513" r:id="rId49"/>
    <p:sldId id="516" r:id="rId50"/>
    <p:sldId id="518" r:id="rId51"/>
    <p:sldId id="559" r:id="rId52"/>
    <p:sldId id="283" r:id="rId53"/>
    <p:sldId id="260" r:id="rId54"/>
    <p:sldId id="532" r:id="rId55"/>
    <p:sldId id="281" r:id="rId56"/>
    <p:sldId id="533" r:id="rId57"/>
    <p:sldId id="353" r:id="rId58"/>
    <p:sldId id="397" r:id="rId59"/>
    <p:sldId id="354" r:id="rId60"/>
    <p:sldId id="536" r:id="rId61"/>
    <p:sldId id="537" r:id="rId62"/>
    <p:sldId id="541" r:id="rId63"/>
    <p:sldId id="542" r:id="rId64"/>
    <p:sldId id="543" r:id="rId65"/>
    <p:sldId id="545" r:id="rId66"/>
    <p:sldId id="546" r:id="rId67"/>
    <p:sldId id="547" r:id="rId68"/>
    <p:sldId id="548" r:id="rId69"/>
    <p:sldId id="549" r:id="rId70"/>
    <p:sldId id="550" r:id="rId71"/>
    <p:sldId id="551" r:id="rId72"/>
    <p:sldId id="552" r:id="rId73"/>
    <p:sldId id="553" r:id="rId74"/>
    <p:sldId id="554" r:id="rId75"/>
    <p:sldId id="555" r:id="rId76"/>
    <p:sldId id="556" r:id="rId77"/>
    <p:sldId id="557" r:id="rId78"/>
    <p:sldId id="558" r:id="rId7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預設章節" id="{C0C7EA56-BA45-4F5E-A8EA-D5F8ADF55AB3}">
          <p14:sldIdLst>
            <p14:sldId id="258"/>
            <p14:sldId id="426"/>
            <p14:sldId id="538"/>
            <p14:sldId id="484"/>
            <p14:sldId id="485"/>
            <p14:sldId id="560"/>
            <p14:sldId id="583"/>
            <p14:sldId id="584"/>
            <p14:sldId id="486"/>
            <p14:sldId id="561"/>
            <p14:sldId id="585"/>
            <p14:sldId id="586"/>
            <p14:sldId id="570"/>
            <p14:sldId id="587"/>
            <p14:sldId id="588"/>
            <p14:sldId id="593"/>
            <p14:sldId id="592"/>
            <p14:sldId id="487"/>
            <p14:sldId id="491"/>
            <p14:sldId id="492"/>
            <p14:sldId id="563"/>
            <p14:sldId id="564"/>
            <p14:sldId id="565"/>
            <p14:sldId id="568"/>
            <p14:sldId id="406"/>
            <p14:sldId id="407"/>
            <p14:sldId id="589"/>
            <p14:sldId id="590"/>
            <p14:sldId id="569"/>
            <p14:sldId id="493"/>
            <p14:sldId id="494"/>
            <p14:sldId id="497"/>
            <p14:sldId id="496"/>
            <p14:sldId id="539"/>
            <p14:sldId id="410"/>
            <p14:sldId id="501"/>
            <p14:sldId id="503"/>
            <p14:sldId id="502"/>
            <p14:sldId id="504"/>
            <p14:sldId id="505"/>
            <p14:sldId id="506"/>
            <p14:sldId id="507"/>
            <p14:sldId id="508"/>
            <p14:sldId id="510"/>
            <p14:sldId id="591"/>
            <p14:sldId id="540"/>
            <p14:sldId id="514"/>
            <p14:sldId id="513"/>
            <p14:sldId id="516"/>
            <p14:sldId id="518"/>
            <p14:sldId id="559"/>
            <p14:sldId id="283"/>
            <p14:sldId id="260"/>
            <p14:sldId id="532"/>
            <p14:sldId id="281"/>
            <p14:sldId id="533"/>
            <p14:sldId id="353"/>
            <p14:sldId id="397"/>
            <p14:sldId id="354"/>
            <p14:sldId id="536"/>
            <p14:sldId id="537"/>
            <p14:sldId id="541"/>
            <p14:sldId id="542"/>
            <p14:sldId id="543"/>
            <p14:sldId id="545"/>
            <p14:sldId id="546"/>
            <p14:sldId id="547"/>
            <p14:sldId id="548"/>
            <p14:sldId id="549"/>
            <p14:sldId id="550"/>
            <p14:sldId id="551"/>
            <p14:sldId id="552"/>
            <p14:sldId id="553"/>
            <p14:sldId id="554"/>
            <p14:sldId id="555"/>
            <p14:sldId id="556"/>
            <p14:sldId id="557"/>
            <p14:sldId id="55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FF"/>
    <a:srgbClr val="63A8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C3DFFD-EF93-4572-AD92-7E83F6A23CAC}">
  <a:tblStyle styleId="{2EC3DFFD-EF93-4572-AD92-7E83F6A23CA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13" autoAdjust="0"/>
    <p:restoredTop sz="76185" autoAdjust="0"/>
  </p:normalViewPr>
  <p:slideViewPr>
    <p:cSldViewPr>
      <p:cViewPr varScale="1">
        <p:scale>
          <a:sx n="84" d="100"/>
          <a:sy n="84" d="100"/>
        </p:scale>
        <p:origin x="2052" y="90"/>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800" cy="45720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2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3" y="0"/>
            <a:ext cx="2971800" cy="457200"/>
          </a:xfrm>
          <a:prstGeom prst="rect">
            <a:avLst/>
          </a:prstGeom>
          <a:noFill/>
          <a:ln>
            <a:noFill/>
          </a:ln>
        </p:spPr>
        <p:txBody>
          <a:bodyPr wrap="square" lIns="91425" tIns="91425" rIns="91425" bIns="91425" anchor="t" anchorCtr="0"/>
          <a:lstStyle>
            <a:lvl1pPr marL="0" marR="0" lvl="0" indent="0" algn="r" rtl="0">
              <a:spcBef>
                <a:spcPts val="0"/>
              </a:spcBef>
              <a:spcAft>
                <a:spcPts val="0"/>
              </a:spcAft>
              <a:buNone/>
              <a:defRPr sz="12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med" len="med"/>
            <a:tailEnd type="none" w="med" len="med"/>
          </a:ln>
        </p:spPr>
      </p:sp>
      <p:sp>
        <p:nvSpPr>
          <p:cNvPr id="6" name="Shape 6"/>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lstStyle>
            <a:lvl1pPr marL="0" marR="0" lvl="0" indent="0" algn="l" rtl="0">
              <a:spcBef>
                <a:spcPts val="360"/>
              </a:spcBef>
              <a:spcAft>
                <a:spcPts val="0"/>
              </a:spcAft>
              <a:buChar char="●"/>
              <a:defRPr sz="1200" b="0" i="0" u="none" strike="noStrike" cap="none">
                <a:solidFill>
                  <a:schemeClr val="dk1"/>
                </a:solidFill>
                <a:latin typeface="Calibri"/>
                <a:ea typeface="Calibri"/>
                <a:cs typeface="Calibri"/>
                <a:sym typeface="Calibri"/>
              </a:defRPr>
            </a:lvl1pPr>
            <a:lvl2pPr marL="457200" marR="0" lvl="1" indent="0" algn="l" rtl="0">
              <a:spcBef>
                <a:spcPts val="360"/>
              </a:spcBef>
              <a:spcAft>
                <a:spcPts val="0"/>
              </a:spcAft>
              <a:buChar char="○"/>
              <a:defRPr sz="1200" b="0" i="0" u="none" strike="noStrike" cap="none">
                <a:solidFill>
                  <a:schemeClr val="dk1"/>
                </a:solidFill>
                <a:latin typeface="Calibri"/>
                <a:ea typeface="Calibri"/>
                <a:cs typeface="Calibri"/>
                <a:sym typeface="Calibri"/>
              </a:defRPr>
            </a:lvl2pPr>
            <a:lvl3pPr marL="914400" marR="0" lvl="2" indent="0" algn="l" rtl="0">
              <a:spcBef>
                <a:spcPts val="360"/>
              </a:spcBef>
              <a:spcAft>
                <a:spcPts val="0"/>
              </a:spcAft>
              <a:buChar char="■"/>
              <a:defRPr sz="1200" b="0" i="0" u="none" strike="noStrike" cap="none">
                <a:solidFill>
                  <a:schemeClr val="dk1"/>
                </a:solidFill>
                <a:latin typeface="Calibri"/>
                <a:ea typeface="Calibri"/>
                <a:cs typeface="Calibri"/>
                <a:sym typeface="Calibri"/>
              </a:defRPr>
            </a:lvl3pPr>
            <a:lvl4pPr marL="1371600" marR="0" lvl="3" indent="0" algn="l" rtl="0">
              <a:spcBef>
                <a:spcPts val="360"/>
              </a:spcBef>
              <a:spcAft>
                <a:spcPts val="0"/>
              </a:spcAft>
              <a:buChar char="●"/>
              <a:defRPr sz="1200" b="0" i="0" u="none" strike="noStrike" cap="none">
                <a:solidFill>
                  <a:schemeClr val="dk1"/>
                </a:solidFill>
                <a:latin typeface="Calibri"/>
                <a:ea typeface="Calibri"/>
                <a:cs typeface="Calibri"/>
                <a:sym typeface="Calibri"/>
              </a:defRPr>
            </a:lvl4pPr>
            <a:lvl5pPr marL="1828800" marR="0" lvl="4" indent="0" algn="l" rtl="0">
              <a:spcBef>
                <a:spcPts val="360"/>
              </a:spcBef>
              <a:spcAft>
                <a:spcPts val="0"/>
              </a:spcAft>
              <a:buChar char="○"/>
              <a:defRPr sz="1200" b="0" i="0" u="none" strike="noStrike" cap="none">
                <a:solidFill>
                  <a:schemeClr val="dk1"/>
                </a:solidFill>
                <a:latin typeface="Calibri"/>
                <a:ea typeface="Calibri"/>
                <a:cs typeface="Calibri"/>
                <a:sym typeface="Calibri"/>
              </a:defRPr>
            </a:lvl5pPr>
            <a:lvl6pPr marL="2286000" marR="0" lvl="5" indent="0" algn="l" rtl="0">
              <a:spcBef>
                <a:spcPts val="0"/>
              </a:spcBef>
              <a:buChar char="■"/>
              <a:defRPr sz="1200" b="0" i="0" u="none" strike="noStrike" cap="none">
                <a:solidFill>
                  <a:schemeClr val="dk1"/>
                </a:solidFill>
                <a:latin typeface="Calibri"/>
                <a:ea typeface="Calibri"/>
                <a:cs typeface="Calibri"/>
                <a:sym typeface="Calibri"/>
              </a:defRPr>
            </a:lvl6pPr>
            <a:lvl7pPr marL="2743200" marR="0" lvl="6" indent="0" algn="l" rtl="0">
              <a:spcBef>
                <a:spcPts val="0"/>
              </a:spcBef>
              <a:buChar char="●"/>
              <a:defRPr sz="1200" b="0" i="0" u="none" strike="noStrike" cap="none">
                <a:solidFill>
                  <a:schemeClr val="dk1"/>
                </a:solidFill>
                <a:latin typeface="Calibri"/>
                <a:ea typeface="Calibri"/>
                <a:cs typeface="Calibri"/>
                <a:sym typeface="Calibri"/>
              </a:defRPr>
            </a:lvl7pPr>
            <a:lvl8pPr marL="3200400" marR="0" lvl="7" indent="0" algn="l" rtl="0">
              <a:spcBef>
                <a:spcPts val="0"/>
              </a:spcBef>
              <a:buChar char="○"/>
              <a:defRPr sz="1200" b="0" i="0" u="none" strike="noStrike" cap="none">
                <a:solidFill>
                  <a:schemeClr val="dk1"/>
                </a:solidFill>
                <a:latin typeface="Calibri"/>
                <a:ea typeface="Calibri"/>
                <a:cs typeface="Calibri"/>
                <a:sym typeface="Calibri"/>
              </a:defRPr>
            </a:lvl8pPr>
            <a:lvl9pPr marL="3657600" marR="0" lvl="8" indent="0" algn="l" rtl="0">
              <a:spcBef>
                <a:spcPts val="0"/>
              </a:spcBef>
              <a:buChar char="■"/>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800" cy="457200"/>
          </a:xfrm>
          <a:prstGeom prst="rect">
            <a:avLst/>
          </a:prstGeom>
          <a:noFill/>
          <a:ln>
            <a:noFill/>
          </a:ln>
        </p:spPr>
        <p:txBody>
          <a:bodyPr wrap="square" lIns="91425" tIns="91425" rIns="91425" bIns="91425" anchor="b" anchorCtr="0"/>
          <a:lstStyle>
            <a:lvl1pPr marL="0" marR="0" lvl="0" indent="0" algn="l" rtl="0">
              <a:spcBef>
                <a:spcPts val="0"/>
              </a:spcBef>
              <a:spcAft>
                <a:spcPts val="0"/>
              </a:spcAft>
              <a:buNone/>
              <a:defRPr sz="12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3" y="8685213"/>
            <a:ext cx="2971800" cy="457200"/>
          </a:xfrm>
          <a:prstGeom prst="rect">
            <a:avLst/>
          </a:prstGeom>
          <a:noFill/>
          <a:ln>
            <a:noFill/>
          </a:ln>
        </p:spPr>
        <p:txBody>
          <a:bodyPr wrap="square" lIns="91425" tIns="45700" rIns="91425" bIns="45700" anchor="b" anchorCtr="0">
            <a:noAutofit/>
          </a:bodyPr>
          <a:lstStyle/>
          <a:p>
            <a:pPr marL="0" marR="0" lvl="0" indent="0" algn="r" rtl="0">
              <a:spcBef>
                <a:spcPts val="0"/>
              </a:spcBef>
              <a:spcAft>
                <a:spcPts val="0"/>
              </a:spcAft>
              <a:buSzPct val="25000"/>
              <a:buNone/>
            </a:pPr>
            <a:fld id="{00000000-1234-1234-1234-123412341234}" type="slidenum">
              <a:rPr lang="zh-TW" sz="1200" b="0" i="0" u="none" strike="noStrike" cap="none">
                <a:solidFill>
                  <a:schemeClr val="dk1"/>
                </a:solidFill>
                <a:latin typeface="Arial"/>
                <a:ea typeface="Arial"/>
                <a:cs typeface="Arial"/>
                <a:sym typeface="Arial"/>
              </a:rPr>
              <a:t>‹#›</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814391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zh.wikipedia.org/wiki/%E7%A6%8F%E5%BB%BA%E7%9C%81" TargetMode="External"/><Relationship Id="rId2" Type="http://schemas.openxmlformats.org/officeDocument/2006/relationships/slide" Target="../slides/slide40.xml"/><Relationship Id="rId1" Type="http://schemas.openxmlformats.org/officeDocument/2006/relationships/notesMaster" Target="../notesMasters/notesMaster1.xml"/><Relationship Id="rId5" Type="http://schemas.openxmlformats.org/officeDocument/2006/relationships/hyperlink" Target="https://zh.wikipedia.org/wiki/%E6%9D%B1%E7%9F%B3%E9%8E%AE" TargetMode="External"/><Relationship Id="rId4" Type="http://schemas.openxmlformats.org/officeDocument/2006/relationships/hyperlink" Target="https://zh.wikipedia.org/wiki/%E6%99%89%E6%B1%9F%E5%B8%82"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None/>
            </a:pPr>
            <a:r>
              <a:rPr lang="en-US" altLang="zh-TW" sz="1200" b="0"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下列哪一座島嶼，在地形地質上，與其他三者差異「最大」</a:t>
            </a:r>
            <a:r>
              <a:rPr lang="en-US" altLang="zh-TW" sz="1200" b="1" i="0" u="none" strike="noStrike" kern="1200" cap="none" dirty="0">
                <a:solidFill>
                  <a:schemeClr val="dk1"/>
                </a:solidFill>
                <a:effectLst/>
                <a:latin typeface="Calibri"/>
                <a:ea typeface="Calibri"/>
                <a:cs typeface="Calibri"/>
                <a:sym typeface="Calibri"/>
              </a:rPr>
              <a:t>? (A)</a:t>
            </a:r>
            <a:r>
              <a:rPr lang="zh-TW" altLang="zh-TW" sz="1200" b="0" i="0" u="none" strike="noStrike" kern="1200" cap="none" dirty="0">
                <a:solidFill>
                  <a:schemeClr val="dk1"/>
                </a:solidFill>
                <a:effectLst/>
                <a:latin typeface="Calibri"/>
                <a:ea typeface="Calibri"/>
                <a:cs typeface="Calibri"/>
                <a:sym typeface="Calibri"/>
              </a:rPr>
              <a:t>龜山島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綠島</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金門</a:t>
            </a:r>
            <a:r>
              <a:rPr lang="zh-TW" altLang="zh-TW" sz="1200" b="1" i="0" u="none" strike="noStrike" kern="1200" cap="none" dirty="0">
                <a:solidFill>
                  <a:schemeClr val="dk1"/>
                </a:solidFill>
                <a:effectLst/>
                <a:latin typeface="Calibri"/>
                <a:ea typeface="Calibri"/>
                <a:cs typeface="Calibri"/>
                <a:sym typeface="Calibri"/>
              </a:rPr>
              <a:t> </a:t>
            </a:r>
            <a:r>
              <a:rPr lang="en-US" altLang="zh-TW" sz="1200" b="1" i="0" u="none" strike="noStrike" kern="1200" cap="none" dirty="0">
                <a:solidFill>
                  <a:schemeClr val="dk1"/>
                </a:solidFill>
                <a:effectLst/>
                <a:latin typeface="Calibri"/>
                <a:ea typeface="Calibri"/>
                <a:cs typeface="Calibri"/>
                <a:sym typeface="Calibri"/>
              </a:rPr>
              <a:t>(D)</a:t>
            </a:r>
            <a:r>
              <a:rPr lang="zh-TW" altLang="zh-TW" sz="1200" b="0" i="0" u="none" strike="noStrike" kern="1200" cap="none" dirty="0">
                <a:solidFill>
                  <a:schemeClr val="dk1"/>
                </a:solidFill>
                <a:effectLst/>
                <a:latin typeface="Calibri"/>
                <a:ea typeface="Calibri"/>
                <a:cs typeface="Calibri"/>
                <a:sym typeface="Calibri"/>
              </a:rPr>
              <a:t>澎湖</a:t>
            </a:r>
            <a:br>
              <a:rPr lang="en-US" altLang="zh-TW" sz="1200" b="0" i="0" u="none" strike="noStrike" kern="1200" cap="none" dirty="0">
                <a:solidFill>
                  <a:schemeClr val="dk1"/>
                </a:solidFill>
                <a:effectLst/>
                <a:latin typeface="Calibri"/>
                <a:ea typeface="Calibri"/>
                <a:cs typeface="Calibri"/>
                <a:sym typeface="Calibri"/>
              </a:rPr>
            </a:br>
            <a:r>
              <a:rPr lang="en-US" altLang="zh-TW" sz="1200" b="0" i="0" u="none" strike="noStrike" kern="1200" cap="none" dirty="0">
                <a:solidFill>
                  <a:schemeClr val="dk1"/>
                </a:solidFill>
                <a:effectLst/>
                <a:latin typeface="Calibri"/>
                <a:ea typeface="Calibri"/>
                <a:cs typeface="Calibri"/>
                <a:sym typeface="Calibri"/>
              </a:rPr>
              <a:t>C</a:t>
            </a:r>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508456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360"/>
              </a:spcBef>
              <a:spcAft>
                <a:spcPts val="0"/>
              </a:spcAft>
              <a:buClrTx/>
              <a:buSzTx/>
              <a:buFontTx/>
              <a:buChar char="●"/>
              <a:tabLst/>
              <a:defRPr/>
            </a:pPr>
            <a:r>
              <a:rPr lang="zh-TW" altLang="en-US" sz="1200" dirty="0">
                <a:solidFill>
                  <a:srgbClr val="FF0000"/>
                </a:solidFill>
                <a:latin typeface="標楷體" pitchFamily="65" charset="-120"/>
                <a:ea typeface="標楷體" pitchFamily="65" charset="-120"/>
              </a:rPr>
              <a:t>環太平洋火山地震帶</a:t>
            </a:r>
            <a:r>
              <a:rPr lang="zh-TW" altLang="en-US" sz="1200" dirty="0">
                <a:latin typeface="標楷體" pitchFamily="65" charset="-120"/>
                <a:ea typeface="標楷體" pitchFamily="65" charset="-120"/>
              </a:rPr>
              <a:t>：簡稱</a:t>
            </a:r>
            <a:r>
              <a:rPr lang="zh-TW" altLang="en-US" sz="1200" dirty="0">
                <a:solidFill>
                  <a:srgbClr val="FF0000"/>
                </a:solidFill>
                <a:latin typeface="標楷體" pitchFamily="65" charset="-120"/>
                <a:ea typeface="標楷體" pitchFamily="65" charset="-120"/>
              </a:rPr>
              <a:t>火環</a:t>
            </a:r>
            <a:r>
              <a:rPr lang="zh-TW" altLang="en-US" sz="1200" dirty="0">
                <a:latin typeface="標楷體" pitchFamily="65" charset="-120"/>
                <a:ea typeface="標楷體" pitchFamily="65" charset="-120"/>
              </a:rPr>
              <a:t>，為</a:t>
            </a:r>
            <a:r>
              <a:rPr lang="zh-TW" altLang="en-US" sz="1200" dirty="0">
                <a:solidFill>
                  <a:srgbClr val="FF0000"/>
                </a:solidFill>
                <a:latin typeface="標楷體" pitchFamily="65" charset="-120"/>
                <a:ea typeface="標楷體" pitchFamily="65" charset="-120"/>
              </a:rPr>
              <a:t>太平洋板塊四周</a:t>
            </a:r>
            <a:r>
              <a:rPr lang="zh-TW" altLang="en-US" sz="1200" dirty="0">
                <a:latin typeface="標楷體" pitchFamily="65" charset="-120"/>
                <a:ea typeface="標楷體" pitchFamily="65" charset="-120"/>
              </a:rPr>
              <a:t>與其他板塊交界之處，</a:t>
            </a:r>
            <a:r>
              <a:rPr lang="zh-TW" altLang="en-US" sz="1200" dirty="0">
                <a:solidFill>
                  <a:srgbClr val="FF0000"/>
                </a:solidFill>
                <a:latin typeface="標楷體" pitchFamily="65" charset="-120"/>
                <a:ea typeface="標楷體" pitchFamily="65" charset="-120"/>
              </a:rPr>
              <a:t>全世界高達八成以上的火山、地震皆發生於此。</a:t>
            </a:r>
          </a:p>
          <a:p>
            <a:endParaRPr lang="zh-TW" altLang="en-US" dirty="0"/>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5</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09662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pPr>
              <a:defRPr/>
            </a:pPr>
            <a:fld id="{9E3D5F44-CB05-44D1-8619-48E91B0F746C}" type="slidenum">
              <a:rPr lang="zh-TW" altLang="en-US" smtClean="0"/>
              <a:pPr>
                <a:defRPr/>
              </a:pPr>
              <a:t>7</a:t>
            </a:fld>
            <a:endParaRPr lang="en-US" altLang="zh-TW"/>
          </a:p>
        </p:txBody>
      </p:sp>
    </p:spTree>
    <p:extLst>
      <p:ext uri="{BB962C8B-B14F-4D97-AF65-F5344CB8AC3E}">
        <p14:creationId xmlns:p14="http://schemas.microsoft.com/office/powerpoint/2010/main" val="461853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pPr>
              <a:defRPr/>
            </a:pPr>
            <a:fld id="{9E3D5F44-CB05-44D1-8619-48E91B0F746C}" type="slidenum">
              <a:rPr lang="zh-TW" altLang="en-US" smtClean="0"/>
              <a:pPr>
                <a:defRPr/>
              </a:pPr>
              <a:t>11</a:t>
            </a:fld>
            <a:endParaRPr lang="en-US" altLang="zh-TW"/>
          </a:p>
        </p:txBody>
      </p:sp>
    </p:spTree>
    <p:extLst>
      <p:ext uri="{BB962C8B-B14F-4D97-AF65-F5344CB8AC3E}">
        <p14:creationId xmlns:p14="http://schemas.microsoft.com/office/powerpoint/2010/main" val="1196387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dirty="0">
                <a:solidFill>
                  <a:srgbClr val="FF0000"/>
                </a:solidFill>
                <a:latin typeface="微軟正黑體" panose="020B0604030504040204" pitchFamily="34" charset="-120"/>
                <a:ea typeface="微軟正黑體" panose="020B0604030504040204" pitchFamily="34" charset="-120"/>
              </a:rPr>
              <a:t>解析：</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甲</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東北角海岸因岩層軟硬相間且幾乎與海岸垂直，在東北季風侵襲與海蝕作用影響下，形成岬灣海岸；</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丙</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桃園早期墾民利用透水性較差的紅壤，在紅土層挖掘埤塘作蓄水灌溉之用；</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丁</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臺灣西南海岸以沙洲、沙丘與潟湖等地形為主；</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乙</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恆春半島南端以隆起珊瑚礁地形最為發達，故選</a:t>
            </a:r>
            <a:r>
              <a:rPr lang="en-US" altLang="zh-TW" sz="1200" dirty="0">
                <a:solidFill>
                  <a:srgbClr val="FF0000"/>
                </a:solidFill>
                <a:latin typeface="微軟正黑體" panose="020B0604030504040204" pitchFamily="34" charset="-120"/>
                <a:ea typeface="微軟正黑體" panose="020B0604030504040204" pitchFamily="34" charset="-120"/>
              </a:rPr>
              <a:t>(B)</a:t>
            </a:r>
            <a:endParaRPr lang="zh-TW" altLang="en-US" dirty="0"/>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13</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030553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pPr>
              <a:defRPr/>
            </a:pPr>
            <a:fld id="{9E3D5F44-CB05-44D1-8619-48E91B0F746C}" type="slidenum">
              <a:rPr lang="zh-TW" altLang="en-US" smtClean="0"/>
              <a:pPr>
                <a:defRPr/>
              </a:pPr>
              <a:t>14</a:t>
            </a:fld>
            <a:endParaRPr lang="en-US" altLang="zh-TW"/>
          </a:p>
        </p:txBody>
      </p:sp>
    </p:spTree>
    <p:extLst>
      <p:ext uri="{BB962C8B-B14F-4D97-AF65-F5344CB8AC3E}">
        <p14:creationId xmlns:p14="http://schemas.microsoft.com/office/powerpoint/2010/main" val="1499273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dirty="0">
                <a:solidFill>
                  <a:srgbClr val="FF0000"/>
                </a:solidFill>
                <a:latin typeface="微軟正黑體" panose="020B0604030504040204" pitchFamily="34" charset="-120"/>
                <a:ea typeface="微軟正黑體" panose="020B0604030504040204" pitchFamily="34" charset="-120"/>
              </a:rPr>
              <a:t>解析：</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甲</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東北角海岸因岩層軟硬相間且幾乎與海岸垂直，在東北季風侵襲與海蝕作用影響下，形成岬灣海岸；</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丙</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桃園早期墾民利用透水性較差的紅壤，在紅土層挖掘埤塘作蓄水灌溉之用；</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丁</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臺灣西南海岸以沙洲、沙丘與潟湖等地形為主；</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乙</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恆春半島南端以隆起珊瑚礁地形最為發達，故選</a:t>
            </a:r>
            <a:r>
              <a:rPr lang="en-US" altLang="zh-TW" sz="1200" dirty="0">
                <a:solidFill>
                  <a:srgbClr val="FF0000"/>
                </a:solidFill>
                <a:latin typeface="微軟正黑體" panose="020B0604030504040204" pitchFamily="34" charset="-120"/>
                <a:ea typeface="微軟正黑體" panose="020B0604030504040204" pitchFamily="34" charset="-120"/>
              </a:rPr>
              <a:t>(B)</a:t>
            </a:r>
            <a:endParaRPr lang="zh-TW" altLang="en-US" dirty="0"/>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15</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70843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dirty="0">
                <a:solidFill>
                  <a:srgbClr val="FF0000"/>
                </a:solidFill>
                <a:latin typeface="微軟正黑體" panose="020B0604030504040204" pitchFamily="34" charset="-120"/>
                <a:ea typeface="微軟正黑體" panose="020B0604030504040204" pitchFamily="34" charset="-120"/>
              </a:rPr>
              <a:t>解析：</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甲</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東北角海岸因岩層軟硬相間且幾乎與海岸垂直，在東北季風侵襲與海蝕作用影響下，形成岬灣海岸；</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丙</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桃園早期墾民利用透水性較差的紅壤，在紅土層挖掘埤塘作蓄水灌溉之用；</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丁</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臺灣西南海岸以沙洲、沙丘與潟湖等地形為主；</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乙</a:t>
            </a:r>
            <a:r>
              <a:rPr lang="en-US" altLang="zh-TW" sz="1200" dirty="0">
                <a:solidFill>
                  <a:srgbClr val="FF0000"/>
                </a:solidFill>
                <a:latin typeface="微軟正黑體" panose="020B0604030504040204" pitchFamily="34" charset="-120"/>
                <a:ea typeface="微軟正黑體" panose="020B0604030504040204" pitchFamily="34" charset="-120"/>
              </a:rPr>
              <a:t>)</a:t>
            </a:r>
            <a:r>
              <a:rPr lang="zh-TW" altLang="en-US" sz="1200" dirty="0">
                <a:solidFill>
                  <a:srgbClr val="FF0000"/>
                </a:solidFill>
                <a:latin typeface="微軟正黑體" panose="020B0604030504040204" pitchFamily="34" charset="-120"/>
                <a:ea typeface="微軟正黑體" panose="020B0604030504040204" pitchFamily="34" charset="-120"/>
              </a:rPr>
              <a:t>恆春半島南端以隆起珊瑚礁地形最為發達，故選</a:t>
            </a:r>
            <a:r>
              <a:rPr lang="en-US" altLang="zh-TW" sz="1200" dirty="0">
                <a:solidFill>
                  <a:srgbClr val="FF0000"/>
                </a:solidFill>
                <a:latin typeface="微軟正黑體" panose="020B0604030504040204" pitchFamily="34" charset="-120"/>
                <a:ea typeface="微軟正黑體" panose="020B0604030504040204" pitchFamily="34" charset="-120"/>
              </a:rPr>
              <a:t>(B)</a:t>
            </a:r>
            <a:endParaRPr lang="zh-TW" altLang="en-US" dirty="0"/>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17</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70865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360"/>
              </a:spcBef>
              <a:spcAft>
                <a:spcPts val="0"/>
              </a:spcAft>
              <a:buClrTx/>
              <a:buSzTx/>
              <a:buFontTx/>
              <a:buChar char="●"/>
              <a:tabLst/>
              <a:defRPr/>
            </a:pPr>
            <a:r>
              <a:rPr lang="zh-TW" altLang="en-US" sz="1200" b="1" i="0" u="none" strike="noStrike" kern="1200" cap="none" dirty="0">
                <a:solidFill>
                  <a:schemeClr val="dk1"/>
                </a:solidFill>
                <a:effectLst/>
                <a:latin typeface="Calibri"/>
                <a:ea typeface="Calibri"/>
                <a:cs typeface="Calibri"/>
                <a:sym typeface="Calibri"/>
              </a:rPr>
              <a:t>屏東擁豐沛地下水 南部唯一不缺水縣市</a:t>
            </a:r>
          </a:p>
          <a:p>
            <a:r>
              <a:rPr lang="en-US" altLang="zh-TW" dirty="0"/>
              <a:t>https://</a:t>
            </a:r>
            <a:r>
              <a:rPr lang="en-US" altLang="zh-TW" dirty="0" err="1"/>
              <a:t>www.storm.mg</a:t>
            </a:r>
            <a:r>
              <a:rPr lang="en-US" altLang="zh-TW" dirty="0"/>
              <a:t>/article/3573838</a:t>
            </a:r>
          </a:p>
          <a:p>
            <a:pPr marL="0" marR="0" indent="0" algn="l" defTabSz="914400" rtl="0" eaLnBrk="1" fontAlgn="auto" latinLnBrk="0" hangingPunct="1">
              <a:lnSpc>
                <a:spcPct val="100000"/>
              </a:lnSpc>
              <a:spcBef>
                <a:spcPts val="360"/>
              </a:spcBef>
              <a:spcAft>
                <a:spcPts val="0"/>
              </a:spcAft>
              <a:buClrTx/>
              <a:buSzTx/>
              <a:buFontTx/>
              <a:buChar char="●"/>
              <a:tabLst/>
              <a:defRPr/>
            </a:pPr>
            <a:endParaRPr lang="en-US" altLang="zh-TW" sz="1200" b="1" i="0" u="none" strike="noStrike" kern="1200" cap="none" dirty="0">
              <a:solidFill>
                <a:schemeClr val="dk1"/>
              </a:solidFill>
              <a:effectLst/>
              <a:latin typeface="Calibri"/>
              <a:ea typeface="Calibri"/>
              <a:cs typeface="Calibri"/>
              <a:sym typeface="Calibri"/>
            </a:endParaRPr>
          </a:p>
          <a:p>
            <a:pPr marL="0" marR="0" indent="0" algn="l" defTabSz="914400" rtl="0" eaLnBrk="1" fontAlgn="auto" latinLnBrk="0" hangingPunct="1">
              <a:lnSpc>
                <a:spcPct val="100000"/>
              </a:lnSpc>
              <a:spcBef>
                <a:spcPts val="360"/>
              </a:spcBef>
              <a:spcAft>
                <a:spcPts val="0"/>
              </a:spcAft>
              <a:buClrTx/>
              <a:buSzTx/>
              <a:buFontTx/>
              <a:buChar char="●"/>
              <a:tabLst/>
              <a:defRPr/>
            </a:pPr>
            <a:r>
              <a:rPr lang="en-US" altLang="zh-TW" sz="1200" b="1" i="0" u="none" strike="noStrike" kern="1200" cap="none" dirty="0">
                <a:solidFill>
                  <a:schemeClr val="dk1"/>
                </a:solidFill>
                <a:effectLst/>
                <a:latin typeface="Calibri"/>
                <a:ea typeface="Calibri"/>
                <a:cs typeface="Calibri"/>
                <a:sym typeface="Calibri"/>
              </a:rPr>
              <a:t>56</a:t>
            </a:r>
            <a:r>
              <a:rPr lang="zh-TW" altLang="en-US" sz="1200" b="1" i="0" u="none" strike="noStrike" kern="1200" cap="none" dirty="0">
                <a:solidFill>
                  <a:schemeClr val="dk1"/>
                </a:solidFill>
                <a:effectLst/>
                <a:latin typeface="Calibri"/>
                <a:ea typeface="Calibri"/>
                <a:cs typeface="Calibri"/>
                <a:sym typeface="Calibri"/>
              </a:rPr>
              <a:t>年大旱中，屏東水情竟能亮綠燈！祕密藏在一座看不見的湖</a:t>
            </a:r>
          </a:p>
          <a:p>
            <a:r>
              <a:rPr lang="en-US" altLang="zh-TW" dirty="0"/>
              <a:t>https://</a:t>
            </a:r>
            <a:r>
              <a:rPr lang="en-US" altLang="zh-TW" dirty="0" err="1"/>
              <a:t>www.cw.com.tw</a:t>
            </a:r>
            <a:r>
              <a:rPr lang="en-US" altLang="zh-TW" dirty="0"/>
              <a:t>/article/5114690</a:t>
            </a:r>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18</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37984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投影片圖像版面配置區 1"/>
          <p:cNvSpPr>
            <a:spLocks noGrp="1" noRot="1" noChangeAspect="1" noTextEdit="1"/>
          </p:cNvSpPr>
          <p:nvPr>
            <p:ph type="sldImg"/>
          </p:nvPr>
        </p:nvSpPr>
        <p:spPr>
          <a:ln/>
        </p:spPr>
      </p:sp>
      <p:sp>
        <p:nvSpPr>
          <p:cNvPr id="56323" name="備忘稿版面配置區 2"/>
          <p:cNvSpPr>
            <a:spLocks noGrp="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dirty="0"/>
          </a:p>
        </p:txBody>
      </p:sp>
      <p:sp>
        <p:nvSpPr>
          <p:cNvPr id="7172"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新細明體" panose="02020500000000000000" pitchFamily="18" charset="-120"/>
              </a:defRPr>
            </a:lvl1pPr>
            <a:lvl2pPr marL="742950" indent="-285750">
              <a:spcBef>
                <a:spcPct val="30000"/>
              </a:spcBef>
              <a:defRPr sz="1200">
                <a:solidFill>
                  <a:schemeClr val="tx1"/>
                </a:solidFill>
                <a:latin typeface="Calibri" panose="020F0502020204030204" pitchFamily="34" charset="0"/>
                <a:ea typeface="新細明體" panose="02020500000000000000" pitchFamily="18" charset="-120"/>
              </a:defRPr>
            </a:lvl2pPr>
            <a:lvl3pPr marL="1143000" indent="-228600">
              <a:spcBef>
                <a:spcPct val="30000"/>
              </a:spcBef>
              <a:defRPr sz="1200">
                <a:solidFill>
                  <a:schemeClr val="tx1"/>
                </a:solidFill>
                <a:latin typeface="Calibri" panose="020F0502020204030204" pitchFamily="34" charset="0"/>
                <a:ea typeface="新細明體" panose="02020500000000000000" pitchFamily="18" charset="-120"/>
              </a:defRPr>
            </a:lvl3pPr>
            <a:lvl4pPr marL="1600200" indent="-228600">
              <a:spcBef>
                <a:spcPct val="30000"/>
              </a:spcBef>
              <a:defRPr sz="1200">
                <a:solidFill>
                  <a:schemeClr val="tx1"/>
                </a:solidFill>
                <a:latin typeface="Calibri" panose="020F0502020204030204" pitchFamily="34" charset="0"/>
                <a:ea typeface="新細明體" panose="02020500000000000000" pitchFamily="18" charset="-120"/>
              </a:defRPr>
            </a:lvl4pPr>
            <a:lvl5pPr marL="2057400" indent="-228600">
              <a:spcBef>
                <a:spcPct val="30000"/>
              </a:spcBef>
              <a:defRPr sz="1200">
                <a:solidFill>
                  <a:schemeClr val="tx1"/>
                </a:solidFill>
                <a:latin typeface="Calibri" panose="020F0502020204030204" pitchFamily="34" charset="0"/>
                <a:ea typeface="新細明體" panose="02020500000000000000" pitchFamily="18" charset="-12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新細明體" panose="02020500000000000000" pitchFamily="18" charset="-12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新細明體" panose="02020500000000000000" pitchFamily="18" charset="-12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新細明體" panose="02020500000000000000" pitchFamily="18" charset="-12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新細明體" panose="02020500000000000000" pitchFamily="18" charset="-120"/>
              </a:defRPr>
            </a:lvl9pPr>
          </a:lstStyle>
          <a:p>
            <a:pPr eaLnBrk="1" hangingPunct="1">
              <a:spcBef>
                <a:spcPct val="0"/>
              </a:spcBef>
            </a:pPr>
            <a:fld id="{9A540EC9-38A7-49E9-B717-C4FE1EF37161}" type="slidenum">
              <a:rPr lang="zh-TW" altLang="en-US" smtClean="0">
                <a:latin typeface="Arial" panose="020B0604020202020204" pitchFamily="34" charset="0"/>
              </a:rPr>
              <a:pPr eaLnBrk="1" hangingPunct="1">
                <a:spcBef>
                  <a:spcPct val="0"/>
                </a:spcBef>
              </a:pPr>
              <a:t>21</a:t>
            </a:fld>
            <a:endParaRPr lang="en-US" altLang="zh-TW">
              <a:latin typeface="Arial" panose="020B0604020202020204" pitchFamily="34" charset="0"/>
            </a:endParaRPr>
          </a:p>
        </p:txBody>
      </p:sp>
    </p:spTree>
    <p:extLst>
      <p:ext uri="{BB962C8B-B14F-4D97-AF65-F5344CB8AC3E}">
        <p14:creationId xmlns:p14="http://schemas.microsoft.com/office/powerpoint/2010/main" val="1271617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TW" sz="1200" b="0" i="0" u="none" strike="noStrike" kern="1200" cap="none" dirty="0">
                <a:solidFill>
                  <a:schemeClr val="dk1"/>
                </a:solidFill>
                <a:effectLst/>
                <a:latin typeface="Calibri"/>
                <a:ea typeface="Calibri"/>
                <a:cs typeface="Calibri"/>
                <a:sym typeface="Calibri"/>
              </a:rPr>
              <a:t>14.</a:t>
            </a:r>
            <a:r>
              <a:rPr lang="zh-TW" altLang="zh-TW" sz="1200" b="0" i="0" u="none" strike="noStrike" kern="1200" cap="none" dirty="0">
                <a:solidFill>
                  <a:schemeClr val="dk1"/>
                </a:solidFill>
                <a:effectLst/>
                <a:latin typeface="Calibri"/>
                <a:ea typeface="Calibri"/>
                <a:cs typeface="Calibri"/>
                <a:sym typeface="Calibri"/>
              </a:rPr>
              <a:t>臺灣島位於北回歸線附近，卻沒有如沙烏地阿拉伯一樣形成乾燥氣候，反而有豐沛雨量，主要原因 有：</a:t>
            </a:r>
            <a:endParaRPr lang="en-US" altLang="zh-TW" sz="1200" b="0" i="0" u="none" strike="noStrike" kern="1200" cap="none" dirty="0">
              <a:solidFill>
                <a:schemeClr val="dk1"/>
              </a:solidFill>
              <a:effectLst/>
              <a:latin typeface="Calibri"/>
              <a:ea typeface="Calibri"/>
              <a:cs typeface="Calibri"/>
              <a:sym typeface="Calibri"/>
            </a:endParaRPr>
          </a:p>
          <a:p>
            <a:pPr eaLnBrk="1" hangingPunct="1"/>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甲</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位於大陸及大洋交會處；</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乙</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西風長年吹拂；</a:t>
            </a:r>
            <a:endParaRPr lang="en-US" altLang="zh-TW" sz="1200" b="0" i="0" u="none" strike="noStrike" kern="1200" cap="none" dirty="0">
              <a:solidFill>
                <a:schemeClr val="dk1"/>
              </a:solidFill>
              <a:effectLst/>
              <a:latin typeface="Calibri"/>
              <a:ea typeface="Calibri"/>
              <a:cs typeface="Calibri"/>
              <a:sym typeface="Calibri"/>
            </a:endParaRPr>
          </a:p>
          <a:p>
            <a:pPr eaLnBrk="1" hangingPunct="1"/>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丙</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受到季風、鋒面與颱風影響；</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丁</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夏季受到 蒙古高壓影響。</a:t>
            </a:r>
            <a:endParaRPr lang="en-US" altLang="zh-TW" sz="1200" b="0" i="0" u="none" strike="noStrike" kern="1200" cap="none" dirty="0">
              <a:solidFill>
                <a:schemeClr val="dk1"/>
              </a:solidFill>
              <a:effectLst/>
              <a:latin typeface="Calibri"/>
              <a:ea typeface="Calibri"/>
              <a:cs typeface="Calibri"/>
              <a:sym typeface="Calibri"/>
            </a:endParaRPr>
          </a:p>
          <a:p>
            <a:pPr eaLnBrk="1" hangingPunct="1"/>
            <a:r>
              <a:rPr lang="zh-TW" altLang="zh-TW" sz="1200" b="0" i="0" u="none" strike="noStrike" kern="1200" cap="none" dirty="0">
                <a:solidFill>
                  <a:schemeClr val="dk1"/>
                </a:solidFill>
                <a:effectLst/>
                <a:latin typeface="Calibri"/>
                <a:ea typeface="Calibri"/>
                <a:cs typeface="Calibri"/>
                <a:sym typeface="Calibri"/>
              </a:rPr>
              <a:t>請問：上述正確的有哪些？</a:t>
            </a:r>
            <a:endParaRPr lang="en-US" altLang="zh-TW" sz="1200" b="0" i="0" u="none" strike="noStrike" kern="1200" cap="none" dirty="0">
              <a:solidFill>
                <a:schemeClr val="dk1"/>
              </a:solidFill>
              <a:effectLst/>
              <a:latin typeface="Calibri"/>
              <a:ea typeface="Calibri"/>
              <a:cs typeface="Calibri"/>
              <a:sym typeface="Calibri"/>
            </a:endParaRPr>
          </a:p>
          <a:p>
            <a:pPr eaLnBrk="1" hangingPunct="1"/>
            <a:r>
              <a:rPr lang="zh-TW" altLang="zh-TW" sz="1200" b="0" i="0" u="none" strike="noStrike" kern="1200" cap="none" dirty="0">
                <a:solidFill>
                  <a:schemeClr val="dk1"/>
                </a:solidFill>
                <a:effectLst/>
                <a:latin typeface="Calibri"/>
                <a:ea typeface="Calibri"/>
                <a:cs typeface="Calibri"/>
                <a:sym typeface="Calibri"/>
              </a:rPr>
              <a:t> </a:t>
            </a:r>
            <a:r>
              <a:rPr lang="en-US" altLang="zh-TW" sz="1200" b="1" i="0" u="none" strike="noStrike" kern="1200" cap="none" dirty="0">
                <a:solidFill>
                  <a:schemeClr val="dk1"/>
                </a:solidFill>
                <a:effectLst/>
                <a:latin typeface="Calibri"/>
                <a:ea typeface="Calibri"/>
                <a:cs typeface="Calibri"/>
                <a:sym typeface="Calibri"/>
              </a:rPr>
              <a:t>(A)</a:t>
            </a:r>
            <a:r>
              <a:rPr lang="zh-TW" altLang="zh-TW" sz="1200" b="0" i="0" u="none" strike="noStrike" kern="1200" cap="none" dirty="0">
                <a:solidFill>
                  <a:schemeClr val="dk1"/>
                </a:solidFill>
                <a:effectLst/>
                <a:latin typeface="Calibri"/>
                <a:ea typeface="Calibri"/>
                <a:cs typeface="Calibri"/>
                <a:sym typeface="Calibri"/>
              </a:rPr>
              <a:t>甲乙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乙丙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甲丙 </a:t>
            </a:r>
            <a:r>
              <a:rPr lang="en-US" altLang="zh-TW" sz="1200" b="1" i="0" u="none" strike="noStrike" kern="1200" cap="none" dirty="0">
                <a:solidFill>
                  <a:schemeClr val="dk1"/>
                </a:solidFill>
                <a:effectLst/>
                <a:latin typeface="Calibri"/>
                <a:ea typeface="Calibri"/>
                <a:cs typeface="Calibri"/>
                <a:sym typeface="Calibri"/>
              </a:rPr>
              <a:t>(D)</a:t>
            </a:r>
            <a:r>
              <a:rPr lang="zh-TW" altLang="zh-TW" sz="1200" b="0" i="0" u="none" strike="noStrike" kern="1200" cap="none" dirty="0">
                <a:solidFill>
                  <a:schemeClr val="dk1"/>
                </a:solidFill>
                <a:effectLst/>
                <a:latin typeface="Calibri"/>
                <a:ea typeface="Calibri"/>
                <a:cs typeface="Calibri"/>
                <a:sym typeface="Calibri"/>
              </a:rPr>
              <a:t>甲丁 </a:t>
            </a:r>
            <a:r>
              <a:rPr lang="en-US" altLang="zh-TW" sz="1200" b="1" i="0" u="none" strike="noStrike" kern="1200" cap="none" dirty="0">
                <a:solidFill>
                  <a:schemeClr val="dk1"/>
                </a:solidFill>
                <a:effectLst/>
                <a:latin typeface="Calibri"/>
                <a:ea typeface="Calibri"/>
                <a:cs typeface="Calibri"/>
                <a:sym typeface="Calibri"/>
              </a:rPr>
              <a:t>(E)</a:t>
            </a:r>
            <a:r>
              <a:rPr lang="zh-TW" altLang="zh-TW" sz="1200" b="0" i="0" u="none" strike="noStrike" kern="1200" cap="none" dirty="0">
                <a:solidFill>
                  <a:schemeClr val="dk1"/>
                </a:solidFill>
                <a:effectLst/>
                <a:latin typeface="Calibri"/>
                <a:ea typeface="Calibri"/>
                <a:cs typeface="Calibri"/>
                <a:sym typeface="Calibri"/>
              </a:rPr>
              <a:t>丙丁</a:t>
            </a:r>
            <a:endParaRPr lang="en-US" altLang="zh-TW" sz="1200" b="0" i="0" u="none" strike="noStrike" kern="1200" cap="none" dirty="0">
              <a:solidFill>
                <a:schemeClr val="dk1"/>
              </a:solidFill>
              <a:effectLst/>
              <a:latin typeface="Calibri"/>
              <a:ea typeface="Calibri"/>
              <a:cs typeface="Calibri"/>
              <a:sym typeface="Calibri"/>
            </a:endParaRPr>
          </a:p>
          <a:p>
            <a:pPr eaLnBrk="1" hangingPunct="1"/>
            <a:r>
              <a:rPr lang="en-US" altLang="zh-TW" sz="1200" b="0" i="0" u="none" strike="noStrike" kern="1200" cap="none" dirty="0">
                <a:solidFill>
                  <a:schemeClr val="dk1"/>
                </a:solidFill>
                <a:effectLst/>
                <a:latin typeface="Calibri"/>
                <a:sym typeface="Calibri"/>
              </a:rPr>
              <a:t>C</a:t>
            </a:r>
            <a:endParaRPr lang="zh-TW" altLang="en-US" dirty="0"/>
          </a:p>
        </p:txBody>
      </p:sp>
    </p:spTree>
    <p:extLst>
      <p:ext uri="{BB962C8B-B14F-4D97-AF65-F5344CB8AC3E}">
        <p14:creationId xmlns:p14="http://schemas.microsoft.com/office/powerpoint/2010/main" val="25690235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360"/>
              </a:spcBef>
              <a:spcAft>
                <a:spcPts val="0"/>
              </a:spcAft>
              <a:buClrTx/>
              <a:buSzTx/>
              <a:buFontTx/>
              <a:buChar char="●"/>
              <a:tabLst/>
              <a:defRPr/>
            </a:pPr>
            <a:r>
              <a:rPr lang="en-US" altLang="zh-TW" sz="1200" b="0" i="0" u="none" strike="noStrike" kern="1200" cap="none" dirty="0">
                <a:solidFill>
                  <a:schemeClr val="dk1"/>
                </a:solidFill>
                <a:effectLst/>
                <a:latin typeface="Calibri"/>
                <a:ea typeface="Calibri"/>
                <a:cs typeface="Calibri"/>
                <a:sym typeface="Calibri"/>
              </a:rPr>
              <a:t>13.</a:t>
            </a:r>
            <a:r>
              <a:rPr lang="zh-TW" altLang="zh-TW" sz="1200" b="0" i="0" u="none" strike="noStrike" kern="1200" cap="none" dirty="0">
                <a:solidFill>
                  <a:schemeClr val="dk1"/>
                </a:solidFill>
                <a:effectLst/>
                <a:latin typeface="Calibri"/>
                <a:ea typeface="Calibri"/>
                <a:cs typeface="Calibri"/>
                <a:sym typeface="Calibri"/>
              </a:rPr>
              <a:t>高雄市平均年雨量約 </a:t>
            </a:r>
            <a:r>
              <a:rPr lang="en-US" altLang="zh-TW" sz="1200" b="1" i="0" u="none" strike="noStrike" kern="1200" cap="none" dirty="0" err="1">
                <a:solidFill>
                  <a:schemeClr val="dk1"/>
                </a:solidFill>
                <a:effectLst/>
                <a:latin typeface="Calibri"/>
                <a:ea typeface="Calibri"/>
                <a:cs typeface="Calibri"/>
                <a:sym typeface="Calibri"/>
              </a:rPr>
              <a:t>1800mm</a:t>
            </a:r>
            <a:r>
              <a:rPr lang="zh-TW" altLang="zh-TW" sz="1200" b="0" i="0" u="none" strike="noStrike" kern="1200" cap="none" dirty="0">
                <a:solidFill>
                  <a:schemeClr val="dk1"/>
                </a:solidFill>
                <a:effectLst/>
                <a:latin typeface="Calibri"/>
                <a:ea typeface="Calibri"/>
                <a:cs typeface="Calibri"/>
                <a:sym typeface="Calibri"/>
              </a:rPr>
              <a:t>，可是該地常在</a:t>
            </a:r>
            <a:r>
              <a:rPr lang="en-US" altLang="zh-TW" sz="1200" b="0"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春季出現限水</a:t>
            </a:r>
            <a:r>
              <a:rPr lang="en-US" altLang="zh-TW" sz="1200" b="0"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的狀況，請問</a:t>
            </a:r>
            <a:r>
              <a:rPr lang="en-US" altLang="zh-TW" sz="1200" b="1" i="0" u="none" strike="noStrike" kern="1200" cap="none" dirty="0">
                <a:solidFill>
                  <a:schemeClr val="dk1"/>
                </a:solidFill>
                <a:effectLst/>
                <a:latin typeface="Calibri"/>
                <a:ea typeface="Calibri"/>
                <a:cs typeface="Calibri"/>
                <a:sym typeface="Calibri"/>
              </a:rPr>
              <a:t>:</a:t>
            </a:r>
            <a:r>
              <a:rPr lang="en-US" altLang="zh-TW" sz="1200" b="0"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此現象出現的最主要原 因是</a:t>
            </a:r>
            <a:r>
              <a:rPr lang="en-US" altLang="zh-TW" sz="1200" b="1" i="0" u="none" strike="noStrike" kern="1200" cap="none" dirty="0">
                <a:solidFill>
                  <a:schemeClr val="dk1"/>
                </a:solidFill>
                <a:effectLst/>
                <a:latin typeface="Calibri"/>
                <a:ea typeface="Calibri"/>
                <a:cs typeface="Calibri"/>
                <a:sym typeface="Calibri"/>
              </a:rPr>
              <a:t>?</a:t>
            </a:r>
            <a:r>
              <a:rPr lang="en-US" altLang="zh-TW" sz="1200" b="0" i="0" u="none" strike="noStrike" kern="1200" cap="none" dirty="0">
                <a:solidFill>
                  <a:schemeClr val="dk1"/>
                </a:solidFill>
                <a:effectLst/>
                <a:latin typeface="Calibri"/>
                <a:ea typeface="Calibri"/>
                <a:cs typeface="Calibri"/>
                <a:sym typeface="Calibri"/>
              </a:rPr>
              <a:t> </a:t>
            </a:r>
          </a:p>
          <a:p>
            <a:pPr marL="0" marR="0" indent="0" algn="l" defTabSz="914400" rtl="0" eaLnBrk="1" fontAlgn="auto" latinLnBrk="0" hangingPunct="1">
              <a:lnSpc>
                <a:spcPct val="100000"/>
              </a:lnSpc>
              <a:spcBef>
                <a:spcPts val="360"/>
              </a:spcBef>
              <a:spcAft>
                <a:spcPts val="0"/>
              </a:spcAft>
              <a:buClrTx/>
              <a:buSzTx/>
              <a:buFontTx/>
              <a:buChar char="●"/>
              <a:tabLst/>
              <a:defRPr/>
            </a:pPr>
            <a:r>
              <a:rPr lang="en-US" altLang="zh-TW" sz="1200" b="1" i="0" u="none" strike="noStrike" kern="1200" cap="none" dirty="0">
                <a:solidFill>
                  <a:schemeClr val="dk1"/>
                </a:solidFill>
                <a:effectLst/>
                <a:latin typeface="Calibri"/>
                <a:ea typeface="Calibri"/>
                <a:cs typeface="Calibri"/>
                <a:sym typeface="Calibri"/>
              </a:rPr>
              <a:t>(A)</a:t>
            </a:r>
            <a:r>
              <a:rPr lang="zh-TW" altLang="zh-TW" sz="1200" b="0" i="0" u="none" strike="noStrike" kern="1200" cap="none" dirty="0">
                <a:solidFill>
                  <a:schemeClr val="dk1"/>
                </a:solidFill>
                <a:effectLst/>
                <a:latin typeface="Calibri"/>
                <a:ea typeface="Calibri"/>
                <a:cs typeface="Calibri"/>
                <a:sym typeface="Calibri"/>
              </a:rPr>
              <a:t>降水季節分布不均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境內無水庫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工業汙染嚴重 </a:t>
            </a:r>
            <a:r>
              <a:rPr lang="en-US" altLang="zh-TW" sz="1200" b="1" i="0" u="none" strike="noStrike" kern="1200" cap="none" dirty="0">
                <a:solidFill>
                  <a:schemeClr val="dk1"/>
                </a:solidFill>
                <a:effectLst/>
                <a:latin typeface="Calibri"/>
                <a:ea typeface="Calibri"/>
                <a:cs typeface="Calibri"/>
                <a:sym typeface="Calibri"/>
              </a:rPr>
              <a:t>(D)</a:t>
            </a:r>
            <a:r>
              <a:rPr lang="zh-TW" altLang="zh-TW" sz="1200" b="0" i="0" u="none" strike="noStrike" kern="1200" cap="none" dirty="0">
                <a:solidFill>
                  <a:schemeClr val="dk1"/>
                </a:solidFill>
                <a:effectLst/>
                <a:latin typeface="Calibri"/>
                <a:ea typeface="Calibri"/>
                <a:cs typeface="Calibri"/>
                <a:sym typeface="Calibri"/>
              </a:rPr>
              <a:t>人口總數全台各縣市第一 </a:t>
            </a:r>
          </a:p>
          <a:p>
            <a:r>
              <a:rPr lang="en-US" altLang="zh-TW" dirty="0"/>
              <a:t>A</a:t>
            </a:r>
            <a:endParaRPr lang="zh-TW" altLang="en-US" dirty="0"/>
          </a:p>
        </p:txBody>
      </p:sp>
    </p:spTree>
    <p:extLst>
      <p:ext uri="{BB962C8B-B14F-4D97-AF65-F5344CB8AC3E}">
        <p14:creationId xmlns:p14="http://schemas.microsoft.com/office/powerpoint/2010/main" val="3890973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1" i="0" u="none" strike="noStrike" kern="1200" cap="none" dirty="0">
                <a:solidFill>
                  <a:schemeClr val="dk1"/>
                </a:solidFill>
                <a:effectLst/>
                <a:latin typeface="Calibri"/>
                <a:ea typeface="Calibri"/>
                <a:cs typeface="Calibri"/>
                <a:sym typeface="Calibri"/>
              </a:rPr>
              <a:t>10. </a:t>
            </a:r>
            <a:r>
              <a:rPr lang="zh-TW" altLang="zh-TW" sz="1200" b="0" i="0" u="none" strike="noStrike" kern="1200" cap="none" dirty="0">
                <a:solidFill>
                  <a:schemeClr val="dk1"/>
                </a:solidFill>
                <a:effectLst/>
                <a:latin typeface="Calibri"/>
                <a:ea typeface="Calibri"/>
                <a:cs typeface="Calibri"/>
                <a:sym typeface="Calibri"/>
              </a:rPr>
              <a:t>近年來，科學家研發太陽能電池，將太陽能轉為電能。不過，</a:t>
            </a:r>
            <a:endParaRPr lang="en-US" altLang="zh-TW" sz="1200" b="0" i="0" u="none" strike="noStrike" kern="1200" cap="none" dirty="0">
              <a:solidFill>
                <a:schemeClr val="dk1"/>
              </a:solidFill>
              <a:effectLst/>
              <a:latin typeface="Calibri"/>
              <a:ea typeface="Calibri"/>
              <a:cs typeface="Calibri"/>
              <a:sym typeface="Calibri"/>
            </a:endParaRPr>
          </a:p>
          <a:p>
            <a:r>
              <a:rPr lang="zh-TW" altLang="zh-TW" sz="1200" b="0" i="0" u="none" strike="noStrike" kern="1200" cap="none" dirty="0">
                <a:solidFill>
                  <a:schemeClr val="dk1"/>
                </a:solidFill>
                <a:effectLst/>
                <a:latin typeface="Calibri"/>
                <a:ea typeface="Calibri"/>
                <a:cs typeface="Calibri"/>
                <a:sym typeface="Calibri"/>
              </a:rPr>
              <a:t>太陽能電池需要夠長的日照，才能有</a:t>
            </a:r>
            <a:r>
              <a:rPr lang="zh-TW"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一定的發電效益。</a:t>
            </a:r>
            <a:endParaRPr lang="en-US" altLang="zh-TW" sz="1200" b="0" i="0" u="none" strike="noStrike" kern="1200" cap="none" dirty="0">
              <a:solidFill>
                <a:schemeClr val="dk1"/>
              </a:solidFill>
              <a:effectLst/>
              <a:latin typeface="Calibri"/>
              <a:ea typeface="Calibri"/>
              <a:cs typeface="Calibri"/>
              <a:sym typeface="Calibri"/>
            </a:endParaRPr>
          </a:p>
          <a:p>
            <a:r>
              <a:rPr lang="zh-TW" altLang="zh-TW" sz="1200" b="0" i="0" u="none" strike="noStrike" kern="1200" cap="none" dirty="0">
                <a:solidFill>
                  <a:schemeClr val="dk1"/>
                </a:solidFill>
                <a:effectLst/>
                <a:latin typeface="Calibri"/>
                <a:ea typeface="Calibri"/>
                <a:cs typeface="Calibri"/>
                <a:sym typeface="Calibri"/>
              </a:rPr>
              <a:t>若只單純考量年平均日照時數，下列何地比較適合開發太陽能發電？</a:t>
            </a:r>
            <a:endParaRPr lang="en-US" altLang="zh-TW" sz="1200" b="0" i="0" u="none" strike="noStrike" kern="1200" cap="none" dirty="0">
              <a:solidFill>
                <a:schemeClr val="dk1"/>
              </a:solidFill>
              <a:effectLst/>
              <a:latin typeface="Calibri"/>
              <a:ea typeface="Calibri"/>
              <a:cs typeface="Calibri"/>
              <a:sym typeface="Calibri"/>
            </a:endParaRPr>
          </a:p>
          <a:p>
            <a:r>
              <a:rPr lang="en-US" altLang="zh-TW" sz="1200" b="1" i="0" u="none" strike="noStrike" kern="1200" cap="none" dirty="0">
                <a:solidFill>
                  <a:schemeClr val="dk1"/>
                </a:solidFill>
                <a:effectLst/>
                <a:latin typeface="Calibri"/>
                <a:ea typeface="Calibri"/>
                <a:cs typeface="Calibri"/>
                <a:sym typeface="Calibri"/>
              </a:rPr>
              <a:t>(A)</a:t>
            </a:r>
            <a:r>
              <a:rPr lang="zh-TW" altLang="zh-TW" sz="1200" b="0" i="0" u="none" strike="noStrike" kern="1200" cap="none" dirty="0">
                <a:solidFill>
                  <a:schemeClr val="dk1"/>
                </a:solidFill>
                <a:effectLst/>
                <a:latin typeface="Calibri"/>
                <a:ea typeface="Calibri"/>
                <a:cs typeface="Calibri"/>
                <a:sym typeface="Calibri"/>
              </a:rPr>
              <a:t>蘭陽平原</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臺北盆地</a:t>
            </a:r>
            <a:r>
              <a:rPr lang="en-US" altLang="zh-TW" sz="1200" b="1" i="0" u="none" strike="noStrike" kern="1200" cap="none" dirty="0">
                <a:solidFill>
                  <a:schemeClr val="dk1"/>
                </a:solidFill>
                <a:effectLst/>
                <a:latin typeface="Calibri"/>
                <a:ea typeface="Calibri"/>
                <a:cs typeface="Calibri"/>
                <a:sym typeface="Calibri"/>
              </a:rPr>
              <a:t> (C)</a:t>
            </a:r>
            <a:r>
              <a:rPr lang="zh-TW" altLang="zh-TW" sz="1200" b="0" i="0" u="none" strike="noStrike" kern="1200" cap="none" dirty="0">
                <a:solidFill>
                  <a:schemeClr val="dk1"/>
                </a:solidFill>
                <a:effectLst/>
                <a:latin typeface="Calibri"/>
                <a:ea typeface="Calibri"/>
                <a:cs typeface="Calibri"/>
                <a:sym typeface="Calibri"/>
              </a:rPr>
              <a:t>桃園台地</a:t>
            </a:r>
            <a:r>
              <a:rPr lang="zh-TW" altLang="zh-TW" sz="1200" b="1" i="0" u="none" strike="noStrike" kern="1200" cap="none" dirty="0">
                <a:solidFill>
                  <a:schemeClr val="dk1"/>
                </a:solidFill>
                <a:effectLst/>
                <a:latin typeface="Calibri"/>
                <a:ea typeface="Calibri"/>
                <a:cs typeface="Calibri"/>
                <a:sym typeface="Calibri"/>
              </a:rPr>
              <a:t> </a:t>
            </a:r>
            <a:r>
              <a:rPr lang="en-US" altLang="zh-TW" sz="1200" b="1" i="0" u="none" strike="noStrike" kern="1200" cap="none" dirty="0">
                <a:solidFill>
                  <a:schemeClr val="dk1"/>
                </a:solidFill>
                <a:effectLst/>
                <a:latin typeface="Calibri"/>
                <a:ea typeface="Calibri"/>
                <a:cs typeface="Calibri"/>
                <a:sym typeface="Calibri"/>
              </a:rPr>
              <a:t>(D)</a:t>
            </a:r>
            <a:r>
              <a:rPr lang="zh-TW" altLang="zh-TW" sz="1200" b="0" i="0" u="none" strike="noStrike" kern="1200" cap="none" dirty="0">
                <a:solidFill>
                  <a:schemeClr val="dk1"/>
                </a:solidFill>
                <a:effectLst/>
                <a:latin typeface="Calibri"/>
                <a:ea typeface="Calibri"/>
                <a:cs typeface="Calibri"/>
                <a:sym typeface="Calibri"/>
              </a:rPr>
              <a:t>澎湖群島</a:t>
            </a:r>
          </a:p>
          <a:p>
            <a:pPr>
              <a:defRPr/>
            </a:pPr>
            <a:r>
              <a:rPr lang="en-US" altLang="zh-TW" dirty="0"/>
              <a:t>D</a:t>
            </a:r>
          </a:p>
          <a:p>
            <a:pPr>
              <a:defRPr/>
            </a:pPr>
            <a:endParaRPr lang="zh-TW" altLang="en-US" dirty="0"/>
          </a:p>
          <a:p>
            <a:r>
              <a:rPr lang="zh-TW" altLang="en-US" dirty="0"/>
              <a:t>山多西少</a:t>
            </a:r>
          </a:p>
          <a:p>
            <a:endParaRPr lang="zh-TW" altLang="en-US" dirty="0"/>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24</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8988554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TW" sz="1200" b="0" i="0" u="none" strike="noStrike" kern="1200" cap="none" dirty="0">
                <a:solidFill>
                  <a:schemeClr val="dk1"/>
                </a:solidFill>
                <a:effectLst/>
                <a:latin typeface="Calibri"/>
                <a:ea typeface="Calibri"/>
                <a:cs typeface="Calibri"/>
                <a:sym typeface="Calibri"/>
              </a:rPr>
              <a:t>14.</a:t>
            </a:r>
            <a:r>
              <a:rPr lang="zh-TW" altLang="zh-TW" sz="1200" b="0" i="0" u="none" strike="noStrike" kern="1200" cap="none" dirty="0">
                <a:solidFill>
                  <a:schemeClr val="dk1"/>
                </a:solidFill>
                <a:effectLst/>
                <a:latin typeface="Calibri"/>
                <a:ea typeface="Calibri"/>
                <a:cs typeface="Calibri"/>
                <a:sym typeface="Calibri"/>
              </a:rPr>
              <a:t>臺灣島位於北回歸線附近，卻沒有如沙烏地阿拉伯一樣形成乾燥氣候，反而有豐沛雨量，主要原因 有：</a:t>
            </a:r>
            <a:endParaRPr lang="en-US" altLang="zh-TW" sz="1200" b="0" i="0" u="none" strike="noStrike" kern="1200" cap="none" dirty="0">
              <a:solidFill>
                <a:schemeClr val="dk1"/>
              </a:solidFill>
              <a:effectLst/>
              <a:latin typeface="Calibri"/>
              <a:ea typeface="Calibri"/>
              <a:cs typeface="Calibri"/>
              <a:sym typeface="Calibri"/>
            </a:endParaRPr>
          </a:p>
          <a:p>
            <a:pPr eaLnBrk="1" hangingPunct="1"/>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甲</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位於大陸及大洋交會處；</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乙</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西風長年吹拂；</a:t>
            </a:r>
            <a:endParaRPr lang="en-US" altLang="zh-TW" sz="1200" b="0" i="0" u="none" strike="noStrike" kern="1200" cap="none" dirty="0">
              <a:solidFill>
                <a:schemeClr val="dk1"/>
              </a:solidFill>
              <a:effectLst/>
              <a:latin typeface="Calibri"/>
              <a:ea typeface="Calibri"/>
              <a:cs typeface="Calibri"/>
              <a:sym typeface="Calibri"/>
            </a:endParaRPr>
          </a:p>
          <a:p>
            <a:pPr eaLnBrk="1" hangingPunct="1"/>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丙</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受到季風、鋒面與颱風影響；</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丁</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夏季受到 蒙古高壓影響。</a:t>
            </a:r>
            <a:endParaRPr lang="en-US" altLang="zh-TW" sz="1200" b="0" i="0" u="none" strike="noStrike" kern="1200" cap="none" dirty="0">
              <a:solidFill>
                <a:schemeClr val="dk1"/>
              </a:solidFill>
              <a:effectLst/>
              <a:latin typeface="Calibri"/>
              <a:ea typeface="Calibri"/>
              <a:cs typeface="Calibri"/>
              <a:sym typeface="Calibri"/>
            </a:endParaRPr>
          </a:p>
          <a:p>
            <a:pPr eaLnBrk="1" hangingPunct="1"/>
            <a:r>
              <a:rPr lang="zh-TW" altLang="zh-TW" sz="1200" b="0" i="0" u="none" strike="noStrike" kern="1200" cap="none" dirty="0">
                <a:solidFill>
                  <a:schemeClr val="dk1"/>
                </a:solidFill>
                <a:effectLst/>
                <a:latin typeface="Calibri"/>
                <a:ea typeface="Calibri"/>
                <a:cs typeface="Calibri"/>
                <a:sym typeface="Calibri"/>
              </a:rPr>
              <a:t>請問：上述正確的有哪些？</a:t>
            </a:r>
            <a:endParaRPr lang="en-US" altLang="zh-TW" sz="1200" b="0" i="0" u="none" strike="noStrike" kern="1200" cap="none" dirty="0">
              <a:solidFill>
                <a:schemeClr val="dk1"/>
              </a:solidFill>
              <a:effectLst/>
              <a:latin typeface="Calibri"/>
              <a:ea typeface="Calibri"/>
              <a:cs typeface="Calibri"/>
              <a:sym typeface="Calibri"/>
            </a:endParaRPr>
          </a:p>
          <a:p>
            <a:pPr eaLnBrk="1" hangingPunct="1"/>
            <a:r>
              <a:rPr lang="zh-TW" altLang="zh-TW" sz="1200" b="0" i="0" u="none" strike="noStrike" kern="1200" cap="none" dirty="0">
                <a:solidFill>
                  <a:schemeClr val="dk1"/>
                </a:solidFill>
                <a:effectLst/>
                <a:latin typeface="Calibri"/>
                <a:ea typeface="Calibri"/>
                <a:cs typeface="Calibri"/>
                <a:sym typeface="Calibri"/>
              </a:rPr>
              <a:t> </a:t>
            </a:r>
            <a:r>
              <a:rPr lang="en-US" altLang="zh-TW" sz="1200" b="1" i="0" u="none" strike="noStrike" kern="1200" cap="none" dirty="0">
                <a:solidFill>
                  <a:schemeClr val="dk1"/>
                </a:solidFill>
                <a:effectLst/>
                <a:latin typeface="Calibri"/>
                <a:ea typeface="Calibri"/>
                <a:cs typeface="Calibri"/>
                <a:sym typeface="Calibri"/>
              </a:rPr>
              <a:t>(A)</a:t>
            </a:r>
            <a:r>
              <a:rPr lang="zh-TW" altLang="zh-TW" sz="1200" b="0" i="0" u="none" strike="noStrike" kern="1200" cap="none" dirty="0">
                <a:solidFill>
                  <a:schemeClr val="dk1"/>
                </a:solidFill>
                <a:effectLst/>
                <a:latin typeface="Calibri"/>
                <a:ea typeface="Calibri"/>
                <a:cs typeface="Calibri"/>
                <a:sym typeface="Calibri"/>
              </a:rPr>
              <a:t>甲乙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乙丙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甲丙 </a:t>
            </a:r>
            <a:r>
              <a:rPr lang="en-US" altLang="zh-TW" sz="1200" b="1" i="0" u="none" strike="noStrike" kern="1200" cap="none" dirty="0">
                <a:solidFill>
                  <a:schemeClr val="dk1"/>
                </a:solidFill>
                <a:effectLst/>
                <a:latin typeface="Calibri"/>
                <a:ea typeface="Calibri"/>
                <a:cs typeface="Calibri"/>
                <a:sym typeface="Calibri"/>
              </a:rPr>
              <a:t>(D)</a:t>
            </a:r>
            <a:r>
              <a:rPr lang="zh-TW" altLang="zh-TW" sz="1200" b="0" i="0" u="none" strike="noStrike" kern="1200" cap="none" dirty="0">
                <a:solidFill>
                  <a:schemeClr val="dk1"/>
                </a:solidFill>
                <a:effectLst/>
                <a:latin typeface="Calibri"/>
                <a:ea typeface="Calibri"/>
                <a:cs typeface="Calibri"/>
                <a:sym typeface="Calibri"/>
              </a:rPr>
              <a:t>甲丁 </a:t>
            </a:r>
            <a:r>
              <a:rPr lang="en-US" altLang="zh-TW" sz="1200" b="1" i="0" u="none" strike="noStrike" kern="1200" cap="none" dirty="0">
                <a:solidFill>
                  <a:schemeClr val="dk1"/>
                </a:solidFill>
                <a:effectLst/>
                <a:latin typeface="Calibri"/>
                <a:ea typeface="Calibri"/>
                <a:cs typeface="Calibri"/>
                <a:sym typeface="Calibri"/>
              </a:rPr>
              <a:t>(E)</a:t>
            </a:r>
            <a:r>
              <a:rPr lang="zh-TW" altLang="zh-TW" sz="1200" b="0" i="0" u="none" strike="noStrike" kern="1200" cap="none" dirty="0">
                <a:solidFill>
                  <a:schemeClr val="dk1"/>
                </a:solidFill>
                <a:effectLst/>
                <a:latin typeface="Calibri"/>
                <a:ea typeface="Calibri"/>
                <a:cs typeface="Calibri"/>
                <a:sym typeface="Calibri"/>
              </a:rPr>
              <a:t>丙丁</a:t>
            </a:r>
            <a:endParaRPr lang="en-US" altLang="zh-TW" sz="1200" b="0" i="0" u="none" strike="noStrike" kern="1200" cap="none" dirty="0">
              <a:solidFill>
                <a:schemeClr val="dk1"/>
              </a:solidFill>
              <a:effectLst/>
              <a:latin typeface="Calibri"/>
              <a:ea typeface="Calibri"/>
              <a:cs typeface="Calibri"/>
              <a:sym typeface="Calibri"/>
            </a:endParaRPr>
          </a:p>
          <a:p>
            <a:pPr eaLnBrk="1" hangingPunct="1"/>
            <a:r>
              <a:rPr lang="en-US" altLang="zh-TW" sz="1200" b="0" i="0" u="none" strike="noStrike" kern="1200" cap="none" dirty="0">
                <a:solidFill>
                  <a:schemeClr val="dk1"/>
                </a:solidFill>
                <a:effectLst/>
                <a:latin typeface="Calibri"/>
                <a:sym typeface="Calibri"/>
              </a:rPr>
              <a:t>C</a:t>
            </a:r>
            <a:endParaRPr lang="zh-TW" altLang="en-US" dirty="0"/>
          </a:p>
        </p:txBody>
      </p:sp>
    </p:spTree>
    <p:extLst>
      <p:ext uri="{BB962C8B-B14F-4D97-AF65-F5344CB8AC3E}">
        <p14:creationId xmlns:p14="http://schemas.microsoft.com/office/powerpoint/2010/main" val="8058220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360"/>
              </a:spcBef>
              <a:spcAft>
                <a:spcPts val="0"/>
              </a:spcAft>
              <a:buClrTx/>
              <a:buSzTx/>
              <a:buFontTx/>
              <a:buChar char="●"/>
              <a:tabLst/>
              <a:defRPr/>
            </a:pPr>
            <a:r>
              <a:rPr lang="en-US" altLang="zh-TW" sz="1200" b="1" i="0" u="none" strike="noStrike" kern="1200" cap="none" dirty="0">
                <a:solidFill>
                  <a:schemeClr val="dk1"/>
                </a:solidFill>
                <a:effectLst/>
                <a:latin typeface="Calibri"/>
                <a:ea typeface="Calibri"/>
                <a:cs typeface="Calibri"/>
                <a:sym typeface="Calibri"/>
              </a:rPr>
              <a:t>2.2021 </a:t>
            </a:r>
            <a:r>
              <a:rPr lang="zh-TW" altLang="zh-TW" sz="1200" b="0" i="0" u="none" strike="noStrike" kern="1200" cap="none" dirty="0">
                <a:solidFill>
                  <a:schemeClr val="dk1"/>
                </a:solidFill>
                <a:effectLst/>
                <a:latin typeface="Calibri"/>
                <a:ea typeface="Calibri"/>
                <a:cs typeface="Calibri"/>
                <a:sym typeface="Calibri"/>
              </a:rPr>
              <a:t>年春季，臺灣中南部地區水庫嚴重缺水，再次凸顯水資源的重要性，其實臺灣平均年降水量是世</a:t>
            </a:r>
            <a:r>
              <a:rPr lang="zh-TW"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界平均值的 </a:t>
            </a:r>
            <a:r>
              <a:rPr lang="en-US" altLang="zh-TW" sz="1200" b="1" i="0" u="none" strike="noStrike" kern="1200" cap="none" dirty="0">
                <a:solidFill>
                  <a:schemeClr val="dk1"/>
                </a:solidFill>
                <a:effectLst/>
                <a:latin typeface="Calibri"/>
                <a:ea typeface="Calibri"/>
                <a:cs typeface="Calibri"/>
                <a:sym typeface="Calibri"/>
              </a:rPr>
              <a:t>2.6</a:t>
            </a:r>
            <a:r>
              <a:rPr lang="en-US" altLang="zh-TW" sz="1200" b="0"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倍，可是人均可利用的水資源量卻只有 </a:t>
            </a:r>
            <a:r>
              <a:rPr lang="en-US" altLang="zh-TW" sz="1200" b="1" i="0" u="none" strike="noStrike" kern="1200" cap="none" dirty="0">
                <a:solidFill>
                  <a:schemeClr val="dk1"/>
                </a:solidFill>
                <a:effectLst/>
                <a:latin typeface="Calibri"/>
                <a:ea typeface="Calibri"/>
                <a:cs typeface="Calibri"/>
                <a:sym typeface="Calibri"/>
              </a:rPr>
              <a:t>1/7</a:t>
            </a:r>
            <a:r>
              <a:rPr lang="zh-TW" altLang="zh-TW" sz="1200" b="0" i="0" u="none" strike="noStrike" kern="1200" cap="none" dirty="0">
                <a:solidFill>
                  <a:schemeClr val="dk1"/>
                </a:solidFill>
                <a:effectLst/>
                <a:latin typeface="Calibri"/>
                <a:ea typeface="Calibri"/>
                <a:cs typeface="Calibri"/>
                <a:sym typeface="Calibri"/>
              </a:rPr>
              <a:t>，其背後的主要因素「不包含」？</a:t>
            </a:r>
            <a:r>
              <a:rPr lang="en-US" altLang="zh-TW" sz="1200" b="1" i="0" u="none" strike="noStrike" kern="1200" cap="none" dirty="0">
                <a:solidFill>
                  <a:schemeClr val="dk1"/>
                </a:solidFill>
                <a:effectLst/>
                <a:latin typeface="Calibri"/>
                <a:ea typeface="Calibri"/>
                <a:cs typeface="Calibri"/>
                <a:sym typeface="Calibri"/>
              </a:rPr>
              <a:t>(A)</a:t>
            </a:r>
            <a:r>
              <a:rPr lang="zh-TW" altLang="zh-TW" sz="1200" b="0" i="0" u="none" strike="noStrike" kern="1200" cap="none" dirty="0">
                <a:solidFill>
                  <a:schemeClr val="dk1"/>
                </a:solidFill>
                <a:effectLst/>
                <a:latin typeface="Calibri"/>
                <a:ea typeface="Calibri"/>
                <a:cs typeface="Calibri"/>
                <a:sym typeface="Calibri"/>
              </a:rPr>
              <a:t>降水 時空分布不均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都市化程度高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坡陡流急 </a:t>
            </a:r>
            <a:r>
              <a:rPr lang="en-US" altLang="zh-TW" sz="1200" b="1" i="0" u="none" strike="noStrike" kern="1200" cap="none" dirty="0">
                <a:solidFill>
                  <a:schemeClr val="dk1"/>
                </a:solidFill>
                <a:effectLst/>
                <a:latin typeface="Calibri"/>
                <a:ea typeface="Calibri"/>
                <a:cs typeface="Calibri"/>
                <a:sym typeface="Calibri"/>
              </a:rPr>
              <a:t>(D)</a:t>
            </a:r>
            <a:r>
              <a:rPr lang="zh-TW" altLang="zh-TW" sz="1200" b="0" i="0" u="none" strike="noStrike" kern="1200" cap="none" dirty="0">
                <a:solidFill>
                  <a:schemeClr val="dk1"/>
                </a:solidFill>
                <a:effectLst/>
                <a:latin typeface="Calibri"/>
                <a:ea typeface="Calibri"/>
                <a:cs typeface="Calibri"/>
                <a:sym typeface="Calibri"/>
              </a:rPr>
              <a:t>水庫淤積嚴重</a:t>
            </a:r>
          </a:p>
          <a:p>
            <a:r>
              <a:rPr lang="en-US" altLang="zh-TW" dirty="0"/>
              <a:t>B</a:t>
            </a:r>
            <a:endParaRPr lang="zh-TW" altLang="en-US" dirty="0"/>
          </a:p>
          <a:p>
            <a:endParaRPr lang="zh-TW" altLang="en-US" dirty="0"/>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29</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6515278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None/>
            </a:pPr>
            <a:r>
              <a:rPr lang="en-US" altLang="zh-TW" sz="1200" b="1" i="0" u="none" strike="noStrike" kern="1200" cap="none" dirty="0">
                <a:solidFill>
                  <a:schemeClr val="dk1"/>
                </a:solidFill>
                <a:effectLst/>
                <a:latin typeface="Calibri"/>
                <a:ea typeface="Calibri"/>
                <a:cs typeface="Calibri"/>
                <a:sym typeface="Calibri"/>
              </a:rPr>
              <a:t>11. </a:t>
            </a:r>
            <a:r>
              <a:rPr lang="zh-TW" altLang="zh-TW" sz="1200" b="0" i="0" u="none" strike="noStrike" kern="1200" cap="none" dirty="0">
                <a:solidFill>
                  <a:schemeClr val="dk1"/>
                </a:solidFill>
                <a:effectLst/>
                <a:latin typeface="Calibri"/>
                <a:ea typeface="Calibri"/>
                <a:cs typeface="Calibri"/>
                <a:sym typeface="Calibri"/>
              </a:rPr>
              <a:t>臺灣島位處北緯</a:t>
            </a:r>
            <a:r>
              <a:rPr lang="en-US" altLang="zh-TW" sz="1200" b="1" i="0" u="none" strike="noStrike" kern="1200" cap="none" dirty="0">
                <a:solidFill>
                  <a:schemeClr val="dk1"/>
                </a:solidFill>
                <a:effectLst/>
                <a:latin typeface="Calibri"/>
                <a:ea typeface="Calibri"/>
                <a:cs typeface="Calibri"/>
                <a:sym typeface="Calibri"/>
              </a:rPr>
              <a:t> 22</a:t>
            </a:r>
            <a:r>
              <a:rPr lang="zh-TW" altLang="zh-TW" sz="1200" b="0" i="0" u="none" strike="noStrike" kern="1200" cap="none" dirty="0">
                <a:solidFill>
                  <a:schemeClr val="dk1"/>
                </a:solidFill>
                <a:effectLst/>
                <a:latin typeface="Calibri"/>
                <a:ea typeface="Calibri"/>
                <a:cs typeface="Calibri"/>
                <a:sym typeface="Calibri"/>
              </a:rPr>
              <a:t>～</a:t>
            </a:r>
            <a:r>
              <a:rPr lang="en-US" altLang="zh-TW" sz="1200" b="1" i="0" u="none" strike="noStrike" kern="1200" cap="none" dirty="0">
                <a:solidFill>
                  <a:schemeClr val="dk1"/>
                </a:solidFill>
                <a:effectLst/>
                <a:latin typeface="Calibri"/>
                <a:ea typeface="Calibri"/>
                <a:cs typeface="Calibri"/>
                <a:sym typeface="Calibri"/>
              </a:rPr>
              <a:t>25 </a:t>
            </a:r>
            <a:r>
              <a:rPr lang="zh-TW" altLang="zh-TW" sz="1200" b="0" i="0" u="none" strike="noStrike" kern="1200" cap="none" dirty="0">
                <a:solidFill>
                  <a:schemeClr val="dk1"/>
                </a:solidFill>
                <a:effectLst/>
                <a:latin typeface="Calibri"/>
                <a:ea typeface="Calibri"/>
                <a:cs typeface="Calibri"/>
                <a:sym typeface="Calibri"/>
              </a:rPr>
              <a:t>度之間，但卻能夠生產溫帶的蔬果</a:t>
            </a:r>
            <a:r>
              <a:rPr lang="en-US"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如</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水蜜桃</a:t>
            </a:r>
            <a:r>
              <a:rPr lang="en-US" altLang="zh-TW" sz="1200" b="1" i="0" u="none" strike="noStrike" kern="1200" cap="none" dirty="0">
                <a:solidFill>
                  <a:schemeClr val="dk1"/>
                </a:solidFill>
                <a:effectLst/>
                <a:latin typeface="Calibri"/>
                <a:ea typeface="Calibri"/>
                <a:cs typeface="Calibri"/>
                <a:sym typeface="Calibri"/>
              </a:rPr>
              <a:t>)</a:t>
            </a:r>
            <a:r>
              <a:rPr lang="zh-TW" altLang="zh-TW" sz="1200" b="0" i="0" u="none" strike="noStrike" kern="1200" cap="none" dirty="0">
                <a:solidFill>
                  <a:schemeClr val="dk1"/>
                </a:solidFill>
                <a:effectLst/>
                <a:latin typeface="Calibri"/>
                <a:ea typeface="Calibri"/>
                <a:cs typeface="Calibri"/>
                <a:sym typeface="Calibri"/>
              </a:rPr>
              <a:t>，其最主要原因為何？</a:t>
            </a:r>
          </a:p>
          <a:p>
            <a:pPr>
              <a:buNone/>
            </a:pPr>
            <a:r>
              <a:rPr lang="en-US" altLang="zh-TW" sz="1200" b="1" i="0" u="none" strike="noStrike" kern="1200" cap="none" dirty="0">
                <a:solidFill>
                  <a:schemeClr val="dk1"/>
                </a:solidFill>
                <a:effectLst/>
                <a:latin typeface="Calibri"/>
                <a:ea typeface="Calibri"/>
                <a:cs typeface="Calibri"/>
                <a:sym typeface="Calibri"/>
              </a:rPr>
              <a:t>(A)</a:t>
            </a:r>
            <a:r>
              <a:rPr lang="zh-TW" altLang="zh-TW" sz="1200" b="0" i="0" u="none" strike="noStrike" kern="1200" cap="none" dirty="0">
                <a:solidFill>
                  <a:schemeClr val="dk1"/>
                </a:solidFill>
                <a:effectLst/>
                <a:latin typeface="Calibri"/>
                <a:ea typeface="Calibri"/>
                <a:cs typeface="Calibri"/>
                <a:sym typeface="Calibri"/>
              </a:rPr>
              <a:t>山區海拔夠高</a:t>
            </a:r>
            <a:r>
              <a:rPr lang="zh-TW" altLang="zh-TW" sz="1200" b="1" i="0" u="none" strike="noStrike" kern="1200" cap="none" dirty="0">
                <a:solidFill>
                  <a:schemeClr val="dk1"/>
                </a:solidFill>
                <a:effectLst/>
                <a:latin typeface="Calibri"/>
                <a:ea typeface="Calibri"/>
                <a:cs typeface="Calibri"/>
                <a:sym typeface="Calibri"/>
              </a:rPr>
              <a:t>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全年降水量夠多</a:t>
            </a:r>
            <a:r>
              <a:rPr lang="zh-TW" altLang="zh-TW" sz="1200" b="1" i="0" u="none" strike="noStrike" kern="1200" cap="none" dirty="0">
                <a:solidFill>
                  <a:schemeClr val="dk1"/>
                </a:solidFill>
                <a:effectLst/>
                <a:latin typeface="Calibri"/>
                <a:ea typeface="Calibri"/>
                <a:cs typeface="Calibri"/>
                <a:sym typeface="Calibri"/>
              </a:rPr>
              <a:t>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沿岸有寒流經過</a:t>
            </a:r>
            <a:r>
              <a:rPr lang="zh-TW" altLang="zh-TW" sz="1200" b="1" i="0" u="none" strike="noStrike" kern="1200" cap="none" dirty="0">
                <a:solidFill>
                  <a:schemeClr val="dk1"/>
                </a:solidFill>
                <a:effectLst/>
                <a:latin typeface="Calibri"/>
                <a:ea typeface="Calibri"/>
                <a:cs typeface="Calibri"/>
                <a:sym typeface="Calibri"/>
              </a:rPr>
              <a:t> </a:t>
            </a:r>
            <a:r>
              <a:rPr lang="en-US" altLang="zh-TW" sz="1200" b="1" i="0" u="none" strike="noStrike" kern="1200" cap="none" dirty="0">
                <a:solidFill>
                  <a:schemeClr val="dk1"/>
                </a:solidFill>
                <a:effectLst/>
                <a:latin typeface="Calibri"/>
                <a:ea typeface="Calibri"/>
                <a:cs typeface="Calibri"/>
                <a:sym typeface="Calibri"/>
              </a:rPr>
              <a:t>(D)</a:t>
            </a:r>
            <a:r>
              <a:rPr lang="zh-TW" altLang="zh-TW" sz="1200" b="0" i="0" u="none" strike="noStrike" kern="1200" cap="none" dirty="0">
                <a:solidFill>
                  <a:schemeClr val="dk1"/>
                </a:solidFill>
                <a:effectLst/>
                <a:latin typeface="Calibri"/>
                <a:ea typeface="Calibri"/>
                <a:cs typeface="Calibri"/>
                <a:sym typeface="Calibri"/>
              </a:rPr>
              <a:t>土壤質地適合</a:t>
            </a:r>
          </a:p>
          <a:p>
            <a:r>
              <a:rPr lang="en-US" altLang="zh-TW" dirty="0"/>
              <a:t>A</a:t>
            </a:r>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31</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666729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CN" sz="1200" b="1" i="0" u="none" strike="noStrike" kern="1200" cap="none" dirty="0">
                <a:solidFill>
                  <a:schemeClr val="dk1"/>
                </a:solidFill>
                <a:effectLst/>
                <a:latin typeface="Calibri"/>
                <a:ea typeface="Calibri"/>
                <a:cs typeface="Calibri"/>
                <a:sym typeface="Calibri"/>
              </a:rPr>
              <a:t>M:\</a:t>
            </a:r>
            <a:r>
              <a:rPr lang="en-US" altLang="zh-CN" sz="1200" b="1" i="0" u="none" strike="noStrike" kern="1200" cap="none" dirty="0" err="1">
                <a:solidFill>
                  <a:schemeClr val="dk1"/>
                </a:solidFill>
                <a:effectLst/>
                <a:latin typeface="Calibri"/>
                <a:ea typeface="Calibri"/>
                <a:cs typeface="Calibri"/>
                <a:sym typeface="Calibri"/>
              </a:rPr>
              <a:t>mov</a:t>
            </a:r>
            <a:r>
              <a:rPr lang="en-US" altLang="zh-CN" sz="1200" b="1" i="0" u="none" strike="noStrike" kern="1200" cap="none" dirty="0">
                <a:solidFill>
                  <a:schemeClr val="dk1"/>
                </a:solidFill>
                <a:effectLst/>
                <a:latin typeface="Calibri"/>
                <a:ea typeface="Calibri"/>
                <a:cs typeface="Calibri"/>
                <a:sym typeface="Calibri"/>
              </a:rPr>
              <a:t>\</a:t>
            </a:r>
            <a:r>
              <a:rPr lang="zh-TW" altLang="en-US" sz="1200" b="1" i="0" u="none" strike="noStrike" kern="1200" cap="none" dirty="0">
                <a:solidFill>
                  <a:schemeClr val="dk1"/>
                </a:solidFill>
                <a:effectLst/>
                <a:latin typeface="Calibri"/>
                <a:ea typeface="Calibri"/>
                <a:cs typeface="Calibri"/>
                <a:sym typeface="Calibri"/>
              </a:rPr>
              <a:t>電影</a:t>
            </a:r>
            <a:r>
              <a:rPr lang="en-US" altLang="zh-TW" sz="1200" b="1" i="0" u="none" strike="noStrike" kern="1200" cap="none" dirty="0">
                <a:solidFill>
                  <a:schemeClr val="dk1"/>
                </a:solidFill>
                <a:effectLst/>
                <a:latin typeface="Calibri"/>
                <a:ea typeface="Calibri"/>
                <a:cs typeface="Calibri"/>
                <a:sym typeface="Calibri"/>
              </a:rPr>
              <a:t>11\</a:t>
            </a:r>
            <a:r>
              <a:rPr lang="en-US" altLang="zh-CN" sz="1200" b="1" i="0" u="none" strike="noStrike" kern="1200" cap="none" dirty="0">
                <a:solidFill>
                  <a:schemeClr val="dk1"/>
                </a:solidFill>
                <a:effectLst/>
                <a:latin typeface="Calibri"/>
                <a:ea typeface="Calibri"/>
                <a:cs typeface="Calibri"/>
                <a:sym typeface="Calibri"/>
              </a:rPr>
              <a:t>《</a:t>
            </a:r>
            <a:r>
              <a:rPr lang="zh-CN" altLang="en-US" sz="1200" b="1" i="0" u="none" strike="noStrike" kern="1200" cap="none" dirty="0">
                <a:solidFill>
                  <a:schemeClr val="dk1"/>
                </a:solidFill>
                <a:effectLst/>
                <a:latin typeface="Calibri"/>
                <a:ea typeface="Calibri"/>
                <a:cs typeface="Calibri"/>
                <a:sym typeface="Calibri"/>
              </a:rPr>
              <a:t>珊瑚大三角</a:t>
            </a:r>
            <a:r>
              <a:rPr lang="en-US" altLang="zh-CN" sz="1200" b="1" i="0" u="none" strike="noStrike" kern="1200" cap="none" dirty="0">
                <a:solidFill>
                  <a:schemeClr val="dk1"/>
                </a:solidFill>
                <a:effectLst/>
                <a:latin typeface="Calibri"/>
                <a:ea typeface="Calibri"/>
                <a:cs typeface="Calibri"/>
                <a:sym typeface="Calibri"/>
              </a:rPr>
              <a:t>》.</a:t>
            </a:r>
            <a:r>
              <a:rPr lang="en-US" altLang="zh-CN" sz="1200" b="1" i="0" u="none" strike="noStrike" kern="1200" cap="none" dirty="0" err="1">
                <a:solidFill>
                  <a:schemeClr val="dk1"/>
                </a:solidFill>
                <a:effectLst/>
                <a:latin typeface="Calibri"/>
                <a:ea typeface="Calibri"/>
                <a:cs typeface="Calibri"/>
                <a:sym typeface="Calibri"/>
              </a:rPr>
              <a:t>mp4</a:t>
            </a:r>
            <a:endParaRPr lang="en-US" altLang="zh-CN" sz="1200" b="1" i="0" u="none" strike="noStrike" kern="1200" cap="none" dirty="0">
              <a:solidFill>
                <a:schemeClr val="dk1"/>
              </a:solidFill>
              <a:effectLst/>
              <a:latin typeface="Calibri"/>
              <a:ea typeface="Calibri"/>
              <a:cs typeface="Calibri"/>
              <a:sym typeface="Calibri"/>
            </a:endParaRPr>
          </a:p>
          <a:p>
            <a:r>
              <a:rPr lang="en-US" altLang="zh-TW" dirty="0"/>
              <a:t>https://</a:t>
            </a:r>
            <a:r>
              <a:rPr lang="en-US" altLang="zh-TW" dirty="0" err="1"/>
              <a:t>www.bilibili.com</a:t>
            </a:r>
            <a:r>
              <a:rPr lang="en-US" altLang="zh-TW" dirty="0"/>
              <a:t>/s/video/</a:t>
            </a:r>
            <a:r>
              <a:rPr lang="en-US" altLang="zh-TW" dirty="0" err="1"/>
              <a:t>BV1ex411Y7Rq</a:t>
            </a:r>
            <a:endParaRPr lang="en-US" altLang="zh-TW" dirty="0"/>
          </a:p>
          <a:p>
            <a:endParaRPr lang="en-US" altLang="zh-TW" dirty="0"/>
          </a:p>
          <a:p>
            <a:pPr fontAlgn="base"/>
            <a:r>
              <a:rPr lang="en-US" altLang="zh-TW" sz="1200" b="0" i="0" u="none" strike="noStrike" kern="1200" cap="none" dirty="0">
                <a:solidFill>
                  <a:schemeClr val="dk1"/>
                </a:solidFill>
                <a:effectLst/>
                <a:latin typeface="Calibri"/>
                <a:ea typeface="Calibri"/>
                <a:cs typeface="Calibri"/>
                <a:sym typeface="Calibri"/>
              </a:rPr>
              <a:t>https://e-</a:t>
            </a:r>
            <a:r>
              <a:rPr lang="en-US" altLang="zh-TW" sz="1200" b="0" i="0" u="none" strike="noStrike" kern="1200" cap="none" dirty="0" err="1">
                <a:solidFill>
                  <a:schemeClr val="dk1"/>
                </a:solidFill>
                <a:effectLst/>
                <a:latin typeface="Calibri"/>
                <a:ea typeface="Calibri"/>
                <a:cs typeface="Calibri"/>
                <a:sym typeface="Calibri"/>
              </a:rPr>
              <a:t>info.org.tw</a:t>
            </a:r>
            <a:r>
              <a:rPr lang="en-US" altLang="zh-TW" sz="1200" b="0" i="0" u="none" strike="noStrike" kern="1200" cap="none" dirty="0">
                <a:solidFill>
                  <a:schemeClr val="dk1"/>
                </a:solidFill>
                <a:effectLst/>
                <a:latin typeface="Calibri"/>
                <a:ea typeface="Calibri"/>
                <a:cs typeface="Calibri"/>
                <a:sym typeface="Calibri"/>
              </a:rPr>
              <a:t>/node/43165</a:t>
            </a:r>
          </a:p>
          <a:p>
            <a:pPr fontAlgn="base"/>
            <a:r>
              <a:rPr lang="zh-TW" altLang="en-US" sz="1200" b="0" i="0" u="none" strike="noStrike" kern="1200" cap="none" dirty="0">
                <a:solidFill>
                  <a:schemeClr val="dk1"/>
                </a:solidFill>
                <a:effectLst/>
                <a:latin typeface="Calibri"/>
                <a:ea typeface="Calibri"/>
                <a:cs typeface="Calibri"/>
                <a:sym typeface="Calibri"/>
              </a:rPr>
              <a:t>自北方的菲律賓至南邊的印尼，「珊瑚大三角」蘊藏世界密度最高的海洋生物，超過</a:t>
            </a:r>
            <a:r>
              <a:rPr lang="en-US" altLang="zh-TW" sz="1200" b="0" i="0" u="none" strike="noStrike" kern="1200" cap="none" dirty="0">
                <a:solidFill>
                  <a:schemeClr val="dk1"/>
                </a:solidFill>
                <a:effectLst/>
                <a:latin typeface="Calibri"/>
                <a:ea typeface="Calibri"/>
                <a:cs typeface="Calibri"/>
                <a:sym typeface="Calibri"/>
              </a:rPr>
              <a:t>600</a:t>
            </a:r>
            <a:r>
              <a:rPr lang="zh-TW" altLang="en-US" sz="1200" b="0" i="0" u="none" strike="noStrike" kern="1200" cap="none" dirty="0">
                <a:solidFill>
                  <a:schemeClr val="dk1"/>
                </a:solidFill>
                <a:effectLst/>
                <a:latin typeface="Calibri"/>
                <a:ea typeface="Calibri"/>
                <a:cs typeface="Calibri"/>
                <a:sym typeface="Calibri"/>
              </a:rPr>
              <a:t>種造礁珊瑚，與擁有重要商業價值的最大鮪魚族群－全球</a:t>
            </a:r>
            <a:r>
              <a:rPr lang="en-US" altLang="zh-TW" sz="1200" b="0" i="0" u="none" strike="noStrike" kern="1200" cap="none" dirty="0">
                <a:solidFill>
                  <a:schemeClr val="dk1"/>
                </a:solidFill>
                <a:effectLst/>
                <a:latin typeface="Calibri"/>
                <a:ea typeface="Calibri"/>
                <a:cs typeface="Calibri"/>
                <a:sym typeface="Calibri"/>
              </a:rPr>
              <a:t>50%</a:t>
            </a:r>
            <a:r>
              <a:rPr lang="zh-TW" altLang="en-US" sz="1200" b="0" i="0" u="none" strike="noStrike" kern="1200" cap="none" dirty="0">
                <a:solidFill>
                  <a:schemeClr val="dk1"/>
                </a:solidFill>
                <a:effectLst/>
                <a:latin typeface="Calibri"/>
                <a:ea typeface="Calibri"/>
                <a:cs typeface="Calibri"/>
                <a:sym typeface="Calibri"/>
              </a:rPr>
              <a:t>的鮪魚產於此。</a:t>
            </a:r>
          </a:p>
          <a:p>
            <a:pPr fontAlgn="base"/>
            <a:r>
              <a:rPr lang="zh-TW" altLang="en-US" sz="1200" b="0" i="0" u="none" strike="noStrike" kern="1200" cap="none" dirty="0">
                <a:solidFill>
                  <a:schemeClr val="dk1"/>
                </a:solidFill>
                <a:effectLst/>
                <a:latin typeface="Calibri"/>
                <a:ea typeface="Calibri"/>
                <a:cs typeface="Calibri"/>
                <a:sym typeface="Calibri"/>
              </a:rPr>
              <a:t>該區域的面積廣達</a:t>
            </a:r>
            <a:r>
              <a:rPr lang="en-US" altLang="zh-TW" sz="1200" b="0" i="0" u="none" strike="noStrike" kern="1200" cap="none" dirty="0">
                <a:solidFill>
                  <a:schemeClr val="dk1"/>
                </a:solidFill>
                <a:effectLst/>
                <a:latin typeface="Calibri"/>
                <a:ea typeface="Calibri"/>
                <a:cs typeface="Calibri"/>
                <a:sym typeface="Calibri"/>
              </a:rPr>
              <a:t>230</a:t>
            </a:r>
            <a:r>
              <a:rPr lang="zh-TW" altLang="en-US" sz="1200" b="0" i="0" u="none" strike="noStrike" kern="1200" cap="none" dirty="0">
                <a:solidFill>
                  <a:schemeClr val="dk1"/>
                </a:solidFill>
                <a:effectLst/>
                <a:latin typeface="Calibri"/>
                <a:ea typeface="Calibri"/>
                <a:cs typeface="Calibri"/>
                <a:sym typeface="Calibri"/>
              </a:rPr>
              <a:t>萬平方英里</a:t>
            </a:r>
            <a:r>
              <a:rPr lang="en-US" altLang="zh-TW" sz="1200" b="0" i="0" u="none" strike="noStrike" kern="1200" cap="none" dirty="0">
                <a:solidFill>
                  <a:schemeClr val="dk1"/>
                </a:solidFill>
                <a:effectLst/>
                <a:latin typeface="Calibri"/>
                <a:ea typeface="Calibri"/>
                <a:cs typeface="Calibri"/>
                <a:sym typeface="Calibri"/>
              </a:rPr>
              <a:t>(</a:t>
            </a:r>
            <a:r>
              <a:rPr lang="zh-TW" altLang="en-US" sz="1200" b="0" i="0" u="none" strike="noStrike" kern="1200" cap="none" dirty="0">
                <a:solidFill>
                  <a:schemeClr val="dk1"/>
                </a:solidFill>
                <a:effectLst/>
                <a:latin typeface="Calibri"/>
                <a:ea typeface="Calibri"/>
                <a:cs typeface="Calibri"/>
                <a:sym typeface="Calibri"/>
              </a:rPr>
              <a:t>約</a:t>
            </a:r>
            <a:r>
              <a:rPr lang="en-US" altLang="zh-TW" sz="1200" b="0" i="0" u="none" strike="noStrike" kern="1200" cap="none" dirty="0">
                <a:solidFill>
                  <a:schemeClr val="dk1"/>
                </a:solidFill>
                <a:effectLst/>
                <a:latin typeface="Calibri"/>
                <a:ea typeface="Calibri"/>
                <a:cs typeface="Calibri"/>
                <a:sym typeface="Calibri"/>
              </a:rPr>
              <a:t>570</a:t>
            </a:r>
            <a:r>
              <a:rPr lang="zh-TW" altLang="en-US" sz="1200" b="0" i="0" u="none" strike="noStrike" kern="1200" cap="none" dirty="0">
                <a:solidFill>
                  <a:schemeClr val="dk1"/>
                </a:solidFill>
                <a:effectLst/>
                <a:latin typeface="Calibri"/>
                <a:ea typeface="Calibri"/>
                <a:cs typeface="Calibri"/>
                <a:sym typeface="Calibri"/>
              </a:rPr>
              <a:t>萬平方公里</a:t>
            </a:r>
            <a:r>
              <a:rPr lang="en-US" altLang="zh-TW" sz="1200" b="0" i="0" u="none" strike="noStrike" kern="1200" cap="none" dirty="0">
                <a:solidFill>
                  <a:schemeClr val="dk1"/>
                </a:solidFill>
                <a:effectLst/>
                <a:latin typeface="Calibri"/>
                <a:ea typeface="Calibri"/>
                <a:cs typeface="Calibri"/>
                <a:sym typeface="Calibri"/>
              </a:rPr>
              <a:t>)</a:t>
            </a:r>
            <a:r>
              <a:rPr lang="zh-TW" altLang="en-US" sz="1200" b="0" i="0" u="none" strike="noStrike" kern="1200" cap="none" dirty="0">
                <a:solidFill>
                  <a:schemeClr val="dk1"/>
                </a:solidFill>
                <a:effectLst/>
                <a:latin typeface="Calibri"/>
                <a:ea typeface="Calibri"/>
                <a:cs typeface="Calibri"/>
                <a:sym typeface="Calibri"/>
              </a:rPr>
              <a:t>，有</a:t>
            </a:r>
            <a:r>
              <a:rPr lang="en-US" altLang="zh-TW" sz="1200" b="0" i="0" u="none" strike="noStrike" kern="1200" cap="none" dirty="0">
                <a:solidFill>
                  <a:schemeClr val="dk1"/>
                </a:solidFill>
                <a:effectLst/>
                <a:latin typeface="Calibri"/>
                <a:ea typeface="Calibri"/>
                <a:cs typeface="Calibri"/>
                <a:sym typeface="Calibri"/>
              </a:rPr>
              <a:t>3000</a:t>
            </a:r>
            <a:r>
              <a:rPr lang="zh-TW" altLang="en-US" sz="1200" b="0" i="0" u="none" strike="noStrike" kern="1200" cap="none" dirty="0">
                <a:solidFill>
                  <a:schemeClr val="dk1"/>
                </a:solidFill>
                <a:effectLst/>
                <a:latin typeface="Calibri"/>
                <a:ea typeface="Calibri"/>
                <a:cs typeface="Calibri"/>
                <a:sym typeface="Calibri"/>
              </a:rPr>
              <a:t>種以上種珊瑚礁魚棲息於此。超過</a:t>
            </a:r>
            <a:r>
              <a:rPr lang="en-US" altLang="zh-TW" sz="1200" b="0" i="0" u="none" strike="noStrike" kern="1200" cap="none" dirty="0">
                <a:solidFill>
                  <a:schemeClr val="dk1"/>
                </a:solidFill>
                <a:effectLst/>
                <a:latin typeface="Calibri"/>
                <a:ea typeface="Calibri"/>
                <a:cs typeface="Calibri"/>
                <a:sym typeface="Calibri"/>
              </a:rPr>
              <a:t>1</a:t>
            </a:r>
            <a:r>
              <a:rPr lang="zh-TW" altLang="en-US" sz="1200" b="0" i="0" u="none" strike="noStrike" kern="1200" cap="none" dirty="0">
                <a:solidFill>
                  <a:schemeClr val="dk1"/>
                </a:solidFill>
                <a:effectLst/>
                <a:latin typeface="Calibri"/>
                <a:ea typeface="Calibri"/>
                <a:cs typeface="Calibri"/>
                <a:sym typeface="Calibri"/>
              </a:rPr>
              <a:t>億</a:t>
            </a:r>
            <a:r>
              <a:rPr lang="en-US" altLang="zh-TW" sz="1200" b="0" i="0" u="none" strike="noStrike" kern="1200" cap="none" dirty="0">
                <a:solidFill>
                  <a:schemeClr val="dk1"/>
                </a:solidFill>
                <a:effectLst/>
                <a:latin typeface="Calibri"/>
                <a:ea typeface="Calibri"/>
                <a:cs typeface="Calibri"/>
                <a:sym typeface="Calibri"/>
              </a:rPr>
              <a:t>5000</a:t>
            </a:r>
            <a:r>
              <a:rPr lang="zh-TW" altLang="en-US" sz="1200" b="0" i="0" u="none" strike="noStrike" kern="1200" cap="none" dirty="0">
                <a:solidFill>
                  <a:schemeClr val="dk1"/>
                </a:solidFill>
                <a:effectLst/>
                <a:latin typeface="Calibri"/>
                <a:ea typeface="Calibri"/>
                <a:cs typeface="Calibri"/>
                <a:sym typeface="Calibri"/>
              </a:rPr>
              <a:t>萬以上的人口居住在「珊瑚大三角」內，估計有</a:t>
            </a:r>
            <a:r>
              <a:rPr lang="en-US" altLang="zh-TW" sz="1200" b="0" i="0" u="none" strike="noStrike" kern="1200" cap="none" dirty="0">
                <a:solidFill>
                  <a:schemeClr val="dk1"/>
                </a:solidFill>
                <a:effectLst/>
                <a:latin typeface="Calibri"/>
                <a:ea typeface="Calibri"/>
                <a:cs typeface="Calibri"/>
                <a:sym typeface="Calibri"/>
              </a:rPr>
              <a:t>225</a:t>
            </a:r>
            <a:r>
              <a:rPr lang="zh-TW" altLang="en-US" sz="1200" b="0" i="0" u="none" strike="noStrike" kern="1200" cap="none" dirty="0">
                <a:solidFill>
                  <a:schemeClr val="dk1"/>
                </a:solidFill>
                <a:effectLst/>
                <a:latin typeface="Calibri"/>
                <a:ea typeface="Calibri"/>
                <a:cs typeface="Calibri"/>
                <a:sym typeface="Calibri"/>
              </a:rPr>
              <a:t>萬的漁民仰賴其中的海洋資源維生。石灰岩礁、海草原與沿岸紅樹林，吸引了海龜、座頭鯨到此休息、覓食與繁殖。</a:t>
            </a:r>
          </a:p>
          <a:p>
            <a:pPr fontAlgn="base"/>
            <a:r>
              <a:rPr lang="zh-TW" altLang="en-US" sz="1200" b="0" i="0" u="none" strike="noStrike" kern="1200" cap="none" dirty="0">
                <a:solidFill>
                  <a:schemeClr val="dk1"/>
                </a:solidFill>
                <a:effectLst/>
                <a:latin typeface="Calibri"/>
                <a:ea typeface="Calibri"/>
                <a:cs typeface="Calibri"/>
                <a:sym typeface="Calibri"/>
              </a:rPr>
              <a:t>為了保護容易受全球暖化影響衝擊的珊瑚生態，與「珊瑚大三角」相毗鄰的六國國家，印尼、馬來西亞、巴布亞新幾內亞、菲律賓、索羅門群島與東帝汶，其外交部長本周到馬納都，進行首次的珊瑚高峰會。六國首長期望在</a:t>
            </a:r>
            <a:r>
              <a:rPr lang="en-US" altLang="zh-TW" sz="1200" b="0" i="0" u="none" strike="noStrike" kern="1200" cap="none" dirty="0">
                <a:solidFill>
                  <a:schemeClr val="dk1"/>
                </a:solidFill>
                <a:effectLst/>
                <a:latin typeface="Calibri"/>
                <a:ea typeface="Calibri"/>
                <a:cs typeface="Calibri"/>
                <a:sym typeface="Calibri"/>
              </a:rPr>
              <a:t>15</a:t>
            </a:r>
            <a:r>
              <a:rPr lang="zh-TW" altLang="en-US" sz="1200" b="0" i="0" u="none" strike="noStrike" kern="1200" cap="none" dirty="0">
                <a:solidFill>
                  <a:schemeClr val="dk1"/>
                </a:solidFill>
                <a:effectLst/>
                <a:latin typeface="Calibri"/>
                <a:ea typeface="Calibri"/>
                <a:cs typeface="Calibri"/>
                <a:sym typeface="Calibri"/>
              </a:rPr>
              <a:t>日達成協議，通過一項區域性行動計畫，該計畫將作為六國合作推動海岸與海洋資源永續管理的藍圖。</a:t>
            </a:r>
          </a:p>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33</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0850220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35</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36</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38</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39</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u="none" strike="noStrike" dirty="0">
                <a:effectLst/>
                <a:latin typeface="Arial" panose="020B0604020202020204" pitchFamily="34" charset="0"/>
                <a:hlinkClick r:id="rId3" tooltip="福建省"/>
              </a:rPr>
              <a:t>廣東省  潮州市</a:t>
            </a:r>
            <a:endParaRPr lang="en-US" altLang="zh-TW" b="0" i="0" u="none" strike="noStrike" dirty="0">
              <a:effectLst/>
              <a:latin typeface="Arial" panose="020B0604020202020204" pitchFamily="34" charset="0"/>
              <a:hlinkClick r:id="rId3" tooltip="福建省"/>
            </a:endParaRPr>
          </a:p>
          <a:p>
            <a:r>
              <a:rPr lang="zh-TW" altLang="en-US" b="0" i="0" u="none" strike="noStrike" dirty="0">
                <a:effectLst/>
                <a:latin typeface="Arial" panose="020B0604020202020204" pitchFamily="34" charset="0"/>
                <a:hlinkClick r:id="rId3" tooltip="福建省"/>
              </a:rPr>
              <a:t>福建省</a:t>
            </a:r>
            <a:r>
              <a:rPr lang="zh-TW" altLang="en-US" b="0" i="0" u="none" strike="noStrike" dirty="0">
                <a:effectLst/>
                <a:latin typeface="Arial" panose="020B0604020202020204" pitchFamily="34" charset="0"/>
              </a:rPr>
              <a:t>  </a:t>
            </a:r>
            <a:r>
              <a:rPr lang="zh-TW" altLang="en-US" b="0" i="0" u="none" strike="noStrike" dirty="0">
                <a:effectLst/>
                <a:latin typeface="Arial" panose="020B0604020202020204" pitchFamily="34" charset="0"/>
                <a:hlinkClick r:id="rId4" tooltip="晉江市"/>
              </a:rPr>
              <a:t>晉江市</a:t>
            </a:r>
            <a:r>
              <a:rPr lang="zh-TW" altLang="en-US" b="0" i="0" u="none" strike="noStrike" dirty="0">
                <a:effectLst/>
                <a:latin typeface="Arial" panose="020B0604020202020204" pitchFamily="34" charset="0"/>
              </a:rPr>
              <a:t>  </a:t>
            </a:r>
            <a:r>
              <a:rPr lang="zh-TW" altLang="en-US" b="0" i="0" u="none" strike="noStrike" dirty="0">
                <a:effectLst/>
                <a:latin typeface="Arial" panose="020B0604020202020204" pitchFamily="34" charset="0"/>
                <a:hlinkClick r:id="rId5" tooltip="東石鎮"/>
              </a:rPr>
              <a:t>東石鎮</a:t>
            </a:r>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40</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None/>
            </a:pPr>
            <a:r>
              <a:rPr lang="en-US" altLang="zh-TW" dirty="0"/>
              <a:t>(3)</a:t>
            </a:r>
            <a:r>
              <a:rPr lang="zh-TW" altLang="en-US" dirty="0"/>
              <a:t>都市從中式道路思維系統轉換為日式丁目的街區治理→臺北「西門町」</a:t>
            </a:r>
          </a:p>
          <a:p>
            <a:pPr>
              <a:buNone/>
            </a:pPr>
            <a:endParaRPr lang="zh-TW" altLang="en-US" dirty="0"/>
          </a:p>
          <a:p>
            <a:pPr>
              <a:buNone/>
            </a:pPr>
            <a:r>
              <a:rPr lang="zh-TW" altLang="en-US" dirty="0"/>
              <a:t>參考以下影片</a:t>
            </a:r>
            <a:endParaRPr lang="en-US" altLang="zh-TW" dirty="0"/>
          </a:p>
          <a:p>
            <a:pPr>
              <a:buNone/>
            </a:pPr>
            <a:r>
              <a:rPr lang="en-US" altLang="zh-TW" dirty="0"/>
              <a:t>https://</a:t>
            </a:r>
            <a:r>
              <a:rPr lang="en-US" altLang="zh-TW" dirty="0" err="1"/>
              <a:t>www.youtube.com</a:t>
            </a:r>
            <a:r>
              <a:rPr lang="en-US" altLang="zh-TW" dirty="0"/>
              <a:t>/</a:t>
            </a:r>
            <a:r>
              <a:rPr lang="en-US" altLang="zh-TW" dirty="0" err="1"/>
              <a:t>watch?v</a:t>
            </a:r>
            <a:r>
              <a:rPr lang="en-US" altLang="zh-TW" dirty="0"/>
              <a:t>=</a:t>
            </a:r>
            <a:r>
              <a:rPr lang="en-US" altLang="zh-TW" dirty="0" err="1"/>
              <a:t>1K5SycZjGhI</a:t>
            </a:r>
            <a:endParaRPr lang="en-US" altLang="zh-TW" dirty="0"/>
          </a:p>
          <a:p>
            <a:pPr>
              <a:buNone/>
            </a:pPr>
            <a:r>
              <a:rPr lang="zh-TW" altLang="en-US" dirty="0"/>
              <a:t>同</a:t>
            </a:r>
          </a:p>
          <a:p>
            <a:pPr>
              <a:buNone/>
            </a:pPr>
            <a:r>
              <a:rPr lang="en-US" altLang="zh-TW" dirty="0"/>
              <a:t>https://</a:t>
            </a:r>
            <a:r>
              <a:rPr lang="en-US" altLang="zh-TW" dirty="0" err="1"/>
              <a:t>www.ted.com</a:t>
            </a:r>
            <a:r>
              <a:rPr lang="en-US" altLang="zh-TW" dirty="0"/>
              <a:t>/talks/</a:t>
            </a:r>
            <a:r>
              <a:rPr lang="en-US" altLang="zh-TW" dirty="0" err="1"/>
              <a:t>derek_sivers_weird_or_just_different</a:t>
            </a:r>
            <a:r>
              <a:rPr lang="en-US" altLang="zh-TW" dirty="0"/>
              <a:t>/</a:t>
            </a:r>
            <a:r>
              <a:rPr lang="en-US" altLang="zh-TW" dirty="0" err="1"/>
              <a:t>transcript?share</a:t>
            </a:r>
            <a:r>
              <a:rPr lang="en-US" altLang="zh-TW" dirty="0"/>
              <a:t>=</a:t>
            </a:r>
            <a:r>
              <a:rPr lang="en-US" altLang="zh-TW" dirty="0" err="1"/>
              <a:t>1ed509d3bc&amp;language</a:t>
            </a:r>
            <a:r>
              <a:rPr lang="en-US" altLang="zh-TW" dirty="0"/>
              <a:t>=</a:t>
            </a:r>
            <a:r>
              <a:rPr lang="en-US" altLang="zh-TW" dirty="0" err="1"/>
              <a:t>zh-tw</a:t>
            </a:r>
            <a:endParaRPr lang="en-US" altLang="zh-TW" dirty="0"/>
          </a:p>
          <a:p>
            <a:pPr marL="0" marR="0" lvl="0" indent="0" algn="l" defTabSz="914400" rtl="0" eaLnBrk="1" fontAlgn="auto" latinLnBrk="0" hangingPunct="1">
              <a:lnSpc>
                <a:spcPct val="100000"/>
              </a:lnSpc>
              <a:spcBef>
                <a:spcPts val="360"/>
              </a:spcBef>
              <a:spcAft>
                <a:spcPts val="0"/>
              </a:spcAft>
              <a:buClrTx/>
              <a:buSzTx/>
              <a:buFontTx/>
              <a:buNone/>
              <a:tabLst/>
              <a:defRPr/>
            </a:pPr>
            <a:endParaRPr lang="en-US" altLang="zh-TW" b="1" i="0" cap="all" dirty="0">
              <a:solidFill>
                <a:srgbClr val="222222"/>
              </a:solidFill>
              <a:effectLst/>
              <a:latin typeface="Heiti TC"/>
            </a:endParaRPr>
          </a:p>
          <a:p>
            <a:pPr marL="0" marR="0" lvl="0" indent="0" algn="l" defTabSz="914400" rtl="0" eaLnBrk="1" fontAlgn="auto" latinLnBrk="0" hangingPunct="1">
              <a:lnSpc>
                <a:spcPct val="100000"/>
              </a:lnSpc>
              <a:spcBef>
                <a:spcPts val="360"/>
              </a:spcBef>
              <a:spcAft>
                <a:spcPts val="0"/>
              </a:spcAft>
              <a:buClrTx/>
              <a:buSzTx/>
              <a:buFontTx/>
              <a:buNone/>
              <a:tabLst/>
              <a:defRPr/>
            </a:pPr>
            <a:r>
              <a:rPr lang="zh-TW" altLang="en-US" b="1" i="0" cap="all" dirty="0">
                <a:solidFill>
                  <a:srgbClr val="222222"/>
                </a:solidFill>
                <a:effectLst/>
                <a:latin typeface="Heiti TC"/>
              </a:rPr>
              <a:t>如何看懂日本的地址？</a:t>
            </a:r>
          </a:p>
          <a:p>
            <a:pPr>
              <a:buNone/>
            </a:pPr>
            <a:r>
              <a:rPr lang="en-US" altLang="zh-TW" dirty="0"/>
              <a:t>https://</a:t>
            </a:r>
            <a:r>
              <a:rPr lang="en-US" altLang="zh-TW" dirty="0" err="1"/>
              <a:t>resources.realestate.co.jp</a:t>
            </a:r>
            <a:r>
              <a:rPr lang="en-US" altLang="zh-TW" dirty="0"/>
              <a:t>/</a:t>
            </a:r>
            <a:r>
              <a:rPr lang="en-US" altLang="zh-TW" dirty="0" err="1"/>
              <a:t>zh_TW</a:t>
            </a:r>
            <a:r>
              <a:rPr lang="en-US" altLang="zh-TW" dirty="0"/>
              <a:t>/2019/07/26/how-to-read-a-</a:t>
            </a:r>
            <a:r>
              <a:rPr lang="en-US" altLang="zh-TW" dirty="0" err="1"/>
              <a:t>japanese</a:t>
            </a:r>
            <a:r>
              <a:rPr lang="en-US" altLang="zh-TW" dirty="0"/>
              <a:t>-address/</a:t>
            </a:r>
          </a:p>
          <a:p>
            <a:pPr>
              <a:buNone/>
            </a:pPr>
            <a:endParaRPr lang="en-US" altLang="zh-CN" b="1" i="0" dirty="0">
              <a:solidFill>
                <a:srgbClr val="000000"/>
              </a:solidFill>
              <a:effectLst/>
              <a:latin typeface="Heuristica"/>
            </a:endParaRPr>
          </a:p>
          <a:p>
            <a:pPr>
              <a:buNone/>
            </a:pPr>
            <a:r>
              <a:rPr lang="en-US" altLang="zh-CN" b="1" i="0" dirty="0">
                <a:solidFill>
                  <a:srgbClr val="000000"/>
                </a:solidFill>
                <a:effectLst/>
                <a:latin typeface="Heuristica"/>
              </a:rPr>
              <a:t>Ex 1</a:t>
            </a:r>
            <a:r>
              <a:rPr lang="zh-CN" altLang="en-US" b="1" i="0" dirty="0">
                <a:solidFill>
                  <a:srgbClr val="000000"/>
                </a:solidFill>
                <a:effectLst/>
                <a:latin typeface="Heuristica"/>
              </a:rPr>
              <a:t>丁目</a:t>
            </a:r>
            <a:r>
              <a:rPr lang="en-US" altLang="zh-CN" b="1" i="0" dirty="0">
                <a:solidFill>
                  <a:srgbClr val="000000"/>
                </a:solidFill>
                <a:effectLst/>
                <a:latin typeface="Heuristica"/>
              </a:rPr>
              <a:t>8</a:t>
            </a:r>
            <a:r>
              <a:rPr lang="zh-CN" altLang="en-US" b="1" i="0" dirty="0">
                <a:solidFill>
                  <a:srgbClr val="000000"/>
                </a:solidFill>
                <a:effectLst/>
                <a:latin typeface="Heuristica"/>
              </a:rPr>
              <a:t>番</a:t>
            </a:r>
            <a:r>
              <a:rPr lang="en-US" altLang="zh-CN" b="1" i="0" dirty="0">
                <a:solidFill>
                  <a:srgbClr val="000000"/>
                </a:solidFill>
                <a:effectLst/>
                <a:latin typeface="Heuristica"/>
              </a:rPr>
              <a:t>1</a:t>
            </a:r>
            <a:r>
              <a:rPr lang="zh-CN" altLang="en-US" b="1" i="0" dirty="0">
                <a:solidFill>
                  <a:srgbClr val="000000"/>
                </a:solidFill>
                <a:effectLst/>
                <a:latin typeface="Heuristica"/>
              </a:rPr>
              <a:t>号</a:t>
            </a:r>
            <a:endParaRPr lang="en-US" altLang="zh-TW" dirty="0"/>
          </a:p>
          <a:p>
            <a:pPr>
              <a:buNone/>
            </a:pPr>
            <a:r>
              <a:rPr lang="en-US" altLang="zh-TW" b="0" i="1" u="sng" dirty="0">
                <a:solidFill>
                  <a:srgbClr val="000000"/>
                </a:solidFill>
                <a:effectLst/>
                <a:latin typeface="Heuristica"/>
              </a:rPr>
              <a:t>1</a:t>
            </a:r>
            <a:r>
              <a:rPr lang="zh-TW" altLang="en-US" b="0" i="1" u="sng" dirty="0">
                <a:solidFill>
                  <a:srgbClr val="000000"/>
                </a:solidFill>
                <a:effectLst/>
                <a:latin typeface="Heuristica"/>
              </a:rPr>
              <a:t>丁目、第</a:t>
            </a:r>
            <a:r>
              <a:rPr lang="en-US" altLang="zh-TW" b="0" i="1" u="sng" dirty="0">
                <a:solidFill>
                  <a:srgbClr val="000000"/>
                </a:solidFill>
                <a:effectLst/>
                <a:latin typeface="Heuristica"/>
              </a:rPr>
              <a:t>8</a:t>
            </a:r>
            <a:r>
              <a:rPr lang="zh-TW" altLang="en-US" b="0" i="1" u="sng" dirty="0">
                <a:solidFill>
                  <a:srgbClr val="000000"/>
                </a:solidFill>
                <a:effectLst/>
                <a:latin typeface="Heuristica"/>
              </a:rPr>
              <a:t>番地、門牌號碼</a:t>
            </a:r>
            <a:r>
              <a:rPr lang="en-US" altLang="zh-TW" b="0" i="1" u="sng" dirty="0">
                <a:solidFill>
                  <a:srgbClr val="000000"/>
                </a:solidFill>
                <a:effectLst/>
                <a:latin typeface="Heuristica"/>
              </a:rPr>
              <a:t>1</a:t>
            </a:r>
            <a:r>
              <a:rPr lang="zh-TW" altLang="en-US" b="0" i="1" u="sng" dirty="0">
                <a:solidFill>
                  <a:srgbClr val="000000"/>
                </a:solidFill>
                <a:effectLst/>
                <a:latin typeface="Heuristica"/>
              </a:rPr>
              <a:t>號</a:t>
            </a:r>
            <a:endParaRPr lang="en-US" altLang="zh-TW" b="0" i="0" dirty="0">
              <a:solidFill>
                <a:srgbClr val="000000"/>
              </a:solidFill>
              <a:effectLst/>
              <a:latin typeface="Heuristica"/>
            </a:endParaRPr>
          </a:p>
          <a:p>
            <a:pPr>
              <a:buNone/>
            </a:pPr>
            <a:r>
              <a:rPr lang="zh-TW" altLang="en-US" b="0" i="0" dirty="0">
                <a:solidFill>
                  <a:srgbClr val="000000"/>
                </a:solidFill>
                <a:effectLst/>
                <a:latin typeface="Heuristica"/>
              </a:rPr>
              <a:t>第一個為</a:t>
            </a:r>
            <a:r>
              <a:rPr lang="zh-TW" altLang="en-US" b="0" i="1" dirty="0">
                <a:solidFill>
                  <a:srgbClr val="000000"/>
                </a:solidFill>
                <a:effectLst/>
                <a:latin typeface="Heuristica"/>
              </a:rPr>
              <a:t>市區編號</a:t>
            </a:r>
            <a:r>
              <a:rPr lang="en-US" altLang="zh-TW" b="0" i="1" dirty="0">
                <a:solidFill>
                  <a:srgbClr val="000000"/>
                </a:solidFill>
                <a:effectLst/>
                <a:latin typeface="Heuristica"/>
              </a:rPr>
              <a:t>(</a:t>
            </a:r>
            <a:r>
              <a:rPr lang="zh-TW" altLang="en-US" b="0" i="1" dirty="0">
                <a:solidFill>
                  <a:srgbClr val="000000"/>
                </a:solidFill>
                <a:effectLst/>
                <a:latin typeface="Heuristica"/>
              </a:rPr>
              <a:t>丁目</a:t>
            </a:r>
            <a:r>
              <a:rPr lang="en-US" altLang="zh-TW" b="0" i="1" dirty="0">
                <a:solidFill>
                  <a:srgbClr val="000000"/>
                </a:solidFill>
                <a:effectLst/>
                <a:latin typeface="Heuristica"/>
              </a:rPr>
              <a:t>)</a:t>
            </a:r>
            <a:r>
              <a:rPr lang="zh-TW" altLang="en-US" b="0" i="0" dirty="0">
                <a:solidFill>
                  <a:srgbClr val="000000"/>
                </a:solidFill>
                <a:effectLst/>
                <a:latin typeface="Heuristica"/>
              </a:rPr>
              <a:t>，第二個是</a:t>
            </a:r>
            <a:r>
              <a:rPr lang="zh-TW" altLang="en-US" b="0" i="1" dirty="0">
                <a:solidFill>
                  <a:srgbClr val="000000"/>
                </a:solidFill>
                <a:effectLst/>
                <a:latin typeface="Heuristica"/>
              </a:rPr>
              <a:t>街區號碼</a:t>
            </a:r>
            <a:r>
              <a:rPr lang="en-US" altLang="zh-TW" b="0" i="1" dirty="0">
                <a:solidFill>
                  <a:srgbClr val="000000"/>
                </a:solidFill>
                <a:effectLst/>
                <a:latin typeface="Heuristica"/>
              </a:rPr>
              <a:t>(</a:t>
            </a:r>
            <a:r>
              <a:rPr lang="zh-TW" altLang="en-US" b="0" i="1" dirty="0">
                <a:solidFill>
                  <a:srgbClr val="000000"/>
                </a:solidFill>
                <a:effectLst/>
                <a:latin typeface="Heuristica"/>
              </a:rPr>
              <a:t>番地</a:t>
            </a:r>
            <a:r>
              <a:rPr lang="en-US" altLang="zh-TW" b="0" i="1" dirty="0">
                <a:solidFill>
                  <a:srgbClr val="000000"/>
                </a:solidFill>
                <a:effectLst/>
                <a:latin typeface="Heuristica"/>
              </a:rPr>
              <a:t>)</a:t>
            </a:r>
            <a:r>
              <a:rPr lang="zh-TW" altLang="en-US" b="0" i="0" dirty="0">
                <a:solidFill>
                  <a:srgbClr val="000000"/>
                </a:solidFill>
                <a:effectLst/>
                <a:latin typeface="Heuristica"/>
              </a:rPr>
              <a:t>，第三個是</a:t>
            </a:r>
            <a:r>
              <a:rPr lang="zh-TW" altLang="en-US" b="0" i="1" dirty="0">
                <a:solidFill>
                  <a:srgbClr val="000000"/>
                </a:solidFill>
                <a:effectLst/>
                <a:latin typeface="Heuristica"/>
              </a:rPr>
              <a:t>門牌號碼</a:t>
            </a:r>
            <a:r>
              <a:rPr lang="en-US" altLang="zh-TW" b="0" i="1" dirty="0">
                <a:solidFill>
                  <a:srgbClr val="000000"/>
                </a:solidFill>
                <a:effectLst/>
                <a:latin typeface="Heuristica"/>
              </a:rPr>
              <a:t>(</a:t>
            </a:r>
            <a:r>
              <a:rPr lang="zh-TW" altLang="en-US" b="0" i="1" dirty="0">
                <a:solidFill>
                  <a:srgbClr val="000000"/>
                </a:solidFill>
                <a:effectLst/>
                <a:latin typeface="Heuristica"/>
              </a:rPr>
              <a:t>号</a:t>
            </a:r>
            <a:r>
              <a:rPr lang="en-US" altLang="zh-TW" b="0" i="1" dirty="0">
                <a:solidFill>
                  <a:srgbClr val="000000"/>
                </a:solidFill>
                <a:effectLst/>
                <a:latin typeface="Heuristica"/>
              </a:rPr>
              <a:t>)</a:t>
            </a:r>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41</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42</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43</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44</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45</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177153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47</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1" i="0" u="none" strike="noStrike" kern="1200" cap="none" dirty="0">
                <a:solidFill>
                  <a:schemeClr val="dk1"/>
                </a:solidFill>
                <a:effectLst/>
                <a:latin typeface="Calibri"/>
                <a:ea typeface="Calibri"/>
                <a:cs typeface="Calibri"/>
                <a:sym typeface="Calibri"/>
              </a:rPr>
              <a:t>5. 20 </a:t>
            </a:r>
            <a:r>
              <a:rPr lang="zh-TW" altLang="zh-TW" sz="1200" b="0" i="0" u="none" strike="noStrike" kern="1200" cap="none" dirty="0">
                <a:solidFill>
                  <a:schemeClr val="dk1"/>
                </a:solidFill>
                <a:effectLst/>
                <a:latin typeface="Calibri"/>
                <a:ea typeface="Calibri"/>
                <a:cs typeface="Calibri"/>
                <a:sym typeface="Calibri"/>
              </a:rPr>
              <a:t>世紀後半，臺灣經濟成長快速，曾創下經濟奇蹟的紀錄、躍身成為亞洲四小龍，這與</a:t>
            </a:r>
            <a:r>
              <a:rPr lang="en-US" altLang="zh-TW" sz="1200" b="1" i="0" u="none" strike="noStrike" kern="1200" cap="none" dirty="0">
                <a:solidFill>
                  <a:schemeClr val="dk1"/>
                </a:solidFill>
                <a:effectLst/>
                <a:latin typeface="Calibri"/>
                <a:ea typeface="Calibri"/>
                <a:cs typeface="Calibri"/>
                <a:sym typeface="Calibri"/>
              </a:rPr>
              <a:t> 1960 </a:t>
            </a:r>
            <a:r>
              <a:rPr lang="zh-TW" altLang="zh-TW" sz="1200" b="0" i="0" u="none" strike="noStrike" kern="1200" cap="none" dirty="0">
                <a:solidFill>
                  <a:schemeClr val="dk1"/>
                </a:solidFill>
                <a:effectLst/>
                <a:latin typeface="Calibri"/>
                <a:ea typeface="Calibri"/>
                <a:cs typeface="Calibri"/>
                <a:sym typeface="Calibri"/>
              </a:rPr>
              <a:t>年代出口導向時期奠定的基礎密切相關，請問</a:t>
            </a:r>
            <a:r>
              <a:rPr lang="en-US" altLang="zh-TW" sz="1200" b="1" i="0" u="none" strike="noStrike" kern="1200" cap="none" dirty="0">
                <a:solidFill>
                  <a:schemeClr val="dk1"/>
                </a:solidFill>
                <a:effectLst/>
                <a:latin typeface="Calibri"/>
                <a:ea typeface="Calibri"/>
                <a:cs typeface="Calibri"/>
                <a:sym typeface="Calibri"/>
              </a:rPr>
              <a:t>:</a:t>
            </a:r>
            <a:r>
              <a:rPr lang="en-US" altLang="zh-TW" sz="1200" b="0"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臺灣在出口導向時期，是以下列何者作為發展優勢條件？</a:t>
            </a:r>
            <a:r>
              <a:rPr lang="en-US" altLang="zh-TW" sz="1200" b="0" i="0" u="none" strike="noStrike" kern="1200" cap="none" dirty="0">
                <a:solidFill>
                  <a:schemeClr val="dk1"/>
                </a:solidFill>
                <a:effectLst/>
                <a:latin typeface="Calibri"/>
                <a:ea typeface="Calibri"/>
                <a:cs typeface="Calibri"/>
                <a:sym typeface="Calibri"/>
              </a:rPr>
              <a:t> </a:t>
            </a:r>
            <a:endParaRPr lang="zh-TW" altLang="zh-TW" sz="1200" b="0" i="0" u="none" strike="noStrike" kern="1200" cap="none" dirty="0">
              <a:solidFill>
                <a:schemeClr val="dk1"/>
              </a:solidFill>
              <a:effectLst/>
              <a:latin typeface="Calibri"/>
              <a:ea typeface="Calibri"/>
              <a:cs typeface="Calibri"/>
              <a:sym typeface="Calibri"/>
            </a:endParaRPr>
          </a:p>
          <a:p>
            <a:r>
              <a:rPr lang="en-US" altLang="zh-TW" sz="1200" b="1" i="0" u="none" strike="noStrike" kern="1200" cap="none" dirty="0">
                <a:solidFill>
                  <a:schemeClr val="dk1"/>
                </a:solidFill>
                <a:effectLst/>
                <a:latin typeface="Calibri"/>
                <a:ea typeface="Calibri"/>
                <a:cs typeface="Calibri"/>
                <a:sym typeface="Calibri"/>
              </a:rPr>
              <a:t>(A)</a:t>
            </a:r>
            <a:r>
              <a:rPr lang="zh-TW" altLang="zh-TW" sz="1200" b="0" i="0" u="none" strike="noStrike" kern="1200" cap="none" dirty="0">
                <a:solidFill>
                  <a:schemeClr val="dk1"/>
                </a:solidFill>
                <a:effectLst/>
                <a:latin typeface="Calibri"/>
                <a:ea typeface="Calibri"/>
                <a:cs typeface="Calibri"/>
                <a:sym typeface="Calibri"/>
              </a:rPr>
              <a:t>豐富而便宜的農產品</a:t>
            </a:r>
            <a:r>
              <a:rPr lang="zh-TW" altLang="zh-TW" sz="1200" b="1" i="0" u="none" strike="noStrike" kern="1200" cap="none" dirty="0">
                <a:solidFill>
                  <a:schemeClr val="dk1"/>
                </a:solidFill>
                <a:effectLst/>
                <a:latin typeface="Calibri"/>
                <a:ea typeface="Calibri"/>
                <a:cs typeface="Calibri"/>
                <a:sym typeface="Calibri"/>
              </a:rPr>
              <a:t>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廉價而高素質的勞力資源</a:t>
            </a:r>
            <a:r>
              <a:rPr lang="en-US" altLang="zh-TW" sz="1200" b="1" i="0" u="none" strike="noStrike" kern="1200" cap="none" dirty="0">
                <a:solidFill>
                  <a:schemeClr val="dk1"/>
                </a:solidFill>
                <a:effectLst/>
                <a:latin typeface="Calibri"/>
                <a:ea typeface="Calibri"/>
                <a:cs typeface="Calibri"/>
                <a:sym typeface="Calibri"/>
              </a:rPr>
              <a:t> (C)</a:t>
            </a:r>
            <a:r>
              <a:rPr lang="zh-TW" altLang="zh-TW" sz="1200" b="0" i="0" u="none" strike="noStrike" kern="1200" cap="none" dirty="0">
                <a:solidFill>
                  <a:schemeClr val="dk1"/>
                </a:solidFill>
                <a:effectLst/>
                <a:latin typeface="Calibri"/>
                <a:ea typeface="Calibri"/>
                <a:cs typeface="Calibri"/>
                <a:sym typeface="Calibri"/>
              </a:rPr>
              <a:t>具經濟規模的量產能力</a:t>
            </a:r>
            <a:r>
              <a:rPr lang="en-US" altLang="zh-TW" sz="1200" b="1" i="0" u="none" strike="noStrike" kern="1200" cap="none" dirty="0">
                <a:solidFill>
                  <a:schemeClr val="dk1"/>
                </a:solidFill>
                <a:effectLst/>
                <a:latin typeface="Calibri"/>
                <a:ea typeface="Calibri"/>
                <a:cs typeface="Calibri"/>
                <a:sym typeface="Calibri"/>
              </a:rPr>
              <a:t> (D)</a:t>
            </a:r>
            <a:r>
              <a:rPr lang="zh-TW" altLang="zh-TW" sz="1200" b="0" i="0" u="none" strike="noStrike" kern="1200" cap="none" dirty="0">
                <a:solidFill>
                  <a:schemeClr val="dk1"/>
                </a:solidFill>
                <a:effectLst/>
                <a:latin typeface="Calibri"/>
                <a:ea typeface="Calibri"/>
                <a:cs typeface="Calibri"/>
                <a:sym typeface="Calibri"/>
              </a:rPr>
              <a:t>多樣而新穎的</a:t>
            </a:r>
            <a:r>
              <a:rPr lang="zh-TW"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設計能力。</a:t>
            </a:r>
          </a:p>
          <a:p>
            <a:r>
              <a:rPr lang="zh-TW" altLang="zh-TW" sz="1200" b="0" i="0" u="none" strike="noStrike" kern="1200" cap="none" dirty="0">
                <a:solidFill>
                  <a:schemeClr val="dk1"/>
                </a:solidFill>
                <a:effectLst/>
                <a:latin typeface="Calibri"/>
                <a:ea typeface="Calibri"/>
                <a:cs typeface="Calibri"/>
                <a:sym typeface="Calibri"/>
              </a:rPr>
              <a:t> </a:t>
            </a:r>
            <a:r>
              <a:rPr lang="en-US" altLang="zh-TW" sz="1200" b="0" i="0" u="none" strike="noStrike" kern="1200" cap="none" dirty="0">
                <a:solidFill>
                  <a:schemeClr val="dk1"/>
                </a:solidFill>
                <a:effectLst/>
                <a:latin typeface="Calibri"/>
                <a:ea typeface="Calibri"/>
                <a:cs typeface="Calibri"/>
                <a:sym typeface="Calibri"/>
              </a:rPr>
              <a:t>B</a:t>
            </a:r>
            <a:endParaRPr lang="zh-TW" altLang="zh-TW" sz="1200" b="0" i="0" u="none" strike="noStrike" kern="1200" cap="none" dirty="0">
              <a:solidFill>
                <a:schemeClr val="dk1"/>
              </a:solidFill>
              <a:effectLst/>
              <a:latin typeface="Calibri"/>
              <a:ea typeface="Calibri"/>
              <a:cs typeface="Calibri"/>
              <a:sym typeface="Calibri"/>
            </a:endParaRPr>
          </a:p>
          <a:p>
            <a:r>
              <a:rPr lang="en-US" altLang="zh-TW" sz="1200" b="1" i="0" u="none" strike="noStrike" kern="1200" cap="none" dirty="0">
                <a:solidFill>
                  <a:schemeClr val="dk1"/>
                </a:solidFill>
                <a:effectLst/>
                <a:latin typeface="Calibri"/>
                <a:ea typeface="Calibri"/>
                <a:cs typeface="Calibri"/>
                <a:sym typeface="Calibri"/>
              </a:rPr>
              <a:t>6.</a:t>
            </a:r>
            <a:r>
              <a:rPr lang="zh-TW" altLang="zh-TW" sz="1200" b="0" i="0" u="none" strike="noStrike" kern="1200" cap="none" dirty="0">
                <a:solidFill>
                  <a:schemeClr val="dk1"/>
                </a:solidFill>
                <a:effectLst/>
                <a:latin typeface="Calibri"/>
                <a:ea typeface="Calibri"/>
                <a:cs typeface="Calibri"/>
                <a:sym typeface="Calibri"/>
              </a:rPr>
              <a:t>國際情勢常迫使政府採取相關具體行動來因應，進而塑造不同的地理景觀，</a:t>
            </a:r>
            <a:r>
              <a:rPr lang="en-US" altLang="zh-TW" sz="1200" b="1" i="0" u="none" strike="noStrike" kern="1200" cap="none" dirty="0">
                <a:solidFill>
                  <a:schemeClr val="dk1"/>
                </a:solidFill>
                <a:effectLst/>
                <a:latin typeface="Calibri"/>
                <a:ea typeface="Calibri"/>
                <a:cs typeface="Calibri"/>
                <a:sym typeface="Calibri"/>
              </a:rPr>
              <a:t>1970 </a:t>
            </a:r>
            <a:r>
              <a:rPr lang="zh-TW" altLang="zh-TW" sz="1200" b="0" i="0" u="none" strike="noStrike" kern="1200" cap="none" dirty="0">
                <a:solidFill>
                  <a:schemeClr val="dk1"/>
                </a:solidFill>
                <a:effectLst/>
                <a:latin typeface="Calibri"/>
                <a:ea typeface="Calibri"/>
                <a:cs typeface="Calibri"/>
                <a:sym typeface="Calibri"/>
              </a:rPr>
              <a:t>年代，臺灣面臨石油</a:t>
            </a:r>
            <a:r>
              <a:rPr lang="zh-TW" altLang="zh-TW" sz="1200" b="1" i="0" u="none" strike="noStrike" kern="1200" cap="none" dirty="0">
                <a:solidFill>
                  <a:schemeClr val="dk1"/>
                </a:solidFill>
                <a:effectLst/>
                <a:latin typeface="Calibri"/>
                <a:ea typeface="Calibri"/>
                <a:cs typeface="Calibri"/>
                <a:sym typeface="Calibri"/>
              </a:rPr>
              <a:t> </a:t>
            </a:r>
            <a:r>
              <a:rPr lang="zh-TW" altLang="zh-TW" sz="1200" b="0" i="0" u="none" strike="noStrike" kern="1200" cap="none" dirty="0">
                <a:solidFill>
                  <a:schemeClr val="dk1"/>
                </a:solidFill>
                <a:effectLst/>
                <a:latin typeface="Calibri"/>
                <a:ea typeface="Calibri"/>
                <a:cs typeface="Calibri"/>
                <a:sym typeface="Calibri"/>
              </a:rPr>
              <a:t>危機的衝擊，為了減輕工業原料進口成本高漲的壓力，便發展何種產業以改善此問題？ </a:t>
            </a:r>
            <a:r>
              <a:rPr lang="en-US" altLang="zh-TW" sz="1200" b="1" i="0" u="none" strike="noStrike" kern="1200" cap="none" dirty="0">
                <a:solidFill>
                  <a:schemeClr val="dk1"/>
                </a:solidFill>
                <a:effectLst/>
                <a:latin typeface="Calibri"/>
                <a:ea typeface="Calibri"/>
                <a:cs typeface="Calibri"/>
                <a:sym typeface="Calibri"/>
              </a:rPr>
              <a:t>(A)</a:t>
            </a:r>
            <a:r>
              <a:rPr lang="zh-TW" altLang="zh-TW" sz="1200" b="0" i="0" u="none" strike="noStrike" kern="1200" cap="none" dirty="0">
                <a:solidFill>
                  <a:schemeClr val="dk1"/>
                </a:solidFill>
                <a:effectLst/>
                <a:latin typeface="Calibri"/>
                <a:ea typeface="Calibri"/>
                <a:cs typeface="Calibri"/>
                <a:sym typeface="Calibri"/>
              </a:rPr>
              <a:t>農產品加工業 </a:t>
            </a:r>
            <a:r>
              <a:rPr lang="en-US" altLang="zh-TW" sz="1200" b="1" i="0" u="none" strike="noStrike" kern="1200" cap="none" dirty="0">
                <a:solidFill>
                  <a:schemeClr val="dk1"/>
                </a:solidFill>
                <a:effectLst/>
                <a:latin typeface="Calibri"/>
                <a:ea typeface="Calibri"/>
                <a:cs typeface="Calibri"/>
                <a:sym typeface="Calibri"/>
              </a:rPr>
              <a:t>(B)</a:t>
            </a:r>
            <a:r>
              <a:rPr lang="zh-TW" altLang="zh-TW" sz="1200" b="0" i="0" u="none" strike="noStrike" kern="1200" cap="none" dirty="0">
                <a:solidFill>
                  <a:schemeClr val="dk1"/>
                </a:solidFill>
                <a:effectLst/>
                <a:latin typeface="Calibri"/>
                <a:ea typeface="Calibri"/>
                <a:cs typeface="Calibri"/>
                <a:sym typeface="Calibri"/>
              </a:rPr>
              <a:t>重化工業 </a:t>
            </a:r>
            <a:r>
              <a:rPr lang="en-US" altLang="zh-TW" sz="1200" b="1" i="0" u="none" strike="noStrike" kern="1200" cap="none" dirty="0">
                <a:solidFill>
                  <a:schemeClr val="dk1"/>
                </a:solidFill>
                <a:effectLst/>
                <a:latin typeface="Calibri"/>
                <a:ea typeface="Calibri"/>
                <a:cs typeface="Calibri"/>
                <a:sym typeface="Calibri"/>
              </a:rPr>
              <a:t>(C)</a:t>
            </a:r>
            <a:r>
              <a:rPr lang="zh-TW" altLang="zh-TW" sz="1200" b="0" i="0" u="none" strike="noStrike" kern="1200" cap="none" dirty="0">
                <a:solidFill>
                  <a:schemeClr val="dk1"/>
                </a:solidFill>
                <a:effectLst/>
                <a:latin typeface="Calibri"/>
                <a:ea typeface="Calibri"/>
                <a:cs typeface="Calibri"/>
                <a:sym typeface="Calibri"/>
              </a:rPr>
              <a:t>電子資訊工業 </a:t>
            </a:r>
            <a:r>
              <a:rPr lang="en-US" altLang="zh-TW" sz="1200" b="1" i="0" u="none" strike="noStrike" kern="1200" cap="none" dirty="0">
                <a:solidFill>
                  <a:schemeClr val="dk1"/>
                </a:solidFill>
                <a:effectLst/>
                <a:latin typeface="Calibri"/>
                <a:ea typeface="Calibri"/>
                <a:cs typeface="Calibri"/>
                <a:sym typeface="Calibri"/>
              </a:rPr>
              <a:t>(D)</a:t>
            </a:r>
            <a:r>
              <a:rPr lang="zh-TW" altLang="zh-TW" sz="1200" b="0" i="0" u="none" strike="noStrike" kern="1200" cap="none" dirty="0">
                <a:solidFill>
                  <a:schemeClr val="dk1"/>
                </a:solidFill>
                <a:effectLst/>
                <a:latin typeface="Calibri"/>
                <a:ea typeface="Calibri"/>
                <a:cs typeface="Calibri"/>
                <a:sym typeface="Calibri"/>
              </a:rPr>
              <a:t>勞力密集性工業。</a:t>
            </a:r>
            <a:endParaRPr lang="en-US" altLang="zh-TW" sz="1200" b="0" i="0" u="none" strike="noStrike" kern="1200" cap="none" dirty="0">
              <a:solidFill>
                <a:schemeClr val="dk1"/>
              </a:solidFill>
              <a:effectLst/>
              <a:latin typeface="Calibri"/>
              <a:ea typeface="Calibri"/>
              <a:cs typeface="Calibri"/>
              <a:sym typeface="Calibri"/>
            </a:endParaRPr>
          </a:p>
          <a:p>
            <a:r>
              <a:rPr lang="en-US" altLang="zh-TW" sz="1200" b="0" i="0" u="none" strike="noStrike" kern="1200" cap="none" dirty="0">
                <a:solidFill>
                  <a:schemeClr val="dk1"/>
                </a:solidFill>
                <a:effectLst/>
                <a:latin typeface="Calibri"/>
                <a:ea typeface="Calibri"/>
                <a:cs typeface="Calibri"/>
                <a:sym typeface="Calibri"/>
              </a:rPr>
              <a:t>B</a:t>
            </a:r>
            <a:endParaRPr lang="zh-TW" altLang="zh-TW" sz="1200" b="0" i="0" u="none" strike="noStrike" kern="1200" cap="none" dirty="0">
              <a:solidFill>
                <a:schemeClr val="dk1"/>
              </a:solidFill>
              <a:effectLst/>
              <a:latin typeface="Calibri"/>
              <a:ea typeface="Calibri"/>
              <a:cs typeface="Calibri"/>
              <a:sym typeface="Calibri"/>
            </a:endParaRPr>
          </a:p>
          <a:p>
            <a:endParaRPr lang="zh-TW" altLang="en-US" dirty="0"/>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48</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49</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0"/>
          </p:nvPr>
        </p:nvSpPr>
        <p:spPr/>
        <p:txBody>
          <a:bodyPr/>
          <a:lstStyle/>
          <a:p>
            <a:pPr marL="0" marR="0" lvl="0" indent="0" algn="r" rtl="0">
              <a:spcBef>
                <a:spcPts val="0"/>
              </a:spcBef>
              <a:spcAft>
                <a:spcPts val="0"/>
              </a:spcAft>
              <a:buSzPct val="25000"/>
              <a:buNone/>
            </a:pPr>
            <a:fld id="{00000000-1234-1234-1234-123412341234}" type="slidenum">
              <a:rPr lang="en-US" altLang="zh-TW" sz="1200" b="0" i="0" u="none" strike="noStrike" cap="none" smtClean="0">
                <a:solidFill>
                  <a:schemeClr val="dk1"/>
                </a:solidFill>
                <a:latin typeface="Arial"/>
                <a:ea typeface="Arial"/>
                <a:cs typeface="Arial"/>
                <a:sym typeface="Arial"/>
              </a:rPr>
              <a:t>50</a:t>
            </a:fld>
            <a:endParaRPr lang="zh-TW"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766335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標題及物件">
    <p:spTree>
      <p:nvGrpSpPr>
        <p:cNvPr id="1" name="Shape 21"/>
        <p:cNvGrpSpPr/>
        <p:nvPr/>
      </p:nvGrpSpPr>
      <p:grpSpPr>
        <a:xfrm>
          <a:off x="0" y="0"/>
          <a:ext cx="0" cy="0"/>
          <a:chOff x="0" y="0"/>
          <a:chExt cx="0" cy="0"/>
        </a:xfrm>
      </p:grpSpPr>
      <p:sp>
        <p:nvSpPr>
          <p:cNvPr id="22" name="Shape 22"/>
          <p:cNvSpPr txBox="1">
            <a:spLocks noGrp="1"/>
          </p:cNvSpPr>
          <p:nvPr>
            <p:ph type="title"/>
          </p:nvPr>
        </p:nvSpPr>
        <p:spPr>
          <a:xfrm>
            <a:off x="301625" y="228600"/>
            <a:ext cx="8540750" cy="1143000"/>
          </a:xfrm>
          <a:prstGeom prst="rect">
            <a:avLst/>
          </a:prstGeom>
          <a:noFill/>
          <a:ln>
            <a:noFill/>
          </a:ln>
        </p:spPr>
        <p:txBody>
          <a:bodyPr wrap="square" lIns="91425" tIns="91425" rIns="91425" bIns="91425" anchor="ctr" anchorCtr="0"/>
          <a:lstStyle>
            <a:lvl1pPr marL="0" marR="0" lvl="0" indent="0" algn="ctr" rtl="0">
              <a:spcBef>
                <a:spcPts val="0"/>
              </a:spcBef>
              <a:spcAft>
                <a:spcPts val="0"/>
              </a:spcAft>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23" name="Shape 23"/>
          <p:cNvSpPr txBox="1">
            <a:spLocks noGrp="1"/>
          </p:cNvSpPr>
          <p:nvPr>
            <p:ph type="body" idx="1"/>
          </p:nvPr>
        </p:nvSpPr>
        <p:spPr>
          <a:xfrm>
            <a:off x="301625" y="1600200"/>
            <a:ext cx="8540750" cy="4498975"/>
          </a:xfrm>
          <a:prstGeom prst="rect">
            <a:avLst/>
          </a:prstGeom>
          <a:noFill/>
          <a:ln>
            <a:noFill/>
          </a:ln>
        </p:spPr>
        <p:txBody>
          <a:bodyPr wrap="square" lIns="91425" tIns="91425" rIns="91425" bIns="91425" anchor="t" anchorCtr="0"/>
          <a:lstStyle>
            <a:lvl1pPr marL="342900" marR="0" lvl="0" indent="-170180" algn="l" rtl="0">
              <a:spcBef>
                <a:spcPts val="640"/>
              </a:spcBef>
              <a:spcAft>
                <a:spcPts val="0"/>
              </a:spcAft>
              <a:buClr>
                <a:schemeClr val="folHlink"/>
              </a:buClr>
              <a:buSzPct val="85000"/>
              <a:buFont typeface="Noto Sans Symbols"/>
              <a:buChar char="◼"/>
              <a:defRPr sz="3200" b="0" i="0" u="none" strike="noStrike" cap="none">
                <a:solidFill>
                  <a:schemeClr val="dk1"/>
                </a:solidFill>
                <a:latin typeface="Arial"/>
                <a:ea typeface="Arial"/>
                <a:cs typeface="Arial"/>
                <a:sym typeface="Arial"/>
              </a:defRPr>
            </a:lvl1pPr>
            <a:lvl2pPr marL="742950" marR="0" lvl="1" indent="-134619" algn="l" rtl="0">
              <a:spcBef>
                <a:spcPts val="560"/>
              </a:spcBef>
              <a:spcAft>
                <a:spcPts val="0"/>
              </a:spcAft>
              <a:buClr>
                <a:schemeClr val="hlink"/>
              </a:buClr>
              <a:buSzPct val="85000"/>
              <a:buFont typeface="Noto Sans Symbols"/>
              <a:buChar char="❧"/>
              <a:defRPr sz="2800" b="0" i="0" u="none" strike="noStrike" cap="none">
                <a:solidFill>
                  <a:schemeClr val="dk1"/>
                </a:solidFill>
                <a:latin typeface="Arial"/>
                <a:ea typeface="Arial"/>
                <a:cs typeface="Arial"/>
                <a:sym typeface="Arial"/>
              </a:defRPr>
            </a:lvl2pPr>
            <a:lvl3pPr marL="1143000" marR="0" lvl="2" indent="-91439" algn="l" rtl="0">
              <a:spcBef>
                <a:spcPts val="480"/>
              </a:spcBef>
              <a:spcAft>
                <a:spcPts val="0"/>
              </a:spcAft>
              <a:buClr>
                <a:schemeClr val="folHlink"/>
              </a:buClr>
              <a:buSzPct val="90000"/>
              <a:buFont typeface="Noto Sans Symbols"/>
              <a:buChar char="◼"/>
              <a:defRPr sz="2400" b="0" i="0" u="none" strike="noStrike" cap="none">
                <a:solidFill>
                  <a:schemeClr val="dk1"/>
                </a:solidFill>
                <a:latin typeface="Arial"/>
                <a:ea typeface="Arial"/>
                <a:cs typeface="Arial"/>
                <a:sym typeface="Arial"/>
              </a:defRPr>
            </a:lvl3pPr>
            <a:lvl4pPr marL="1600200" marR="0" lvl="3" indent="-114300" algn="l" rtl="0">
              <a:spcBef>
                <a:spcPts val="400"/>
              </a:spcBef>
              <a:spcAft>
                <a:spcPts val="0"/>
              </a:spcAft>
              <a:buClr>
                <a:schemeClr val="hlink"/>
              </a:buClr>
              <a:buSzPct val="90000"/>
              <a:buFont typeface="Noto Sans Symbols"/>
              <a:buChar char="❧"/>
              <a:defRPr sz="2000" b="0" i="0" u="none" strike="noStrike" cap="none">
                <a:solidFill>
                  <a:schemeClr val="dk1"/>
                </a:solidFill>
                <a:latin typeface="Arial"/>
                <a:ea typeface="Arial"/>
                <a:cs typeface="Arial"/>
                <a:sym typeface="Arial"/>
              </a:defRPr>
            </a:lvl4pPr>
            <a:lvl5pPr marL="2057400" marR="0" lvl="4"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5pPr>
            <a:lvl6pPr marL="2514600" marR="0" lvl="5"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6pPr>
            <a:lvl7pPr marL="2971800" marR="0" lvl="6"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7pPr>
            <a:lvl8pPr marL="3429000" marR="0" lvl="7"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8pPr>
            <a:lvl9pPr marL="3886200" marR="0" lvl="8"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9pPr>
          </a:lstStyle>
          <a:p>
            <a:endParaRPr/>
          </a:p>
        </p:txBody>
      </p:sp>
      <p:sp>
        <p:nvSpPr>
          <p:cNvPr id="24" name="Shape 24"/>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5" name="Shape 25"/>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6" name="Shape 26"/>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b="0" i="0" u="none" strike="noStrike" cap="none">
                <a:solidFill>
                  <a:schemeClr val="dk1"/>
                </a:solidFill>
                <a:latin typeface="Arial"/>
                <a:ea typeface="Arial"/>
                <a:cs typeface="Arial"/>
                <a:sym typeface="Arial"/>
              </a:rPr>
              <a:t>‹#›</a:t>
            </a:fld>
            <a:endParaRPr lang="zh-TW" sz="14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區段標題">
    <p:spTree>
      <p:nvGrpSpPr>
        <p:cNvPr id="1" name="Shape 31"/>
        <p:cNvGrpSpPr/>
        <p:nvPr/>
      </p:nvGrpSpPr>
      <p:grpSpPr>
        <a:xfrm>
          <a:off x="0" y="0"/>
          <a:ext cx="0" cy="0"/>
          <a:chOff x="0" y="0"/>
          <a:chExt cx="0" cy="0"/>
        </a:xfrm>
      </p:grpSpPr>
      <p:sp>
        <p:nvSpPr>
          <p:cNvPr id="32" name="Shape 32"/>
          <p:cNvSpPr txBox="1">
            <a:spLocks noGrp="1"/>
          </p:cNvSpPr>
          <p:nvPr>
            <p:ph type="title"/>
          </p:nvPr>
        </p:nvSpPr>
        <p:spPr>
          <a:xfrm>
            <a:off x="722313" y="4406900"/>
            <a:ext cx="7772400" cy="1362075"/>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4000" b="1"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33" name="Shape 33"/>
          <p:cNvSpPr txBox="1">
            <a:spLocks noGrp="1"/>
          </p:cNvSpPr>
          <p:nvPr>
            <p:ph type="body" idx="1"/>
          </p:nvPr>
        </p:nvSpPr>
        <p:spPr>
          <a:xfrm>
            <a:off x="722313" y="2906713"/>
            <a:ext cx="7772400" cy="1500187"/>
          </a:xfrm>
          <a:prstGeom prst="rect">
            <a:avLst/>
          </a:prstGeom>
          <a:noFill/>
          <a:ln>
            <a:noFill/>
          </a:ln>
        </p:spPr>
        <p:txBody>
          <a:bodyPr wrap="square" lIns="91425" tIns="91425" rIns="91425" bIns="91425" anchor="b" anchorCtr="0"/>
          <a:lstStyle>
            <a:lvl1pPr marL="0" marR="0" lvl="0" indent="0" algn="l" rtl="0">
              <a:spcBef>
                <a:spcPts val="400"/>
              </a:spcBef>
              <a:spcAft>
                <a:spcPts val="0"/>
              </a:spcAft>
              <a:buClr>
                <a:schemeClr val="folHlink"/>
              </a:buClr>
              <a:buFont typeface="Noto Sans Symbols"/>
              <a:buNone/>
              <a:defRPr sz="2000" b="0" i="0" u="none" strike="noStrike" cap="none">
                <a:solidFill>
                  <a:schemeClr val="dk1"/>
                </a:solidFill>
                <a:latin typeface="Arial"/>
                <a:ea typeface="Arial"/>
                <a:cs typeface="Arial"/>
                <a:sym typeface="Arial"/>
              </a:defRPr>
            </a:lvl1pPr>
            <a:lvl2pPr marL="457200" marR="0" lvl="1" indent="0" algn="l" rtl="0">
              <a:spcBef>
                <a:spcPts val="360"/>
              </a:spcBef>
              <a:spcAft>
                <a:spcPts val="0"/>
              </a:spcAft>
              <a:buClr>
                <a:schemeClr val="hlink"/>
              </a:buClr>
              <a:buFont typeface="Noto Sans Symbols"/>
              <a:buNone/>
              <a:defRPr sz="1800" b="0" i="0" u="none" strike="noStrike" cap="none">
                <a:solidFill>
                  <a:schemeClr val="dk1"/>
                </a:solidFill>
                <a:latin typeface="Arial"/>
                <a:ea typeface="Arial"/>
                <a:cs typeface="Arial"/>
                <a:sym typeface="Arial"/>
              </a:defRPr>
            </a:lvl2pPr>
            <a:lvl3pPr marL="914400" marR="0" lvl="2" indent="0" algn="l" rtl="0">
              <a:spcBef>
                <a:spcPts val="320"/>
              </a:spcBef>
              <a:spcAft>
                <a:spcPts val="0"/>
              </a:spcAft>
              <a:buClr>
                <a:schemeClr val="folHlink"/>
              </a:buClr>
              <a:buFont typeface="Noto Sans Symbols"/>
              <a:buNone/>
              <a:defRPr sz="1600" b="0" i="0" u="none" strike="noStrike" cap="none">
                <a:solidFill>
                  <a:schemeClr val="dk1"/>
                </a:solidFill>
                <a:latin typeface="Arial"/>
                <a:ea typeface="Arial"/>
                <a:cs typeface="Arial"/>
                <a:sym typeface="Arial"/>
              </a:defRPr>
            </a:lvl3pPr>
            <a:lvl4pPr marL="1371600" marR="0" lvl="3" indent="0" algn="l" rtl="0">
              <a:spcBef>
                <a:spcPts val="280"/>
              </a:spcBef>
              <a:spcAft>
                <a:spcPts val="0"/>
              </a:spcAft>
              <a:buClr>
                <a:schemeClr val="hlink"/>
              </a:buClr>
              <a:buFont typeface="Noto Sans Symbols"/>
              <a:buNone/>
              <a:defRPr sz="1400" b="0" i="0" u="none" strike="noStrike" cap="none">
                <a:solidFill>
                  <a:schemeClr val="dk1"/>
                </a:solidFill>
                <a:latin typeface="Arial"/>
                <a:ea typeface="Arial"/>
                <a:cs typeface="Arial"/>
                <a:sym typeface="Arial"/>
              </a:defRPr>
            </a:lvl4pPr>
            <a:lvl5pPr marL="1828800" marR="0" lvl="4" indent="0" algn="l" rtl="0">
              <a:spcBef>
                <a:spcPts val="280"/>
              </a:spcBef>
              <a:spcAft>
                <a:spcPts val="0"/>
              </a:spcAft>
              <a:buClr>
                <a:schemeClr val="folHlink"/>
              </a:buClr>
              <a:buFont typeface="Noto Sans Symbols"/>
              <a:buNone/>
              <a:defRPr sz="1400" b="0" i="0" u="none" strike="noStrike" cap="none">
                <a:solidFill>
                  <a:schemeClr val="dk1"/>
                </a:solidFill>
                <a:latin typeface="Arial"/>
                <a:ea typeface="Arial"/>
                <a:cs typeface="Arial"/>
                <a:sym typeface="Arial"/>
              </a:defRPr>
            </a:lvl5pPr>
            <a:lvl6pPr marL="2286000" marR="0" lvl="5" indent="0" algn="l" rtl="0">
              <a:spcBef>
                <a:spcPts val="280"/>
              </a:spcBef>
              <a:spcAft>
                <a:spcPts val="0"/>
              </a:spcAft>
              <a:buClr>
                <a:schemeClr val="folHlink"/>
              </a:buClr>
              <a:buFont typeface="Noto Sans Symbols"/>
              <a:buNone/>
              <a:defRPr sz="1400" b="0" i="0" u="none" strike="noStrike" cap="none">
                <a:solidFill>
                  <a:schemeClr val="dk1"/>
                </a:solidFill>
                <a:latin typeface="Arial"/>
                <a:ea typeface="Arial"/>
                <a:cs typeface="Arial"/>
                <a:sym typeface="Arial"/>
              </a:defRPr>
            </a:lvl6pPr>
            <a:lvl7pPr marL="2743200" marR="0" lvl="6" indent="0" algn="l" rtl="0">
              <a:spcBef>
                <a:spcPts val="280"/>
              </a:spcBef>
              <a:spcAft>
                <a:spcPts val="0"/>
              </a:spcAft>
              <a:buClr>
                <a:schemeClr val="folHlink"/>
              </a:buClr>
              <a:buFont typeface="Noto Sans Symbols"/>
              <a:buNone/>
              <a:defRPr sz="1400" b="0" i="0" u="none" strike="noStrike" cap="none">
                <a:solidFill>
                  <a:schemeClr val="dk1"/>
                </a:solidFill>
                <a:latin typeface="Arial"/>
                <a:ea typeface="Arial"/>
                <a:cs typeface="Arial"/>
                <a:sym typeface="Arial"/>
              </a:defRPr>
            </a:lvl7pPr>
            <a:lvl8pPr marL="3200400" marR="0" lvl="7" indent="0" algn="l" rtl="0">
              <a:spcBef>
                <a:spcPts val="280"/>
              </a:spcBef>
              <a:spcAft>
                <a:spcPts val="0"/>
              </a:spcAft>
              <a:buClr>
                <a:schemeClr val="folHlink"/>
              </a:buClr>
              <a:buFont typeface="Noto Sans Symbols"/>
              <a:buNone/>
              <a:defRPr sz="1400" b="0" i="0" u="none" strike="noStrike" cap="none">
                <a:solidFill>
                  <a:schemeClr val="dk1"/>
                </a:solidFill>
                <a:latin typeface="Arial"/>
                <a:ea typeface="Arial"/>
                <a:cs typeface="Arial"/>
                <a:sym typeface="Arial"/>
              </a:defRPr>
            </a:lvl8pPr>
            <a:lvl9pPr marL="3657600" marR="0" lvl="8" indent="0" algn="l" rtl="0">
              <a:spcBef>
                <a:spcPts val="280"/>
              </a:spcBef>
              <a:spcAft>
                <a:spcPts val="0"/>
              </a:spcAft>
              <a:buClr>
                <a:schemeClr val="folHlink"/>
              </a:buClr>
              <a:buFont typeface="Noto Sans Symbols"/>
              <a:buNone/>
              <a:defRPr sz="1400" b="0" i="0" u="none" strike="noStrike" cap="none">
                <a:solidFill>
                  <a:schemeClr val="dk1"/>
                </a:solidFill>
                <a:latin typeface="Arial"/>
                <a:ea typeface="Arial"/>
                <a:cs typeface="Arial"/>
                <a:sym typeface="Arial"/>
              </a:defRPr>
            </a:lvl9pPr>
          </a:lstStyle>
          <a:p>
            <a:endParaRPr/>
          </a:p>
        </p:txBody>
      </p:sp>
      <p:sp>
        <p:nvSpPr>
          <p:cNvPr id="34" name="Shape 34"/>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兩項物件">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301625" y="228600"/>
            <a:ext cx="8540750" cy="1143000"/>
          </a:xfrm>
          <a:prstGeom prst="rect">
            <a:avLst/>
          </a:prstGeom>
          <a:noFill/>
          <a:ln>
            <a:noFill/>
          </a:ln>
        </p:spPr>
        <p:txBody>
          <a:bodyPr wrap="square" lIns="91425" tIns="91425" rIns="91425" bIns="91425" anchor="ctr" anchorCtr="0"/>
          <a:lstStyle>
            <a:lvl1pPr marL="0" marR="0" lvl="0" indent="0" algn="ctr" rtl="0">
              <a:spcBef>
                <a:spcPts val="0"/>
              </a:spcBef>
              <a:spcAft>
                <a:spcPts val="0"/>
              </a:spcAft>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39" name="Shape 39"/>
          <p:cNvSpPr txBox="1">
            <a:spLocks noGrp="1"/>
          </p:cNvSpPr>
          <p:nvPr>
            <p:ph type="body" idx="1"/>
          </p:nvPr>
        </p:nvSpPr>
        <p:spPr>
          <a:xfrm>
            <a:off x="301625" y="1600200"/>
            <a:ext cx="4194175" cy="4498975"/>
          </a:xfrm>
          <a:prstGeom prst="rect">
            <a:avLst/>
          </a:prstGeom>
          <a:noFill/>
          <a:ln>
            <a:noFill/>
          </a:ln>
        </p:spPr>
        <p:txBody>
          <a:bodyPr wrap="square" lIns="91425" tIns="91425" rIns="91425" bIns="91425" anchor="t" anchorCtr="0"/>
          <a:lstStyle>
            <a:lvl1pPr marL="342900" marR="0" lvl="0" indent="-191770" algn="l" rtl="0">
              <a:spcBef>
                <a:spcPts val="560"/>
              </a:spcBef>
              <a:spcAft>
                <a:spcPts val="0"/>
              </a:spcAft>
              <a:buClr>
                <a:schemeClr val="folHlink"/>
              </a:buClr>
              <a:buSzPct val="85000"/>
              <a:buFont typeface="Noto Sans Symbols"/>
              <a:buChar char="◼"/>
              <a:defRPr sz="2800" b="0" i="0" u="none" strike="noStrike" cap="none">
                <a:solidFill>
                  <a:schemeClr val="dk1"/>
                </a:solidFill>
                <a:latin typeface="Arial"/>
                <a:ea typeface="Arial"/>
                <a:cs typeface="Arial"/>
                <a:sym typeface="Arial"/>
              </a:defRPr>
            </a:lvl1pPr>
            <a:lvl2pPr marL="742950" marR="0" lvl="1" indent="-156209" algn="l" rtl="0">
              <a:spcBef>
                <a:spcPts val="480"/>
              </a:spcBef>
              <a:spcAft>
                <a:spcPts val="0"/>
              </a:spcAft>
              <a:buClr>
                <a:schemeClr val="hlink"/>
              </a:buClr>
              <a:buSzPct val="85000"/>
              <a:buFont typeface="Noto Sans Symbols"/>
              <a:buChar char="❧"/>
              <a:defRPr sz="2400" b="0" i="0" u="none" strike="noStrike" cap="none">
                <a:solidFill>
                  <a:schemeClr val="dk1"/>
                </a:solidFill>
                <a:latin typeface="Arial"/>
                <a:ea typeface="Arial"/>
                <a:cs typeface="Arial"/>
                <a:sym typeface="Arial"/>
              </a:defRPr>
            </a:lvl2pPr>
            <a:lvl3pPr marL="1143000" marR="0" lvl="2"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3pPr>
            <a:lvl4pPr marL="1600200" marR="0" lvl="3" indent="-125730" algn="l" rtl="0">
              <a:spcBef>
                <a:spcPts val="360"/>
              </a:spcBef>
              <a:spcAft>
                <a:spcPts val="0"/>
              </a:spcAft>
              <a:buClr>
                <a:schemeClr val="hlink"/>
              </a:buClr>
              <a:buSzPct val="90000"/>
              <a:buFont typeface="Noto Sans Symbols"/>
              <a:buChar char="❧"/>
              <a:defRPr sz="1800" b="0" i="0" u="none" strike="noStrike" cap="none">
                <a:solidFill>
                  <a:schemeClr val="dk1"/>
                </a:solidFill>
                <a:latin typeface="Arial"/>
                <a:ea typeface="Arial"/>
                <a:cs typeface="Arial"/>
                <a:sym typeface="Arial"/>
              </a:defRPr>
            </a:lvl4pPr>
            <a:lvl5pPr marL="2057400" marR="0" lvl="4"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5pPr>
            <a:lvl6pPr marL="2514600" marR="0" lvl="5"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6pPr>
            <a:lvl7pPr marL="2971800" marR="0" lvl="6"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7pPr>
            <a:lvl8pPr marL="3429000" marR="0" lvl="7"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8pPr>
            <a:lvl9pPr marL="3886200" marR="0" lvl="8"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4648200" y="1600200"/>
            <a:ext cx="4194175" cy="4498975"/>
          </a:xfrm>
          <a:prstGeom prst="rect">
            <a:avLst/>
          </a:prstGeom>
          <a:noFill/>
          <a:ln>
            <a:noFill/>
          </a:ln>
        </p:spPr>
        <p:txBody>
          <a:bodyPr wrap="square" lIns="91425" tIns="91425" rIns="91425" bIns="91425" anchor="t" anchorCtr="0"/>
          <a:lstStyle>
            <a:lvl1pPr marL="342900" marR="0" lvl="0" indent="-191770" algn="l" rtl="0">
              <a:spcBef>
                <a:spcPts val="560"/>
              </a:spcBef>
              <a:spcAft>
                <a:spcPts val="0"/>
              </a:spcAft>
              <a:buClr>
                <a:schemeClr val="folHlink"/>
              </a:buClr>
              <a:buSzPct val="85000"/>
              <a:buFont typeface="Noto Sans Symbols"/>
              <a:buChar char="◼"/>
              <a:defRPr sz="2800" b="0" i="0" u="none" strike="noStrike" cap="none">
                <a:solidFill>
                  <a:schemeClr val="dk1"/>
                </a:solidFill>
                <a:latin typeface="Arial"/>
                <a:ea typeface="Arial"/>
                <a:cs typeface="Arial"/>
                <a:sym typeface="Arial"/>
              </a:defRPr>
            </a:lvl1pPr>
            <a:lvl2pPr marL="742950" marR="0" lvl="1" indent="-156209" algn="l" rtl="0">
              <a:spcBef>
                <a:spcPts val="480"/>
              </a:spcBef>
              <a:spcAft>
                <a:spcPts val="0"/>
              </a:spcAft>
              <a:buClr>
                <a:schemeClr val="hlink"/>
              </a:buClr>
              <a:buSzPct val="85000"/>
              <a:buFont typeface="Noto Sans Symbols"/>
              <a:buChar char="❧"/>
              <a:defRPr sz="2400" b="0" i="0" u="none" strike="noStrike" cap="none">
                <a:solidFill>
                  <a:schemeClr val="dk1"/>
                </a:solidFill>
                <a:latin typeface="Arial"/>
                <a:ea typeface="Arial"/>
                <a:cs typeface="Arial"/>
                <a:sym typeface="Arial"/>
              </a:defRPr>
            </a:lvl2pPr>
            <a:lvl3pPr marL="1143000" marR="0" lvl="2"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3pPr>
            <a:lvl4pPr marL="1600200" marR="0" lvl="3" indent="-125730" algn="l" rtl="0">
              <a:spcBef>
                <a:spcPts val="360"/>
              </a:spcBef>
              <a:spcAft>
                <a:spcPts val="0"/>
              </a:spcAft>
              <a:buClr>
                <a:schemeClr val="hlink"/>
              </a:buClr>
              <a:buSzPct val="90000"/>
              <a:buFont typeface="Noto Sans Symbols"/>
              <a:buChar char="❧"/>
              <a:defRPr sz="1800" b="0" i="0" u="none" strike="noStrike" cap="none">
                <a:solidFill>
                  <a:schemeClr val="dk1"/>
                </a:solidFill>
                <a:latin typeface="Arial"/>
                <a:ea typeface="Arial"/>
                <a:cs typeface="Arial"/>
                <a:sym typeface="Arial"/>
              </a:defRPr>
            </a:lvl4pPr>
            <a:lvl5pPr marL="2057400" marR="0" lvl="4"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5pPr>
            <a:lvl6pPr marL="2514600" marR="0" lvl="5"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6pPr>
            <a:lvl7pPr marL="2971800" marR="0" lvl="6"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7pPr>
            <a:lvl8pPr marL="3429000" marR="0" lvl="7"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8pPr>
            <a:lvl9pPr marL="3886200" marR="0" lvl="8" indent="-125729"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cSld name="比對">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457200" y="274638"/>
            <a:ext cx="8229600" cy="1143000"/>
          </a:xfrm>
          <a:prstGeom prst="rect">
            <a:avLst/>
          </a:prstGeom>
          <a:noFill/>
          <a:ln>
            <a:noFill/>
          </a:ln>
        </p:spPr>
        <p:txBody>
          <a:bodyPr wrap="square" lIns="91425" tIns="91425" rIns="91425" bIns="91425" anchor="ctr" anchorCtr="0"/>
          <a:lstStyle>
            <a:lvl1pPr marL="0" marR="0" lvl="0" indent="0" algn="ctr" rtl="0">
              <a:spcBef>
                <a:spcPts val="0"/>
              </a:spcBef>
              <a:spcAft>
                <a:spcPts val="0"/>
              </a:spcAft>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46" name="Shape 46"/>
          <p:cNvSpPr txBox="1">
            <a:spLocks noGrp="1"/>
          </p:cNvSpPr>
          <p:nvPr>
            <p:ph type="body" idx="1"/>
          </p:nvPr>
        </p:nvSpPr>
        <p:spPr>
          <a:xfrm>
            <a:off x="457200" y="1535113"/>
            <a:ext cx="4040188" cy="639762"/>
          </a:xfrm>
          <a:prstGeom prst="rect">
            <a:avLst/>
          </a:prstGeom>
          <a:noFill/>
          <a:ln>
            <a:noFill/>
          </a:ln>
        </p:spPr>
        <p:txBody>
          <a:bodyPr wrap="square" lIns="91425" tIns="91425" rIns="91425" bIns="91425" anchor="b" anchorCtr="0"/>
          <a:lstStyle>
            <a:lvl1pPr marL="0" marR="0" lvl="0" indent="0" algn="l" rtl="0">
              <a:spcBef>
                <a:spcPts val="480"/>
              </a:spcBef>
              <a:spcAft>
                <a:spcPts val="0"/>
              </a:spcAft>
              <a:buClr>
                <a:schemeClr val="folHlink"/>
              </a:buClr>
              <a:buFont typeface="Noto Sans Symbols"/>
              <a:buNone/>
              <a:defRPr sz="2400" b="1" i="0" u="none" strike="noStrike" cap="none">
                <a:solidFill>
                  <a:schemeClr val="dk1"/>
                </a:solidFill>
                <a:latin typeface="Arial"/>
                <a:ea typeface="Arial"/>
                <a:cs typeface="Arial"/>
                <a:sym typeface="Arial"/>
              </a:defRPr>
            </a:lvl1pPr>
            <a:lvl2pPr marL="457200" marR="0" lvl="1" indent="0" algn="l" rtl="0">
              <a:spcBef>
                <a:spcPts val="400"/>
              </a:spcBef>
              <a:spcAft>
                <a:spcPts val="0"/>
              </a:spcAft>
              <a:buClr>
                <a:schemeClr val="hlink"/>
              </a:buClr>
              <a:buFont typeface="Noto Sans Symbols"/>
              <a:buNone/>
              <a:defRPr sz="2000" b="1" i="0" u="none" strike="noStrike" cap="none">
                <a:solidFill>
                  <a:schemeClr val="dk1"/>
                </a:solidFill>
                <a:latin typeface="Arial"/>
                <a:ea typeface="Arial"/>
                <a:cs typeface="Arial"/>
                <a:sym typeface="Arial"/>
              </a:defRPr>
            </a:lvl2pPr>
            <a:lvl3pPr marL="914400" marR="0" lvl="2" indent="0" algn="l" rtl="0">
              <a:spcBef>
                <a:spcPts val="360"/>
              </a:spcBef>
              <a:spcAft>
                <a:spcPts val="0"/>
              </a:spcAft>
              <a:buClr>
                <a:schemeClr val="folHlink"/>
              </a:buClr>
              <a:buFont typeface="Noto Sans Symbols"/>
              <a:buNone/>
              <a:defRPr sz="1800" b="1" i="0" u="none" strike="noStrike" cap="none">
                <a:solidFill>
                  <a:schemeClr val="dk1"/>
                </a:solidFill>
                <a:latin typeface="Arial"/>
                <a:ea typeface="Arial"/>
                <a:cs typeface="Arial"/>
                <a:sym typeface="Arial"/>
              </a:defRPr>
            </a:lvl3pPr>
            <a:lvl4pPr marL="1371600" marR="0" lvl="3" indent="0" algn="l" rtl="0">
              <a:spcBef>
                <a:spcPts val="320"/>
              </a:spcBef>
              <a:spcAft>
                <a:spcPts val="0"/>
              </a:spcAft>
              <a:buClr>
                <a:schemeClr val="hlink"/>
              </a:buClr>
              <a:buFont typeface="Noto Sans Symbols"/>
              <a:buNone/>
              <a:defRPr sz="1600" b="1" i="0" u="none" strike="noStrike" cap="none">
                <a:solidFill>
                  <a:schemeClr val="dk1"/>
                </a:solidFill>
                <a:latin typeface="Arial"/>
                <a:ea typeface="Arial"/>
                <a:cs typeface="Arial"/>
                <a:sym typeface="Arial"/>
              </a:defRPr>
            </a:lvl4pPr>
            <a:lvl5pPr marL="1828800" marR="0" lvl="4"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5pPr>
            <a:lvl6pPr marL="2286000" marR="0" lvl="5"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6pPr>
            <a:lvl7pPr marL="2743200" marR="0" lvl="6"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7pPr>
            <a:lvl8pPr marL="3200400" marR="0" lvl="7"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8pPr>
            <a:lvl9pPr marL="3657600" marR="0" lvl="8"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9pPr>
          </a:lstStyle>
          <a:p>
            <a:endParaRPr/>
          </a:p>
        </p:txBody>
      </p:sp>
      <p:sp>
        <p:nvSpPr>
          <p:cNvPr id="47" name="Shape 47"/>
          <p:cNvSpPr txBox="1">
            <a:spLocks noGrp="1"/>
          </p:cNvSpPr>
          <p:nvPr>
            <p:ph type="body" idx="2"/>
          </p:nvPr>
        </p:nvSpPr>
        <p:spPr>
          <a:xfrm>
            <a:off x="457200" y="2174875"/>
            <a:ext cx="4040188" cy="3951288"/>
          </a:xfrm>
          <a:prstGeom prst="rect">
            <a:avLst/>
          </a:prstGeom>
          <a:noFill/>
          <a:ln>
            <a:noFill/>
          </a:ln>
        </p:spPr>
        <p:txBody>
          <a:bodyPr wrap="square" lIns="91425" tIns="91425" rIns="91425" bIns="91425" anchor="t" anchorCtr="0"/>
          <a:lstStyle>
            <a:lvl1pPr marL="342900" marR="0" lvl="0" indent="-213359" algn="l" rtl="0">
              <a:spcBef>
                <a:spcPts val="480"/>
              </a:spcBef>
              <a:spcAft>
                <a:spcPts val="0"/>
              </a:spcAft>
              <a:buClr>
                <a:schemeClr val="folHlink"/>
              </a:buClr>
              <a:buSzPct val="85000"/>
              <a:buFont typeface="Noto Sans Symbols"/>
              <a:buChar char="◼"/>
              <a:defRPr sz="2400" b="0" i="0" u="none" strike="noStrike" cap="none">
                <a:solidFill>
                  <a:schemeClr val="dk1"/>
                </a:solidFill>
                <a:latin typeface="Arial"/>
                <a:ea typeface="Arial"/>
                <a:cs typeface="Arial"/>
                <a:sym typeface="Arial"/>
              </a:defRPr>
            </a:lvl1pPr>
            <a:lvl2pPr marL="742950" marR="0" lvl="1" indent="-177800" algn="l" rtl="0">
              <a:spcBef>
                <a:spcPts val="400"/>
              </a:spcBef>
              <a:spcAft>
                <a:spcPts val="0"/>
              </a:spcAft>
              <a:buClr>
                <a:schemeClr val="hlink"/>
              </a:buClr>
              <a:buSzPct val="85000"/>
              <a:buFont typeface="Noto Sans Symbols"/>
              <a:buChar char="❧"/>
              <a:defRPr sz="2000" b="0" i="0" u="none" strike="noStrike" cap="none">
                <a:solidFill>
                  <a:schemeClr val="dk1"/>
                </a:solidFill>
                <a:latin typeface="Arial"/>
                <a:ea typeface="Arial"/>
                <a:cs typeface="Arial"/>
                <a:sym typeface="Arial"/>
              </a:defRPr>
            </a:lvl2pPr>
            <a:lvl3pPr marL="1143000" marR="0" lvl="2" indent="-125730"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3pPr>
            <a:lvl4pPr marL="1600200" marR="0" lvl="3" indent="-137160" algn="l" rtl="0">
              <a:spcBef>
                <a:spcPts val="320"/>
              </a:spcBef>
              <a:spcAft>
                <a:spcPts val="0"/>
              </a:spcAft>
              <a:buClr>
                <a:schemeClr val="hlink"/>
              </a:buClr>
              <a:buSzPct val="90000"/>
              <a:buFont typeface="Noto Sans Symbols"/>
              <a:buChar char="❧"/>
              <a:defRPr sz="1600" b="0" i="0" u="none" strike="noStrike" cap="none">
                <a:solidFill>
                  <a:schemeClr val="dk1"/>
                </a:solidFill>
                <a:latin typeface="Arial"/>
                <a:ea typeface="Arial"/>
                <a:cs typeface="Arial"/>
                <a:sym typeface="Arial"/>
              </a:defRPr>
            </a:lvl4pPr>
            <a:lvl5pPr marL="2057400" marR="0" lvl="4" indent="-137160"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5pPr>
            <a:lvl6pPr marL="2514600" marR="0" lvl="5" indent="-137160"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6pPr>
            <a:lvl7pPr marL="2971800" marR="0" lvl="6" indent="-137160"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7pPr>
            <a:lvl8pPr marL="3429000" marR="0" lvl="7" indent="-137159"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8pPr>
            <a:lvl9pPr marL="3886200" marR="0" lvl="8" indent="-137159"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9pPr>
          </a:lstStyle>
          <a:p>
            <a:endParaRPr/>
          </a:p>
        </p:txBody>
      </p:sp>
      <p:sp>
        <p:nvSpPr>
          <p:cNvPr id="48" name="Shape 48"/>
          <p:cNvSpPr txBox="1">
            <a:spLocks noGrp="1"/>
          </p:cNvSpPr>
          <p:nvPr>
            <p:ph type="body" idx="3"/>
          </p:nvPr>
        </p:nvSpPr>
        <p:spPr>
          <a:xfrm>
            <a:off x="4645025" y="1535113"/>
            <a:ext cx="4041775" cy="639762"/>
          </a:xfrm>
          <a:prstGeom prst="rect">
            <a:avLst/>
          </a:prstGeom>
          <a:noFill/>
          <a:ln>
            <a:noFill/>
          </a:ln>
        </p:spPr>
        <p:txBody>
          <a:bodyPr wrap="square" lIns="91425" tIns="91425" rIns="91425" bIns="91425" anchor="b" anchorCtr="0"/>
          <a:lstStyle>
            <a:lvl1pPr marL="0" marR="0" lvl="0" indent="0" algn="l" rtl="0">
              <a:spcBef>
                <a:spcPts val="480"/>
              </a:spcBef>
              <a:spcAft>
                <a:spcPts val="0"/>
              </a:spcAft>
              <a:buClr>
                <a:schemeClr val="folHlink"/>
              </a:buClr>
              <a:buFont typeface="Noto Sans Symbols"/>
              <a:buNone/>
              <a:defRPr sz="2400" b="1" i="0" u="none" strike="noStrike" cap="none">
                <a:solidFill>
                  <a:schemeClr val="dk1"/>
                </a:solidFill>
                <a:latin typeface="Arial"/>
                <a:ea typeface="Arial"/>
                <a:cs typeface="Arial"/>
                <a:sym typeface="Arial"/>
              </a:defRPr>
            </a:lvl1pPr>
            <a:lvl2pPr marL="457200" marR="0" lvl="1" indent="0" algn="l" rtl="0">
              <a:spcBef>
                <a:spcPts val="400"/>
              </a:spcBef>
              <a:spcAft>
                <a:spcPts val="0"/>
              </a:spcAft>
              <a:buClr>
                <a:schemeClr val="hlink"/>
              </a:buClr>
              <a:buFont typeface="Noto Sans Symbols"/>
              <a:buNone/>
              <a:defRPr sz="2000" b="1" i="0" u="none" strike="noStrike" cap="none">
                <a:solidFill>
                  <a:schemeClr val="dk1"/>
                </a:solidFill>
                <a:latin typeface="Arial"/>
                <a:ea typeface="Arial"/>
                <a:cs typeface="Arial"/>
                <a:sym typeface="Arial"/>
              </a:defRPr>
            </a:lvl2pPr>
            <a:lvl3pPr marL="914400" marR="0" lvl="2" indent="0" algn="l" rtl="0">
              <a:spcBef>
                <a:spcPts val="360"/>
              </a:spcBef>
              <a:spcAft>
                <a:spcPts val="0"/>
              </a:spcAft>
              <a:buClr>
                <a:schemeClr val="folHlink"/>
              </a:buClr>
              <a:buFont typeface="Noto Sans Symbols"/>
              <a:buNone/>
              <a:defRPr sz="1800" b="1" i="0" u="none" strike="noStrike" cap="none">
                <a:solidFill>
                  <a:schemeClr val="dk1"/>
                </a:solidFill>
                <a:latin typeface="Arial"/>
                <a:ea typeface="Arial"/>
                <a:cs typeface="Arial"/>
                <a:sym typeface="Arial"/>
              </a:defRPr>
            </a:lvl3pPr>
            <a:lvl4pPr marL="1371600" marR="0" lvl="3" indent="0" algn="l" rtl="0">
              <a:spcBef>
                <a:spcPts val="320"/>
              </a:spcBef>
              <a:spcAft>
                <a:spcPts val="0"/>
              </a:spcAft>
              <a:buClr>
                <a:schemeClr val="hlink"/>
              </a:buClr>
              <a:buFont typeface="Noto Sans Symbols"/>
              <a:buNone/>
              <a:defRPr sz="1600" b="1" i="0" u="none" strike="noStrike" cap="none">
                <a:solidFill>
                  <a:schemeClr val="dk1"/>
                </a:solidFill>
                <a:latin typeface="Arial"/>
                <a:ea typeface="Arial"/>
                <a:cs typeface="Arial"/>
                <a:sym typeface="Arial"/>
              </a:defRPr>
            </a:lvl4pPr>
            <a:lvl5pPr marL="1828800" marR="0" lvl="4"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5pPr>
            <a:lvl6pPr marL="2286000" marR="0" lvl="5"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6pPr>
            <a:lvl7pPr marL="2743200" marR="0" lvl="6"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7pPr>
            <a:lvl8pPr marL="3200400" marR="0" lvl="7"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8pPr>
            <a:lvl9pPr marL="3657600" marR="0" lvl="8" indent="0" algn="l" rtl="0">
              <a:spcBef>
                <a:spcPts val="320"/>
              </a:spcBef>
              <a:spcAft>
                <a:spcPts val="0"/>
              </a:spcAft>
              <a:buClr>
                <a:schemeClr val="folHlink"/>
              </a:buClr>
              <a:buFont typeface="Noto Sans Symbols"/>
              <a:buNone/>
              <a:defRPr sz="1600" b="1" i="0" u="none" strike="noStrike" cap="none">
                <a:solidFill>
                  <a:schemeClr val="dk1"/>
                </a:solidFill>
                <a:latin typeface="Arial"/>
                <a:ea typeface="Arial"/>
                <a:cs typeface="Arial"/>
                <a:sym typeface="Arial"/>
              </a:defRPr>
            </a:lvl9pPr>
          </a:lstStyle>
          <a:p>
            <a:endParaRPr/>
          </a:p>
        </p:txBody>
      </p:sp>
      <p:sp>
        <p:nvSpPr>
          <p:cNvPr id="49" name="Shape 49"/>
          <p:cNvSpPr txBox="1">
            <a:spLocks noGrp="1"/>
          </p:cNvSpPr>
          <p:nvPr>
            <p:ph type="body" idx="4"/>
          </p:nvPr>
        </p:nvSpPr>
        <p:spPr>
          <a:xfrm>
            <a:off x="4645025" y="2174875"/>
            <a:ext cx="4041775" cy="3951288"/>
          </a:xfrm>
          <a:prstGeom prst="rect">
            <a:avLst/>
          </a:prstGeom>
          <a:noFill/>
          <a:ln>
            <a:noFill/>
          </a:ln>
        </p:spPr>
        <p:txBody>
          <a:bodyPr wrap="square" lIns="91425" tIns="91425" rIns="91425" bIns="91425" anchor="t" anchorCtr="0"/>
          <a:lstStyle>
            <a:lvl1pPr marL="342900" marR="0" lvl="0" indent="-213359" algn="l" rtl="0">
              <a:spcBef>
                <a:spcPts val="480"/>
              </a:spcBef>
              <a:spcAft>
                <a:spcPts val="0"/>
              </a:spcAft>
              <a:buClr>
                <a:schemeClr val="folHlink"/>
              </a:buClr>
              <a:buSzPct val="85000"/>
              <a:buFont typeface="Noto Sans Symbols"/>
              <a:buChar char="◼"/>
              <a:defRPr sz="2400" b="0" i="0" u="none" strike="noStrike" cap="none">
                <a:solidFill>
                  <a:schemeClr val="dk1"/>
                </a:solidFill>
                <a:latin typeface="Arial"/>
                <a:ea typeface="Arial"/>
                <a:cs typeface="Arial"/>
                <a:sym typeface="Arial"/>
              </a:defRPr>
            </a:lvl1pPr>
            <a:lvl2pPr marL="742950" marR="0" lvl="1" indent="-177800" algn="l" rtl="0">
              <a:spcBef>
                <a:spcPts val="400"/>
              </a:spcBef>
              <a:spcAft>
                <a:spcPts val="0"/>
              </a:spcAft>
              <a:buClr>
                <a:schemeClr val="hlink"/>
              </a:buClr>
              <a:buSzPct val="85000"/>
              <a:buFont typeface="Noto Sans Symbols"/>
              <a:buChar char="❧"/>
              <a:defRPr sz="2000" b="0" i="0" u="none" strike="noStrike" cap="none">
                <a:solidFill>
                  <a:schemeClr val="dk1"/>
                </a:solidFill>
                <a:latin typeface="Arial"/>
                <a:ea typeface="Arial"/>
                <a:cs typeface="Arial"/>
                <a:sym typeface="Arial"/>
              </a:defRPr>
            </a:lvl2pPr>
            <a:lvl3pPr marL="1143000" marR="0" lvl="2" indent="-125730" algn="l" rtl="0">
              <a:spcBef>
                <a:spcPts val="360"/>
              </a:spcBef>
              <a:spcAft>
                <a:spcPts val="0"/>
              </a:spcAft>
              <a:buClr>
                <a:schemeClr val="folHlink"/>
              </a:buClr>
              <a:buSzPct val="90000"/>
              <a:buFont typeface="Noto Sans Symbols"/>
              <a:buChar char="◼"/>
              <a:defRPr sz="1800" b="0" i="0" u="none" strike="noStrike" cap="none">
                <a:solidFill>
                  <a:schemeClr val="dk1"/>
                </a:solidFill>
                <a:latin typeface="Arial"/>
                <a:ea typeface="Arial"/>
                <a:cs typeface="Arial"/>
                <a:sym typeface="Arial"/>
              </a:defRPr>
            </a:lvl3pPr>
            <a:lvl4pPr marL="1600200" marR="0" lvl="3" indent="-137160" algn="l" rtl="0">
              <a:spcBef>
                <a:spcPts val="320"/>
              </a:spcBef>
              <a:spcAft>
                <a:spcPts val="0"/>
              </a:spcAft>
              <a:buClr>
                <a:schemeClr val="hlink"/>
              </a:buClr>
              <a:buSzPct val="90000"/>
              <a:buFont typeface="Noto Sans Symbols"/>
              <a:buChar char="❧"/>
              <a:defRPr sz="1600" b="0" i="0" u="none" strike="noStrike" cap="none">
                <a:solidFill>
                  <a:schemeClr val="dk1"/>
                </a:solidFill>
                <a:latin typeface="Arial"/>
                <a:ea typeface="Arial"/>
                <a:cs typeface="Arial"/>
                <a:sym typeface="Arial"/>
              </a:defRPr>
            </a:lvl4pPr>
            <a:lvl5pPr marL="2057400" marR="0" lvl="4" indent="-137160"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5pPr>
            <a:lvl6pPr marL="2514600" marR="0" lvl="5" indent="-137160"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6pPr>
            <a:lvl7pPr marL="2971800" marR="0" lvl="6" indent="-137160"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7pPr>
            <a:lvl8pPr marL="3429000" marR="0" lvl="7" indent="-137159"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8pPr>
            <a:lvl9pPr marL="3886200" marR="0" lvl="8" indent="-137159" algn="l" rtl="0">
              <a:spcBef>
                <a:spcPts val="320"/>
              </a:spcBef>
              <a:spcAft>
                <a:spcPts val="0"/>
              </a:spcAft>
              <a:buClr>
                <a:schemeClr val="folHlink"/>
              </a:buClr>
              <a:buSzPct val="90000"/>
              <a:buFont typeface="Noto Sans Symbols"/>
              <a:buChar char="◼"/>
              <a:defRPr sz="1600" b="0" i="0" u="none" strike="noStrike" cap="none">
                <a:solidFill>
                  <a:schemeClr val="dk1"/>
                </a:solidFill>
                <a:latin typeface="Arial"/>
                <a:ea typeface="Arial"/>
                <a:cs typeface="Arial"/>
                <a:sym typeface="Arial"/>
              </a:defRPr>
            </a:lvl9pPr>
          </a:lstStyle>
          <a:p>
            <a:endParaRPr/>
          </a:p>
        </p:txBody>
      </p:sp>
      <p:sp>
        <p:nvSpPr>
          <p:cNvPr id="50" name="Shape 50"/>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1" name="Shape 51"/>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2" name="Shape 52"/>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只有標題">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301625" y="228600"/>
            <a:ext cx="8540750" cy="1143000"/>
          </a:xfrm>
          <a:prstGeom prst="rect">
            <a:avLst/>
          </a:prstGeom>
          <a:noFill/>
          <a:ln>
            <a:noFill/>
          </a:ln>
        </p:spPr>
        <p:txBody>
          <a:bodyPr wrap="square" lIns="91425" tIns="91425" rIns="91425" bIns="91425" anchor="ctr" anchorCtr="0"/>
          <a:lstStyle>
            <a:lvl1pPr marL="0" marR="0" lvl="0" indent="0" algn="ctr" rtl="0">
              <a:spcBef>
                <a:spcPts val="0"/>
              </a:spcBef>
              <a:spcAft>
                <a:spcPts val="0"/>
              </a:spcAft>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55" name="Shape 55"/>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6" name="Shape 56"/>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含標題的內容">
    <p:spTree>
      <p:nvGrpSpPr>
        <p:cNvPr id="1" name="Shape 58"/>
        <p:cNvGrpSpPr/>
        <p:nvPr/>
      </p:nvGrpSpPr>
      <p:grpSpPr>
        <a:xfrm>
          <a:off x="0" y="0"/>
          <a:ext cx="0" cy="0"/>
          <a:chOff x="0" y="0"/>
          <a:chExt cx="0" cy="0"/>
        </a:xfrm>
      </p:grpSpPr>
      <p:sp>
        <p:nvSpPr>
          <p:cNvPr id="59" name="Shape 59"/>
          <p:cNvSpPr txBox="1">
            <a:spLocks noGrp="1"/>
          </p:cNvSpPr>
          <p:nvPr>
            <p:ph type="title"/>
          </p:nvPr>
        </p:nvSpPr>
        <p:spPr>
          <a:xfrm>
            <a:off x="457200" y="273050"/>
            <a:ext cx="3008313" cy="1162050"/>
          </a:xfrm>
          <a:prstGeom prst="rect">
            <a:avLst/>
          </a:prstGeom>
          <a:noFill/>
          <a:ln>
            <a:noFill/>
          </a:ln>
        </p:spPr>
        <p:txBody>
          <a:bodyPr wrap="square" lIns="91425" tIns="91425" rIns="91425" bIns="91425" anchor="b" anchorCtr="0"/>
          <a:lstStyle>
            <a:lvl1pPr marL="0" marR="0" lvl="0" indent="0" algn="l" rtl="0">
              <a:spcBef>
                <a:spcPts val="0"/>
              </a:spcBef>
              <a:spcAft>
                <a:spcPts val="0"/>
              </a:spcAft>
              <a:buNone/>
              <a:defRPr sz="2000" b="1"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60" name="Shape 60"/>
          <p:cNvSpPr txBox="1">
            <a:spLocks noGrp="1"/>
          </p:cNvSpPr>
          <p:nvPr>
            <p:ph type="body" idx="1"/>
          </p:nvPr>
        </p:nvSpPr>
        <p:spPr>
          <a:xfrm>
            <a:off x="3575050" y="273050"/>
            <a:ext cx="5111750" cy="5853113"/>
          </a:xfrm>
          <a:prstGeom prst="rect">
            <a:avLst/>
          </a:prstGeom>
          <a:noFill/>
          <a:ln>
            <a:noFill/>
          </a:ln>
        </p:spPr>
        <p:txBody>
          <a:bodyPr wrap="square" lIns="91425" tIns="91425" rIns="91425" bIns="91425" anchor="t" anchorCtr="0"/>
          <a:lstStyle>
            <a:lvl1pPr marL="342900" marR="0" lvl="0" indent="-170180" algn="l" rtl="0">
              <a:spcBef>
                <a:spcPts val="640"/>
              </a:spcBef>
              <a:spcAft>
                <a:spcPts val="0"/>
              </a:spcAft>
              <a:buClr>
                <a:schemeClr val="folHlink"/>
              </a:buClr>
              <a:buSzPct val="85000"/>
              <a:buFont typeface="Noto Sans Symbols"/>
              <a:buChar char="◼"/>
              <a:defRPr sz="3200" b="0" i="0" u="none" strike="noStrike" cap="none">
                <a:solidFill>
                  <a:schemeClr val="dk1"/>
                </a:solidFill>
                <a:latin typeface="Arial"/>
                <a:ea typeface="Arial"/>
                <a:cs typeface="Arial"/>
                <a:sym typeface="Arial"/>
              </a:defRPr>
            </a:lvl1pPr>
            <a:lvl2pPr marL="742950" marR="0" lvl="1" indent="-134619" algn="l" rtl="0">
              <a:spcBef>
                <a:spcPts val="560"/>
              </a:spcBef>
              <a:spcAft>
                <a:spcPts val="0"/>
              </a:spcAft>
              <a:buClr>
                <a:schemeClr val="hlink"/>
              </a:buClr>
              <a:buSzPct val="85000"/>
              <a:buFont typeface="Noto Sans Symbols"/>
              <a:buChar char="❧"/>
              <a:defRPr sz="2800" b="0" i="0" u="none" strike="noStrike" cap="none">
                <a:solidFill>
                  <a:schemeClr val="dk1"/>
                </a:solidFill>
                <a:latin typeface="Arial"/>
                <a:ea typeface="Arial"/>
                <a:cs typeface="Arial"/>
                <a:sym typeface="Arial"/>
              </a:defRPr>
            </a:lvl2pPr>
            <a:lvl3pPr marL="1143000" marR="0" lvl="2" indent="-91439" algn="l" rtl="0">
              <a:spcBef>
                <a:spcPts val="480"/>
              </a:spcBef>
              <a:spcAft>
                <a:spcPts val="0"/>
              </a:spcAft>
              <a:buClr>
                <a:schemeClr val="folHlink"/>
              </a:buClr>
              <a:buSzPct val="90000"/>
              <a:buFont typeface="Noto Sans Symbols"/>
              <a:buChar char="◼"/>
              <a:defRPr sz="2400" b="0" i="0" u="none" strike="noStrike" cap="none">
                <a:solidFill>
                  <a:schemeClr val="dk1"/>
                </a:solidFill>
                <a:latin typeface="Arial"/>
                <a:ea typeface="Arial"/>
                <a:cs typeface="Arial"/>
                <a:sym typeface="Arial"/>
              </a:defRPr>
            </a:lvl3pPr>
            <a:lvl4pPr marL="1600200" marR="0" lvl="3" indent="-114300" algn="l" rtl="0">
              <a:spcBef>
                <a:spcPts val="400"/>
              </a:spcBef>
              <a:spcAft>
                <a:spcPts val="0"/>
              </a:spcAft>
              <a:buClr>
                <a:schemeClr val="hlink"/>
              </a:buClr>
              <a:buSzPct val="90000"/>
              <a:buFont typeface="Noto Sans Symbols"/>
              <a:buChar char="❧"/>
              <a:defRPr sz="2000" b="0" i="0" u="none" strike="noStrike" cap="none">
                <a:solidFill>
                  <a:schemeClr val="dk1"/>
                </a:solidFill>
                <a:latin typeface="Arial"/>
                <a:ea typeface="Arial"/>
                <a:cs typeface="Arial"/>
                <a:sym typeface="Arial"/>
              </a:defRPr>
            </a:lvl4pPr>
            <a:lvl5pPr marL="2057400" marR="0" lvl="4"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5pPr>
            <a:lvl6pPr marL="2514600" marR="0" lvl="5"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6pPr>
            <a:lvl7pPr marL="2971800" marR="0" lvl="6"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7pPr>
            <a:lvl8pPr marL="3429000" marR="0" lvl="7"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8pPr>
            <a:lvl9pPr marL="3886200" marR="0" lvl="8"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9pPr>
          </a:lstStyle>
          <a:p>
            <a:endParaRPr/>
          </a:p>
        </p:txBody>
      </p:sp>
      <p:sp>
        <p:nvSpPr>
          <p:cNvPr id="61" name="Shape 61"/>
          <p:cNvSpPr txBox="1">
            <a:spLocks noGrp="1"/>
          </p:cNvSpPr>
          <p:nvPr>
            <p:ph type="body" idx="2"/>
          </p:nvPr>
        </p:nvSpPr>
        <p:spPr>
          <a:xfrm>
            <a:off x="457200" y="1435100"/>
            <a:ext cx="3008313" cy="4691063"/>
          </a:xfrm>
          <a:prstGeom prst="rect">
            <a:avLst/>
          </a:prstGeom>
          <a:noFill/>
          <a:ln>
            <a:noFill/>
          </a:ln>
        </p:spPr>
        <p:txBody>
          <a:bodyPr wrap="square" lIns="91425" tIns="91425" rIns="91425" bIns="91425" anchor="t" anchorCtr="0"/>
          <a:lstStyle>
            <a:lvl1pPr marL="0" marR="0" lvl="0" indent="0" algn="l" rtl="0">
              <a:spcBef>
                <a:spcPts val="280"/>
              </a:spcBef>
              <a:spcAft>
                <a:spcPts val="0"/>
              </a:spcAft>
              <a:buClr>
                <a:schemeClr val="folHlink"/>
              </a:buClr>
              <a:buFont typeface="Noto Sans Symbols"/>
              <a:buNone/>
              <a:defRPr sz="1400" b="0" i="0" u="none" strike="noStrike" cap="none">
                <a:solidFill>
                  <a:schemeClr val="dk1"/>
                </a:solidFill>
                <a:latin typeface="Arial"/>
                <a:ea typeface="Arial"/>
                <a:cs typeface="Arial"/>
                <a:sym typeface="Arial"/>
              </a:defRPr>
            </a:lvl1pPr>
            <a:lvl2pPr marL="457200" marR="0" lvl="1" indent="0" algn="l" rtl="0">
              <a:spcBef>
                <a:spcPts val="240"/>
              </a:spcBef>
              <a:spcAft>
                <a:spcPts val="0"/>
              </a:spcAft>
              <a:buClr>
                <a:schemeClr val="hlink"/>
              </a:buClr>
              <a:buFont typeface="Noto Sans Symbols"/>
              <a:buNone/>
              <a:defRPr sz="1200" b="0" i="0" u="none" strike="noStrike" cap="none">
                <a:solidFill>
                  <a:schemeClr val="dk1"/>
                </a:solidFill>
                <a:latin typeface="Arial"/>
                <a:ea typeface="Arial"/>
                <a:cs typeface="Arial"/>
                <a:sym typeface="Arial"/>
              </a:defRPr>
            </a:lvl2pPr>
            <a:lvl3pPr marL="914400" marR="0" lvl="2" indent="0" algn="l" rtl="0">
              <a:spcBef>
                <a:spcPts val="200"/>
              </a:spcBef>
              <a:spcAft>
                <a:spcPts val="0"/>
              </a:spcAft>
              <a:buClr>
                <a:schemeClr val="folHlink"/>
              </a:buClr>
              <a:buFont typeface="Noto Sans Symbols"/>
              <a:buNone/>
              <a:defRPr sz="1000" b="0" i="0" u="none" strike="noStrike" cap="none">
                <a:solidFill>
                  <a:schemeClr val="dk1"/>
                </a:solidFill>
                <a:latin typeface="Arial"/>
                <a:ea typeface="Arial"/>
                <a:cs typeface="Arial"/>
                <a:sym typeface="Arial"/>
              </a:defRPr>
            </a:lvl3pPr>
            <a:lvl4pPr marL="1371600" marR="0" lvl="3" indent="0" algn="l" rtl="0">
              <a:spcBef>
                <a:spcPts val="180"/>
              </a:spcBef>
              <a:spcAft>
                <a:spcPts val="0"/>
              </a:spcAft>
              <a:buClr>
                <a:schemeClr val="hlink"/>
              </a:buClr>
              <a:buFont typeface="Noto Sans Symbols"/>
              <a:buNone/>
              <a:defRPr sz="900" b="0" i="0" u="none" strike="noStrike" cap="none">
                <a:solidFill>
                  <a:schemeClr val="dk1"/>
                </a:solidFill>
                <a:latin typeface="Arial"/>
                <a:ea typeface="Arial"/>
                <a:cs typeface="Arial"/>
                <a:sym typeface="Arial"/>
              </a:defRPr>
            </a:lvl4pPr>
            <a:lvl5pPr marL="1828800" marR="0" lvl="4"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5pPr>
            <a:lvl6pPr marL="2286000" marR="0" lvl="5"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6pPr>
            <a:lvl7pPr marL="2743200" marR="0" lvl="6"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7pPr>
            <a:lvl8pPr marL="3200400" marR="0" lvl="7"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8pPr>
            <a:lvl9pPr marL="3657600" marR="0" lvl="8"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9pPr>
          </a:lstStyle>
          <a:p>
            <a:endParaRPr/>
          </a:p>
        </p:txBody>
      </p:sp>
      <p:sp>
        <p:nvSpPr>
          <p:cNvPr id="62" name="Shape 62"/>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3" name="Shape 63"/>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4" name="Shape 64"/>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cSld name="含標題的圖片">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1792288" y="4800600"/>
            <a:ext cx="5486400" cy="566738"/>
          </a:xfrm>
          <a:prstGeom prst="rect">
            <a:avLst/>
          </a:prstGeom>
          <a:noFill/>
          <a:ln>
            <a:noFill/>
          </a:ln>
        </p:spPr>
        <p:txBody>
          <a:bodyPr wrap="square" lIns="91425" tIns="91425" rIns="91425" bIns="91425" anchor="b" anchorCtr="0"/>
          <a:lstStyle>
            <a:lvl1pPr marL="0" marR="0" lvl="0" indent="0" algn="l" rtl="0">
              <a:spcBef>
                <a:spcPts val="0"/>
              </a:spcBef>
              <a:spcAft>
                <a:spcPts val="0"/>
              </a:spcAft>
              <a:buNone/>
              <a:defRPr sz="2000" b="1"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67" name="Shape 67"/>
          <p:cNvSpPr>
            <a:spLocks noGrp="1"/>
          </p:cNvSpPr>
          <p:nvPr>
            <p:ph type="pic" idx="2"/>
          </p:nvPr>
        </p:nvSpPr>
        <p:spPr>
          <a:xfrm>
            <a:off x="1792288" y="612775"/>
            <a:ext cx="5486400" cy="4114800"/>
          </a:xfrm>
          <a:prstGeom prst="rect">
            <a:avLst/>
          </a:prstGeom>
          <a:noFill/>
          <a:ln>
            <a:noFill/>
          </a:ln>
        </p:spPr>
        <p:txBody>
          <a:bodyPr wrap="square" lIns="91425" tIns="91425" rIns="91425" bIns="91425" anchor="t" anchorCtr="0"/>
          <a:lstStyle>
            <a:lvl1pPr marL="0" marR="0" lvl="0" indent="0" algn="l" rtl="0">
              <a:spcBef>
                <a:spcPts val="640"/>
              </a:spcBef>
              <a:spcAft>
                <a:spcPts val="0"/>
              </a:spcAft>
              <a:buClr>
                <a:schemeClr val="folHlink"/>
              </a:buClr>
              <a:buFont typeface="Noto Sans Symbols"/>
              <a:buNone/>
              <a:defRPr sz="3200" b="0" i="0" u="none" strike="noStrike" cap="none">
                <a:solidFill>
                  <a:schemeClr val="dk1"/>
                </a:solidFill>
                <a:latin typeface="Arial"/>
                <a:ea typeface="Arial"/>
                <a:cs typeface="Arial"/>
                <a:sym typeface="Arial"/>
              </a:defRPr>
            </a:lvl1pPr>
            <a:lvl2pPr marL="457200" marR="0" lvl="1" indent="0" algn="l" rtl="0">
              <a:spcBef>
                <a:spcPts val="560"/>
              </a:spcBef>
              <a:spcAft>
                <a:spcPts val="0"/>
              </a:spcAft>
              <a:buClr>
                <a:schemeClr val="hlink"/>
              </a:buClr>
              <a:buFont typeface="Noto Sans Symbols"/>
              <a:buNone/>
              <a:defRPr sz="2800" b="0" i="0" u="none" strike="noStrike" cap="none">
                <a:solidFill>
                  <a:schemeClr val="dk1"/>
                </a:solidFill>
                <a:latin typeface="Arial"/>
                <a:ea typeface="Arial"/>
                <a:cs typeface="Arial"/>
                <a:sym typeface="Arial"/>
              </a:defRPr>
            </a:lvl2pPr>
            <a:lvl3pPr marL="914400" marR="0" lvl="2" indent="0" algn="l" rtl="0">
              <a:spcBef>
                <a:spcPts val="480"/>
              </a:spcBef>
              <a:spcAft>
                <a:spcPts val="0"/>
              </a:spcAft>
              <a:buClr>
                <a:schemeClr val="folHlink"/>
              </a:buClr>
              <a:buFont typeface="Noto Sans Symbols"/>
              <a:buNone/>
              <a:defRPr sz="2400" b="0" i="0" u="none" strike="noStrike" cap="none">
                <a:solidFill>
                  <a:schemeClr val="dk1"/>
                </a:solidFill>
                <a:latin typeface="Arial"/>
                <a:ea typeface="Arial"/>
                <a:cs typeface="Arial"/>
                <a:sym typeface="Arial"/>
              </a:defRPr>
            </a:lvl3pPr>
            <a:lvl4pPr marL="1371600" marR="0" lvl="3" indent="0" algn="l" rtl="0">
              <a:spcBef>
                <a:spcPts val="400"/>
              </a:spcBef>
              <a:spcAft>
                <a:spcPts val="0"/>
              </a:spcAft>
              <a:buClr>
                <a:schemeClr val="hlink"/>
              </a:buClr>
              <a:buFont typeface="Noto Sans Symbols"/>
              <a:buNone/>
              <a:defRPr sz="2000" b="0" i="0" u="none" strike="noStrike" cap="none">
                <a:solidFill>
                  <a:schemeClr val="dk1"/>
                </a:solidFill>
                <a:latin typeface="Arial"/>
                <a:ea typeface="Arial"/>
                <a:cs typeface="Arial"/>
                <a:sym typeface="Arial"/>
              </a:defRPr>
            </a:lvl4pPr>
            <a:lvl5pPr marL="1828800" marR="0" lvl="4" indent="0" algn="l" rtl="0">
              <a:spcBef>
                <a:spcPts val="400"/>
              </a:spcBef>
              <a:spcAft>
                <a:spcPts val="0"/>
              </a:spcAft>
              <a:buClr>
                <a:schemeClr val="folHlink"/>
              </a:buClr>
              <a:buFont typeface="Noto Sans Symbols"/>
              <a:buNone/>
              <a:defRPr sz="2000" b="0" i="0" u="none" strike="noStrike" cap="none">
                <a:solidFill>
                  <a:schemeClr val="dk1"/>
                </a:solidFill>
                <a:latin typeface="Arial"/>
                <a:ea typeface="Arial"/>
                <a:cs typeface="Arial"/>
                <a:sym typeface="Arial"/>
              </a:defRPr>
            </a:lvl5pPr>
            <a:lvl6pPr marL="2286000" marR="0" lvl="5" indent="0" algn="l" rtl="0">
              <a:spcBef>
                <a:spcPts val="400"/>
              </a:spcBef>
              <a:spcAft>
                <a:spcPts val="0"/>
              </a:spcAft>
              <a:buClr>
                <a:schemeClr val="folHlink"/>
              </a:buClr>
              <a:buFont typeface="Noto Sans Symbols"/>
              <a:buNone/>
              <a:defRPr sz="2000" b="0" i="0" u="none" strike="noStrike" cap="none">
                <a:solidFill>
                  <a:schemeClr val="dk1"/>
                </a:solidFill>
                <a:latin typeface="Arial"/>
                <a:ea typeface="Arial"/>
                <a:cs typeface="Arial"/>
                <a:sym typeface="Arial"/>
              </a:defRPr>
            </a:lvl6pPr>
            <a:lvl7pPr marL="2743200" marR="0" lvl="6" indent="0" algn="l" rtl="0">
              <a:spcBef>
                <a:spcPts val="400"/>
              </a:spcBef>
              <a:spcAft>
                <a:spcPts val="0"/>
              </a:spcAft>
              <a:buClr>
                <a:schemeClr val="folHlink"/>
              </a:buClr>
              <a:buFont typeface="Noto Sans Symbols"/>
              <a:buNone/>
              <a:defRPr sz="2000" b="0" i="0" u="none" strike="noStrike" cap="none">
                <a:solidFill>
                  <a:schemeClr val="dk1"/>
                </a:solidFill>
                <a:latin typeface="Arial"/>
                <a:ea typeface="Arial"/>
                <a:cs typeface="Arial"/>
                <a:sym typeface="Arial"/>
              </a:defRPr>
            </a:lvl7pPr>
            <a:lvl8pPr marL="3200400" marR="0" lvl="7" indent="0" algn="l" rtl="0">
              <a:spcBef>
                <a:spcPts val="400"/>
              </a:spcBef>
              <a:spcAft>
                <a:spcPts val="0"/>
              </a:spcAft>
              <a:buClr>
                <a:schemeClr val="folHlink"/>
              </a:buClr>
              <a:buFont typeface="Noto Sans Symbols"/>
              <a:buNone/>
              <a:defRPr sz="2000" b="0" i="0" u="none" strike="noStrike" cap="none">
                <a:solidFill>
                  <a:schemeClr val="dk1"/>
                </a:solidFill>
                <a:latin typeface="Arial"/>
                <a:ea typeface="Arial"/>
                <a:cs typeface="Arial"/>
                <a:sym typeface="Arial"/>
              </a:defRPr>
            </a:lvl8pPr>
            <a:lvl9pPr marL="3657600" marR="0" lvl="8" indent="0" algn="l" rtl="0">
              <a:spcBef>
                <a:spcPts val="400"/>
              </a:spcBef>
              <a:spcAft>
                <a:spcPts val="0"/>
              </a:spcAft>
              <a:buClr>
                <a:schemeClr val="folHlink"/>
              </a:buClr>
              <a:buFont typeface="Noto Sans Symbols"/>
              <a:buNone/>
              <a:defRPr sz="2000" b="0" i="0" u="none" strike="noStrike" cap="none">
                <a:solidFill>
                  <a:schemeClr val="dk1"/>
                </a:solidFill>
                <a:latin typeface="Arial"/>
                <a:ea typeface="Arial"/>
                <a:cs typeface="Arial"/>
                <a:sym typeface="Arial"/>
              </a:defRPr>
            </a:lvl9pPr>
          </a:lstStyle>
          <a:p>
            <a:endParaRPr/>
          </a:p>
        </p:txBody>
      </p:sp>
      <p:sp>
        <p:nvSpPr>
          <p:cNvPr id="68" name="Shape 68"/>
          <p:cNvSpPr txBox="1">
            <a:spLocks noGrp="1"/>
          </p:cNvSpPr>
          <p:nvPr>
            <p:ph type="body" idx="1"/>
          </p:nvPr>
        </p:nvSpPr>
        <p:spPr>
          <a:xfrm>
            <a:off x="1792288" y="5367338"/>
            <a:ext cx="5486400" cy="804862"/>
          </a:xfrm>
          <a:prstGeom prst="rect">
            <a:avLst/>
          </a:prstGeom>
          <a:noFill/>
          <a:ln>
            <a:noFill/>
          </a:ln>
        </p:spPr>
        <p:txBody>
          <a:bodyPr wrap="square" lIns="91425" tIns="91425" rIns="91425" bIns="91425" anchor="t" anchorCtr="0"/>
          <a:lstStyle>
            <a:lvl1pPr marL="0" marR="0" lvl="0" indent="0" algn="l" rtl="0">
              <a:spcBef>
                <a:spcPts val="280"/>
              </a:spcBef>
              <a:spcAft>
                <a:spcPts val="0"/>
              </a:spcAft>
              <a:buClr>
                <a:schemeClr val="folHlink"/>
              </a:buClr>
              <a:buFont typeface="Noto Sans Symbols"/>
              <a:buNone/>
              <a:defRPr sz="1400" b="0" i="0" u="none" strike="noStrike" cap="none">
                <a:solidFill>
                  <a:schemeClr val="dk1"/>
                </a:solidFill>
                <a:latin typeface="Arial"/>
                <a:ea typeface="Arial"/>
                <a:cs typeface="Arial"/>
                <a:sym typeface="Arial"/>
              </a:defRPr>
            </a:lvl1pPr>
            <a:lvl2pPr marL="457200" marR="0" lvl="1" indent="0" algn="l" rtl="0">
              <a:spcBef>
                <a:spcPts val="240"/>
              </a:spcBef>
              <a:spcAft>
                <a:spcPts val="0"/>
              </a:spcAft>
              <a:buClr>
                <a:schemeClr val="hlink"/>
              </a:buClr>
              <a:buFont typeface="Noto Sans Symbols"/>
              <a:buNone/>
              <a:defRPr sz="1200" b="0" i="0" u="none" strike="noStrike" cap="none">
                <a:solidFill>
                  <a:schemeClr val="dk1"/>
                </a:solidFill>
                <a:latin typeface="Arial"/>
                <a:ea typeface="Arial"/>
                <a:cs typeface="Arial"/>
                <a:sym typeface="Arial"/>
              </a:defRPr>
            </a:lvl2pPr>
            <a:lvl3pPr marL="914400" marR="0" lvl="2" indent="0" algn="l" rtl="0">
              <a:spcBef>
                <a:spcPts val="200"/>
              </a:spcBef>
              <a:spcAft>
                <a:spcPts val="0"/>
              </a:spcAft>
              <a:buClr>
                <a:schemeClr val="folHlink"/>
              </a:buClr>
              <a:buFont typeface="Noto Sans Symbols"/>
              <a:buNone/>
              <a:defRPr sz="1000" b="0" i="0" u="none" strike="noStrike" cap="none">
                <a:solidFill>
                  <a:schemeClr val="dk1"/>
                </a:solidFill>
                <a:latin typeface="Arial"/>
                <a:ea typeface="Arial"/>
                <a:cs typeface="Arial"/>
                <a:sym typeface="Arial"/>
              </a:defRPr>
            </a:lvl3pPr>
            <a:lvl4pPr marL="1371600" marR="0" lvl="3" indent="0" algn="l" rtl="0">
              <a:spcBef>
                <a:spcPts val="180"/>
              </a:spcBef>
              <a:spcAft>
                <a:spcPts val="0"/>
              </a:spcAft>
              <a:buClr>
                <a:schemeClr val="hlink"/>
              </a:buClr>
              <a:buFont typeface="Noto Sans Symbols"/>
              <a:buNone/>
              <a:defRPr sz="900" b="0" i="0" u="none" strike="noStrike" cap="none">
                <a:solidFill>
                  <a:schemeClr val="dk1"/>
                </a:solidFill>
                <a:latin typeface="Arial"/>
                <a:ea typeface="Arial"/>
                <a:cs typeface="Arial"/>
                <a:sym typeface="Arial"/>
              </a:defRPr>
            </a:lvl4pPr>
            <a:lvl5pPr marL="1828800" marR="0" lvl="4"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5pPr>
            <a:lvl6pPr marL="2286000" marR="0" lvl="5"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6pPr>
            <a:lvl7pPr marL="2743200" marR="0" lvl="6"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7pPr>
            <a:lvl8pPr marL="3200400" marR="0" lvl="7"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8pPr>
            <a:lvl9pPr marL="3657600" marR="0" lvl="8" indent="0" algn="l" rtl="0">
              <a:spcBef>
                <a:spcPts val="180"/>
              </a:spcBef>
              <a:spcAft>
                <a:spcPts val="0"/>
              </a:spcAft>
              <a:buClr>
                <a:schemeClr val="folHlink"/>
              </a:buClr>
              <a:buFont typeface="Noto Sans Symbols"/>
              <a:buNone/>
              <a:defRPr sz="900" b="0" i="0" u="none" strike="noStrike" cap="none">
                <a:solidFill>
                  <a:schemeClr val="dk1"/>
                </a:solidFill>
                <a:latin typeface="Arial"/>
                <a:ea typeface="Arial"/>
                <a:cs typeface="Arial"/>
                <a:sym typeface="Arial"/>
              </a:defRPr>
            </a:lvl9pPr>
          </a:lstStyle>
          <a:p>
            <a:endParaRPr/>
          </a:p>
        </p:txBody>
      </p:sp>
      <p:sp>
        <p:nvSpPr>
          <p:cNvPr id="69" name="Shape 69"/>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0" name="Shape 70"/>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1" name="Shape 71"/>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cSld name="標題及直排文字">
    <p:spTree>
      <p:nvGrpSpPr>
        <p:cNvPr id="1" name="Shape 72"/>
        <p:cNvGrpSpPr/>
        <p:nvPr/>
      </p:nvGrpSpPr>
      <p:grpSpPr>
        <a:xfrm>
          <a:off x="0" y="0"/>
          <a:ext cx="0" cy="0"/>
          <a:chOff x="0" y="0"/>
          <a:chExt cx="0" cy="0"/>
        </a:xfrm>
      </p:grpSpPr>
      <p:sp>
        <p:nvSpPr>
          <p:cNvPr id="73" name="Shape 73"/>
          <p:cNvSpPr txBox="1">
            <a:spLocks noGrp="1"/>
          </p:cNvSpPr>
          <p:nvPr>
            <p:ph type="title"/>
          </p:nvPr>
        </p:nvSpPr>
        <p:spPr>
          <a:xfrm>
            <a:off x="301625" y="228600"/>
            <a:ext cx="8540750" cy="1143000"/>
          </a:xfrm>
          <a:prstGeom prst="rect">
            <a:avLst/>
          </a:prstGeom>
          <a:noFill/>
          <a:ln>
            <a:noFill/>
          </a:ln>
        </p:spPr>
        <p:txBody>
          <a:bodyPr wrap="square" lIns="91425" tIns="91425" rIns="91425" bIns="91425" anchor="ctr" anchorCtr="0"/>
          <a:lstStyle>
            <a:lvl1pPr marL="0" marR="0" lvl="0" indent="0" algn="ctr" rtl="0">
              <a:spcBef>
                <a:spcPts val="0"/>
              </a:spcBef>
              <a:spcAft>
                <a:spcPts val="0"/>
              </a:spcAft>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74" name="Shape 74"/>
          <p:cNvSpPr txBox="1">
            <a:spLocks noGrp="1"/>
          </p:cNvSpPr>
          <p:nvPr>
            <p:ph type="body" idx="1"/>
          </p:nvPr>
        </p:nvSpPr>
        <p:spPr>
          <a:xfrm rot="5400000">
            <a:off x="2322512" y="-420687"/>
            <a:ext cx="4498975" cy="8540750"/>
          </a:xfrm>
          <a:prstGeom prst="rect">
            <a:avLst/>
          </a:prstGeom>
          <a:noFill/>
          <a:ln>
            <a:noFill/>
          </a:ln>
        </p:spPr>
        <p:txBody>
          <a:bodyPr wrap="square" lIns="91425" tIns="91425" rIns="91425" bIns="91425" anchor="t" anchorCtr="0"/>
          <a:lstStyle>
            <a:lvl1pPr marL="342900" marR="0" lvl="0" indent="-170180" algn="l" rtl="0">
              <a:spcBef>
                <a:spcPts val="640"/>
              </a:spcBef>
              <a:spcAft>
                <a:spcPts val="0"/>
              </a:spcAft>
              <a:buClr>
                <a:schemeClr val="folHlink"/>
              </a:buClr>
              <a:buSzPct val="85000"/>
              <a:buFont typeface="Noto Sans Symbols"/>
              <a:buChar char="◼"/>
              <a:defRPr sz="3200" b="0" i="0" u="none" strike="noStrike" cap="none">
                <a:solidFill>
                  <a:schemeClr val="dk1"/>
                </a:solidFill>
                <a:latin typeface="Arial"/>
                <a:ea typeface="Arial"/>
                <a:cs typeface="Arial"/>
                <a:sym typeface="Arial"/>
              </a:defRPr>
            </a:lvl1pPr>
            <a:lvl2pPr marL="742950" marR="0" lvl="1" indent="-134619" algn="l" rtl="0">
              <a:spcBef>
                <a:spcPts val="560"/>
              </a:spcBef>
              <a:spcAft>
                <a:spcPts val="0"/>
              </a:spcAft>
              <a:buClr>
                <a:schemeClr val="hlink"/>
              </a:buClr>
              <a:buSzPct val="85000"/>
              <a:buFont typeface="Noto Sans Symbols"/>
              <a:buChar char="❧"/>
              <a:defRPr sz="2800" b="0" i="0" u="none" strike="noStrike" cap="none">
                <a:solidFill>
                  <a:schemeClr val="dk1"/>
                </a:solidFill>
                <a:latin typeface="Arial"/>
                <a:ea typeface="Arial"/>
                <a:cs typeface="Arial"/>
                <a:sym typeface="Arial"/>
              </a:defRPr>
            </a:lvl2pPr>
            <a:lvl3pPr marL="1143000" marR="0" lvl="2" indent="-91439" algn="l" rtl="0">
              <a:spcBef>
                <a:spcPts val="480"/>
              </a:spcBef>
              <a:spcAft>
                <a:spcPts val="0"/>
              </a:spcAft>
              <a:buClr>
                <a:schemeClr val="folHlink"/>
              </a:buClr>
              <a:buSzPct val="90000"/>
              <a:buFont typeface="Noto Sans Symbols"/>
              <a:buChar char="◼"/>
              <a:defRPr sz="2400" b="0" i="0" u="none" strike="noStrike" cap="none">
                <a:solidFill>
                  <a:schemeClr val="dk1"/>
                </a:solidFill>
                <a:latin typeface="Arial"/>
                <a:ea typeface="Arial"/>
                <a:cs typeface="Arial"/>
                <a:sym typeface="Arial"/>
              </a:defRPr>
            </a:lvl3pPr>
            <a:lvl4pPr marL="1600200" marR="0" lvl="3" indent="-114300" algn="l" rtl="0">
              <a:spcBef>
                <a:spcPts val="400"/>
              </a:spcBef>
              <a:spcAft>
                <a:spcPts val="0"/>
              </a:spcAft>
              <a:buClr>
                <a:schemeClr val="hlink"/>
              </a:buClr>
              <a:buSzPct val="90000"/>
              <a:buFont typeface="Noto Sans Symbols"/>
              <a:buChar char="❧"/>
              <a:defRPr sz="2000" b="0" i="0" u="none" strike="noStrike" cap="none">
                <a:solidFill>
                  <a:schemeClr val="dk1"/>
                </a:solidFill>
                <a:latin typeface="Arial"/>
                <a:ea typeface="Arial"/>
                <a:cs typeface="Arial"/>
                <a:sym typeface="Arial"/>
              </a:defRPr>
            </a:lvl4pPr>
            <a:lvl5pPr marL="2057400" marR="0" lvl="4"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5pPr>
            <a:lvl6pPr marL="2514600" marR="0" lvl="5"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6pPr>
            <a:lvl7pPr marL="2971800" marR="0" lvl="6"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7pPr>
            <a:lvl8pPr marL="3429000" marR="0" lvl="7"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8pPr>
            <a:lvl9pPr marL="3886200" marR="0" lvl="8"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9pPr>
          </a:lstStyle>
          <a:p>
            <a:endParaRPr/>
          </a:p>
        </p:txBody>
      </p:sp>
      <p:sp>
        <p:nvSpPr>
          <p:cNvPr id="75" name="Shape 75"/>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6" name="Shape 76"/>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cSld name="直排標題及文字">
    <p:spTree>
      <p:nvGrpSpPr>
        <p:cNvPr id="1" name="Shape 78"/>
        <p:cNvGrpSpPr/>
        <p:nvPr/>
      </p:nvGrpSpPr>
      <p:grpSpPr>
        <a:xfrm>
          <a:off x="0" y="0"/>
          <a:ext cx="0" cy="0"/>
          <a:chOff x="0" y="0"/>
          <a:chExt cx="0" cy="0"/>
        </a:xfrm>
      </p:grpSpPr>
      <p:sp>
        <p:nvSpPr>
          <p:cNvPr id="79" name="Shape 79"/>
          <p:cNvSpPr txBox="1">
            <a:spLocks noGrp="1"/>
          </p:cNvSpPr>
          <p:nvPr>
            <p:ph type="title"/>
          </p:nvPr>
        </p:nvSpPr>
        <p:spPr>
          <a:xfrm rot="5400000">
            <a:off x="4839494" y="2096294"/>
            <a:ext cx="5870575" cy="2135187"/>
          </a:xfrm>
          <a:prstGeom prst="rect">
            <a:avLst/>
          </a:prstGeom>
          <a:noFill/>
          <a:ln>
            <a:noFill/>
          </a:ln>
        </p:spPr>
        <p:txBody>
          <a:bodyPr wrap="square" lIns="91425" tIns="91425" rIns="91425" bIns="91425" anchor="ctr" anchorCtr="0"/>
          <a:lstStyle>
            <a:lvl1pPr marL="0" marR="0" lvl="0" indent="0" algn="ctr" rtl="0">
              <a:spcBef>
                <a:spcPts val="0"/>
              </a:spcBef>
              <a:spcAft>
                <a:spcPts val="0"/>
              </a:spcAft>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80" name="Shape 80"/>
          <p:cNvSpPr txBox="1">
            <a:spLocks noGrp="1"/>
          </p:cNvSpPr>
          <p:nvPr>
            <p:ph type="body" idx="1"/>
          </p:nvPr>
        </p:nvSpPr>
        <p:spPr>
          <a:xfrm rot="5400000">
            <a:off x="492919" y="37306"/>
            <a:ext cx="5870575" cy="6253163"/>
          </a:xfrm>
          <a:prstGeom prst="rect">
            <a:avLst/>
          </a:prstGeom>
          <a:noFill/>
          <a:ln>
            <a:noFill/>
          </a:ln>
        </p:spPr>
        <p:txBody>
          <a:bodyPr wrap="square" lIns="91425" tIns="91425" rIns="91425" bIns="91425" anchor="t" anchorCtr="0"/>
          <a:lstStyle>
            <a:lvl1pPr marL="342900" marR="0" lvl="0" indent="-170180" algn="l" rtl="0">
              <a:spcBef>
                <a:spcPts val="640"/>
              </a:spcBef>
              <a:spcAft>
                <a:spcPts val="0"/>
              </a:spcAft>
              <a:buClr>
                <a:schemeClr val="folHlink"/>
              </a:buClr>
              <a:buSzPct val="85000"/>
              <a:buFont typeface="Noto Sans Symbols"/>
              <a:buChar char="◼"/>
              <a:defRPr sz="3200" b="0" i="0" u="none" strike="noStrike" cap="none">
                <a:solidFill>
                  <a:schemeClr val="dk1"/>
                </a:solidFill>
                <a:latin typeface="Arial"/>
                <a:ea typeface="Arial"/>
                <a:cs typeface="Arial"/>
                <a:sym typeface="Arial"/>
              </a:defRPr>
            </a:lvl1pPr>
            <a:lvl2pPr marL="742950" marR="0" lvl="1" indent="-134619" algn="l" rtl="0">
              <a:spcBef>
                <a:spcPts val="560"/>
              </a:spcBef>
              <a:spcAft>
                <a:spcPts val="0"/>
              </a:spcAft>
              <a:buClr>
                <a:schemeClr val="hlink"/>
              </a:buClr>
              <a:buSzPct val="85000"/>
              <a:buFont typeface="Noto Sans Symbols"/>
              <a:buChar char="❧"/>
              <a:defRPr sz="2800" b="0" i="0" u="none" strike="noStrike" cap="none">
                <a:solidFill>
                  <a:schemeClr val="dk1"/>
                </a:solidFill>
                <a:latin typeface="Arial"/>
                <a:ea typeface="Arial"/>
                <a:cs typeface="Arial"/>
                <a:sym typeface="Arial"/>
              </a:defRPr>
            </a:lvl2pPr>
            <a:lvl3pPr marL="1143000" marR="0" lvl="2" indent="-91439" algn="l" rtl="0">
              <a:spcBef>
                <a:spcPts val="480"/>
              </a:spcBef>
              <a:spcAft>
                <a:spcPts val="0"/>
              </a:spcAft>
              <a:buClr>
                <a:schemeClr val="folHlink"/>
              </a:buClr>
              <a:buSzPct val="90000"/>
              <a:buFont typeface="Noto Sans Symbols"/>
              <a:buChar char="◼"/>
              <a:defRPr sz="2400" b="0" i="0" u="none" strike="noStrike" cap="none">
                <a:solidFill>
                  <a:schemeClr val="dk1"/>
                </a:solidFill>
                <a:latin typeface="Arial"/>
                <a:ea typeface="Arial"/>
                <a:cs typeface="Arial"/>
                <a:sym typeface="Arial"/>
              </a:defRPr>
            </a:lvl3pPr>
            <a:lvl4pPr marL="1600200" marR="0" lvl="3" indent="-114300" algn="l" rtl="0">
              <a:spcBef>
                <a:spcPts val="400"/>
              </a:spcBef>
              <a:spcAft>
                <a:spcPts val="0"/>
              </a:spcAft>
              <a:buClr>
                <a:schemeClr val="hlink"/>
              </a:buClr>
              <a:buSzPct val="90000"/>
              <a:buFont typeface="Noto Sans Symbols"/>
              <a:buChar char="❧"/>
              <a:defRPr sz="2000" b="0" i="0" u="none" strike="noStrike" cap="none">
                <a:solidFill>
                  <a:schemeClr val="dk1"/>
                </a:solidFill>
                <a:latin typeface="Arial"/>
                <a:ea typeface="Arial"/>
                <a:cs typeface="Arial"/>
                <a:sym typeface="Arial"/>
              </a:defRPr>
            </a:lvl4pPr>
            <a:lvl5pPr marL="2057400" marR="0" lvl="4"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5pPr>
            <a:lvl6pPr marL="2514600" marR="0" lvl="5"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6pPr>
            <a:lvl7pPr marL="2971800" marR="0" lvl="6"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7pPr>
            <a:lvl8pPr marL="3429000" marR="0" lvl="7"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8pPr>
            <a:lvl9pPr marL="3886200" marR="0" lvl="8"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3" name="Shape 83"/>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cSld name="物件">
    <p:spTree>
      <p:nvGrpSpPr>
        <p:cNvPr id="1" name="Shape 84"/>
        <p:cNvGrpSpPr/>
        <p:nvPr/>
      </p:nvGrpSpPr>
      <p:grpSpPr>
        <a:xfrm>
          <a:off x="0" y="0"/>
          <a:ext cx="0" cy="0"/>
          <a:chOff x="0" y="0"/>
          <a:chExt cx="0" cy="0"/>
        </a:xfrm>
      </p:grpSpPr>
      <p:sp>
        <p:nvSpPr>
          <p:cNvPr id="85" name="Shape 85"/>
          <p:cNvSpPr txBox="1">
            <a:spLocks noGrp="1"/>
          </p:cNvSpPr>
          <p:nvPr>
            <p:ph type="body" idx="1"/>
          </p:nvPr>
        </p:nvSpPr>
        <p:spPr>
          <a:xfrm>
            <a:off x="301625" y="228600"/>
            <a:ext cx="8540750" cy="5870575"/>
          </a:xfrm>
          <a:prstGeom prst="rect">
            <a:avLst/>
          </a:prstGeom>
          <a:noFill/>
          <a:ln>
            <a:noFill/>
          </a:ln>
        </p:spPr>
        <p:txBody>
          <a:bodyPr wrap="square" lIns="91425" tIns="91425" rIns="91425" bIns="91425" anchor="t" anchorCtr="0"/>
          <a:lstStyle>
            <a:lvl1pPr marL="342900" marR="0" lvl="0" indent="-170180" algn="l" rtl="0">
              <a:spcBef>
                <a:spcPts val="640"/>
              </a:spcBef>
              <a:spcAft>
                <a:spcPts val="0"/>
              </a:spcAft>
              <a:buClr>
                <a:schemeClr val="folHlink"/>
              </a:buClr>
              <a:buSzPct val="85000"/>
              <a:buFont typeface="Noto Sans Symbols"/>
              <a:buChar char="◼"/>
              <a:defRPr sz="3200" b="0" i="0" u="none" strike="noStrike" cap="none">
                <a:solidFill>
                  <a:schemeClr val="dk1"/>
                </a:solidFill>
                <a:latin typeface="Arial"/>
                <a:ea typeface="Arial"/>
                <a:cs typeface="Arial"/>
                <a:sym typeface="Arial"/>
              </a:defRPr>
            </a:lvl1pPr>
            <a:lvl2pPr marL="742950" marR="0" lvl="1" indent="-134619" algn="l" rtl="0">
              <a:spcBef>
                <a:spcPts val="560"/>
              </a:spcBef>
              <a:spcAft>
                <a:spcPts val="0"/>
              </a:spcAft>
              <a:buClr>
                <a:schemeClr val="hlink"/>
              </a:buClr>
              <a:buSzPct val="85000"/>
              <a:buFont typeface="Noto Sans Symbols"/>
              <a:buChar char="❧"/>
              <a:defRPr sz="2800" b="0" i="0" u="none" strike="noStrike" cap="none">
                <a:solidFill>
                  <a:schemeClr val="dk1"/>
                </a:solidFill>
                <a:latin typeface="Arial"/>
                <a:ea typeface="Arial"/>
                <a:cs typeface="Arial"/>
                <a:sym typeface="Arial"/>
              </a:defRPr>
            </a:lvl2pPr>
            <a:lvl3pPr marL="1143000" marR="0" lvl="2" indent="-91439" algn="l" rtl="0">
              <a:spcBef>
                <a:spcPts val="480"/>
              </a:spcBef>
              <a:spcAft>
                <a:spcPts val="0"/>
              </a:spcAft>
              <a:buClr>
                <a:schemeClr val="folHlink"/>
              </a:buClr>
              <a:buSzPct val="90000"/>
              <a:buFont typeface="Noto Sans Symbols"/>
              <a:buChar char="◼"/>
              <a:defRPr sz="2400" b="0" i="0" u="none" strike="noStrike" cap="none">
                <a:solidFill>
                  <a:schemeClr val="dk1"/>
                </a:solidFill>
                <a:latin typeface="Arial"/>
                <a:ea typeface="Arial"/>
                <a:cs typeface="Arial"/>
                <a:sym typeface="Arial"/>
              </a:defRPr>
            </a:lvl3pPr>
            <a:lvl4pPr marL="1600200" marR="0" lvl="3" indent="-114300" algn="l" rtl="0">
              <a:spcBef>
                <a:spcPts val="400"/>
              </a:spcBef>
              <a:spcAft>
                <a:spcPts val="0"/>
              </a:spcAft>
              <a:buClr>
                <a:schemeClr val="hlink"/>
              </a:buClr>
              <a:buSzPct val="90000"/>
              <a:buFont typeface="Noto Sans Symbols"/>
              <a:buChar char="❧"/>
              <a:defRPr sz="2000" b="0" i="0" u="none" strike="noStrike" cap="none">
                <a:solidFill>
                  <a:schemeClr val="dk1"/>
                </a:solidFill>
                <a:latin typeface="Arial"/>
                <a:ea typeface="Arial"/>
                <a:cs typeface="Arial"/>
                <a:sym typeface="Arial"/>
              </a:defRPr>
            </a:lvl4pPr>
            <a:lvl5pPr marL="2057400" marR="0" lvl="4"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5pPr>
            <a:lvl6pPr marL="2514600" marR="0" lvl="5"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6pPr>
            <a:lvl7pPr marL="2971800" marR="0" lvl="6"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7pPr>
            <a:lvl8pPr marL="3429000" marR="0" lvl="7"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8pPr>
            <a:lvl9pPr marL="3886200" marR="0" lvl="8"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9pPr>
          </a:lstStyle>
          <a:p>
            <a:endParaRPr/>
          </a:p>
        </p:txBody>
      </p:sp>
      <p:sp>
        <p:nvSpPr>
          <p:cNvPr id="86" name="Shape 86"/>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7" name="Shape 87"/>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8" name="Shape 88"/>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a:solidFill>
                  <a:schemeClr val="dk1"/>
                </a:solidFill>
                <a:latin typeface="Arial"/>
                <a:ea typeface="Arial"/>
                <a:cs typeface="Arial"/>
                <a:sym typeface="Arial"/>
              </a:rPr>
              <a:t>‹#›</a:t>
            </a:fld>
            <a:endParaRPr lang="zh-TW" sz="1400">
              <a:solidFill>
                <a:schemeClr val="dk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6"/>
          <p:cNvSpPr>
            <a:spLocks noGrp="1" noChangeArrowheads="1"/>
          </p:cNvSpPr>
          <p:nvPr>
            <p:ph type="sldNum" sz="quarter" idx="12"/>
          </p:nvPr>
        </p:nvSpPr>
        <p:spPr>
          <a:ln/>
        </p:spPr>
        <p:txBody>
          <a:bodyPr/>
          <a:lstStyle>
            <a:lvl1pPr>
              <a:defRPr/>
            </a:lvl1pPr>
          </a:lstStyle>
          <a:p>
            <a:pPr>
              <a:defRPr/>
            </a:pPr>
            <a:fld id="{92774328-8B2B-48D1-A634-EE9C0B4A20AF}" type="slidenum">
              <a:rPr lang="en-US" altLang="zh-TW"/>
              <a:pPr>
                <a:defRPr/>
              </a:pPr>
              <a:t>‹#›</a:t>
            </a:fld>
            <a:endParaRPr lang="en-US" altLang="zh-TW"/>
          </a:p>
        </p:txBody>
      </p:sp>
    </p:spTree>
    <p:extLst>
      <p:ext uri="{BB962C8B-B14F-4D97-AF65-F5344CB8AC3E}">
        <p14:creationId xmlns:p14="http://schemas.microsoft.com/office/powerpoint/2010/main" val="3493999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01625" y="228600"/>
            <a:ext cx="8540750" cy="1143000"/>
          </a:xfrm>
          <a:prstGeom prst="rect">
            <a:avLst/>
          </a:prstGeom>
          <a:noFill/>
          <a:ln>
            <a:noFill/>
          </a:ln>
        </p:spPr>
        <p:txBody>
          <a:bodyPr wrap="square" lIns="91425" tIns="91425" rIns="91425" bIns="91425" anchor="ctr" anchorCtr="0"/>
          <a:lstStyle>
            <a:lvl1pPr marL="0" marR="0" lvl="0" indent="0" algn="ctr" rtl="0">
              <a:spcBef>
                <a:spcPts val="0"/>
              </a:spcBef>
              <a:spcAft>
                <a:spcPts val="0"/>
              </a:spcAft>
              <a:buNone/>
              <a:defRPr sz="4400" b="0" i="0" u="none" strike="noStrike" cap="none">
                <a:solidFill>
                  <a:schemeClr val="dk2"/>
                </a:solidFill>
                <a:latin typeface="Arial"/>
                <a:ea typeface="Arial"/>
                <a:cs typeface="Arial"/>
                <a:sym typeface="Arial"/>
              </a:defRPr>
            </a:lvl1pPr>
            <a:lvl2pPr marL="0" marR="0" lvl="1" indent="0" algn="ctr" rtl="0">
              <a:spcBef>
                <a:spcPts val="0"/>
              </a:spcBef>
              <a:spcAft>
                <a:spcPts val="0"/>
              </a:spcAft>
              <a:buNone/>
              <a:defRPr sz="4400" b="0" i="0" u="none" strike="noStrike" cap="none">
                <a:solidFill>
                  <a:schemeClr val="dk2"/>
                </a:solidFill>
                <a:latin typeface="Arial"/>
                <a:ea typeface="Arial"/>
                <a:cs typeface="Arial"/>
                <a:sym typeface="Arial"/>
              </a:defRPr>
            </a:lvl2pPr>
            <a:lvl3pPr marL="0" marR="0" lvl="2" indent="0" algn="ctr" rtl="0">
              <a:spcBef>
                <a:spcPts val="0"/>
              </a:spcBef>
              <a:spcAft>
                <a:spcPts val="0"/>
              </a:spcAft>
              <a:buNone/>
              <a:defRPr sz="4400" b="0" i="0" u="none" strike="noStrike" cap="none">
                <a:solidFill>
                  <a:schemeClr val="dk2"/>
                </a:solidFill>
                <a:latin typeface="Arial"/>
                <a:ea typeface="Arial"/>
                <a:cs typeface="Arial"/>
                <a:sym typeface="Arial"/>
              </a:defRPr>
            </a:lvl3pPr>
            <a:lvl4pPr marL="0" marR="0" lvl="3" indent="0" algn="ctr" rtl="0">
              <a:spcBef>
                <a:spcPts val="0"/>
              </a:spcBef>
              <a:spcAft>
                <a:spcPts val="0"/>
              </a:spcAft>
              <a:buNone/>
              <a:defRPr sz="4400" b="0" i="0" u="none" strike="noStrike" cap="none">
                <a:solidFill>
                  <a:schemeClr val="dk2"/>
                </a:solidFill>
                <a:latin typeface="Arial"/>
                <a:ea typeface="Arial"/>
                <a:cs typeface="Arial"/>
                <a:sym typeface="Arial"/>
              </a:defRPr>
            </a:lvl4pPr>
            <a:lvl5pPr marL="0" marR="0" lvl="4" indent="0" algn="ctr" rtl="0">
              <a:spcBef>
                <a:spcPts val="0"/>
              </a:spcBef>
              <a:spcAft>
                <a:spcPts val="0"/>
              </a:spcAft>
              <a:buNone/>
              <a:defRPr sz="4400" b="0" i="0" u="none" strike="noStrike" cap="none">
                <a:solidFill>
                  <a:schemeClr val="dk2"/>
                </a:solidFill>
                <a:latin typeface="Arial"/>
                <a:ea typeface="Arial"/>
                <a:cs typeface="Arial"/>
                <a:sym typeface="Arial"/>
              </a:defRPr>
            </a:lvl5pPr>
            <a:lvl6pPr marL="457200" marR="0" lvl="5" indent="0" algn="ctr" rtl="0">
              <a:spcBef>
                <a:spcPts val="0"/>
              </a:spcBef>
              <a:spcAft>
                <a:spcPts val="0"/>
              </a:spcAft>
              <a:buNone/>
              <a:defRPr sz="4400" b="0" i="0" u="none" strike="noStrike" cap="none">
                <a:solidFill>
                  <a:schemeClr val="dk2"/>
                </a:solidFill>
                <a:latin typeface="Arial"/>
                <a:ea typeface="Arial"/>
                <a:cs typeface="Arial"/>
                <a:sym typeface="Arial"/>
              </a:defRPr>
            </a:lvl6pPr>
            <a:lvl7pPr marL="914400" marR="0" lvl="6" indent="0" algn="ctr" rtl="0">
              <a:spcBef>
                <a:spcPts val="0"/>
              </a:spcBef>
              <a:spcAft>
                <a:spcPts val="0"/>
              </a:spcAft>
              <a:buNone/>
              <a:defRPr sz="4400" b="0" i="0" u="none" strike="noStrike" cap="none">
                <a:solidFill>
                  <a:schemeClr val="dk2"/>
                </a:solidFill>
                <a:latin typeface="Arial"/>
                <a:ea typeface="Arial"/>
                <a:cs typeface="Arial"/>
                <a:sym typeface="Arial"/>
              </a:defRPr>
            </a:lvl7pPr>
            <a:lvl8pPr marL="1371600" marR="0" lvl="7" indent="0" algn="ctr" rtl="0">
              <a:spcBef>
                <a:spcPts val="0"/>
              </a:spcBef>
              <a:spcAft>
                <a:spcPts val="0"/>
              </a:spcAft>
              <a:buNone/>
              <a:defRPr sz="4400" b="0" i="0" u="none" strike="noStrike" cap="none">
                <a:solidFill>
                  <a:schemeClr val="dk2"/>
                </a:solidFill>
                <a:latin typeface="Arial"/>
                <a:ea typeface="Arial"/>
                <a:cs typeface="Arial"/>
                <a:sym typeface="Arial"/>
              </a:defRPr>
            </a:lvl8pPr>
            <a:lvl9pPr marL="1828800" marR="0" lvl="8" indent="0" algn="ctr" rtl="0">
              <a:spcBef>
                <a:spcPts val="0"/>
              </a:spcBef>
              <a:spcAft>
                <a:spcPts val="0"/>
              </a:spcAft>
              <a:buNone/>
              <a:defRPr sz="4400" b="0" i="0" u="none" strike="noStrike" cap="none">
                <a:solidFill>
                  <a:schemeClr val="dk2"/>
                </a:solidFill>
                <a:latin typeface="Arial"/>
                <a:ea typeface="Arial"/>
                <a:cs typeface="Arial"/>
                <a:sym typeface="Arial"/>
              </a:defRPr>
            </a:lvl9pPr>
          </a:lstStyle>
          <a:p>
            <a:endParaRPr/>
          </a:p>
        </p:txBody>
      </p:sp>
      <p:sp>
        <p:nvSpPr>
          <p:cNvPr id="11" name="Shape 11"/>
          <p:cNvSpPr txBox="1">
            <a:spLocks noGrp="1"/>
          </p:cNvSpPr>
          <p:nvPr>
            <p:ph type="body" idx="1"/>
          </p:nvPr>
        </p:nvSpPr>
        <p:spPr>
          <a:xfrm>
            <a:off x="301625" y="1600200"/>
            <a:ext cx="8540750" cy="4498975"/>
          </a:xfrm>
          <a:prstGeom prst="rect">
            <a:avLst/>
          </a:prstGeom>
          <a:noFill/>
          <a:ln>
            <a:noFill/>
          </a:ln>
        </p:spPr>
        <p:txBody>
          <a:bodyPr wrap="square" lIns="91425" tIns="91425" rIns="91425" bIns="91425" anchor="t" anchorCtr="0"/>
          <a:lstStyle>
            <a:lvl1pPr marL="342900" marR="0" lvl="0" indent="-170180" algn="l" rtl="0">
              <a:spcBef>
                <a:spcPts val="640"/>
              </a:spcBef>
              <a:spcAft>
                <a:spcPts val="0"/>
              </a:spcAft>
              <a:buClr>
                <a:schemeClr val="folHlink"/>
              </a:buClr>
              <a:buSzPct val="85000"/>
              <a:buFont typeface="Noto Sans Symbols"/>
              <a:buChar char="◼"/>
              <a:defRPr sz="3200" b="0" i="0" u="none" strike="noStrike" cap="none">
                <a:solidFill>
                  <a:schemeClr val="dk1"/>
                </a:solidFill>
                <a:latin typeface="Arial"/>
                <a:ea typeface="Arial"/>
                <a:cs typeface="Arial"/>
                <a:sym typeface="Arial"/>
              </a:defRPr>
            </a:lvl1pPr>
            <a:lvl2pPr marL="742950" marR="0" lvl="1" indent="-134619" algn="l" rtl="0">
              <a:spcBef>
                <a:spcPts val="560"/>
              </a:spcBef>
              <a:spcAft>
                <a:spcPts val="0"/>
              </a:spcAft>
              <a:buClr>
                <a:schemeClr val="hlink"/>
              </a:buClr>
              <a:buSzPct val="85000"/>
              <a:buFont typeface="Noto Sans Symbols"/>
              <a:buChar char="❧"/>
              <a:defRPr sz="2800" b="0" i="0" u="none" strike="noStrike" cap="none">
                <a:solidFill>
                  <a:schemeClr val="dk1"/>
                </a:solidFill>
                <a:latin typeface="Arial"/>
                <a:ea typeface="Arial"/>
                <a:cs typeface="Arial"/>
                <a:sym typeface="Arial"/>
              </a:defRPr>
            </a:lvl2pPr>
            <a:lvl3pPr marL="1143000" marR="0" lvl="2" indent="-91439" algn="l" rtl="0">
              <a:spcBef>
                <a:spcPts val="480"/>
              </a:spcBef>
              <a:spcAft>
                <a:spcPts val="0"/>
              </a:spcAft>
              <a:buClr>
                <a:schemeClr val="folHlink"/>
              </a:buClr>
              <a:buSzPct val="90000"/>
              <a:buFont typeface="Noto Sans Symbols"/>
              <a:buChar char="◼"/>
              <a:defRPr sz="2400" b="0" i="0" u="none" strike="noStrike" cap="none">
                <a:solidFill>
                  <a:schemeClr val="dk1"/>
                </a:solidFill>
                <a:latin typeface="Arial"/>
                <a:ea typeface="Arial"/>
                <a:cs typeface="Arial"/>
                <a:sym typeface="Arial"/>
              </a:defRPr>
            </a:lvl3pPr>
            <a:lvl4pPr marL="1600200" marR="0" lvl="3" indent="-114300" algn="l" rtl="0">
              <a:spcBef>
                <a:spcPts val="400"/>
              </a:spcBef>
              <a:spcAft>
                <a:spcPts val="0"/>
              </a:spcAft>
              <a:buClr>
                <a:schemeClr val="hlink"/>
              </a:buClr>
              <a:buSzPct val="90000"/>
              <a:buFont typeface="Noto Sans Symbols"/>
              <a:buChar char="❧"/>
              <a:defRPr sz="2000" b="0" i="0" u="none" strike="noStrike" cap="none">
                <a:solidFill>
                  <a:schemeClr val="dk1"/>
                </a:solidFill>
                <a:latin typeface="Arial"/>
                <a:ea typeface="Arial"/>
                <a:cs typeface="Arial"/>
                <a:sym typeface="Arial"/>
              </a:defRPr>
            </a:lvl4pPr>
            <a:lvl5pPr marL="2057400" marR="0" lvl="4"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5pPr>
            <a:lvl6pPr marL="2514600" marR="0" lvl="5"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6pPr>
            <a:lvl7pPr marL="2971800" marR="0" lvl="6"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7pPr>
            <a:lvl8pPr marL="3429000" marR="0" lvl="7"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8pPr>
            <a:lvl9pPr marL="3886200" marR="0" lvl="8" indent="-114300" algn="l" rtl="0">
              <a:spcBef>
                <a:spcPts val="400"/>
              </a:spcBef>
              <a:spcAft>
                <a:spcPts val="0"/>
              </a:spcAft>
              <a:buClr>
                <a:schemeClr val="folHlink"/>
              </a:buClr>
              <a:buSzPct val="90000"/>
              <a:buFont typeface="Noto Sans Symbols"/>
              <a:buChar char="◼"/>
              <a:defRPr sz="2000" b="0" i="0" u="none" strike="noStrike" cap="none">
                <a:solidFill>
                  <a:schemeClr val="dk1"/>
                </a:solidFill>
                <a:latin typeface="Arial"/>
                <a:ea typeface="Arial"/>
                <a:cs typeface="Arial"/>
                <a:sym typeface="Arial"/>
              </a:defRPr>
            </a:lvl9pPr>
          </a:lstStyle>
          <a:p>
            <a:endParaRPr/>
          </a:p>
        </p:txBody>
      </p:sp>
      <p:sp>
        <p:nvSpPr>
          <p:cNvPr id="12" name="Shape 12"/>
          <p:cNvSpPr txBox="1">
            <a:spLocks noGrp="1"/>
          </p:cNvSpPr>
          <p:nvPr>
            <p:ph type="dt" idx="10"/>
          </p:nvPr>
        </p:nvSpPr>
        <p:spPr>
          <a:xfrm>
            <a:off x="301625" y="6245225"/>
            <a:ext cx="2289175" cy="476250"/>
          </a:xfrm>
          <a:prstGeom prst="rect">
            <a:avLst/>
          </a:prstGeom>
          <a:noFill/>
          <a:ln>
            <a:noFill/>
          </a:ln>
        </p:spPr>
        <p:txBody>
          <a:bodyPr wrap="square" lIns="91425" tIns="91425" rIns="91425" bIns="91425" anchor="t" anchorCtr="0"/>
          <a:lstStyle>
            <a:lvl1pPr marL="0" marR="0" lvl="0" indent="0" algn="l" rtl="0">
              <a:spcBef>
                <a:spcPts val="0"/>
              </a:spcBef>
              <a:spcAft>
                <a:spcPts val="0"/>
              </a:spcAft>
              <a:buNone/>
              <a:defRPr sz="14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ftr" idx="11"/>
          </p:nvPr>
        </p:nvSpPr>
        <p:spPr>
          <a:xfrm>
            <a:off x="3124200" y="6245225"/>
            <a:ext cx="2895600" cy="476250"/>
          </a:xfrm>
          <a:prstGeom prst="rect">
            <a:avLst/>
          </a:prstGeom>
          <a:noFill/>
          <a:ln>
            <a:noFill/>
          </a:ln>
        </p:spPr>
        <p:txBody>
          <a:bodyPr wrap="square" lIns="91425" tIns="91425" rIns="91425" bIns="91425" anchor="t" anchorCtr="0"/>
          <a:lstStyle>
            <a:lvl1pPr marL="0" marR="0" lvl="0" indent="0" algn="ctr" rtl="0">
              <a:spcBef>
                <a:spcPts val="0"/>
              </a:spcBef>
              <a:spcAft>
                <a:spcPts val="0"/>
              </a:spcAft>
              <a:buNone/>
              <a:defRPr sz="1400" b="0" i="0" u="none" strike="noStrike" cap="none">
                <a:solidFill>
                  <a:schemeClr val="dk1"/>
                </a:solidFill>
                <a:latin typeface="Arial"/>
                <a:ea typeface="Arial"/>
                <a:cs typeface="Arial"/>
                <a:sym typeface="Arial"/>
              </a:defRPr>
            </a:lvl1pPr>
            <a:lvl2pPr marL="457200" marR="0" lvl="1" indent="0" algn="l" rtl="0">
              <a:spcBef>
                <a:spcPts val="0"/>
              </a:spcBef>
              <a:spcAft>
                <a:spcPts val="0"/>
              </a:spcAft>
              <a:buNone/>
              <a:defRPr sz="1800" b="0" i="0" u="none" strike="noStrike" cap="none">
                <a:solidFill>
                  <a:schemeClr val="dk1"/>
                </a:solidFill>
                <a:latin typeface="Arial"/>
                <a:ea typeface="Arial"/>
                <a:cs typeface="Arial"/>
                <a:sym typeface="Arial"/>
              </a:defRPr>
            </a:lvl2pPr>
            <a:lvl3pPr marL="914400" marR="0" lvl="2" indent="0" algn="l" rtl="0">
              <a:spcBef>
                <a:spcPts val="0"/>
              </a:spcBef>
              <a:spcAft>
                <a:spcPts val="0"/>
              </a:spcAft>
              <a:buNone/>
              <a:defRPr sz="1800" b="0" i="0" u="none" strike="noStrike" cap="none">
                <a:solidFill>
                  <a:schemeClr val="dk1"/>
                </a:solidFill>
                <a:latin typeface="Arial"/>
                <a:ea typeface="Arial"/>
                <a:cs typeface="Arial"/>
                <a:sym typeface="Arial"/>
              </a:defRPr>
            </a:lvl3pPr>
            <a:lvl4pPr marL="1371600" marR="0" lvl="3" indent="0" algn="l" rtl="0">
              <a:spcBef>
                <a:spcPts val="0"/>
              </a:spcBef>
              <a:spcAft>
                <a:spcPts val="0"/>
              </a:spcAft>
              <a:buNone/>
              <a:defRPr sz="1800" b="0" i="0" u="none" strike="noStrike" cap="none">
                <a:solidFill>
                  <a:schemeClr val="dk1"/>
                </a:solidFill>
                <a:latin typeface="Arial"/>
                <a:ea typeface="Arial"/>
                <a:cs typeface="Arial"/>
                <a:sym typeface="Arial"/>
              </a:defRPr>
            </a:lvl4pPr>
            <a:lvl5pPr marL="1828800" marR="0" lvl="4" indent="0" algn="l" rtl="0">
              <a:spcBef>
                <a:spcPts val="0"/>
              </a:spcBef>
              <a:spcAft>
                <a:spcPts val="0"/>
              </a:spcAft>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6553200" y="6245225"/>
            <a:ext cx="2289175" cy="476250"/>
          </a:xfrm>
          <a:prstGeom prst="rect">
            <a:avLst/>
          </a:prstGeom>
          <a:noFill/>
          <a:ln>
            <a:noFill/>
          </a:ln>
        </p:spPr>
        <p:txBody>
          <a:bodyPr wrap="square" lIns="91425" tIns="45700" rIns="91425" bIns="45700" anchor="t" anchorCtr="0">
            <a:noAutofit/>
          </a:bodyPr>
          <a:lstStyle/>
          <a:p>
            <a:pPr marL="0" marR="0" lvl="0" indent="0" algn="r" rtl="0">
              <a:spcBef>
                <a:spcPts val="0"/>
              </a:spcBef>
              <a:spcAft>
                <a:spcPts val="0"/>
              </a:spcAft>
              <a:buSzPct val="25000"/>
              <a:buNone/>
            </a:pPr>
            <a:fld id="{00000000-1234-1234-1234-123412341234}" type="slidenum">
              <a:rPr lang="zh-TW" sz="1400" b="0" i="0" u="none" strike="noStrike" cap="none">
                <a:solidFill>
                  <a:schemeClr val="dk1"/>
                </a:solidFill>
                <a:latin typeface="Arial"/>
                <a:ea typeface="Arial"/>
                <a:cs typeface="Arial"/>
                <a:sym typeface="Arial"/>
              </a:rPr>
              <a:t>‹#›</a:t>
            </a:fld>
            <a:endParaRPr lang="zh-TW" sz="14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745"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6.jpe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6.jpe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6.jpe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3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32.jpe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zh.wikipedia.org/wiki/%E7%A6%8F%E5%BB%BA%E7%9C%81"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4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0.jp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6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40.jp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4.png"/><Relationship Id="rId4" Type="http://schemas.openxmlformats.org/officeDocument/2006/relationships/image" Target="../media/image43.png"/></Relationships>
</file>

<file path=ppt/slides/_rels/slide6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40.jp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6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6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6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6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7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7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7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7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7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7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7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7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Shape 654"/>
          <p:cNvSpPr/>
          <p:nvPr/>
        </p:nvSpPr>
        <p:spPr>
          <a:xfrm>
            <a:off x="1" y="2751125"/>
            <a:ext cx="1619671" cy="1067419"/>
          </a:xfrm>
          <a:prstGeom prst="rect">
            <a:avLst/>
          </a:prstGeom>
          <a:noFill/>
          <a:ln>
            <a:noFill/>
          </a:ln>
        </p:spPr>
        <p:txBody>
          <a:bodyPr wrap="square" lIns="91425" tIns="45700" rIns="91425" bIns="45700" anchor="ctr" anchorCtr="0">
            <a:noAutofit/>
          </a:bodyPr>
          <a:lstStyle/>
          <a:p>
            <a:pPr marL="0" marR="0" lvl="0" indent="0" algn="ctr" rtl="0">
              <a:spcBef>
                <a:spcPts val="0"/>
              </a:spcBef>
              <a:spcAft>
                <a:spcPts val="0"/>
              </a:spcAft>
              <a:buSzPct val="25000"/>
              <a:buNone/>
            </a:pPr>
            <a:r>
              <a:rPr lang="en-US" altLang="zh-TW" sz="7200" b="1" dirty="0">
                <a:solidFill>
                  <a:schemeClr val="bg1"/>
                </a:solidFill>
              </a:rPr>
              <a:t>7</a:t>
            </a:r>
            <a:endParaRPr lang="zh-TW" sz="7200" b="1" i="0" u="none" strike="noStrike" cap="none" dirty="0">
              <a:solidFill>
                <a:schemeClr val="bg1"/>
              </a:solidFill>
              <a:sym typeface="Arial"/>
            </a:endParaRPr>
          </a:p>
        </p:txBody>
      </p:sp>
      <p:sp>
        <p:nvSpPr>
          <p:cNvPr id="5" name="內容版面配置區 2"/>
          <p:cNvSpPr>
            <a:spLocks/>
          </p:cNvSpPr>
          <p:nvPr/>
        </p:nvSpPr>
        <p:spPr bwMode="auto">
          <a:xfrm>
            <a:off x="1403350" y="2420938"/>
            <a:ext cx="7129463"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zh-TW" sz="5400" b="1" dirty="0">
                <a:ea typeface="新細明體" pitchFamily="18" charset="-120"/>
              </a:rPr>
              <a:t>　</a:t>
            </a:r>
            <a:r>
              <a:rPr lang="zh-TW" altLang="en-US" sz="5400" b="1" dirty="0">
                <a:ea typeface="新細明體" pitchFamily="18" charset="-120"/>
              </a:rPr>
              <a:t>臺灣與世界</a:t>
            </a:r>
            <a:endParaRPr lang="zh-TW" altLang="zh-TW" sz="5400" b="1" dirty="0">
              <a:solidFill>
                <a:schemeClr val="tx1">
                  <a:lumMod val="90000"/>
                  <a:lumOff val="10000"/>
                </a:schemeClr>
              </a:solidFill>
            </a:endParaRPr>
          </a:p>
        </p:txBody>
      </p:sp>
      <p:sp>
        <p:nvSpPr>
          <p:cNvPr id="2" name="投影片編號版面配置區 1"/>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b="0" i="0" u="none" strike="noStrike" cap="none" smtClean="0">
                <a:solidFill>
                  <a:schemeClr val="dk1"/>
                </a:solidFill>
                <a:latin typeface="Arial"/>
                <a:ea typeface="Arial"/>
                <a:cs typeface="Arial"/>
                <a:sym typeface="Arial"/>
              </a:rPr>
              <a:t>1</a:t>
            </a:fld>
            <a:endParaRPr lang="zh-TW" sz="14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39769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896" y="234883"/>
            <a:ext cx="7872414" cy="18010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a:spLocks noChangeArrowheads="1"/>
          </p:cNvSpPr>
          <p:nvPr/>
        </p:nvSpPr>
        <p:spPr bwMode="auto">
          <a:xfrm>
            <a:off x="179512" y="116632"/>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p.145</a:t>
            </a:r>
            <a:endParaRPr lang="zh-TW" altLang="en-US" sz="3600" b="0" dirty="0"/>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776" y="2048015"/>
            <a:ext cx="8002980" cy="23170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038" y="4365104"/>
            <a:ext cx="7820410" cy="2390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投影片編號版面配置區 1"/>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b="0" i="0" u="none" strike="noStrike" cap="none" smtClean="0">
                <a:solidFill>
                  <a:schemeClr val="dk1"/>
                </a:solidFill>
                <a:latin typeface="Arial"/>
                <a:ea typeface="Arial"/>
                <a:cs typeface="Arial"/>
                <a:sym typeface="Arial"/>
              </a:rPr>
              <a:t>2</a:t>
            </a:fld>
            <a:endParaRPr lang="zh-TW" sz="14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33489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hape 659"/>
          <p:cNvSpPr/>
          <p:nvPr/>
        </p:nvSpPr>
        <p:spPr>
          <a:xfrm rot="21324055">
            <a:off x="-6581" y="639223"/>
            <a:ext cx="2062435" cy="580546"/>
          </a:xfrm>
          <a:prstGeom prst="rect">
            <a:avLst/>
          </a:prstGeom>
          <a:noFill/>
          <a:ln>
            <a:noFill/>
          </a:ln>
        </p:spPr>
        <p:txBody>
          <a:bodyPr wrap="square" lIns="91425" tIns="45700" rIns="91425" bIns="45700" anchor="ctr" anchorCtr="0">
            <a:noAutofit/>
          </a:bodyPr>
          <a:lstStyle/>
          <a:p>
            <a:pPr marL="0" marR="0" lvl="0" indent="0" algn="ctr" rtl="0">
              <a:spcBef>
                <a:spcPts val="0"/>
              </a:spcBef>
              <a:spcAft>
                <a:spcPts val="0"/>
              </a:spcAft>
              <a:buSzPct val="25000"/>
              <a:buNone/>
            </a:pPr>
            <a:r>
              <a:rPr lang="zh-TW" sz="3600" b="1" i="0" u="none" strike="noStrike" cap="none" dirty="0">
                <a:solidFill>
                  <a:schemeClr val="dk1"/>
                </a:solidFill>
                <a:latin typeface="Arial"/>
                <a:ea typeface="Arial"/>
                <a:cs typeface="Arial"/>
                <a:sym typeface="Arial"/>
              </a:rPr>
              <a:t>第一節</a:t>
            </a:r>
          </a:p>
        </p:txBody>
      </p:sp>
      <p:sp>
        <p:nvSpPr>
          <p:cNvPr id="5" name="Shape 660"/>
          <p:cNvSpPr/>
          <p:nvPr/>
        </p:nvSpPr>
        <p:spPr>
          <a:xfrm>
            <a:off x="2051468" y="516019"/>
            <a:ext cx="5832648" cy="719708"/>
          </a:xfrm>
          <a:prstGeom prst="rect">
            <a:avLst/>
          </a:prstGeom>
          <a:noFill/>
          <a:ln>
            <a:noFill/>
          </a:ln>
        </p:spPr>
        <p:txBody>
          <a:bodyPr wrap="square" lIns="91425" tIns="45700" rIns="91425" bIns="45700" anchor="ctr" anchorCtr="0">
            <a:noAutofit/>
          </a:bodyPr>
          <a:lstStyle/>
          <a:p>
            <a:pPr marL="0" marR="0" lvl="0" indent="0" algn="ctr" rtl="0">
              <a:spcBef>
                <a:spcPts val="0"/>
              </a:spcBef>
              <a:spcAft>
                <a:spcPts val="0"/>
              </a:spcAft>
              <a:buSzPct val="25000"/>
              <a:buNone/>
            </a:pPr>
            <a:r>
              <a:rPr lang="zh-TW" altLang="en-US" sz="4000" b="1" i="0" u="none" strike="noStrike" cap="none" dirty="0">
                <a:solidFill>
                  <a:schemeClr val="dk1"/>
                </a:solidFill>
                <a:latin typeface="Arial"/>
                <a:ea typeface="Arial"/>
                <a:cs typeface="Arial"/>
                <a:sym typeface="Arial"/>
              </a:rPr>
              <a:t>自然環境的特性</a:t>
            </a:r>
            <a:endParaRPr lang="zh-TW" sz="4000" b="1" i="0" u="none" strike="noStrike" cap="none" dirty="0">
              <a:solidFill>
                <a:schemeClr val="dk1"/>
              </a:solidFill>
              <a:latin typeface="Arial"/>
              <a:ea typeface="Arial"/>
              <a:cs typeface="Arial"/>
              <a:sym typeface="Aria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1779929"/>
            <a:ext cx="6040338" cy="39210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a:spLocks noChangeArrowheads="1"/>
          </p:cNvSpPr>
          <p:nvPr/>
        </p:nvSpPr>
        <p:spPr bwMode="auto">
          <a:xfrm>
            <a:off x="400106" y="1507013"/>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p.145</a:t>
            </a:r>
            <a:endParaRPr lang="zh-TW" altLang="en-US" sz="3600" b="0" dirty="0"/>
          </a:p>
        </p:txBody>
      </p:sp>
      <p:sp>
        <p:nvSpPr>
          <p:cNvPr id="2" name="投影片編號版面配置區 1"/>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b="0" i="0" u="none" strike="noStrike" cap="none" smtClean="0">
                <a:solidFill>
                  <a:schemeClr val="dk1"/>
                </a:solidFill>
                <a:latin typeface="Arial"/>
                <a:ea typeface="Arial"/>
                <a:cs typeface="Arial"/>
                <a:sym typeface="Arial"/>
              </a:rPr>
              <a:t>3</a:t>
            </a:fld>
            <a:endParaRPr lang="zh-TW" sz="14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34015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標題 1"/>
          <p:cNvSpPr>
            <a:spLocks/>
          </p:cNvSpPr>
          <p:nvPr/>
        </p:nvSpPr>
        <p:spPr bwMode="auto">
          <a:xfrm>
            <a:off x="-56480" y="303889"/>
            <a:ext cx="2304256" cy="1571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3600" b="1" dirty="0">
                <a:latin typeface="微軟正黑體" pitchFamily="34" charset="-120"/>
              </a:rPr>
              <a:t>自然環境的特性</a:t>
            </a:r>
            <a:endParaRPr lang="en-US" altLang="zh-TW" sz="3600" b="1" dirty="0">
              <a:latin typeface="微軟正黑體" pitchFamily="34" charset="-120"/>
            </a:endParaRPr>
          </a:p>
        </p:txBody>
      </p:sp>
      <p:sp>
        <p:nvSpPr>
          <p:cNvPr id="7" name="Rectangle 3"/>
          <p:cNvSpPr txBox="1">
            <a:spLocks noChangeArrowheads="1"/>
          </p:cNvSpPr>
          <p:nvPr/>
        </p:nvSpPr>
        <p:spPr>
          <a:xfrm>
            <a:off x="0" y="2060848"/>
            <a:ext cx="2247776" cy="4319930"/>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2300" dirty="0">
                <a:latin typeface="標楷體" pitchFamily="65" charset="-120"/>
                <a:ea typeface="標楷體" pitchFamily="65" charset="-120"/>
              </a:rPr>
              <a:t>頻繁的</a:t>
            </a:r>
            <a:r>
              <a:rPr lang="zh-TW" altLang="en-US" sz="2300" dirty="0">
                <a:solidFill>
                  <a:srgbClr val="FF0000"/>
                </a:solidFill>
                <a:latin typeface="標楷體" pitchFamily="65" charset="-120"/>
                <a:ea typeface="標楷體" pitchFamily="65" charset="-120"/>
              </a:rPr>
              <a:t>災害</a:t>
            </a:r>
            <a:r>
              <a:rPr lang="zh-TW" altLang="en-US" sz="2300" dirty="0">
                <a:latin typeface="標楷體" pitchFamily="65" charset="-120"/>
                <a:ea typeface="標楷體" pitchFamily="65" charset="-120"/>
              </a:rPr>
              <a:t>是促成臺灣各式</a:t>
            </a:r>
            <a:r>
              <a:rPr lang="zh-TW" altLang="en-US" sz="2300" dirty="0">
                <a:solidFill>
                  <a:srgbClr val="FF0000"/>
                </a:solidFill>
                <a:latin typeface="標楷體" pitchFamily="65" charset="-120"/>
                <a:ea typeface="標楷體" pitchFamily="65" charset="-120"/>
              </a:rPr>
              <a:t>地形演育</a:t>
            </a:r>
            <a:r>
              <a:rPr lang="zh-TW" altLang="en-US" sz="2300" dirty="0">
                <a:latin typeface="標楷體" pitchFamily="65" charset="-120"/>
                <a:ea typeface="標楷體" pitchFamily="65" charset="-120"/>
              </a:rPr>
              <a:t>的</a:t>
            </a:r>
            <a:r>
              <a:rPr lang="zh-TW" altLang="en-US" sz="2300" dirty="0">
                <a:solidFill>
                  <a:srgbClr val="FF0000"/>
                </a:solidFill>
                <a:latin typeface="標楷體" pitchFamily="65" charset="-120"/>
                <a:ea typeface="標楷體" pitchFamily="65" charset="-120"/>
              </a:rPr>
              <a:t>營力</a:t>
            </a:r>
            <a:endParaRPr lang="en-US" altLang="zh-TW" sz="2300" dirty="0">
              <a:solidFill>
                <a:srgbClr val="FF0000"/>
              </a:solidFill>
              <a:latin typeface="標楷體" pitchFamily="65" charset="-120"/>
              <a:ea typeface="標楷體" pitchFamily="65" charset="-120"/>
            </a:endParaRPr>
          </a:p>
          <a:p>
            <a:endParaRPr lang="en-US" altLang="zh-TW" sz="2300" dirty="0">
              <a:latin typeface="標楷體" pitchFamily="65" charset="-120"/>
              <a:ea typeface="標楷體" pitchFamily="65" charset="-120"/>
            </a:endParaRPr>
          </a:p>
          <a:p>
            <a:r>
              <a:rPr lang="zh-TW" altLang="en-US" sz="2300" dirty="0">
                <a:latin typeface="標楷體" pitchFamily="65" charset="-120"/>
                <a:ea typeface="標楷體" pitchFamily="65" charset="-120"/>
              </a:rPr>
              <a:t>進一步造就各種生物的棲地，</a:t>
            </a:r>
            <a:br>
              <a:rPr lang="en-US" altLang="zh-TW" sz="2300" dirty="0">
                <a:latin typeface="標楷體" pitchFamily="65" charset="-120"/>
                <a:ea typeface="標楷體" pitchFamily="65" charset="-120"/>
              </a:rPr>
            </a:br>
            <a:r>
              <a:rPr lang="zh-TW" altLang="en-US" sz="2300" dirty="0">
                <a:solidFill>
                  <a:srgbClr val="FF0000"/>
                </a:solidFill>
                <a:latin typeface="標楷體" pitchFamily="65" charset="-120"/>
                <a:ea typeface="標楷體" pitchFamily="65" charset="-120"/>
              </a:rPr>
              <a:t>豐富生物多樣性</a:t>
            </a:r>
            <a:endParaRPr lang="en-US" altLang="zh-TW" sz="2300" dirty="0">
              <a:solidFill>
                <a:srgbClr val="FF0000"/>
              </a:solidFill>
              <a:latin typeface="標楷體" pitchFamily="65" charset="-120"/>
              <a:ea typeface="標楷體" pitchFamily="65" charset="-120"/>
            </a:endParaRPr>
          </a:p>
          <a:p>
            <a:endParaRPr lang="en-US" altLang="zh-TW" sz="2400" dirty="0">
              <a:latin typeface="標楷體" pitchFamily="65" charset="-120"/>
              <a:ea typeface="標楷體" pitchFamily="65" charset="-120"/>
            </a:endParaRPr>
          </a:p>
          <a:p>
            <a:r>
              <a:rPr lang="zh-TW" altLang="en-US" sz="2400" dirty="0">
                <a:latin typeface="標楷體" pitchFamily="65" charset="-120"/>
                <a:ea typeface="標楷體" pitchFamily="65" charset="-120"/>
              </a:rPr>
              <a:t>一、</a:t>
            </a:r>
            <a:r>
              <a:rPr lang="zh-TW" altLang="en-US" sz="2400" dirty="0">
                <a:solidFill>
                  <a:srgbClr val="FF0000"/>
                </a:solidFill>
                <a:latin typeface="標楷體" pitchFamily="65" charset="-120"/>
                <a:ea typeface="標楷體" pitchFamily="65" charset="-120"/>
              </a:rPr>
              <a:t>地質</a:t>
            </a:r>
            <a:r>
              <a:rPr lang="zh-TW" altLang="en-US" sz="2400" dirty="0">
                <a:latin typeface="標楷體" pitchFamily="65" charset="-120"/>
                <a:ea typeface="標楷體" pitchFamily="65" charset="-120"/>
              </a:rPr>
              <a:t>年輕</a:t>
            </a:r>
            <a:r>
              <a:rPr lang="zh-TW" altLang="en-US" sz="2400" dirty="0">
                <a:solidFill>
                  <a:srgbClr val="FF0000"/>
                </a:solidFill>
                <a:latin typeface="標楷體" pitchFamily="65" charset="-120"/>
                <a:ea typeface="標楷體" pitchFamily="65" charset="-120"/>
              </a:rPr>
              <a:t>地形</a:t>
            </a:r>
            <a:r>
              <a:rPr lang="zh-TW" altLang="en-US" sz="2400" dirty="0">
                <a:latin typeface="標楷體" pitchFamily="65" charset="-120"/>
                <a:ea typeface="標楷體" pitchFamily="65" charset="-120"/>
              </a:rPr>
              <a:t>多變</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0581" y="0"/>
            <a:ext cx="7020780" cy="6857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a:spLocks noChangeArrowheads="1"/>
          </p:cNvSpPr>
          <p:nvPr/>
        </p:nvSpPr>
        <p:spPr bwMode="auto">
          <a:xfrm>
            <a:off x="179512" y="-19276"/>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p.167</a:t>
            </a:r>
            <a:endParaRPr lang="zh-TW" altLang="en-US" sz="3600" b="0" dirty="0"/>
          </a:p>
        </p:txBody>
      </p:sp>
      <p:sp>
        <p:nvSpPr>
          <p:cNvPr id="6" name="矩形 5"/>
          <p:cNvSpPr/>
          <p:nvPr/>
        </p:nvSpPr>
        <p:spPr>
          <a:xfrm>
            <a:off x="2079055" y="2179561"/>
            <a:ext cx="1899520" cy="1015663"/>
          </a:xfrm>
          <a:prstGeom prst="rect">
            <a:avLst/>
          </a:prstGeom>
        </p:spPr>
        <p:txBody>
          <a:bodyPr wrap="square">
            <a:spAutoFit/>
          </a:bodyPr>
          <a:lstStyle/>
          <a:p>
            <a:r>
              <a:rPr lang="zh-TW" altLang="en-US" sz="1200" dirty="0">
                <a:solidFill>
                  <a:srgbClr val="FF0000"/>
                </a:solidFill>
                <a:latin typeface="標楷體" pitchFamily="65" charset="-120"/>
                <a:ea typeface="標楷體" pitchFamily="65" charset="-120"/>
              </a:rPr>
              <a:t>環太平洋火山地震帶</a:t>
            </a:r>
            <a:r>
              <a:rPr lang="zh-TW" altLang="en-US" sz="1200" dirty="0">
                <a:latin typeface="標楷體" pitchFamily="65" charset="-120"/>
                <a:ea typeface="標楷體" pitchFamily="65" charset="-120"/>
              </a:rPr>
              <a:t>：簡稱</a:t>
            </a:r>
            <a:r>
              <a:rPr lang="zh-TW" altLang="en-US" sz="1200" dirty="0">
                <a:solidFill>
                  <a:srgbClr val="FF0000"/>
                </a:solidFill>
                <a:latin typeface="標楷體" pitchFamily="65" charset="-120"/>
                <a:ea typeface="標楷體" pitchFamily="65" charset="-120"/>
              </a:rPr>
              <a:t>火環</a:t>
            </a:r>
            <a:r>
              <a:rPr lang="zh-TW" altLang="en-US" sz="1200" dirty="0">
                <a:latin typeface="標楷體" pitchFamily="65" charset="-120"/>
                <a:ea typeface="標楷體" pitchFamily="65" charset="-120"/>
              </a:rPr>
              <a:t>，為太平洋板塊四周與其他板塊交界之處，</a:t>
            </a:r>
            <a:r>
              <a:rPr lang="zh-TW" altLang="en-US" sz="1200" dirty="0">
                <a:solidFill>
                  <a:srgbClr val="FF0000"/>
                </a:solidFill>
                <a:latin typeface="標楷體" pitchFamily="65" charset="-120"/>
                <a:ea typeface="標楷體" pitchFamily="65" charset="-120"/>
              </a:rPr>
              <a:t>全世界高達八成以上的火山、地震皆發生於此。</a:t>
            </a:r>
          </a:p>
        </p:txBody>
      </p:sp>
      <p:sp>
        <p:nvSpPr>
          <p:cNvPr id="9" name="投影片編號版面配置區 8"/>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510634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標題 1"/>
          <p:cNvSpPr>
            <a:spLocks/>
          </p:cNvSpPr>
          <p:nvPr/>
        </p:nvSpPr>
        <p:spPr bwMode="auto">
          <a:xfrm>
            <a:off x="1475656" y="176939"/>
            <a:ext cx="568863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TW" altLang="en-US" sz="3600" dirty="0">
                <a:latin typeface="標楷體" pitchFamily="65" charset="-120"/>
                <a:ea typeface="標楷體" pitchFamily="65" charset="-120"/>
              </a:rPr>
              <a:t>一、</a:t>
            </a:r>
            <a:r>
              <a:rPr lang="zh-TW" altLang="en-US" sz="3600" dirty="0">
                <a:solidFill>
                  <a:srgbClr val="FF0000"/>
                </a:solidFill>
                <a:latin typeface="標楷體" pitchFamily="65" charset="-120"/>
                <a:ea typeface="標楷體" pitchFamily="65" charset="-120"/>
              </a:rPr>
              <a:t>地質年輕  地形多變</a:t>
            </a:r>
            <a:endParaRPr lang="en-US" altLang="zh-TW" sz="3600" dirty="0">
              <a:solidFill>
                <a:srgbClr val="FF0000"/>
              </a:solidFill>
              <a:latin typeface="標楷體" pitchFamily="65" charset="-120"/>
              <a:ea typeface="標楷體" pitchFamily="65" charset="-120"/>
            </a:endParaRPr>
          </a:p>
        </p:txBody>
      </p:sp>
      <p:sp>
        <p:nvSpPr>
          <p:cNvPr id="7" name="Rectangle 3"/>
          <p:cNvSpPr txBox="1">
            <a:spLocks noChangeArrowheads="1"/>
          </p:cNvSpPr>
          <p:nvPr/>
        </p:nvSpPr>
        <p:spPr>
          <a:xfrm>
            <a:off x="0" y="956714"/>
            <a:ext cx="9144000" cy="5569592"/>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2400" dirty="0">
                <a:latin typeface="標楷體" pitchFamily="65" charset="-120"/>
                <a:ea typeface="標楷體" pitchFamily="65" charset="-120"/>
              </a:rPr>
              <a:t>相較於 </a:t>
            </a:r>
            <a:r>
              <a:rPr lang="en-US" altLang="zh-TW" sz="2400" dirty="0">
                <a:latin typeface="標楷體" pitchFamily="65" charset="-120"/>
                <a:ea typeface="標楷體" pitchFamily="65" charset="-120"/>
              </a:rPr>
              <a:t>46 </a:t>
            </a:r>
            <a:r>
              <a:rPr lang="zh-TW" altLang="en-US" sz="2400" dirty="0">
                <a:latin typeface="標楷體" pitchFamily="65" charset="-120"/>
                <a:ea typeface="標楷體" pitchFamily="65" charset="-120"/>
              </a:rPr>
              <a:t>億年前形成的地球，臺灣島大約在 </a:t>
            </a:r>
            <a:r>
              <a:rPr lang="en-US" altLang="zh-TW" sz="2400" dirty="0">
                <a:latin typeface="標楷體" pitchFamily="65" charset="-120"/>
                <a:ea typeface="標楷體" pitchFamily="65" charset="-120"/>
              </a:rPr>
              <a:t>600 </a:t>
            </a:r>
            <a:r>
              <a:rPr lang="zh-TW" altLang="en-US" sz="2400" dirty="0">
                <a:latin typeface="標楷體" pitchFamily="65" charset="-120"/>
                <a:ea typeface="標楷體" pitchFamily="65" charset="-120"/>
              </a:rPr>
              <a:t>萬年前才逐漸形成，矗立於世界最動盪的</a:t>
            </a:r>
            <a:r>
              <a:rPr lang="zh-TW" altLang="en-US" sz="2400" u="sng"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中，</a:t>
            </a:r>
            <a:br>
              <a:rPr lang="en-US" altLang="zh-TW" sz="2400" dirty="0">
                <a:latin typeface="標楷體" pitchFamily="65" charset="-120"/>
                <a:ea typeface="標楷體" pitchFamily="65" charset="-120"/>
              </a:rPr>
            </a:br>
            <a:r>
              <a:rPr lang="zh-TW" altLang="en-US" sz="2400" dirty="0">
                <a:latin typeface="標楷體" pitchFamily="65" charset="-120"/>
                <a:ea typeface="標楷體" pitchFamily="65" charset="-120"/>
              </a:rPr>
              <a:t>位在</a:t>
            </a:r>
            <a:r>
              <a:rPr lang="zh-TW" altLang="en-US" sz="2400" dirty="0">
                <a:solidFill>
                  <a:srgbClr val="FF0000"/>
                </a:solidFill>
                <a:latin typeface="標楷體" pitchFamily="65" charset="-120"/>
                <a:ea typeface="標楷體" pitchFamily="65" charset="-120"/>
              </a:rPr>
              <a:t>歐亞大陸</a:t>
            </a:r>
            <a:r>
              <a:rPr lang="zh-TW" altLang="en-US" sz="2400" dirty="0">
                <a:latin typeface="標楷體" pitchFamily="65" charset="-120"/>
                <a:ea typeface="標楷體" pitchFamily="65" charset="-120"/>
              </a:rPr>
              <a:t>東南側</a:t>
            </a:r>
            <a:r>
              <a:rPr lang="zh-TW" altLang="en-US" sz="2400" dirty="0">
                <a:solidFill>
                  <a:srgbClr val="FF0000"/>
                </a:solidFill>
                <a:latin typeface="標楷體" pitchFamily="65" charset="-120"/>
                <a:ea typeface="標楷體" pitchFamily="65" charset="-120"/>
              </a:rPr>
              <a:t>與 菲律賓海板塊</a:t>
            </a:r>
            <a:r>
              <a:rPr lang="en-US" altLang="zh-TW" sz="2400"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的</a:t>
            </a:r>
            <a:r>
              <a:rPr lang="zh-TW" altLang="en-US" sz="2400" dirty="0">
                <a:solidFill>
                  <a:srgbClr val="FF0000"/>
                </a:solidFill>
                <a:latin typeface="標楷體" pitchFamily="65" charset="-120"/>
                <a:ea typeface="標楷體" pitchFamily="65" charset="-120"/>
              </a:rPr>
              <a:t>接觸地帶</a:t>
            </a:r>
            <a:r>
              <a:rPr lang="zh-TW" altLang="en-US" sz="2400" dirty="0">
                <a:latin typeface="標楷體" pitchFamily="65" charset="-120"/>
                <a:ea typeface="標楷體" pitchFamily="65" charset="-120"/>
              </a:rPr>
              <a:t>。</a:t>
            </a:r>
            <a:endParaRPr lang="en-US" altLang="zh-TW" sz="2400" dirty="0">
              <a:latin typeface="標楷體" pitchFamily="65" charset="-120"/>
              <a:ea typeface="標楷體" pitchFamily="65" charset="-120"/>
            </a:endParaRPr>
          </a:p>
          <a:p>
            <a:r>
              <a:rPr lang="en-US" altLang="zh-TW" sz="2400" dirty="0">
                <a:latin typeface="標楷體" pitchFamily="65" charset="-120"/>
                <a:ea typeface="標楷體" pitchFamily="65" charset="-120"/>
              </a:rPr>
              <a:t>1.</a:t>
            </a:r>
            <a:r>
              <a:rPr lang="zh-TW" altLang="en-US" sz="2400" dirty="0">
                <a:latin typeface="標楷體" pitchFamily="65" charset="-120"/>
                <a:ea typeface="標楷體" pitchFamily="65" charset="-120"/>
              </a:rPr>
              <a:t>板塊持續不斷的擠壓造成的影響：</a:t>
            </a:r>
          </a:p>
          <a:p>
            <a:r>
              <a:rPr lang="en-US" altLang="zh-TW" sz="2400" dirty="0">
                <a:latin typeface="標楷體" pitchFamily="65" charset="-120"/>
                <a:ea typeface="標楷體" pitchFamily="65" charset="-120"/>
              </a:rPr>
              <a:t>(1)</a:t>
            </a:r>
            <a:r>
              <a:rPr lang="zh-TW" altLang="en-US" sz="2400" dirty="0">
                <a:latin typeface="標楷體" pitchFamily="65" charset="-120"/>
                <a:ea typeface="標楷體" pitchFamily="65" charset="-120"/>
              </a:rPr>
              <a:t>臺灣島成為</a:t>
            </a:r>
            <a:r>
              <a:rPr lang="zh-TW" altLang="en-US" sz="2400" dirty="0">
                <a:solidFill>
                  <a:srgbClr val="FF0000"/>
                </a:solidFill>
                <a:latin typeface="標楷體" pitchFamily="65" charset="-120"/>
                <a:ea typeface="標楷體" pitchFamily="65" charset="-120"/>
              </a:rPr>
              <a:t>地質年</a:t>
            </a:r>
            <a:r>
              <a:rPr lang="zh-TW" altLang="en-US" sz="2400" dirty="0">
                <a:latin typeface="標楷體" pitchFamily="65" charset="-120"/>
                <a:ea typeface="標楷體" pitchFamily="65" charset="-120"/>
              </a:rPr>
              <a:t>代甚</a:t>
            </a:r>
            <a:r>
              <a:rPr lang="zh-TW" altLang="en-US" sz="2400" dirty="0">
                <a:solidFill>
                  <a:srgbClr val="FF0000"/>
                </a:solidFill>
                <a:latin typeface="標楷體" pitchFamily="65" charset="-120"/>
                <a:ea typeface="標楷體" pitchFamily="65" charset="-120"/>
              </a:rPr>
              <a:t>輕</a:t>
            </a:r>
            <a:r>
              <a:rPr lang="zh-TW" altLang="en-US" sz="2400" dirty="0">
                <a:latin typeface="標楷體" pitchFamily="65" charset="-120"/>
                <a:ea typeface="標楷體" pitchFamily="65" charset="-120"/>
              </a:rPr>
              <a:t>的</a:t>
            </a:r>
            <a:r>
              <a:rPr lang="zh-TW" altLang="en-US" sz="2400" dirty="0">
                <a:solidFill>
                  <a:srgbClr val="FF0000"/>
                </a:solidFill>
                <a:latin typeface="標楷體" pitchFamily="65" charset="-120"/>
                <a:ea typeface="標楷體" pitchFamily="65" charset="-120"/>
              </a:rPr>
              <a:t>褶皺山脈</a:t>
            </a:r>
            <a:r>
              <a:rPr lang="zh-TW" altLang="en-US" sz="2400" dirty="0">
                <a:latin typeface="標楷體" pitchFamily="65" charset="-120"/>
                <a:ea typeface="標楷體" pitchFamily="65" charset="-120"/>
              </a:rPr>
              <a:t>地區。</a:t>
            </a:r>
          </a:p>
          <a:p>
            <a:r>
              <a:rPr lang="en-US" altLang="zh-TW" sz="2400" dirty="0">
                <a:latin typeface="標楷體" pitchFamily="65" charset="-120"/>
                <a:ea typeface="標楷體" pitchFamily="65" charset="-120"/>
              </a:rPr>
              <a:t>(2)</a:t>
            </a:r>
            <a:r>
              <a:rPr lang="zh-TW" altLang="en-US" sz="2400" dirty="0">
                <a:solidFill>
                  <a:srgbClr val="FF0000"/>
                </a:solidFill>
                <a:latin typeface="標楷體" pitchFamily="65" charset="-120"/>
                <a:ea typeface="標楷體" pitchFamily="65" charset="-120"/>
              </a:rPr>
              <a:t>頻繁地震</a:t>
            </a:r>
            <a:r>
              <a:rPr lang="zh-TW" altLang="en-US" sz="2400" dirty="0">
                <a:latin typeface="標楷體" pitchFamily="65" charset="-120"/>
                <a:ea typeface="標楷體" pitchFamily="65" charset="-120"/>
              </a:rPr>
              <a:t>、地盤隆起、</a:t>
            </a:r>
            <a:r>
              <a:rPr lang="zh-TW" altLang="en-US" sz="2400" dirty="0">
                <a:solidFill>
                  <a:srgbClr val="FF0000"/>
                </a:solidFill>
                <a:latin typeface="標楷體" pitchFamily="65" charset="-120"/>
                <a:ea typeface="標楷體" pitchFamily="65" charset="-120"/>
              </a:rPr>
              <a:t>劇烈</a:t>
            </a:r>
            <a:r>
              <a:rPr lang="zh-TW" altLang="en-US" sz="2400" dirty="0">
                <a:latin typeface="標楷體" pitchFamily="65" charset="-120"/>
                <a:ea typeface="標楷體" pitchFamily="65" charset="-120"/>
              </a:rPr>
              <a:t>的</a:t>
            </a:r>
            <a:r>
              <a:rPr lang="zh-TW" altLang="en-US" sz="2400" dirty="0">
                <a:solidFill>
                  <a:srgbClr val="FF0000"/>
                </a:solidFill>
                <a:latin typeface="標楷體" pitchFamily="65" charset="-120"/>
                <a:ea typeface="標楷體" pitchFamily="65" charset="-120"/>
              </a:rPr>
              <a:t>侵蝕</a:t>
            </a:r>
            <a:r>
              <a:rPr lang="zh-TW" altLang="en-US" sz="2400" dirty="0">
                <a:latin typeface="標楷體" pitchFamily="65" charset="-120"/>
                <a:ea typeface="標楷體" pitchFamily="65" charset="-120"/>
              </a:rPr>
              <a:t>及</a:t>
            </a:r>
            <a:r>
              <a:rPr lang="zh-TW" altLang="en-US" sz="2400" dirty="0">
                <a:solidFill>
                  <a:srgbClr val="FF0000"/>
                </a:solidFill>
                <a:latin typeface="標楷體" pitchFamily="65" charset="-120"/>
                <a:ea typeface="標楷體" pitchFamily="65" charset="-120"/>
              </a:rPr>
              <a:t>火山噴發</a:t>
            </a:r>
            <a:r>
              <a:rPr lang="zh-TW" altLang="en-US" sz="2400" dirty="0">
                <a:latin typeface="標楷體" pitchFamily="65" charset="-120"/>
                <a:ea typeface="標楷體" pitchFamily="65" charset="-120"/>
              </a:rPr>
              <a:t>等動盪不安的環境，並形成獨特的火山地形及資源。</a:t>
            </a:r>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r>
              <a:rPr lang="en-US" altLang="zh-TW" sz="2400" dirty="0">
                <a:latin typeface="標楷體" pitchFamily="65" charset="-120"/>
                <a:ea typeface="標楷體" pitchFamily="65" charset="-120"/>
              </a:rPr>
              <a:t>(3)</a:t>
            </a:r>
            <a:r>
              <a:rPr lang="zh-TW" altLang="en-US" sz="2400" dirty="0">
                <a:solidFill>
                  <a:srgbClr val="FF0000"/>
                </a:solidFill>
                <a:latin typeface="標楷體" pitchFamily="65" charset="-120"/>
                <a:ea typeface="標楷體" pitchFamily="65" charset="-120"/>
              </a:rPr>
              <a:t>持續抬升的地表</a:t>
            </a:r>
            <a:r>
              <a:rPr lang="zh-TW" altLang="en-US" sz="2400" dirty="0">
                <a:latin typeface="標楷體" pitchFamily="65" charset="-120"/>
                <a:ea typeface="標楷體" pitchFamily="65" charset="-120"/>
              </a:rPr>
              <a:t>承受</a:t>
            </a:r>
            <a:r>
              <a:rPr lang="zh-TW" altLang="en-US" sz="2400" dirty="0">
                <a:solidFill>
                  <a:srgbClr val="FF0000"/>
                </a:solidFill>
                <a:latin typeface="標楷體" pitchFamily="65" charset="-120"/>
                <a:ea typeface="標楷體" pitchFamily="65" charset="-120"/>
              </a:rPr>
              <a:t>風化、侵蝕、山崩等作用，刻劃</a:t>
            </a:r>
            <a:r>
              <a:rPr lang="zh-TW" altLang="en-US" sz="2400" dirty="0">
                <a:latin typeface="標楷體" pitchFamily="65" charset="-120"/>
                <a:ea typeface="標楷體" pitchFamily="65" charset="-120"/>
              </a:rPr>
              <a:t>出密集的</a:t>
            </a:r>
            <a:r>
              <a:rPr lang="zh-TW" altLang="en-US" sz="2400" dirty="0">
                <a:solidFill>
                  <a:srgbClr val="FF0000"/>
                </a:solidFill>
                <a:latin typeface="標楷體" pitchFamily="65" charset="-120"/>
                <a:ea typeface="標楷體" pitchFamily="65" charset="-120"/>
              </a:rPr>
              <a:t>高山與深谷</a:t>
            </a:r>
            <a:r>
              <a:rPr lang="zh-TW" altLang="en-US" sz="2400" dirty="0">
                <a:latin typeface="標楷體" pitchFamily="65" charset="-120"/>
                <a:ea typeface="標楷體" pitchFamily="65" charset="-120"/>
              </a:rPr>
              <a:t>，在臺灣各地形成眾多的河谷、</a:t>
            </a:r>
            <a:r>
              <a:rPr lang="en-US" altLang="zh-TW" sz="2400" u="sng"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a:t>
            </a:r>
            <a:r>
              <a:rPr lang="en-US" altLang="zh-TW" sz="2400" u="sng"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等地形。侵蝕產生的大量</a:t>
            </a:r>
            <a:r>
              <a:rPr lang="zh-TW" altLang="en-US" sz="2400" dirty="0">
                <a:solidFill>
                  <a:schemeClr val="tx1"/>
                </a:solidFill>
                <a:latin typeface="標楷體" pitchFamily="65" charset="-120"/>
                <a:ea typeface="標楷體" pitchFamily="65" charset="-120"/>
              </a:rPr>
              <a:t>輸沙</a:t>
            </a:r>
            <a:r>
              <a:rPr lang="zh-TW" altLang="en-US" sz="2400" dirty="0">
                <a:solidFill>
                  <a:srgbClr val="FF0000"/>
                </a:solidFill>
                <a:latin typeface="標楷體" pitchFamily="65" charset="-120"/>
                <a:ea typeface="標楷體" pitchFamily="65" charset="-120"/>
              </a:rPr>
              <a:t>在</a:t>
            </a:r>
            <a:r>
              <a:rPr lang="zh-TW" altLang="en-US" sz="2400" dirty="0">
                <a:solidFill>
                  <a:schemeClr val="tx1"/>
                </a:solidFill>
                <a:latin typeface="標楷體" pitchFamily="65" charset="-120"/>
                <a:ea typeface="標楷體" pitchFamily="65" charset="-120"/>
              </a:rPr>
              <a:t>西部平淺的</a:t>
            </a:r>
            <a:r>
              <a:rPr lang="zh-TW" altLang="en-US" sz="2400" dirty="0">
                <a:solidFill>
                  <a:srgbClr val="FF0000"/>
                </a:solidFill>
                <a:latin typeface="標楷體" pitchFamily="65" charset="-120"/>
                <a:ea typeface="標楷體" pitchFamily="65" charset="-120"/>
              </a:rPr>
              <a:t>臺灣海峽上堆積出西部平原</a:t>
            </a:r>
            <a:r>
              <a:rPr lang="zh-TW" altLang="en-US" sz="2400" dirty="0">
                <a:latin typeface="標楷體" pitchFamily="65" charset="-120"/>
                <a:ea typeface="標楷體" pitchFamily="65" charset="-120"/>
              </a:rPr>
              <a:t>、</a:t>
            </a:r>
            <a:r>
              <a:rPr lang="zh-TW" altLang="en-US" sz="2400" dirty="0">
                <a:solidFill>
                  <a:srgbClr val="FF0000"/>
                </a:solidFill>
                <a:latin typeface="標楷體" pitchFamily="65" charset="-120"/>
                <a:ea typeface="標楷體" pitchFamily="65" charset="-120"/>
              </a:rPr>
              <a:t>沙洲</a:t>
            </a:r>
            <a:r>
              <a:rPr lang="zh-TW" altLang="en-US" sz="2400" dirty="0">
                <a:latin typeface="標楷體" pitchFamily="65" charset="-120"/>
                <a:ea typeface="標楷體" pitchFamily="65" charset="-120"/>
              </a:rPr>
              <a:t>、淺灘、</a:t>
            </a:r>
            <a:r>
              <a:rPr lang="zh-TW" altLang="en-US" sz="2400" dirty="0">
                <a:solidFill>
                  <a:srgbClr val="FF0000"/>
                </a:solidFill>
                <a:latin typeface="標楷體" pitchFamily="65" charset="-120"/>
                <a:ea typeface="標楷體" pitchFamily="65" charset="-120"/>
              </a:rPr>
              <a:t>潟湖、海埔地和沙丘等海岸地形，與東岸陡降的</a:t>
            </a:r>
            <a:r>
              <a:rPr lang="zh-TW" altLang="en-US" sz="2400" dirty="0">
                <a:latin typeface="標楷體" pitchFamily="65" charset="-120"/>
                <a:ea typeface="標楷體" pitchFamily="65" charset="-120"/>
              </a:rPr>
              <a:t>海底深度形成</a:t>
            </a:r>
            <a:r>
              <a:rPr lang="zh-TW" altLang="en-US" sz="2400" dirty="0">
                <a:solidFill>
                  <a:srgbClr val="FF0000"/>
                </a:solidFill>
                <a:latin typeface="標楷體" pitchFamily="65" charset="-120"/>
                <a:ea typeface="標楷體" pitchFamily="65" charset="-120"/>
              </a:rPr>
              <a:t>岩石崖岸</a:t>
            </a:r>
            <a:r>
              <a:rPr lang="zh-TW" altLang="en-US" sz="2400" dirty="0">
                <a:latin typeface="標楷體" pitchFamily="65" charset="-120"/>
                <a:ea typeface="標楷體" pitchFamily="65" charset="-120"/>
              </a:rPr>
              <a:t>，產生</a:t>
            </a:r>
            <a:r>
              <a:rPr lang="zh-TW" altLang="en-US" sz="2400" dirty="0">
                <a:solidFill>
                  <a:srgbClr val="FF0000"/>
                </a:solidFill>
                <a:latin typeface="標楷體" pitchFamily="65" charset="-120"/>
                <a:ea typeface="標楷體" pitchFamily="65" charset="-120"/>
              </a:rPr>
              <a:t>強烈</a:t>
            </a:r>
            <a:r>
              <a:rPr lang="zh-TW" altLang="en-US" sz="2400" dirty="0">
                <a:latin typeface="標楷體" pitchFamily="65" charset="-120"/>
                <a:ea typeface="標楷體" pitchFamily="65" charset="-120"/>
              </a:rPr>
              <a:t>的</a:t>
            </a:r>
            <a:r>
              <a:rPr lang="zh-TW" altLang="en-US" sz="2400" dirty="0">
                <a:solidFill>
                  <a:srgbClr val="FF0000"/>
                </a:solidFill>
                <a:latin typeface="標楷體" pitchFamily="65" charset="-120"/>
                <a:ea typeface="標楷體" pitchFamily="65" charset="-120"/>
              </a:rPr>
              <a:t>對比</a:t>
            </a:r>
            <a:r>
              <a:rPr lang="zh-TW" altLang="en-US" sz="2400" dirty="0">
                <a:latin typeface="標楷體" pitchFamily="65" charset="-120"/>
                <a:ea typeface="標楷體" pitchFamily="65" charset="-120"/>
              </a:rPr>
              <a:t>。</a:t>
            </a:r>
          </a:p>
        </p:txBody>
      </p:sp>
      <p:sp>
        <p:nvSpPr>
          <p:cNvPr id="8" name="矩形 7"/>
          <p:cNvSpPr>
            <a:spLocks noChangeArrowheads="1"/>
          </p:cNvSpPr>
          <p:nvPr/>
        </p:nvSpPr>
        <p:spPr bwMode="auto">
          <a:xfrm>
            <a:off x="4002803" y="1299833"/>
            <a:ext cx="31401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環太平洋火山地震帶</a:t>
            </a:r>
          </a:p>
        </p:txBody>
      </p:sp>
      <p:sp>
        <p:nvSpPr>
          <p:cNvPr id="9" name="矩形 8"/>
          <p:cNvSpPr>
            <a:spLocks noChangeArrowheads="1"/>
          </p:cNvSpPr>
          <p:nvPr/>
        </p:nvSpPr>
        <p:spPr bwMode="auto">
          <a:xfrm>
            <a:off x="6012160" y="4909335"/>
            <a:ext cx="9438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河階</a:t>
            </a:r>
          </a:p>
        </p:txBody>
      </p:sp>
      <p:sp>
        <p:nvSpPr>
          <p:cNvPr id="10" name="矩形 9"/>
          <p:cNvSpPr>
            <a:spLocks noChangeArrowheads="1"/>
          </p:cNvSpPr>
          <p:nvPr/>
        </p:nvSpPr>
        <p:spPr bwMode="auto">
          <a:xfrm>
            <a:off x="7164288" y="4909335"/>
            <a:ext cx="13731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沖積扇</a:t>
            </a:r>
          </a:p>
        </p:txBody>
      </p:sp>
      <p:sp>
        <p:nvSpPr>
          <p:cNvPr id="11" name="矩形 10"/>
          <p:cNvSpPr>
            <a:spLocks noChangeArrowheads="1"/>
          </p:cNvSpPr>
          <p:nvPr/>
        </p:nvSpPr>
        <p:spPr bwMode="auto">
          <a:xfrm>
            <a:off x="72944" y="176939"/>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p.167</a:t>
            </a:r>
            <a:endParaRPr lang="zh-TW" altLang="en-US" sz="3600" b="0" dirty="0"/>
          </a:p>
        </p:txBody>
      </p:sp>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a:t>
            </a:fld>
            <a:endParaRPr lang="zh-TW" sz="1400">
              <a:solidFill>
                <a:schemeClr val="dk1"/>
              </a:solidFill>
              <a:latin typeface="Arial"/>
              <a:ea typeface="Arial"/>
              <a:cs typeface="Arial"/>
              <a:sym typeface="Arial"/>
            </a:endParaRPr>
          </a:p>
        </p:txBody>
      </p:sp>
      <p:sp>
        <p:nvSpPr>
          <p:cNvPr id="13" name="矩形 12">
            <a:extLst>
              <a:ext uri="{FF2B5EF4-FFF2-40B4-BE49-F238E27FC236}">
                <a16:creationId xmlns:a16="http://schemas.microsoft.com/office/drawing/2014/main" id="{3CF9E82B-108C-4871-B0DB-BA888F283E09}"/>
              </a:ext>
            </a:extLst>
          </p:cNvPr>
          <p:cNvSpPr>
            <a:spLocks noChangeArrowheads="1"/>
          </p:cNvSpPr>
          <p:nvPr/>
        </p:nvSpPr>
        <p:spPr bwMode="auto">
          <a:xfrm>
            <a:off x="0" y="3858153"/>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p.168</a:t>
            </a:r>
            <a:endParaRPr lang="zh-TW" altLang="en-US" sz="3600" b="0" dirty="0"/>
          </a:p>
        </p:txBody>
      </p:sp>
    </p:spTree>
    <p:extLst>
      <p:ext uri="{BB962C8B-B14F-4D97-AF65-F5344CB8AC3E}">
        <p14:creationId xmlns:p14="http://schemas.microsoft.com/office/powerpoint/2010/main" val="42164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670" y="159466"/>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539552" y="1054224"/>
            <a:ext cx="8352928"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1.</a:t>
            </a:r>
            <a:r>
              <a:rPr lang="zh-TW" altLang="en-US" sz="2400" dirty="0"/>
              <a:t>下列照片是臺灣</a:t>
            </a:r>
            <a:r>
              <a:rPr lang="zh-TW" altLang="en-US" sz="2400" dirty="0">
                <a:solidFill>
                  <a:srgbClr val="FF00FF"/>
                </a:solidFill>
              </a:rPr>
              <a:t>某座橋梁上的標誌</a:t>
            </a:r>
            <a:r>
              <a:rPr lang="zh-TW" altLang="en-US" sz="2400" dirty="0"/>
              <a:t>。該照片的拍攝地點，最可能位於下列</a:t>
            </a:r>
            <a:r>
              <a:rPr lang="zh-TW" altLang="en-US" sz="2400" dirty="0">
                <a:solidFill>
                  <a:srgbClr val="FF00FF"/>
                </a:solidFill>
              </a:rPr>
              <a:t>哪條河川</a:t>
            </a:r>
            <a:r>
              <a:rPr lang="zh-TW" altLang="en-US" sz="2400" dirty="0"/>
              <a:t>的流域？ </a:t>
            </a:r>
            <a:r>
              <a:rPr lang="en-US" altLang="zh-TW" sz="2400" dirty="0">
                <a:latin typeface="標楷體" pitchFamily="65" charset="-120"/>
              </a:rPr>
              <a:t>〔105.</a:t>
            </a:r>
            <a:r>
              <a:rPr lang="zh-TW" altLang="en-US" sz="2400" dirty="0">
                <a:latin typeface="標楷體" pitchFamily="65" charset="-120"/>
              </a:rPr>
              <a:t>學測</a:t>
            </a:r>
            <a:r>
              <a:rPr lang="en-US" altLang="zh-TW" sz="2400" dirty="0">
                <a:latin typeface="標楷體" pitchFamily="65" charset="-120"/>
              </a:rPr>
              <a:t>〕</a:t>
            </a:r>
          </a:p>
          <a:p>
            <a:r>
              <a:rPr lang="en-US" altLang="zh-TW" sz="2400" dirty="0">
                <a:latin typeface="標楷體" pitchFamily="65" charset="-120"/>
              </a:rPr>
              <a:t>(A)</a:t>
            </a:r>
            <a:r>
              <a:rPr lang="zh-TW" altLang="en-US" sz="2400" dirty="0">
                <a:latin typeface="標楷體" pitchFamily="65" charset="-120"/>
              </a:rPr>
              <a:t>大甲溪  </a:t>
            </a:r>
            <a:r>
              <a:rPr lang="en-US" altLang="zh-TW" sz="2400" dirty="0">
                <a:latin typeface="標楷體" pitchFamily="65" charset="-120"/>
              </a:rPr>
              <a:t>(B)</a:t>
            </a:r>
            <a:r>
              <a:rPr lang="zh-TW" altLang="en-US" sz="2400" dirty="0">
                <a:latin typeface="標楷體" pitchFamily="65" charset="-120"/>
              </a:rPr>
              <a:t>濁水溪    </a:t>
            </a:r>
            <a:r>
              <a:rPr lang="en-US" altLang="zh-TW" sz="2400" dirty="0">
                <a:latin typeface="標楷體" pitchFamily="65" charset="-120"/>
              </a:rPr>
              <a:t>(C)</a:t>
            </a:r>
            <a:r>
              <a:rPr lang="zh-TW" altLang="en-US" sz="2400" dirty="0">
                <a:latin typeface="標楷體" pitchFamily="65" charset="-120"/>
              </a:rPr>
              <a:t>高屏溪    </a:t>
            </a:r>
            <a:endParaRPr lang="en-US" altLang="zh-TW" sz="2400" dirty="0">
              <a:latin typeface="標楷體" pitchFamily="65" charset="-120"/>
            </a:endParaRPr>
          </a:p>
          <a:p>
            <a:r>
              <a:rPr lang="zh-TW" altLang="en-US" sz="2400" dirty="0">
                <a:latin typeface="標楷體" pitchFamily="65" charset="-120"/>
              </a:rPr>
              <a:t>                                        </a:t>
            </a:r>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p:txBody>
      </p:sp>
      <p:sp>
        <p:nvSpPr>
          <p:cNvPr id="9" name="Text Box 3"/>
          <p:cNvSpPr txBox="1">
            <a:spLocks noChangeArrowheads="1"/>
          </p:cNvSpPr>
          <p:nvPr/>
        </p:nvSpPr>
        <p:spPr bwMode="auto">
          <a:xfrm>
            <a:off x="6156176" y="1772816"/>
            <a:ext cx="23484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(D)</a:t>
            </a:r>
            <a:r>
              <a:rPr lang="zh-TW" altLang="en-US" sz="2400" dirty="0">
                <a:latin typeface="標楷體" pitchFamily="65" charset="-120"/>
              </a:rPr>
              <a:t>秀姑巒溪</a:t>
            </a:r>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1" y="2278442"/>
            <a:ext cx="7955161" cy="33358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矩形 12"/>
          <p:cNvSpPr>
            <a:spLocks noChangeArrowheads="1"/>
          </p:cNvSpPr>
          <p:nvPr/>
        </p:nvSpPr>
        <p:spPr bwMode="auto">
          <a:xfrm>
            <a:off x="72944" y="176939"/>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p.169</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286944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8"/>
          <p:cNvPicPr>
            <a:picLocks noChangeAspect="1" noChangeArrowheads="1"/>
          </p:cNvPicPr>
          <p:nvPr/>
        </p:nvPicPr>
        <p:blipFill>
          <a:blip r:embed="rId3">
            <a:extLst>
              <a:ext uri="{28A0092B-C50C-407E-A947-70E740481C1C}">
                <a14:useLocalDpi xmlns:a14="http://schemas.microsoft.com/office/drawing/2010/main" val="0"/>
              </a:ext>
            </a:extLst>
          </a:blip>
          <a:srcRect b="3423"/>
          <a:stretch>
            <a:fillRect/>
          </a:stretch>
        </p:blipFill>
        <p:spPr bwMode="auto">
          <a:xfrm>
            <a:off x="1"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投影片編號版面配置區 1"/>
          <p:cNvSpPr>
            <a:spLocks noGrp="1"/>
          </p:cNvSpPr>
          <p:nvPr>
            <p:ph type="sldNum" sz="quarter" idx="12"/>
          </p:nvPr>
        </p:nvSpPr>
        <p:spPr/>
        <p:txBody>
          <a:bodyPr/>
          <a:lstStyle/>
          <a:p>
            <a:pPr>
              <a:defRPr/>
            </a:pPr>
            <a:fld id="{92774328-8B2B-48D1-A634-EE9C0B4A20AF}" type="slidenum">
              <a:rPr lang="en-US" altLang="zh-TW" smtClean="0"/>
              <a:pPr>
                <a:defRPr/>
              </a:pPr>
              <a:t>7</a:t>
            </a:fld>
            <a:endParaRPr lang="en-US" altLang="zh-TW"/>
          </a:p>
        </p:txBody>
      </p:sp>
      <p:sp>
        <p:nvSpPr>
          <p:cNvPr id="6" name="文字方塊 5">
            <a:extLst>
              <a:ext uri="{FF2B5EF4-FFF2-40B4-BE49-F238E27FC236}">
                <a16:creationId xmlns:a16="http://schemas.microsoft.com/office/drawing/2014/main" id="{CF14F91C-1328-41B4-9A17-019D2DD5972B}"/>
              </a:ext>
            </a:extLst>
          </p:cNvPr>
          <p:cNvSpPr txBox="1"/>
          <p:nvPr/>
        </p:nvSpPr>
        <p:spPr>
          <a:xfrm>
            <a:off x="107504" y="404664"/>
            <a:ext cx="2592288" cy="2062103"/>
          </a:xfrm>
          <a:prstGeom prst="rect">
            <a:avLst/>
          </a:prstGeom>
          <a:noFill/>
        </p:spPr>
        <p:txBody>
          <a:bodyPr wrap="square">
            <a:spAutoFit/>
          </a:bodyPr>
          <a:lstStyle/>
          <a:p>
            <a:r>
              <a:rPr lang="en-US" altLang="zh-TW" sz="3200" dirty="0">
                <a:latin typeface="標楷體" pitchFamily="65" charset="-120"/>
              </a:rPr>
              <a:t>(A)</a:t>
            </a:r>
            <a:r>
              <a:rPr lang="zh-TW" altLang="en-US" sz="3200" dirty="0">
                <a:latin typeface="標楷體" pitchFamily="65" charset="-120"/>
              </a:rPr>
              <a:t>大甲溪  </a:t>
            </a:r>
            <a:endParaRPr lang="en-US" altLang="zh-TW" sz="3200" dirty="0">
              <a:latin typeface="標楷體" pitchFamily="65" charset="-120"/>
            </a:endParaRPr>
          </a:p>
          <a:p>
            <a:r>
              <a:rPr lang="en-US" altLang="zh-TW" sz="3200" dirty="0">
                <a:latin typeface="標楷體" pitchFamily="65" charset="-120"/>
              </a:rPr>
              <a:t>(B)</a:t>
            </a:r>
            <a:r>
              <a:rPr lang="zh-TW" altLang="en-US" sz="3200" dirty="0">
                <a:latin typeface="標楷體" pitchFamily="65" charset="-120"/>
              </a:rPr>
              <a:t>濁水溪    </a:t>
            </a:r>
            <a:endParaRPr lang="en-US" altLang="zh-TW" sz="3200" dirty="0">
              <a:latin typeface="標楷體" pitchFamily="65" charset="-120"/>
            </a:endParaRPr>
          </a:p>
          <a:p>
            <a:r>
              <a:rPr lang="en-US" altLang="zh-TW" sz="3200" dirty="0">
                <a:latin typeface="標楷體" pitchFamily="65" charset="-120"/>
              </a:rPr>
              <a:t>(C)</a:t>
            </a:r>
            <a:r>
              <a:rPr lang="zh-TW" altLang="en-US" sz="3200" dirty="0">
                <a:latin typeface="標楷體" pitchFamily="65" charset="-120"/>
              </a:rPr>
              <a:t>高屏溪</a:t>
            </a:r>
            <a:endParaRPr lang="en-US" altLang="zh-TW" sz="3200" dirty="0">
              <a:latin typeface="標楷體" pitchFamily="65" charset="-120"/>
            </a:endParaRPr>
          </a:p>
          <a:p>
            <a:r>
              <a:rPr lang="en-US" altLang="zh-TW" sz="3200" dirty="0">
                <a:latin typeface="標楷體" pitchFamily="65" charset="-120"/>
              </a:rPr>
              <a:t>(D)</a:t>
            </a:r>
            <a:r>
              <a:rPr lang="zh-TW" altLang="en-US" sz="3200" dirty="0">
                <a:latin typeface="標楷體" pitchFamily="65" charset="-120"/>
              </a:rPr>
              <a:t>秀姑巒溪  </a:t>
            </a:r>
            <a:endParaRPr lang="en-US" altLang="zh-TW" sz="3200" dirty="0">
              <a:latin typeface="標楷體" pitchFamily="65" charset="-120"/>
            </a:endParaRPr>
          </a:p>
        </p:txBody>
      </p:sp>
      <p:sp>
        <p:nvSpPr>
          <p:cNvPr id="7" name="Rectangle 4">
            <a:extLst>
              <a:ext uri="{FF2B5EF4-FFF2-40B4-BE49-F238E27FC236}">
                <a16:creationId xmlns:a16="http://schemas.microsoft.com/office/drawing/2014/main" id="{624C6ADB-F94A-4EEA-9635-E833EE7EEEDB}"/>
              </a:ext>
            </a:extLst>
          </p:cNvPr>
          <p:cNvSpPr>
            <a:spLocks noChangeArrowheads="1"/>
          </p:cNvSpPr>
          <p:nvPr/>
        </p:nvSpPr>
        <p:spPr bwMode="auto">
          <a:xfrm>
            <a:off x="4067944" y="2060848"/>
            <a:ext cx="2664296" cy="576064"/>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dirty="0"/>
          </a:p>
        </p:txBody>
      </p:sp>
      <p:sp>
        <p:nvSpPr>
          <p:cNvPr id="8" name="Rectangle 4">
            <a:extLst>
              <a:ext uri="{FF2B5EF4-FFF2-40B4-BE49-F238E27FC236}">
                <a16:creationId xmlns:a16="http://schemas.microsoft.com/office/drawing/2014/main" id="{370EE97D-5153-4FBF-9C9E-6926917F4892}"/>
              </a:ext>
            </a:extLst>
          </p:cNvPr>
          <p:cNvSpPr>
            <a:spLocks noChangeArrowheads="1"/>
          </p:cNvSpPr>
          <p:nvPr/>
        </p:nvSpPr>
        <p:spPr bwMode="auto">
          <a:xfrm>
            <a:off x="2987824" y="2852936"/>
            <a:ext cx="2520280" cy="576064"/>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dirty="0"/>
          </a:p>
        </p:txBody>
      </p:sp>
      <p:sp>
        <p:nvSpPr>
          <p:cNvPr id="9" name="Rectangle 4">
            <a:extLst>
              <a:ext uri="{FF2B5EF4-FFF2-40B4-BE49-F238E27FC236}">
                <a16:creationId xmlns:a16="http://schemas.microsoft.com/office/drawing/2014/main" id="{97F01203-27AF-444A-8C1C-7D731118881F}"/>
              </a:ext>
            </a:extLst>
          </p:cNvPr>
          <p:cNvSpPr>
            <a:spLocks noChangeArrowheads="1"/>
          </p:cNvSpPr>
          <p:nvPr/>
        </p:nvSpPr>
        <p:spPr bwMode="auto">
          <a:xfrm>
            <a:off x="3419872" y="4234150"/>
            <a:ext cx="1152128" cy="1571114"/>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dirty="0"/>
          </a:p>
        </p:txBody>
      </p:sp>
      <p:sp>
        <p:nvSpPr>
          <p:cNvPr id="10" name="Rectangle 4">
            <a:extLst>
              <a:ext uri="{FF2B5EF4-FFF2-40B4-BE49-F238E27FC236}">
                <a16:creationId xmlns:a16="http://schemas.microsoft.com/office/drawing/2014/main" id="{B3539685-7B1E-46D2-B372-CE8C143F0FB0}"/>
              </a:ext>
            </a:extLst>
          </p:cNvPr>
          <p:cNvSpPr>
            <a:spLocks noChangeArrowheads="1"/>
          </p:cNvSpPr>
          <p:nvPr/>
        </p:nvSpPr>
        <p:spPr bwMode="auto">
          <a:xfrm>
            <a:off x="6012160" y="3576972"/>
            <a:ext cx="990600" cy="932148"/>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dirty="0"/>
          </a:p>
        </p:txBody>
      </p:sp>
    </p:spTree>
    <p:extLst>
      <p:ext uri="{BB962C8B-B14F-4D97-AF65-F5344CB8AC3E}">
        <p14:creationId xmlns:p14="http://schemas.microsoft.com/office/powerpoint/2010/main" val="2757448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670" y="159466"/>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539552" y="1054224"/>
            <a:ext cx="8352928"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1.</a:t>
            </a:r>
            <a:r>
              <a:rPr lang="zh-TW" altLang="en-US" sz="2400" dirty="0"/>
              <a:t>下列照片是臺灣</a:t>
            </a:r>
            <a:r>
              <a:rPr lang="zh-TW" altLang="en-US" sz="2400" dirty="0">
                <a:solidFill>
                  <a:srgbClr val="FF00FF"/>
                </a:solidFill>
              </a:rPr>
              <a:t>某座橋梁上的標誌</a:t>
            </a:r>
            <a:r>
              <a:rPr lang="zh-TW" altLang="en-US" sz="2400" dirty="0"/>
              <a:t>。該照片的拍攝地點，最可能位於下列</a:t>
            </a:r>
            <a:r>
              <a:rPr lang="zh-TW" altLang="en-US" sz="2400" dirty="0">
                <a:solidFill>
                  <a:srgbClr val="FF00FF"/>
                </a:solidFill>
              </a:rPr>
              <a:t>哪條河川</a:t>
            </a:r>
            <a:r>
              <a:rPr lang="zh-TW" altLang="en-US" sz="2400" dirty="0"/>
              <a:t>的流域？ </a:t>
            </a:r>
            <a:r>
              <a:rPr lang="en-US" altLang="zh-TW" sz="2400" dirty="0">
                <a:latin typeface="標楷體" pitchFamily="65" charset="-120"/>
              </a:rPr>
              <a:t>〔105.</a:t>
            </a:r>
            <a:r>
              <a:rPr lang="zh-TW" altLang="en-US" sz="2400" dirty="0">
                <a:latin typeface="標楷體" pitchFamily="65" charset="-120"/>
              </a:rPr>
              <a:t>學測</a:t>
            </a:r>
            <a:r>
              <a:rPr lang="en-US" altLang="zh-TW" sz="2400" dirty="0">
                <a:latin typeface="標楷體" pitchFamily="65" charset="-120"/>
              </a:rPr>
              <a:t>〕</a:t>
            </a:r>
          </a:p>
          <a:p>
            <a:r>
              <a:rPr lang="en-US" altLang="zh-TW" sz="2400" dirty="0">
                <a:latin typeface="標楷體" pitchFamily="65" charset="-120"/>
              </a:rPr>
              <a:t>(A)</a:t>
            </a:r>
            <a:r>
              <a:rPr lang="zh-TW" altLang="en-US" sz="2400" dirty="0">
                <a:latin typeface="標楷體" pitchFamily="65" charset="-120"/>
              </a:rPr>
              <a:t>大甲溪  </a:t>
            </a:r>
            <a:r>
              <a:rPr lang="en-US" altLang="zh-TW" sz="2400" dirty="0">
                <a:latin typeface="標楷體" pitchFamily="65" charset="-120"/>
              </a:rPr>
              <a:t>(B)</a:t>
            </a:r>
            <a:r>
              <a:rPr lang="zh-TW" altLang="en-US" sz="2400" dirty="0">
                <a:latin typeface="標楷體" pitchFamily="65" charset="-120"/>
              </a:rPr>
              <a:t>濁水溪    </a:t>
            </a:r>
            <a:r>
              <a:rPr lang="en-US" altLang="zh-TW" sz="2400" dirty="0">
                <a:latin typeface="標楷體" pitchFamily="65" charset="-120"/>
              </a:rPr>
              <a:t>(C)</a:t>
            </a:r>
            <a:r>
              <a:rPr lang="zh-TW" altLang="en-US" sz="2400" dirty="0">
                <a:latin typeface="標楷體" pitchFamily="65" charset="-120"/>
              </a:rPr>
              <a:t>高屏溪    </a:t>
            </a:r>
            <a:endParaRPr lang="en-US" altLang="zh-TW" sz="2400" dirty="0">
              <a:latin typeface="標楷體" pitchFamily="65" charset="-120"/>
            </a:endParaRPr>
          </a:p>
          <a:p>
            <a:r>
              <a:rPr lang="zh-TW" altLang="en-US" sz="2400" dirty="0">
                <a:latin typeface="標楷體" pitchFamily="65" charset="-120"/>
              </a:rPr>
              <a:t>                                        </a:t>
            </a:r>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p:txBody>
      </p:sp>
      <p:sp>
        <p:nvSpPr>
          <p:cNvPr id="12" name="Rectangle 8"/>
          <p:cNvSpPr>
            <a:spLocks noChangeArrowheads="1"/>
          </p:cNvSpPr>
          <p:nvPr/>
        </p:nvSpPr>
        <p:spPr bwMode="auto">
          <a:xfrm>
            <a:off x="78576" y="5652513"/>
            <a:ext cx="880242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r>
              <a:rPr kumimoji="1" lang="zh-TW" altLang="en-US" sz="2000" kern="1200" dirty="0">
                <a:solidFill>
                  <a:srgbClr val="FF0000"/>
                </a:solidFill>
                <a:latin typeface="Arial" charset="0"/>
                <a:ea typeface="標楷體" pitchFamily="65" charset="-120"/>
                <a:cs typeface="+mn-cs"/>
              </a:rPr>
              <a:t>照片中顯示此橋梁位於菲律賓海板塊與歐亞板塊的接觸帶，可判斷其應位於臺灣東部區域的花東縱谷平原附近，選項中只有位於東部</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的</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(D)</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秀姑巒溪符合。</a:t>
            </a:r>
            <a:endParaRPr kumimoji="1" lang="en-US" altLang="zh-TW" sz="2000" kern="1200" dirty="0">
              <a:solidFill>
                <a:srgbClr val="FF0000"/>
              </a:solidFill>
              <a:latin typeface="標楷體" panose="03000509000000000000" pitchFamily="65" charset="-120"/>
              <a:ea typeface="標楷體" panose="03000509000000000000" pitchFamily="65" charset="-120"/>
              <a:cs typeface="+mn-cs"/>
            </a:endParaRPr>
          </a:p>
          <a:p>
            <a:pPr algn="just"/>
            <a:r>
              <a:rPr kumimoji="1" lang="en-US" altLang="zh-TW" sz="2000" kern="1200" dirty="0">
                <a:solidFill>
                  <a:srgbClr val="FF0000"/>
                </a:solidFill>
                <a:latin typeface="標楷體" panose="03000509000000000000" pitchFamily="65" charset="-120"/>
                <a:ea typeface="標楷體" panose="03000509000000000000" pitchFamily="65" charset="-120"/>
                <a:cs typeface="+mn-cs"/>
              </a:rPr>
              <a:t>(A)(B)</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河川位於臺灣中部。</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(C)</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河川位於臺灣南部</a:t>
            </a:r>
            <a:r>
              <a:rPr kumimoji="1" lang="zh-TW" altLang="en-US" sz="2000" kern="1200" dirty="0">
                <a:solidFill>
                  <a:srgbClr val="FF0000"/>
                </a:solidFill>
                <a:latin typeface="Arial" charset="0"/>
                <a:ea typeface="標楷體" pitchFamily="65" charset="-120"/>
                <a:cs typeface="+mn-cs"/>
              </a:rPr>
              <a:t>。</a:t>
            </a:r>
          </a:p>
        </p:txBody>
      </p:sp>
      <p:sp>
        <p:nvSpPr>
          <p:cNvPr id="9" name="Text Box 3"/>
          <p:cNvSpPr txBox="1">
            <a:spLocks noChangeArrowheads="1"/>
          </p:cNvSpPr>
          <p:nvPr/>
        </p:nvSpPr>
        <p:spPr bwMode="auto">
          <a:xfrm>
            <a:off x="6156176" y="1772816"/>
            <a:ext cx="23484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(D)</a:t>
            </a:r>
            <a:r>
              <a:rPr lang="zh-TW" altLang="en-US" sz="2400" dirty="0">
                <a:latin typeface="標楷體" pitchFamily="65" charset="-120"/>
              </a:rPr>
              <a:t>秀姑巒溪</a:t>
            </a:r>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1" y="2278442"/>
            <a:ext cx="7955161" cy="33358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矩形 12"/>
          <p:cNvSpPr>
            <a:spLocks noChangeArrowheads="1"/>
          </p:cNvSpPr>
          <p:nvPr/>
        </p:nvSpPr>
        <p:spPr bwMode="auto">
          <a:xfrm>
            <a:off x="72944" y="176939"/>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p.169</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8</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1289821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mph" presetSubtype="1" nodeType="afterEffect">
                                  <p:stCondLst>
                                    <p:cond delay="0"/>
                                  </p:stCondLst>
                                  <p:childTnLst>
                                    <p:set>
                                      <p:cBhvr override="childStyle">
                                        <p:cTn id="6" dur="indefinite"/>
                                        <p:tgtEl>
                                          <p:spTgt spid="9">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9">
                                            <p:txEl>
                                              <p:pRg st="0" end="0"/>
                                            </p:txEl>
                                          </p:spTgt>
                                        </p:tgtEl>
                                        <p:attrNameLst>
                                          <p:attrName>style.fontStyle</p:attrName>
                                        </p:attrNameLst>
                                      </p:cBhvr>
                                      <p:to>
                                        <p:strVal val="normal"/>
                                      </p:to>
                                    </p:set>
                                    <p:set>
                                      <p:cBhvr override="childStyle">
                                        <p:cTn id="9" dur="indefinite"/>
                                        <p:tgtEl>
                                          <p:spTgt spid="9">
                                            <p:txEl>
                                              <p:pRg st="0" end="0"/>
                                            </p:txEl>
                                          </p:spTgt>
                                        </p:tgtEl>
                                        <p:attrNameLst>
                                          <p:attrName>style.fontWeight</p:attrName>
                                        </p:attrNameLst>
                                      </p:cBhvr>
                                      <p:to>
                                        <p:strVal val="bold"/>
                                      </p:to>
                                    </p:set>
                                    <p:set>
                                      <p:cBhvr override="childStyle">
                                        <p:cTn id="10" dur="indefinite"/>
                                        <p:tgtEl>
                                          <p:spTgt spid="9">
                                            <p:txEl>
                                              <p:pRg st="0" end="0"/>
                                            </p:txEl>
                                          </p:spTgt>
                                        </p:tgtEl>
                                        <p:attrNameLst>
                                          <p:attrName>style.textDecorationUnderline</p:attrName>
                                        </p:attrNameLst>
                                      </p:cBhvr>
                                      <p:to>
                                        <p:strVal val="false"/>
                                      </p:to>
                                    </p:set>
                                  </p:childTnLst>
                                </p:cTn>
                              </p:par>
                            </p:childTnLst>
                          </p:cTn>
                        </p:par>
                        <p:par>
                          <p:cTn id="11" fill="hold">
                            <p:stCondLst>
                              <p:cond delay="0"/>
                            </p:stCondLst>
                            <p:childTnLst>
                              <p:par>
                                <p:cTn id="12" presetID="22" presetClass="entr" presetSubtype="8"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left)">
                                      <p:cBhvr>
                                        <p:cTn id="1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8394"/>
            <a:ext cx="7942407" cy="31801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3"/>
          <p:cNvSpPr txBox="1">
            <a:spLocks noChangeArrowheads="1"/>
          </p:cNvSpPr>
          <p:nvPr/>
        </p:nvSpPr>
        <p:spPr>
          <a:xfrm>
            <a:off x="-27237" y="2806414"/>
            <a:ext cx="8149251" cy="417607"/>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en-US" altLang="zh-TW" dirty="0">
                <a:latin typeface="標楷體" pitchFamily="65" charset="-120"/>
                <a:ea typeface="標楷體" pitchFamily="65" charset="-120"/>
              </a:rPr>
              <a:t>2.</a:t>
            </a:r>
            <a:r>
              <a:rPr lang="zh-TW" altLang="en-US" dirty="0">
                <a:latin typeface="標楷體" pitchFamily="65" charset="-120"/>
                <a:ea typeface="標楷體" pitchFamily="65" charset="-120"/>
              </a:rPr>
              <a:t>臺灣地形分布：</a:t>
            </a:r>
          </a:p>
        </p:txBody>
      </p:sp>
      <p:graphicFrame>
        <p:nvGraphicFramePr>
          <p:cNvPr id="11" name="Group 47"/>
          <p:cNvGraphicFramePr>
            <a:graphicFrameLocks noGrp="1"/>
          </p:cNvGraphicFramePr>
          <p:nvPr>
            <p:extLst>
              <p:ext uri="{D42A27DB-BD31-4B8C-83A1-F6EECF244321}">
                <p14:modId xmlns:p14="http://schemas.microsoft.com/office/powerpoint/2010/main" val="915553526"/>
              </p:ext>
            </p:extLst>
          </p:nvPr>
        </p:nvGraphicFramePr>
        <p:xfrm>
          <a:off x="0" y="3204212"/>
          <a:ext cx="9084973" cy="1964951"/>
        </p:xfrm>
        <a:graphic>
          <a:graphicData uri="http://schemas.openxmlformats.org/drawingml/2006/table">
            <a:tbl>
              <a:tblPr/>
              <a:tblGrid>
                <a:gridCol w="480526">
                  <a:extLst>
                    <a:ext uri="{9D8B030D-6E8A-4147-A177-3AD203B41FA5}">
                      <a16:colId xmlns:a16="http://schemas.microsoft.com/office/drawing/2014/main" val="20000"/>
                    </a:ext>
                  </a:extLst>
                </a:gridCol>
                <a:gridCol w="648072">
                  <a:extLst>
                    <a:ext uri="{9D8B030D-6E8A-4147-A177-3AD203B41FA5}">
                      <a16:colId xmlns:a16="http://schemas.microsoft.com/office/drawing/2014/main" val="20001"/>
                    </a:ext>
                  </a:extLst>
                </a:gridCol>
                <a:gridCol w="7956375">
                  <a:extLst>
                    <a:ext uri="{9D8B030D-6E8A-4147-A177-3AD203B41FA5}">
                      <a16:colId xmlns:a16="http://schemas.microsoft.com/office/drawing/2014/main" val="20002"/>
                    </a:ext>
                  </a:extLst>
                </a:gridCol>
              </a:tblGrid>
              <a:tr h="5179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rgbClr val="FF0000"/>
                          </a:solidFill>
                          <a:latin typeface="標楷體" pitchFamily="65" charset="-120"/>
                          <a:ea typeface="標楷體" pitchFamily="65" charset="-120"/>
                          <a:cs typeface="Arial"/>
                          <a:sym typeface="Arial"/>
                        </a:rPr>
                        <a:t>高山</a:t>
                      </a:r>
                      <a:r>
                        <a:rPr lang="zh-TW" altLang="en-US" sz="1800" b="0" i="0" u="none" strike="noStrike" cap="none" dirty="0">
                          <a:solidFill>
                            <a:schemeClr val="tx1"/>
                          </a:solidFill>
                          <a:latin typeface="標楷體" pitchFamily="65" charset="-120"/>
                          <a:ea typeface="標楷體" pitchFamily="65" charset="-120"/>
                          <a:cs typeface="Arial"/>
                          <a:sym typeface="Arial"/>
                        </a:rPr>
                        <a:t>之島</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臺灣</a:t>
                      </a:r>
                      <a:r>
                        <a:rPr lang="zh-TW" altLang="en-US" sz="1800" b="0" i="0" u="none" strike="noStrike" cap="none" dirty="0">
                          <a:solidFill>
                            <a:srgbClr val="FF0000"/>
                          </a:solidFill>
                          <a:latin typeface="標楷體" pitchFamily="65" charset="-120"/>
                          <a:ea typeface="標楷體" pitchFamily="65" charset="-120"/>
                          <a:cs typeface="Arial"/>
                          <a:sym typeface="Arial"/>
                        </a:rPr>
                        <a:t>受到板塊擠壓</a:t>
                      </a:r>
                      <a:r>
                        <a:rPr lang="zh-TW" altLang="en-US" sz="1800" b="0" i="0" u="none" strike="noStrike" cap="none" dirty="0">
                          <a:solidFill>
                            <a:schemeClr val="tx1"/>
                          </a:solidFill>
                          <a:latin typeface="標楷體" pitchFamily="65" charset="-120"/>
                          <a:ea typeface="標楷體" pitchFamily="65" charset="-120"/>
                          <a:cs typeface="Arial"/>
                          <a:sym typeface="Arial"/>
                        </a:rPr>
                        <a:t>形成</a:t>
                      </a:r>
                      <a:r>
                        <a:rPr lang="zh-TW" altLang="en-US" sz="1800" b="0" i="0" u="none" strike="noStrike" cap="none" dirty="0">
                          <a:solidFill>
                            <a:srgbClr val="FF0000"/>
                          </a:solidFill>
                          <a:latin typeface="標楷體" pitchFamily="65" charset="-120"/>
                          <a:ea typeface="標楷體" pitchFamily="65" charset="-120"/>
                          <a:cs typeface="Arial"/>
                          <a:sym typeface="Arial"/>
                        </a:rPr>
                        <a:t>以山脈為主體</a:t>
                      </a:r>
                      <a:r>
                        <a:rPr lang="zh-TW" altLang="en-US" sz="1800" b="0" i="0" u="none" strike="noStrike" cap="none" dirty="0">
                          <a:solidFill>
                            <a:schemeClr val="tx1"/>
                          </a:solidFill>
                          <a:latin typeface="標楷體" pitchFamily="65" charset="-120"/>
                          <a:ea typeface="標楷體" pitchFamily="65" charset="-120"/>
                          <a:cs typeface="Arial"/>
                          <a:sym typeface="Arial"/>
                        </a:rPr>
                        <a:t>的島嶼，</a:t>
                      </a:r>
                      <a:r>
                        <a:rPr lang="zh-TW" altLang="en-US" sz="1800" b="0" i="0" u="none" strike="noStrike" cap="none" dirty="0">
                          <a:solidFill>
                            <a:srgbClr val="FF0000"/>
                          </a:solidFill>
                          <a:latin typeface="標楷體" pitchFamily="65" charset="-120"/>
                          <a:ea typeface="標楷體" pitchFamily="65" charset="-120"/>
                          <a:cs typeface="Arial"/>
                          <a:sym typeface="Arial"/>
                        </a:rPr>
                        <a:t>山地面積占全島 </a:t>
                      </a:r>
                      <a:r>
                        <a:rPr lang="en-US" altLang="zh-TW" sz="1800" b="0" i="0" u="none" strike="noStrike" cap="none" dirty="0">
                          <a:solidFill>
                            <a:srgbClr val="FF0000"/>
                          </a:solidFill>
                          <a:latin typeface="標楷體" pitchFamily="65" charset="-120"/>
                          <a:ea typeface="標楷體" pitchFamily="65" charset="-120"/>
                          <a:cs typeface="Arial"/>
                          <a:sym typeface="Arial"/>
                        </a:rPr>
                        <a:t>47 </a:t>
                      </a:r>
                      <a:r>
                        <a:rPr lang="zh-TW" altLang="en-US" sz="1800" b="0" i="0" u="none" strike="noStrike" cap="none" dirty="0">
                          <a:solidFill>
                            <a:srgbClr val="FF0000"/>
                          </a:solidFill>
                          <a:latin typeface="標楷體" pitchFamily="65" charset="-120"/>
                          <a:ea typeface="標楷體" pitchFamily="65" charset="-120"/>
                          <a:cs typeface="Arial"/>
                          <a:sym typeface="Arial"/>
                        </a:rPr>
                        <a:t>％</a:t>
                      </a:r>
                      <a:r>
                        <a:rPr lang="zh-TW" altLang="en-US" sz="1800" b="0" i="0" u="none" strike="noStrike" cap="none" dirty="0">
                          <a:solidFill>
                            <a:schemeClr val="tx1"/>
                          </a:solidFill>
                          <a:latin typeface="標楷體" pitchFamily="65" charset="-120"/>
                          <a:ea typeface="標楷體" pitchFamily="65" charset="-120"/>
                          <a:cs typeface="Arial"/>
                          <a:sym typeface="Arial"/>
                        </a:rPr>
                        <a:t>且</a:t>
                      </a:r>
                      <a:r>
                        <a:rPr lang="zh-TW" altLang="en-US" sz="1800" b="0" i="0" u="none" strike="noStrike" cap="none" dirty="0">
                          <a:solidFill>
                            <a:srgbClr val="FF0000"/>
                          </a:solidFill>
                          <a:latin typeface="標楷體" pitchFamily="65" charset="-120"/>
                          <a:ea typeface="標楷體" pitchFamily="65" charset="-120"/>
                          <a:cs typeface="Arial"/>
                          <a:sym typeface="Arial"/>
                        </a:rPr>
                        <a:t>山勢高大陡峻</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en-US" altLang="zh-TW" sz="1800" b="0" i="0" u="none" strike="noStrike" cap="none" dirty="0">
                          <a:solidFill>
                            <a:schemeClr val="tx1"/>
                          </a:solidFill>
                          <a:latin typeface="標楷體" pitchFamily="65" charset="-120"/>
                          <a:ea typeface="標楷體" pitchFamily="65" charset="-120"/>
                          <a:cs typeface="Arial"/>
                          <a:sym typeface="Arial"/>
                        </a:rPr>
                        <a:t>3,000 </a:t>
                      </a:r>
                      <a:r>
                        <a:rPr lang="zh-TW" altLang="en-US" sz="1800" b="0" i="0" u="none" strike="noStrike" cap="none" dirty="0">
                          <a:solidFill>
                            <a:schemeClr val="tx1"/>
                          </a:solidFill>
                          <a:latin typeface="標楷體" pitchFamily="65" charset="-120"/>
                          <a:ea typeface="標楷體" pitchFamily="65" charset="-120"/>
                          <a:cs typeface="Arial"/>
                          <a:sym typeface="Arial"/>
                        </a:rPr>
                        <a:t>公尺以上的高山計有 </a:t>
                      </a:r>
                      <a:r>
                        <a:rPr lang="en-US" altLang="zh-TW" sz="1800" b="0" i="0" u="none" strike="noStrike" cap="none" dirty="0">
                          <a:solidFill>
                            <a:schemeClr val="tx1"/>
                          </a:solidFill>
                          <a:latin typeface="標楷體" pitchFamily="65" charset="-120"/>
                          <a:ea typeface="標楷體" pitchFamily="65" charset="-120"/>
                          <a:cs typeface="Arial"/>
                          <a:sym typeface="Arial"/>
                        </a:rPr>
                        <a:t>258</a:t>
                      </a:r>
                      <a:r>
                        <a:rPr lang="zh-TW" altLang="en-US" sz="1800" b="0" i="0" u="none" strike="noStrike" cap="none" dirty="0">
                          <a:solidFill>
                            <a:schemeClr val="tx1"/>
                          </a:solidFill>
                          <a:latin typeface="標楷體" pitchFamily="65" charset="-120"/>
                          <a:ea typeface="標楷體" pitchFamily="65" charset="-120"/>
                          <a:cs typeface="Arial"/>
                          <a:sym typeface="Arial"/>
                        </a:rPr>
                        <a:t> 座，</a:t>
                      </a:r>
                      <a:r>
                        <a:rPr lang="zh-TW" altLang="en-US" sz="1800" b="0" i="0" u="none" strike="noStrike" cap="none" dirty="0">
                          <a:solidFill>
                            <a:srgbClr val="FF0000"/>
                          </a:solidFill>
                          <a:latin typeface="標楷體" pitchFamily="65" charset="-120"/>
                          <a:ea typeface="標楷體" pitchFamily="65" charset="-120"/>
                          <a:cs typeface="Arial"/>
                          <a:sym typeface="Arial"/>
                        </a:rPr>
                        <a:t>高山密度在世界名列前茅</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179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algn="ctr"/>
                      <a:r>
                        <a:rPr lang="zh-TW" altLang="en-US" sz="1800" b="0" i="0" u="none" strike="noStrike" cap="none" dirty="0">
                          <a:solidFill>
                            <a:schemeClr val="tx1"/>
                          </a:solidFill>
                          <a:latin typeface="標楷體" pitchFamily="65" charset="-120"/>
                          <a:ea typeface="標楷體" pitchFamily="65" charset="-120"/>
                          <a:cs typeface="Arial"/>
                          <a:sym typeface="Arial"/>
                        </a:rPr>
                        <a:t>深邃</a:t>
                      </a:r>
                      <a:r>
                        <a:rPr lang="zh-TW" altLang="en-US" sz="1800" b="0" i="0" u="none" strike="noStrike" cap="none" dirty="0">
                          <a:solidFill>
                            <a:srgbClr val="FF0000"/>
                          </a:solidFill>
                          <a:latin typeface="標楷體" pitchFamily="65" charset="-120"/>
                          <a:ea typeface="標楷體" pitchFamily="65" charset="-120"/>
                          <a:cs typeface="Arial"/>
                          <a:sym typeface="Arial"/>
                        </a:rPr>
                        <a:t>峽谷</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自高山發源的河川流向東西兩側，</a:t>
                      </a:r>
                      <a:r>
                        <a:rPr lang="zh-TW" altLang="en-US" sz="1800" b="0" i="0" u="none" strike="noStrike" cap="none" dirty="0">
                          <a:solidFill>
                            <a:srgbClr val="FF0000"/>
                          </a:solidFill>
                          <a:latin typeface="標楷體" pitchFamily="65" charset="-120"/>
                          <a:ea typeface="標楷體" pitchFamily="65" charset="-120"/>
                          <a:cs typeface="Arial"/>
                          <a:sym typeface="Arial"/>
                        </a:rPr>
                        <a:t>陡急的河川</a:t>
                      </a:r>
                      <a:r>
                        <a:rPr lang="zh-TW" altLang="en-US" sz="1800" b="0" i="0" u="none" strike="noStrike" cap="none" dirty="0">
                          <a:solidFill>
                            <a:schemeClr val="tx1"/>
                          </a:solidFill>
                          <a:latin typeface="標楷體" pitchFamily="65" charset="-120"/>
                          <a:ea typeface="標楷體" pitchFamily="65" charset="-120"/>
                          <a:cs typeface="Arial"/>
                          <a:sym typeface="Arial"/>
                        </a:rPr>
                        <a:t>在劇烈的地殼變動中持續</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形成</a:t>
                      </a:r>
                      <a:r>
                        <a:rPr lang="zh-TW" altLang="en-US" sz="1800" b="0" i="0" u="none" strike="noStrike" cap="none" dirty="0">
                          <a:solidFill>
                            <a:schemeClr val="tx1"/>
                          </a:solidFill>
                          <a:latin typeface="標楷體" pitchFamily="65" charset="-120"/>
                          <a:ea typeface="標楷體" pitchFamily="65" charset="-120"/>
                          <a:cs typeface="Arial"/>
                          <a:sym typeface="Arial"/>
                        </a:rPr>
                        <a:t>深邃的</a:t>
                      </a:r>
                      <a:r>
                        <a:rPr lang="zh-TW" altLang="en-US" sz="1800" b="0" i="0" u="none" strike="noStrike" cap="none" dirty="0">
                          <a:solidFill>
                            <a:srgbClr val="FF0000"/>
                          </a:solidFill>
                          <a:latin typeface="標楷體" pitchFamily="65" charset="-120"/>
                          <a:ea typeface="標楷體" pitchFamily="65" charset="-120"/>
                          <a:cs typeface="Arial"/>
                          <a:sym typeface="Arial"/>
                        </a:rPr>
                        <a:t>峽谷，如大理岩受到立霧溪切割，形成太魯閣峽谷</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6767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algn="ctr"/>
                      <a:r>
                        <a:rPr lang="zh-TW" altLang="en-US" sz="1800" b="0" i="0" u="none" strike="noStrike" cap="none" dirty="0">
                          <a:solidFill>
                            <a:srgbClr val="FF0000"/>
                          </a:solidFill>
                          <a:latin typeface="標楷體" pitchFamily="65" charset="-120"/>
                          <a:ea typeface="標楷體" pitchFamily="65" charset="-120"/>
                          <a:cs typeface="Arial"/>
                          <a:sym typeface="Arial"/>
                        </a:rPr>
                        <a:t>台地、丘陵</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en-US" altLang="zh-TW" sz="1800" b="0" i="0" u="none" strike="noStrike" cap="none" dirty="0">
                          <a:solidFill>
                            <a:schemeClr val="tx1"/>
                          </a:solidFill>
                          <a:latin typeface="標楷體" pitchFamily="65" charset="-120"/>
                          <a:ea typeface="標楷體" pitchFamily="65" charset="-120"/>
                          <a:cs typeface="Arial"/>
                          <a:sym typeface="Arial"/>
                        </a:rPr>
                        <a:t>(1)</a:t>
                      </a:r>
                      <a:r>
                        <a:rPr lang="zh-TW" altLang="en-US" sz="1800" b="0" i="0" u="none" strike="noStrike" cap="none" dirty="0">
                          <a:solidFill>
                            <a:schemeClr val="tx1"/>
                          </a:solidFill>
                          <a:latin typeface="標楷體" pitchFamily="65" charset="-120"/>
                          <a:ea typeface="標楷體" pitchFamily="65" charset="-120"/>
                          <a:cs typeface="Arial"/>
                          <a:sym typeface="Arial"/>
                        </a:rPr>
                        <a:t>部分</a:t>
                      </a:r>
                      <a:r>
                        <a:rPr lang="zh-TW" altLang="en-US" sz="1800" b="0" i="0" u="none" strike="noStrike" cap="none" dirty="0">
                          <a:solidFill>
                            <a:srgbClr val="FF0000"/>
                          </a:solidFill>
                          <a:latin typeface="標楷體" pitchFamily="65" charset="-120"/>
                          <a:ea typeface="標楷體" pitchFamily="65" charset="-120"/>
                          <a:cs typeface="Arial"/>
                          <a:sym typeface="Arial"/>
                        </a:rPr>
                        <a:t>古沖積扇</a:t>
                      </a:r>
                      <a:r>
                        <a:rPr lang="zh-TW" altLang="en-US" sz="1800" b="0" i="0" u="none" strike="noStrike" cap="none" dirty="0">
                          <a:solidFill>
                            <a:schemeClr val="tx1"/>
                          </a:solidFill>
                          <a:latin typeface="標楷體" pitchFamily="65" charset="-120"/>
                          <a:ea typeface="標楷體" pitchFamily="65" charset="-120"/>
                          <a:cs typeface="Arial"/>
                          <a:sym typeface="Arial"/>
                        </a:rPr>
                        <a:t>歷</a:t>
                      </a:r>
                      <a:r>
                        <a:rPr lang="zh-TW" altLang="en-US" sz="1800" b="0" i="0" u="none" strike="noStrike" cap="none" dirty="0">
                          <a:solidFill>
                            <a:srgbClr val="FF0000"/>
                          </a:solidFill>
                          <a:latin typeface="標楷體" pitchFamily="65" charset="-120"/>
                          <a:ea typeface="標楷體" pitchFamily="65" charset="-120"/>
                          <a:cs typeface="Arial"/>
                          <a:sym typeface="Arial"/>
                        </a:rPr>
                        <a:t>經抬升</a:t>
                      </a:r>
                      <a:r>
                        <a:rPr lang="zh-TW" altLang="en-US" sz="1800" b="0" i="0" u="none" strike="noStrike" cap="none" dirty="0">
                          <a:solidFill>
                            <a:schemeClr val="tx1"/>
                          </a:solidFill>
                          <a:latin typeface="標楷體" pitchFamily="65" charset="-120"/>
                          <a:ea typeface="標楷體" pitchFamily="65" charset="-120"/>
                          <a:cs typeface="Arial"/>
                          <a:sym typeface="Arial"/>
                        </a:rPr>
                        <a:t>切割</a:t>
                      </a:r>
                      <a:r>
                        <a:rPr lang="zh-TW" altLang="en-US" sz="1800" b="0" i="0" u="none" strike="noStrike" cap="none" dirty="0">
                          <a:solidFill>
                            <a:srgbClr val="FF0000"/>
                          </a:solidFill>
                          <a:latin typeface="標楷體" pitchFamily="65" charset="-120"/>
                          <a:ea typeface="標楷體" pitchFamily="65" charset="-120"/>
                          <a:cs typeface="Arial"/>
                          <a:sym typeface="Arial"/>
                        </a:rPr>
                        <a:t>及河川切割</a:t>
                      </a:r>
                      <a:r>
                        <a:rPr lang="zh-TW" altLang="en-US" sz="1800" b="0" i="0" u="none" strike="noStrike" cap="none" dirty="0">
                          <a:solidFill>
                            <a:schemeClr val="tx1"/>
                          </a:solidFill>
                          <a:latin typeface="標楷體" pitchFamily="65" charset="-120"/>
                          <a:ea typeface="標楷體" pitchFamily="65" charset="-120"/>
                          <a:cs typeface="Arial"/>
                          <a:sym typeface="Arial"/>
                        </a:rPr>
                        <a:t>後，</a:t>
                      </a:r>
                      <a:r>
                        <a:rPr lang="zh-TW" altLang="en-US" sz="1800" b="0" i="0" u="none" strike="noStrike" cap="none" dirty="0">
                          <a:solidFill>
                            <a:srgbClr val="FF0000"/>
                          </a:solidFill>
                          <a:latin typeface="標楷體" pitchFamily="65" charset="-120"/>
                          <a:ea typeface="標楷體" pitchFamily="65" charset="-120"/>
                          <a:cs typeface="Arial"/>
                          <a:sym typeface="Arial"/>
                        </a:rPr>
                        <a:t>形成台地和丘陵，如桃園台地</a:t>
                      </a:r>
                    </a:p>
                    <a:p>
                      <a:r>
                        <a:rPr lang="en-US" altLang="zh-TW" sz="1800" b="0" i="0" u="none" strike="noStrike" cap="none" dirty="0">
                          <a:solidFill>
                            <a:schemeClr val="tx1"/>
                          </a:solidFill>
                          <a:latin typeface="標楷體" pitchFamily="65" charset="-120"/>
                          <a:ea typeface="標楷體" pitchFamily="65" charset="-120"/>
                          <a:cs typeface="Arial"/>
                          <a:sym typeface="Arial"/>
                        </a:rPr>
                        <a:t>(2)</a:t>
                      </a:r>
                      <a:r>
                        <a:rPr lang="zh-TW" altLang="en-US" sz="1800" b="0" i="0" u="none" strike="noStrike" cap="none" dirty="0">
                          <a:solidFill>
                            <a:srgbClr val="FF0000"/>
                          </a:solidFill>
                          <a:latin typeface="標楷體" pitchFamily="65" charset="-120"/>
                          <a:ea typeface="標楷體" pitchFamily="65" charset="-120"/>
                          <a:cs typeface="Arial"/>
                          <a:sym typeface="Arial"/>
                        </a:rPr>
                        <a:t>桃園台地</a:t>
                      </a:r>
                      <a:r>
                        <a:rPr lang="zh-TW" altLang="en-US" sz="1800" b="0" i="0" u="none" strike="noStrike" cap="none" dirty="0">
                          <a:solidFill>
                            <a:schemeClr val="tx1"/>
                          </a:solidFill>
                          <a:latin typeface="標楷體" pitchFamily="65" charset="-120"/>
                          <a:ea typeface="標楷體" pitchFamily="65" charset="-120"/>
                          <a:cs typeface="Arial"/>
                          <a:sym typeface="Arial"/>
                        </a:rPr>
                        <a:t>上</a:t>
                      </a:r>
                      <a:r>
                        <a:rPr lang="zh-TW" altLang="en-US" sz="1800" b="0" i="0" u="none" strike="noStrike" cap="none" dirty="0">
                          <a:solidFill>
                            <a:srgbClr val="FF0000"/>
                          </a:solidFill>
                          <a:latin typeface="標楷體" pitchFamily="65" charset="-120"/>
                          <a:ea typeface="標楷體" pitchFamily="65" charset="-120"/>
                          <a:cs typeface="Arial"/>
                          <a:sym typeface="Arial"/>
                        </a:rPr>
                        <a:t>因河川短、集水區小加上地勢微傾，紅土透水性差</a:t>
                      </a:r>
                      <a:r>
                        <a:rPr lang="zh-TW" altLang="en-US" sz="1800" b="0" i="0" u="none" strike="noStrike" cap="none" dirty="0">
                          <a:solidFill>
                            <a:schemeClr val="tx1"/>
                          </a:solidFill>
                          <a:latin typeface="標楷體" pitchFamily="65" charset="-120"/>
                          <a:ea typeface="標楷體" pitchFamily="65" charset="-120"/>
                          <a:cs typeface="Arial"/>
                          <a:sym typeface="Arial"/>
                        </a:rPr>
                        <a:t>，適合</a:t>
                      </a:r>
                      <a:r>
                        <a:rPr lang="zh-TW" altLang="en-US" sz="1800" b="0" i="0" u="none" strike="noStrike" cap="none" dirty="0">
                          <a:solidFill>
                            <a:srgbClr val="FF0000"/>
                          </a:solidFill>
                          <a:latin typeface="標楷體" pitchFamily="65" charset="-120"/>
                          <a:ea typeface="標楷體" pitchFamily="65" charset="-120"/>
                          <a:cs typeface="Arial"/>
                          <a:sym typeface="Arial"/>
                        </a:rPr>
                        <a:t>修建</a:t>
                      </a:r>
                      <a:br>
                        <a:rPr lang="en-US" altLang="zh-TW" sz="1800" b="0" i="0" u="none" strike="noStrike" cap="none" dirty="0">
                          <a:solidFill>
                            <a:srgbClr val="FF0000"/>
                          </a:solidFill>
                          <a:latin typeface="標楷體" pitchFamily="65" charset="-120"/>
                          <a:ea typeface="標楷體" pitchFamily="65" charset="-120"/>
                          <a:cs typeface="Arial"/>
                          <a:sym typeface="Arial"/>
                        </a:rPr>
                      </a:b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rgbClr val="FF0000"/>
                          </a:solidFill>
                          <a:latin typeface="標楷體" pitchFamily="65" charset="-120"/>
                          <a:ea typeface="標楷體" pitchFamily="65" charset="-120"/>
                          <a:cs typeface="Arial"/>
                          <a:sym typeface="Arial"/>
                        </a:rPr>
                        <a:t>儲水灌溉</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 name="矩形 9"/>
          <p:cNvSpPr>
            <a:spLocks noChangeArrowheads="1"/>
          </p:cNvSpPr>
          <p:nvPr/>
        </p:nvSpPr>
        <p:spPr bwMode="auto">
          <a:xfrm>
            <a:off x="8250785" y="3664463"/>
            <a:ext cx="72008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下蝕</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46" y="3323431"/>
            <a:ext cx="352425" cy="33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044" y="3861048"/>
            <a:ext cx="276225" cy="32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98" y="4464186"/>
            <a:ext cx="323850" cy="32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848" y="4873734"/>
            <a:ext cx="4608512" cy="1984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a:spLocks noChangeArrowheads="1"/>
          </p:cNvSpPr>
          <p:nvPr/>
        </p:nvSpPr>
        <p:spPr bwMode="auto">
          <a:xfrm>
            <a:off x="1115616" y="4788036"/>
            <a:ext cx="7542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埤塘</a:t>
            </a:r>
          </a:p>
        </p:txBody>
      </p:sp>
      <p:sp>
        <p:nvSpPr>
          <p:cNvPr id="2" name="投影片編號版面配置區 1"/>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9</a:t>
            </a:fld>
            <a:endParaRPr lang="zh-TW" sz="1400">
              <a:solidFill>
                <a:schemeClr val="dk1"/>
              </a:solidFill>
              <a:latin typeface="Arial"/>
              <a:ea typeface="Arial"/>
              <a:cs typeface="Arial"/>
              <a:sym typeface="Arial"/>
            </a:endParaRPr>
          </a:p>
        </p:txBody>
      </p:sp>
      <p:sp>
        <p:nvSpPr>
          <p:cNvPr id="12" name="矩形 11">
            <a:extLst>
              <a:ext uri="{FF2B5EF4-FFF2-40B4-BE49-F238E27FC236}">
                <a16:creationId xmlns:a16="http://schemas.microsoft.com/office/drawing/2014/main" id="{8326B0F4-7EAD-4CF2-8024-779CA423B576}"/>
              </a:ext>
            </a:extLst>
          </p:cNvPr>
          <p:cNvSpPr>
            <a:spLocks noChangeArrowheads="1"/>
          </p:cNvSpPr>
          <p:nvPr/>
        </p:nvSpPr>
        <p:spPr bwMode="auto">
          <a:xfrm>
            <a:off x="72944" y="176939"/>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p.169</a:t>
            </a:r>
            <a:endParaRPr lang="zh-TW" altLang="en-US" sz="3600" b="0" dirty="0"/>
          </a:p>
        </p:txBody>
      </p:sp>
      <p:sp>
        <p:nvSpPr>
          <p:cNvPr id="13" name="矩形 12">
            <a:extLst>
              <a:ext uri="{FF2B5EF4-FFF2-40B4-BE49-F238E27FC236}">
                <a16:creationId xmlns:a16="http://schemas.microsoft.com/office/drawing/2014/main" id="{D087335F-8860-4DCE-90BA-02DFE855DFC1}"/>
              </a:ext>
            </a:extLst>
          </p:cNvPr>
          <p:cNvSpPr>
            <a:spLocks noChangeArrowheads="1"/>
          </p:cNvSpPr>
          <p:nvPr/>
        </p:nvSpPr>
        <p:spPr bwMode="auto">
          <a:xfrm>
            <a:off x="-27237" y="2232402"/>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p.168</a:t>
            </a:r>
            <a:endParaRPr lang="zh-TW" altLang="en-US" sz="3600" b="0" dirty="0"/>
          </a:p>
        </p:txBody>
      </p:sp>
    </p:spTree>
    <p:extLst>
      <p:ext uri="{BB962C8B-B14F-4D97-AF65-F5344CB8AC3E}">
        <p14:creationId xmlns:p14="http://schemas.microsoft.com/office/powerpoint/2010/main" val="2465889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9607" y="102685"/>
            <a:ext cx="2348463" cy="4744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85393" y="656966"/>
            <a:ext cx="9020575" cy="1933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2.</a:t>
            </a:r>
            <a:r>
              <a:rPr lang="zh-TW" altLang="en-US" sz="2400" dirty="0">
                <a:latin typeface="標楷體" pitchFamily="65" charset="-120"/>
              </a:rPr>
              <a:t> </a:t>
            </a:r>
            <a:r>
              <a:rPr lang="en-US" altLang="zh-TW" sz="2400" dirty="0">
                <a:latin typeface="標楷體" pitchFamily="65" charset="-120"/>
              </a:rPr>
              <a:t>2020</a:t>
            </a:r>
            <a:r>
              <a:rPr lang="zh-TW" altLang="en-US" sz="2400" dirty="0">
                <a:latin typeface="標楷體" pitchFamily="65" charset="-120"/>
              </a:rPr>
              <a:t>年</a:t>
            </a:r>
            <a:r>
              <a:rPr lang="en-US" altLang="zh-TW" sz="2400" dirty="0">
                <a:latin typeface="標楷體" pitchFamily="65" charset="-120"/>
              </a:rPr>
              <a:t>1</a:t>
            </a:r>
            <a:r>
              <a:rPr lang="zh-TW" altLang="en-US" sz="2400" dirty="0">
                <a:latin typeface="標楷體" pitchFamily="65" charset="-120"/>
              </a:rPr>
              <a:t>月，臺</a:t>
            </a:r>
            <a:r>
              <a:rPr lang="en-US" altLang="zh-TW" sz="2400" dirty="0">
                <a:latin typeface="標楷體" pitchFamily="65" charset="-120"/>
              </a:rPr>
              <a:t>9</a:t>
            </a:r>
            <a:r>
              <a:rPr lang="zh-TW" altLang="en-US" sz="2400" dirty="0">
                <a:latin typeface="標楷體" pitchFamily="65" charset="-120"/>
              </a:rPr>
              <a:t>線</a:t>
            </a:r>
            <a:r>
              <a:rPr lang="zh-TW" altLang="en-US" sz="2400" dirty="0">
                <a:solidFill>
                  <a:srgbClr val="FF0000"/>
                </a:solidFill>
                <a:latin typeface="標楷體" pitchFamily="65" charset="-120"/>
              </a:rPr>
              <a:t>蘇花公路</a:t>
            </a:r>
            <a:r>
              <a:rPr lang="zh-TW" altLang="en-US" sz="2400" dirty="0">
                <a:latin typeface="標楷體" pitchFamily="65" charset="-120"/>
              </a:rPr>
              <a:t>山區路段改善計畫（蘇花改）全線通車，宜蘭蘇澳至花蓮行車時間將從 </a:t>
            </a:r>
            <a:r>
              <a:rPr lang="en-US" altLang="zh-TW" sz="2400" dirty="0">
                <a:latin typeface="標楷體" pitchFamily="65" charset="-120"/>
              </a:rPr>
              <a:t>160 </a:t>
            </a:r>
            <a:r>
              <a:rPr lang="zh-TW" altLang="en-US" sz="2400" dirty="0">
                <a:latin typeface="標楷體" pitchFamily="65" charset="-120"/>
              </a:rPr>
              <a:t>分鐘縮短至 </a:t>
            </a:r>
            <a:r>
              <a:rPr lang="en-US" altLang="zh-TW" sz="2400" dirty="0">
                <a:latin typeface="標楷體" pitchFamily="65" charset="-120"/>
              </a:rPr>
              <a:t>100</a:t>
            </a:r>
            <a:r>
              <a:rPr lang="zh-TW" altLang="en-US" sz="2400" dirty="0">
                <a:latin typeface="標楷體" pitchFamily="65" charset="-120"/>
              </a:rPr>
              <a:t>分鐘，省下近</a:t>
            </a:r>
            <a:r>
              <a:rPr lang="en-US" altLang="zh-TW" sz="2400" dirty="0">
                <a:latin typeface="標楷體" pitchFamily="65" charset="-120"/>
              </a:rPr>
              <a:t>1</a:t>
            </a:r>
            <a:r>
              <a:rPr lang="zh-TW" altLang="en-US" sz="2400" dirty="0">
                <a:latin typeface="標楷體" pitchFamily="65" charset="-120"/>
              </a:rPr>
              <a:t>小時的車程。請問蘇花改主要</a:t>
            </a:r>
            <a:r>
              <a:rPr lang="zh-TW" altLang="en-US" sz="2400" dirty="0">
                <a:solidFill>
                  <a:srgbClr val="FF0000"/>
                </a:solidFill>
                <a:latin typeface="標楷體" pitchFamily="65" charset="-120"/>
              </a:rPr>
              <a:t>貫穿下列哪一座山脈？</a:t>
            </a:r>
            <a:endParaRPr lang="en-US" altLang="zh-TW" sz="2400" dirty="0">
              <a:solidFill>
                <a:srgbClr val="FF0000"/>
              </a:solidFill>
              <a:latin typeface="標楷體" pitchFamily="65" charset="-120"/>
            </a:endParaRPr>
          </a:p>
          <a:p>
            <a:r>
              <a:rPr lang="zh-TW" altLang="en-US" sz="2400" dirty="0">
                <a:latin typeface="標楷體" pitchFamily="65" charset="-120"/>
              </a:rPr>
              <a:t> </a:t>
            </a:r>
            <a:r>
              <a:rPr lang="en-US" altLang="zh-TW" sz="2400" dirty="0">
                <a:latin typeface="標楷體" pitchFamily="65" charset="-120"/>
              </a:rPr>
              <a:t>(A)</a:t>
            </a:r>
            <a:r>
              <a:rPr lang="zh-TW" altLang="en-US" sz="2400" dirty="0">
                <a:latin typeface="標楷體" pitchFamily="65" charset="-120"/>
              </a:rPr>
              <a:t>雪山山脈 </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(C)</a:t>
            </a:r>
            <a:r>
              <a:rPr lang="zh-TW" altLang="en-US" sz="2400" dirty="0">
                <a:latin typeface="標楷體" pitchFamily="65" charset="-120"/>
              </a:rPr>
              <a:t>海岸山脈         </a:t>
            </a:r>
            <a:r>
              <a:rPr lang="en-US" altLang="zh-TW" sz="2400" dirty="0">
                <a:latin typeface="標楷體" pitchFamily="65" charset="-120"/>
              </a:rPr>
              <a:t>(D)</a:t>
            </a:r>
            <a:r>
              <a:rPr lang="zh-TW" altLang="en-US" sz="2400" dirty="0">
                <a:latin typeface="標楷體" pitchFamily="65" charset="-120"/>
              </a:rPr>
              <a:t>玉山山脈</a:t>
            </a:r>
            <a:endParaRPr lang="en-US" altLang="zh-TW" sz="2400" dirty="0">
              <a:latin typeface="標楷體" pitchFamily="65" charset="-120"/>
            </a:endParaRPr>
          </a:p>
          <a:p>
            <a:r>
              <a:rPr lang="zh-TW" altLang="en-US" sz="2400" dirty="0">
                <a:latin typeface="標楷體" pitchFamily="65" charset="-120"/>
              </a:rPr>
              <a:t>                                        </a:t>
            </a:r>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p:txBody>
      </p:sp>
      <p:sp>
        <p:nvSpPr>
          <p:cNvPr id="9" name="Text Box 3"/>
          <p:cNvSpPr txBox="1">
            <a:spLocks noChangeArrowheads="1"/>
          </p:cNvSpPr>
          <p:nvPr/>
        </p:nvSpPr>
        <p:spPr bwMode="auto">
          <a:xfrm>
            <a:off x="3275856" y="1772710"/>
            <a:ext cx="23484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(B)</a:t>
            </a:r>
            <a:r>
              <a:rPr lang="zh-TW" altLang="en-US" sz="2400" dirty="0">
                <a:latin typeface="標楷體" pitchFamily="65" charset="-120"/>
              </a:rPr>
              <a:t>中央山脈</a:t>
            </a:r>
          </a:p>
        </p:txBody>
      </p:sp>
      <p:pic>
        <p:nvPicPr>
          <p:cNvPr id="11" name="Picture 5" descr="a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408014">
            <a:off x="7638000" y="4988708"/>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a:spLocks noChangeArrowheads="1"/>
          </p:cNvSpPr>
          <p:nvPr/>
        </p:nvSpPr>
        <p:spPr bwMode="auto">
          <a:xfrm>
            <a:off x="97783" y="10219"/>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p.169</a:t>
            </a:r>
            <a:endParaRPr lang="zh-TW" altLang="en-US" sz="3600" b="0" dirty="0"/>
          </a:p>
        </p:txBody>
      </p:sp>
      <p:pic>
        <p:nvPicPr>
          <p:cNvPr id="1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12" y="2555452"/>
            <a:ext cx="9130031" cy="33740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10</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31536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8"/>
          <p:cNvPicPr>
            <a:picLocks noChangeAspect="1" noChangeArrowheads="1"/>
          </p:cNvPicPr>
          <p:nvPr/>
        </p:nvPicPr>
        <p:blipFill>
          <a:blip r:embed="rId3">
            <a:extLst>
              <a:ext uri="{28A0092B-C50C-407E-A947-70E740481C1C}">
                <a14:useLocalDpi xmlns:a14="http://schemas.microsoft.com/office/drawing/2010/main" val="0"/>
              </a:ext>
            </a:extLst>
          </a:blip>
          <a:srcRect b="3423"/>
          <a:stretch>
            <a:fillRect/>
          </a:stretch>
        </p:blipFill>
        <p:spPr bwMode="auto">
          <a:xfrm>
            <a:off x="1"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投影片編號版面配置區 1"/>
          <p:cNvSpPr>
            <a:spLocks noGrp="1"/>
          </p:cNvSpPr>
          <p:nvPr>
            <p:ph type="sldNum" sz="quarter" idx="12"/>
          </p:nvPr>
        </p:nvSpPr>
        <p:spPr/>
        <p:txBody>
          <a:bodyPr/>
          <a:lstStyle/>
          <a:p>
            <a:pPr>
              <a:defRPr/>
            </a:pPr>
            <a:fld id="{92774328-8B2B-48D1-A634-EE9C0B4A20AF}" type="slidenum">
              <a:rPr lang="en-US" altLang="zh-TW" smtClean="0"/>
              <a:pPr>
                <a:defRPr/>
              </a:pPr>
              <a:t>11</a:t>
            </a:fld>
            <a:endParaRPr lang="en-US" altLang="zh-TW"/>
          </a:p>
        </p:txBody>
      </p:sp>
    </p:spTree>
    <p:extLst>
      <p:ext uri="{BB962C8B-B14F-4D97-AF65-F5344CB8AC3E}">
        <p14:creationId xmlns:p14="http://schemas.microsoft.com/office/powerpoint/2010/main" val="2306664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9607" y="102685"/>
            <a:ext cx="2348463" cy="4744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85393" y="656966"/>
            <a:ext cx="9020575" cy="1933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2.</a:t>
            </a:r>
            <a:r>
              <a:rPr lang="zh-TW" altLang="en-US" sz="2400" dirty="0">
                <a:latin typeface="標楷體" pitchFamily="65" charset="-120"/>
              </a:rPr>
              <a:t> </a:t>
            </a:r>
            <a:r>
              <a:rPr lang="en-US" altLang="zh-TW" sz="2400" dirty="0">
                <a:latin typeface="標楷體" pitchFamily="65" charset="-120"/>
              </a:rPr>
              <a:t>2020</a:t>
            </a:r>
            <a:r>
              <a:rPr lang="zh-TW" altLang="en-US" sz="2400" dirty="0">
                <a:latin typeface="標楷體" pitchFamily="65" charset="-120"/>
              </a:rPr>
              <a:t>年</a:t>
            </a:r>
            <a:r>
              <a:rPr lang="en-US" altLang="zh-TW" sz="2400" dirty="0">
                <a:latin typeface="標楷體" pitchFamily="65" charset="-120"/>
              </a:rPr>
              <a:t>1</a:t>
            </a:r>
            <a:r>
              <a:rPr lang="zh-TW" altLang="en-US" sz="2400" dirty="0">
                <a:latin typeface="標楷體" pitchFamily="65" charset="-120"/>
              </a:rPr>
              <a:t>月，臺</a:t>
            </a:r>
            <a:r>
              <a:rPr lang="en-US" altLang="zh-TW" sz="2400" dirty="0">
                <a:latin typeface="標楷體" pitchFamily="65" charset="-120"/>
              </a:rPr>
              <a:t>9</a:t>
            </a:r>
            <a:r>
              <a:rPr lang="zh-TW" altLang="en-US" sz="2400" dirty="0">
                <a:latin typeface="標楷體" pitchFamily="65" charset="-120"/>
              </a:rPr>
              <a:t>線</a:t>
            </a:r>
            <a:r>
              <a:rPr lang="zh-TW" altLang="en-US" sz="2400" dirty="0">
                <a:solidFill>
                  <a:srgbClr val="FF0000"/>
                </a:solidFill>
                <a:latin typeface="標楷體" pitchFamily="65" charset="-120"/>
              </a:rPr>
              <a:t>蘇花公路</a:t>
            </a:r>
            <a:r>
              <a:rPr lang="zh-TW" altLang="en-US" sz="2400" dirty="0">
                <a:latin typeface="標楷體" pitchFamily="65" charset="-120"/>
              </a:rPr>
              <a:t>山區路段改善計畫（蘇花改）全線通車，宜蘭</a:t>
            </a:r>
            <a:r>
              <a:rPr lang="zh-TW" altLang="en-US" sz="2400" dirty="0">
                <a:solidFill>
                  <a:srgbClr val="FF0000"/>
                </a:solidFill>
                <a:latin typeface="標楷體" pitchFamily="65" charset="-120"/>
              </a:rPr>
              <a:t>蘇澳</a:t>
            </a:r>
            <a:r>
              <a:rPr lang="zh-TW" altLang="en-US" sz="2400" dirty="0">
                <a:solidFill>
                  <a:srgbClr val="00B050"/>
                </a:solidFill>
                <a:latin typeface="標楷體" pitchFamily="65" charset="-120"/>
              </a:rPr>
              <a:t>至</a:t>
            </a:r>
            <a:r>
              <a:rPr lang="zh-TW" altLang="en-US" sz="2400" dirty="0">
                <a:solidFill>
                  <a:srgbClr val="FF0000"/>
                </a:solidFill>
                <a:latin typeface="標楷體" pitchFamily="65" charset="-120"/>
              </a:rPr>
              <a:t>花蓮</a:t>
            </a:r>
            <a:r>
              <a:rPr lang="zh-TW" altLang="en-US" sz="2400" dirty="0">
                <a:latin typeface="標楷體" pitchFamily="65" charset="-120"/>
              </a:rPr>
              <a:t>行車時間將從 </a:t>
            </a:r>
            <a:r>
              <a:rPr lang="en-US" altLang="zh-TW" sz="2400" dirty="0">
                <a:latin typeface="標楷體" pitchFamily="65" charset="-120"/>
              </a:rPr>
              <a:t>160 </a:t>
            </a:r>
            <a:r>
              <a:rPr lang="zh-TW" altLang="en-US" sz="2400" dirty="0">
                <a:latin typeface="標楷體" pitchFamily="65" charset="-120"/>
              </a:rPr>
              <a:t>分鐘縮短至 </a:t>
            </a:r>
            <a:r>
              <a:rPr lang="en-US" altLang="zh-TW" sz="2400" dirty="0">
                <a:latin typeface="標楷體" pitchFamily="65" charset="-120"/>
              </a:rPr>
              <a:t>100</a:t>
            </a:r>
            <a:r>
              <a:rPr lang="zh-TW" altLang="en-US" sz="2400" dirty="0">
                <a:latin typeface="標楷體" pitchFamily="65" charset="-120"/>
              </a:rPr>
              <a:t>分鐘，省下近</a:t>
            </a:r>
            <a:r>
              <a:rPr lang="en-US" altLang="zh-TW" sz="2400" dirty="0">
                <a:latin typeface="標楷體" pitchFamily="65" charset="-120"/>
              </a:rPr>
              <a:t>1</a:t>
            </a:r>
            <a:r>
              <a:rPr lang="zh-TW" altLang="en-US" sz="2400" dirty="0">
                <a:latin typeface="標楷體" pitchFamily="65" charset="-120"/>
              </a:rPr>
              <a:t>小時的車程。請問蘇花改主要</a:t>
            </a:r>
            <a:r>
              <a:rPr lang="zh-TW" altLang="en-US" sz="2400" dirty="0">
                <a:solidFill>
                  <a:srgbClr val="FF0000"/>
                </a:solidFill>
                <a:latin typeface="標楷體" pitchFamily="65" charset="-120"/>
              </a:rPr>
              <a:t>貫穿下列哪一座山脈？</a:t>
            </a:r>
            <a:endParaRPr lang="en-US" altLang="zh-TW" sz="2400" dirty="0">
              <a:solidFill>
                <a:srgbClr val="FF0000"/>
              </a:solidFill>
              <a:latin typeface="標楷體" pitchFamily="65" charset="-120"/>
            </a:endParaRPr>
          </a:p>
          <a:p>
            <a:r>
              <a:rPr lang="zh-TW" altLang="en-US" sz="2400" dirty="0">
                <a:latin typeface="標楷體" pitchFamily="65" charset="-120"/>
              </a:rPr>
              <a:t> </a:t>
            </a:r>
            <a:r>
              <a:rPr lang="en-US" altLang="zh-TW" sz="2400" dirty="0">
                <a:latin typeface="標楷體" pitchFamily="65" charset="-120"/>
              </a:rPr>
              <a:t>(A)</a:t>
            </a:r>
            <a:r>
              <a:rPr lang="zh-TW" altLang="en-US" sz="2400" dirty="0">
                <a:latin typeface="標楷體" pitchFamily="65" charset="-120"/>
              </a:rPr>
              <a:t>雪山山脈 </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(C)</a:t>
            </a:r>
            <a:r>
              <a:rPr lang="zh-TW" altLang="en-US" sz="2400" dirty="0">
                <a:latin typeface="標楷體" pitchFamily="65" charset="-120"/>
              </a:rPr>
              <a:t>海岸山脈         </a:t>
            </a:r>
            <a:r>
              <a:rPr lang="en-US" altLang="zh-TW" sz="2400" dirty="0">
                <a:latin typeface="標楷體" pitchFamily="65" charset="-120"/>
              </a:rPr>
              <a:t>(D)</a:t>
            </a:r>
            <a:r>
              <a:rPr lang="zh-TW" altLang="en-US" sz="2400" dirty="0">
                <a:latin typeface="標楷體" pitchFamily="65" charset="-120"/>
              </a:rPr>
              <a:t>玉山山脈</a:t>
            </a:r>
            <a:endParaRPr lang="en-US" altLang="zh-TW" sz="2400" dirty="0">
              <a:latin typeface="標楷體" pitchFamily="65" charset="-120"/>
            </a:endParaRPr>
          </a:p>
          <a:p>
            <a:r>
              <a:rPr lang="zh-TW" altLang="en-US" sz="2400" dirty="0">
                <a:latin typeface="標楷體" pitchFamily="65" charset="-120"/>
              </a:rPr>
              <a:t>                                        </a:t>
            </a:r>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a:p>
            <a:endParaRPr lang="en-US" altLang="zh-TW" sz="2400" dirty="0">
              <a:latin typeface="標楷體" pitchFamily="65" charset="-120"/>
            </a:endParaRPr>
          </a:p>
        </p:txBody>
      </p:sp>
      <p:sp>
        <p:nvSpPr>
          <p:cNvPr id="12" name="Rectangle 8"/>
          <p:cNvSpPr>
            <a:spLocks noChangeArrowheads="1"/>
          </p:cNvSpPr>
          <p:nvPr/>
        </p:nvSpPr>
        <p:spPr bwMode="auto">
          <a:xfrm>
            <a:off x="1322004" y="6089946"/>
            <a:ext cx="524702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rgbClr val="FF0000"/>
                </a:solidFill>
                <a:latin typeface="Arial" charset="0"/>
                <a:ea typeface="標楷體" pitchFamily="65" charset="-120"/>
                <a:cs typeface="+mn-cs"/>
              </a:rPr>
              <a:t>蘇花公路是指由宜蘭蘇澳到花蓮的公路路段，</a:t>
            </a:r>
          </a:p>
          <a:p>
            <a:r>
              <a:rPr kumimoji="1" lang="zh-TW" altLang="en-US" sz="2000" kern="1200" dirty="0">
                <a:solidFill>
                  <a:srgbClr val="FF0000"/>
                </a:solidFill>
                <a:latin typeface="Arial" charset="0"/>
                <a:ea typeface="標楷體" pitchFamily="65" charset="-120"/>
                <a:cs typeface="+mn-cs"/>
              </a:rPr>
              <a:t>其經過</a:t>
            </a:r>
            <a:r>
              <a:rPr kumimoji="1" lang="en-US" altLang="zh-TW" sz="2000" kern="1200" dirty="0">
                <a:solidFill>
                  <a:srgbClr val="FF0000"/>
                </a:solidFill>
                <a:latin typeface="Arial" charset="0"/>
                <a:ea typeface="標楷體" pitchFamily="65" charset="-120"/>
                <a:cs typeface="+mn-cs"/>
              </a:rPr>
              <a:t>(B)</a:t>
            </a:r>
            <a:r>
              <a:rPr kumimoji="1" lang="zh-TW" altLang="en-US" sz="2000" kern="1200" dirty="0">
                <a:solidFill>
                  <a:srgbClr val="FF0000"/>
                </a:solidFill>
                <a:latin typeface="Arial" charset="0"/>
                <a:ea typeface="標楷體" pitchFamily="65" charset="-120"/>
                <a:cs typeface="+mn-cs"/>
              </a:rPr>
              <a:t>中央山脈北段的臨海部分。</a:t>
            </a:r>
          </a:p>
        </p:txBody>
      </p:sp>
      <p:sp>
        <p:nvSpPr>
          <p:cNvPr id="9" name="Text Box 3"/>
          <p:cNvSpPr txBox="1">
            <a:spLocks noChangeArrowheads="1"/>
          </p:cNvSpPr>
          <p:nvPr/>
        </p:nvSpPr>
        <p:spPr bwMode="auto">
          <a:xfrm>
            <a:off x="3275856" y="1772710"/>
            <a:ext cx="23484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(B)</a:t>
            </a:r>
            <a:r>
              <a:rPr lang="zh-TW" altLang="en-US" sz="2400" dirty="0">
                <a:latin typeface="標楷體" pitchFamily="65" charset="-120"/>
              </a:rPr>
              <a:t>中央山脈</a:t>
            </a:r>
          </a:p>
        </p:txBody>
      </p:sp>
      <p:pic>
        <p:nvPicPr>
          <p:cNvPr id="11" name="Picture 5" descr="a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408014">
            <a:off x="7638000" y="4988708"/>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a:spLocks noChangeArrowheads="1"/>
          </p:cNvSpPr>
          <p:nvPr/>
        </p:nvSpPr>
        <p:spPr bwMode="auto">
          <a:xfrm>
            <a:off x="97783" y="10219"/>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p.169</a:t>
            </a:r>
            <a:endParaRPr lang="zh-TW" altLang="en-US" sz="3600" b="0" dirty="0"/>
          </a:p>
        </p:txBody>
      </p:sp>
      <p:pic>
        <p:nvPicPr>
          <p:cNvPr id="1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12" y="2555452"/>
            <a:ext cx="9130031" cy="33740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12</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09865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9">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9">
                                            <p:txEl>
                                              <p:pRg st="0" end="0"/>
                                            </p:txEl>
                                          </p:spTgt>
                                        </p:tgtEl>
                                        <p:attrNameLst>
                                          <p:attrName>style.fontStyle</p:attrName>
                                        </p:attrNameLst>
                                      </p:cBhvr>
                                      <p:to>
                                        <p:strVal val="normal"/>
                                      </p:to>
                                    </p:set>
                                    <p:set>
                                      <p:cBhvr override="childStyle">
                                        <p:cTn id="9" dur="indefinite"/>
                                        <p:tgtEl>
                                          <p:spTgt spid="9">
                                            <p:txEl>
                                              <p:pRg st="0" end="0"/>
                                            </p:txEl>
                                          </p:spTgt>
                                        </p:tgtEl>
                                        <p:attrNameLst>
                                          <p:attrName>style.fontWeight</p:attrName>
                                        </p:attrNameLst>
                                      </p:cBhvr>
                                      <p:to>
                                        <p:strVal val="bold"/>
                                      </p:to>
                                    </p:set>
                                    <p:set>
                                      <p:cBhvr override="childStyle">
                                        <p:cTn id="10" dur="indefinite"/>
                                        <p:tgtEl>
                                          <p:spTgt spid="9">
                                            <p:txEl>
                                              <p:pRg st="0" end="0"/>
                                            </p:txEl>
                                          </p:spTgt>
                                        </p:tgtEl>
                                        <p:attrNameLst>
                                          <p:attrName>style.textDecorationUnderline</p:attrName>
                                        </p:attrNameLst>
                                      </p:cBhvr>
                                      <p:to>
                                        <p:strVal val="false"/>
                                      </p:to>
                                    </p:set>
                                  </p:childTnLst>
                                </p:cTn>
                              </p:par>
                            </p:childTnLst>
                          </p:cTn>
                        </p:par>
                        <p:par>
                          <p:cTn id="11" fill="hold">
                            <p:stCondLst>
                              <p:cond delay="0"/>
                            </p:stCondLst>
                            <p:childTnLst>
                              <p:par>
                                <p:cTn id="12" presetID="22" presetClass="entr" presetSubtype="8"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left)">
                                      <p:cBhvr>
                                        <p:cTn id="1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9607" y="102685"/>
            <a:ext cx="2348463" cy="4744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85393" y="656966"/>
            <a:ext cx="9020575" cy="2340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3.</a:t>
            </a:r>
            <a:r>
              <a:rPr lang="zh-TW" altLang="en-US" sz="2400" dirty="0">
                <a:latin typeface="標楷體" pitchFamily="65" charset="-120"/>
              </a:rPr>
              <a:t>某人騎腳踏車</a:t>
            </a:r>
            <a:r>
              <a:rPr lang="zh-TW" altLang="en-US" sz="2400" dirty="0">
                <a:solidFill>
                  <a:srgbClr val="FF0000"/>
                </a:solidFill>
                <a:latin typeface="標楷體" pitchFamily="65" charset="-120"/>
              </a:rPr>
              <a:t>從東北角海岸</a:t>
            </a:r>
            <a:r>
              <a:rPr lang="zh-TW" altLang="en-US" sz="2400" dirty="0">
                <a:latin typeface="標楷體" pitchFamily="65" charset="-120"/>
              </a:rPr>
              <a:t>出發，</a:t>
            </a:r>
            <a:r>
              <a:rPr lang="zh-TW" altLang="en-US" sz="2400" dirty="0">
                <a:solidFill>
                  <a:srgbClr val="FF0000"/>
                </a:solidFill>
                <a:latin typeface="標楷體" pitchFamily="65" charset="-120"/>
              </a:rPr>
              <a:t>沿西部南下到</a:t>
            </a:r>
            <a:r>
              <a:rPr lang="zh-TW" altLang="en-US" sz="2400" dirty="0">
                <a:latin typeface="標楷體" pitchFamily="65" charset="-120"/>
              </a:rPr>
              <a:t>屏東縣</a:t>
            </a:r>
            <a:r>
              <a:rPr lang="zh-TW" altLang="en-US" sz="2400" dirty="0">
                <a:solidFill>
                  <a:srgbClr val="FF0000"/>
                </a:solidFill>
                <a:latin typeface="標楷體" pitchFamily="65" charset="-120"/>
              </a:rPr>
              <a:t>鵝鑾鼻</a:t>
            </a:r>
            <a:r>
              <a:rPr lang="zh-TW" altLang="en-US" sz="2400" dirty="0">
                <a:latin typeface="標楷體" pitchFamily="65" charset="-120"/>
              </a:rPr>
              <a:t>。他</a:t>
            </a:r>
            <a:r>
              <a:rPr lang="zh-TW" altLang="en-US" sz="2400" dirty="0">
                <a:solidFill>
                  <a:srgbClr val="FF0000"/>
                </a:solidFill>
                <a:latin typeface="標楷體" pitchFamily="65" charset="-120"/>
              </a:rPr>
              <a:t>依序</a:t>
            </a:r>
            <a:r>
              <a:rPr lang="zh-TW" altLang="en-US" sz="2400" dirty="0">
                <a:latin typeface="標楷體" pitchFamily="65" charset="-120"/>
              </a:rPr>
              <a:t>最可能會</a:t>
            </a:r>
            <a:r>
              <a:rPr lang="zh-TW" altLang="en-US" sz="2400" dirty="0">
                <a:solidFill>
                  <a:srgbClr val="FF0000"/>
                </a:solidFill>
                <a:latin typeface="標楷體" pitchFamily="65" charset="-120"/>
              </a:rPr>
              <a:t>看到</a:t>
            </a:r>
            <a:r>
              <a:rPr lang="zh-TW" altLang="en-US" sz="2400" dirty="0">
                <a:latin typeface="標楷體" pitchFamily="65" charset="-120"/>
              </a:rPr>
              <a:t>下列哪些景觀？</a:t>
            </a:r>
          </a:p>
          <a:p>
            <a:r>
              <a:rPr lang="zh-TW" altLang="en-US" sz="2400" dirty="0">
                <a:latin typeface="標楷體" pitchFamily="65" charset="-120"/>
              </a:rPr>
              <a:t>   </a:t>
            </a:r>
            <a:r>
              <a:rPr lang="en-US" altLang="zh-TW" sz="2400" dirty="0">
                <a:latin typeface="標楷體" pitchFamily="65" charset="-120"/>
              </a:rPr>
              <a:t>(</a:t>
            </a:r>
            <a:r>
              <a:rPr lang="zh-TW" altLang="en-US" sz="2400" dirty="0">
                <a:latin typeface="標楷體" pitchFamily="65" charset="-120"/>
              </a:rPr>
              <a:t>甲</a:t>
            </a:r>
            <a:r>
              <a:rPr lang="en-US" altLang="zh-TW" sz="2400" dirty="0">
                <a:latin typeface="標楷體" pitchFamily="65" charset="-120"/>
              </a:rPr>
              <a:t>)</a:t>
            </a:r>
            <a:r>
              <a:rPr lang="zh-TW" altLang="en-US" sz="2400" dirty="0">
                <a:latin typeface="標楷體" pitchFamily="65" charset="-120"/>
              </a:rPr>
              <a:t>岬灣海岸         </a:t>
            </a:r>
            <a:r>
              <a:rPr lang="en-US" altLang="zh-TW" sz="2400" dirty="0">
                <a:latin typeface="標楷體" pitchFamily="65" charset="-120"/>
              </a:rPr>
              <a:t>(</a:t>
            </a:r>
            <a:r>
              <a:rPr lang="zh-TW" altLang="en-US" sz="2400" dirty="0">
                <a:latin typeface="標楷體" pitchFamily="65" charset="-120"/>
              </a:rPr>
              <a:t>乙</a:t>
            </a:r>
            <a:r>
              <a:rPr lang="en-US" altLang="zh-TW" sz="2400" dirty="0">
                <a:latin typeface="標楷體" pitchFamily="65" charset="-120"/>
              </a:rPr>
              <a:t>)</a:t>
            </a:r>
            <a:r>
              <a:rPr lang="zh-TW" altLang="en-US" sz="2400" dirty="0">
                <a:latin typeface="標楷體" pitchFamily="65" charset="-120"/>
              </a:rPr>
              <a:t>珊瑚礁海岸</a:t>
            </a:r>
          </a:p>
          <a:p>
            <a:r>
              <a:rPr lang="zh-TW" altLang="en-US" sz="2400" dirty="0">
                <a:latin typeface="標楷體" pitchFamily="65" charset="-120"/>
              </a:rPr>
              <a:t>   </a:t>
            </a:r>
            <a:r>
              <a:rPr lang="en-US" altLang="zh-TW" sz="2400" dirty="0">
                <a:latin typeface="標楷體" pitchFamily="65" charset="-120"/>
              </a:rPr>
              <a:t>(</a:t>
            </a:r>
            <a:r>
              <a:rPr lang="zh-TW" altLang="en-US" sz="2400" dirty="0">
                <a:latin typeface="標楷體" pitchFamily="65" charset="-120"/>
              </a:rPr>
              <a:t>丙</a:t>
            </a:r>
            <a:r>
              <a:rPr lang="en-US" altLang="zh-TW" sz="2400" dirty="0">
                <a:latin typeface="標楷體" pitchFamily="65" charset="-120"/>
              </a:rPr>
              <a:t>)</a:t>
            </a:r>
            <a:r>
              <a:rPr lang="zh-TW" altLang="en-US" sz="2400" dirty="0">
                <a:latin typeface="標楷體" pitchFamily="65" charset="-120"/>
              </a:rPr>
              <a:t>埤塘灌溉         </a:t>
            </a:r>
            <a:r>
              <a:rPr lang="en-US" altLang="zh-TW" sz="2400" dirty="0">
                <a:latin typeface="標楷體" pitchFamily="65" charset="-120"/>
              </a:rPr>
              <a:t>(</a:t>
            </a:r>
            <a:r>
              <a:rPr lang="zh-TW" altLang="en-US" sz="2400" dirty="0">
                <a:latin typeface="標楷體" pitchFamily="65" charset="-120"/>
              </a:rPr>
              <a:t>丁</a:t>
            </a:r>
            <a:r>
              <a:rPr lang="en-US" altLang="zh-TW" sz="2400" dirty="0">
                <a:latin typeface="標楷體" pitchFamily="65" charset="-120"/>
              </a:rPr>
              <a:t>)</a:t>
            </a:r>
            <a:r>
              <a:rPr lang="zh-TW" altLang="en-US" sz="2400" dirty="0">
                <a:latin typeface="標楷體" pitchFamily="65" charset="-120"/>
              </a:rPr>
              <a:t>濱外沙洲　</a:t>
            </a:r>
          </a:p>
          <a:p>
            <a:r>
              <a:rPr lang="zh-TW" altLang="en-US" sz="2400" dirty="0">
                <a:latin typeface="標楷體" pitchFamily="65" charset="-120"/>
              </a:rPr>
              <a:t>    </a:t>
            </a:r>
            <a:r>
              <a:rPr lang="en-US" altLang="zh-TW" sz="2400" dirty="0">
                <a:latin typeface="標楷體" pitchFamily="65" charset="-120"/>
              </a:rPr>
              <a:t>(A)</a:t>
            </a:r>
            <a:r>
              <a:rPr lang="zh-TW" altLang="en-US" sz="2400" dirty="0">
                <a:latin typeface="標楷體" pitchFamily="65" charset="-120"/>
              </a:rPr>
              <a:t>甲乙丁丙       </a:t>
            </a:r>
            <a:r>
              <a:rPr lang="en-US" altLang="zh-TW" sz="2400" dirty="0">
                <a:latin typeface="標楷體" pitchFamily="65" charset="-120"/>
              </a:rPr>
              <a:t>(B)</a:t>
            </a:r>
            <a:r>
              <a:rPr lang="zh-TW" altLang="en-US" sz="2400" dirty="0">
                <a:latin typeface="標楷體" pitchFamily="65" charset="-120"/>
              </a:rPr>
              <a:t>甲丙丁乙</a:t>
            </a:r>
          </a:p>
          <a:p>
            <a:r>
              <a:rPr lang="zh-TW" altLang="en-US" sz="2400" dirty="0">
                <a:latin typeface="標楷體" pitchFamily="65" charset="-120"/>
              </a:rPr>
              <a:t>    </a:t>
            </a:r>
            <a:r>
              <a:rPr lang="en-US" altLang="zh-TW" sz="2400" dirty="0">
                <a:latin typeface="標楷體" pitchFamily="65" charset="-120"/>
              </a:rPr>
              <a:t>(C)</a:t>
            </a:r>
            <a:r>
              <a:rPr lang="zh-TW" altLang="en-US" sz="2400" dirty="0">
                <a:latin typeface="標楷體" pitchFamily="65" charset="-120"/>
              </a:rPr>
              <a:t>丙甲丁乙       </a:t>
            </a:r>
            <a:r>
              <a:rPr lang="en-US" altLang="zh-TW" sz="2400" dirty="0">
                <a:latin typeface="標楷體" pitchFamily="65" charset="-120"/>
              </a:rPr>
              <a:t>(D)</a:t>
            </a:r>
            <a:r>
              <a:rPr lang="zh-TW" altLang="en-US" sz="2400" dirty="0">
                <a:latin typeface="標楷體" pitchFamily="65" charset="-120"/>
              </a:rPr>
              <a:t>丙丁乙甲</a:t>
            </a:r>
            <a:endParaRPr lang="en-US" altLang="zh-TW" sz="2400" dirty="0">
              <a:latin typeface="標楷體" pitchFamily="65" charset="-120"/>
            </a:endParaRPr>
          </a:p>
        </p:txBody>
      </p:sp>
      <p:pic>
        <p:nvPicPr>
          <p:cNvPr id="11" name="Picture 5" descr="an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408014">
            <a:off x="7638000" y="4988708"/>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a:spLocks noChangeArrowheads="1"/>
          </p:cNvSpPr>
          <p:nvPr/>
        </p:nvSpPr>
        <p:spPr bwMode="auto">
          <a:xfrm>
            <a:off x="97783" y="10219"/>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p.169</a:t>
            </a:r>
            <a:endParaRPr lang="zh-TW" altLang="en-US" sz="3600" b="0" dirty="0"/>
          </a:p>
        </p:txBody>
      </p:sp>
      <p:pic>
        <p:nvPicPr>
          <p:cNvPr id="1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4" y="3077306"/>
            <a:ext cx="9130031" cy="37704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13</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410918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8"/>
          <p:cNvPicPr>
            <a:picLocks noChangeAspect="1" noChangeArrowheads="1"/>
          </p:cNvPicPr>
          <p:nvPr/>
        </p:nvPicPr>
        <p:blipFill>
          <a:blip r:embed="rId3">
            <a:extLst>
              <a:ext uri="{28A0092B-C50C-407E-A947-70E740481C1C}">
                <a14:useLocalDpi xmlns:a14="http://schemas.microsoft.com/office/drawing/2010/main" val="0"/>
              </a:ext>
            </a:extLst>
          </a:blip>
          <a:srcRect b="3423"/>
          <a:stretch>
            <a:fillRect/>
          </a:stretch>
        </p:blipFill>
        <p:spPr bwMode="auto">
          <a:xfrm>
            <a:off x="1"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投影片編號版面配置區 1"/>
          <p:cNvSpPr>
            <a:spLocks noGrp="1"/>
          </p:cNvSpPr>
          <p:nvPr>
            <p:ph type="sldNum" sz="quarter" idx="12"/>
          </p:nvPr>
        </p:nvSpPr>
        <p:spPr/>
        <p:txBody>
          <a:bodyPr/>
          <a:lstStyle/>
          <a:p>
            <a:pPr>
              <a:defRPr/>
            </a:pPr>
            <a:fld id="{92774328-8B2B-48D1-A634-EE9C0B4A20AF}" type="slidenum">
              <a:rPr lang="en-US" altLang="zh-TW" smtClean="0"/>
              <a:pPr>
                <a:defRPr/>
              </a:pPr>
              <a:t>14</a:t>
            </a:fld>
            <a:endParaRPr lang="en-US" altLang="zh-TW"/>
          </a:p>
        </p:txBody>
      </p:sp>
      <p:sp>
        <p:nvSpPr>
          <p:cNvPr id="6" name="文字方塊 5">
            <a:extLst>
              <a:ext uri="{FF2B5EF4-FFF2-40B4-BE49-F238E27FC236}">
                <a16:creationId xmlns:a16="http://schemas.microsoft.com/office/drawing/2014/main" id="{CF14F91C-1328-41B4-9A17-019D2DD5972B}"/>
              </a:ext>
            </a:extLst>
          </p:cNvPr>
          <p:cNvSpPr txBox="1"/>
          <p:nvPr/>
        </p:nvSpPr>
        <p:spPr>
          <a:xfrm>
            <a:off x="179512" y="0"/>
            <a:ext cx="3168352" cy="3970318"/>
          </a:xfrm>
          <a:prstGeom prst="rect">
            <a:avLst/>
          </a:prstGeom>
          <a:noFill/>
        </p:spPr>
        <p:txBody>
          <a:bodyPr wrap="square">
            <a:spAutoFit/>
          </a:bodyPr>
          <a:lstStyle/>
          <a:p>
            <a:r>
              <a:rPr lang="zh-TW" altLang="en-US" sz="2800" dirty="0">
                <a:solidFill>
                  <a:srgbClr val="FF0000"/>
                </a:solidFill>
                <a:latin typeface="標楷體" pitchFamily="65" charset="-120"/>
              </a:rPr>
              <a:t>從東北角海岸</a:t>
            </a:r>
            <a:r>
              <a:rPr lang="zh-TW" altLang="en-US" sz="2800" dirty="0">
                <a:latin typeface="標楷體" pitchFamily="65" charset="-120"/>
              </a:rPr>
              <a:t>出發，</a:t>
            </a:r>
            <a:r>
              <a:rPr lang="zh-TW" altLang="en-US" sz="2800" dirty="0">
                <a:solidFill>
                  <a:srgbClr val="FF0000"/>
                </a:solidFill>
                <a:latin typeface="標楷體" pitchFamily="65" charset="-120"/>
              </a:rPr>
              <a:t>沿西部南下到</a:t>
            </a:r>
            <a:r>
              <a:rPr lang="zh-TW" altLang="en-US" sz="2800" dirty="0">
                <a:latin typeface="標楷體" pitchFamily="65" charset="-120"/>
              </a:rPr>
              <a:t>屏東縣</a:t>
            </a:r>
            <a:r>
              <a:rPr lang="zh-TW" altLang="en-US" sz="2800" dirty="0">
                <a:solidFill>
                  <a:srgbClr val="FF0000"/>
                </a:solidFill>
                <a:latin typeface="標楷體" pitchFamily="65" charset="-120"/>
              </a:rPr>
              <a:t>鵝鑾鼻</a:t>
            </a:r>
            <a:r>
              <a:rPr lang="zh-TW" altLang="en-US" sz="2800" dirty="0">
                <a:latin typeface="標楷體" pitchFamily="65" charset="-120"/>
              </a:rPr>
              <a:t>。他</a:t>
            </a:r>
            <a:r>
              <a:rPr lang="zh-TW" altLang="en-US" sz="2800" dirty="0">
                <a:solidFill>
                  <a:srgbClr val="FF0000"/>
                </a:solidFill>
                <a:latin typeface="標楷體" pitchFamily="65" charset="-120"/>
              </a:rPr>
              <a:t>依序</a:t>
            </a:r>
            <a:r>
              <a:rPr lang="zh-TW" altLang="en-US" sz="2800" dirty="0">
                <a:latin typeface="標楷體" pitchFamily="65" charset="-120"/>
              </a:rPr>
              <a:t>最可能會</a:t>
            </a:r>
            <a:r>
              <a:rPr lang="zh-TW" altLang="en-US" sz="2800" dirty="0">
                <a:solidFill>
                  <a:srgbClr val="FF0000"/>
                </a:solidFill>
                <a:latin typeface="標楷體" pitchFamily="65" charset="-120"/>
              </a:rPr>
              <a:t>看到</a:t>
            </a:r>
            <a:r>
              <a:rPr lang="zh-TW" altLang="en-US" sz="2800" dirty="0">
                <a:latin typeface="標楷體" pitchFamily="65" charset="-120"/>
              </a:rPr>
              <a:t>下列哪些景觀？</a:t>
            </a:r>
          </a:p>
          <a:p>
            <a:r>
              <a:rPr lang="en-US" altLang="zh-TW" sz="2800" dirty="0">
                <a:latin typeface="標楷體" pitchFamily="65" charset="-120"/>
              </a:rPr>
              <a:t>(</a:t>
            </a:r>
            <a:r>
              <a:rPr lang="zh-TW" altLang="en-US" sz="2800" dirty="0">
                <a:latin typeface="標楷體" pitchFamily="65" charset="-120"/>
              </a:rPr>
              <a:t>甲</a:t>
            </a:r>
            <a:r>
              <a:rPr lang="en-US" altLang="zh-TW" sz="2800" dirty="0">
                <a:latin typeface="標楷體" pitchFamily="65" charset="-120"/>
              </a:rPr>
              <a:t>)</a:t>
            </a:r>
            <a:r>
              <a:rPr lang="zh-TW" altLang="en-US" sz="2800" dirty="0">
                <a:latin typeface="標楷體" pitchFamily="65" charset="-120"/>
              </a:rPr>
              <a:t>岬灣海岸         </a:t>
            </a:r>
            <a:r>
              <a:rPr lang="en-US" altLang="zh-TW" sz="2800" dirty="0">
                <a:latin typeface="標楷體" pitchFamily="65" charset="-120"/>
              </a:rPr>
              <a:t>(</a:t>
            </a:r>
            <a:r>
              <a:rPr lang="zh-TW" altLang="en-US" sz="2800" dirty="0">
                <a:latin typeface="標楷體" pitchFamily="65" charset="-120"/>
              </a:rPr>
              <a:t>乙</a:t>
            </a:r>
            <a:r>
              <a:rPr lang="en-US" altLang="zh-TW" sz="2800" dirty="0">
                <a:latin typeface="標楷體" pitchFamily="65" charset="-120"/>
              </a:rPr>
              <a:t>)</a:t>
            </a:r>
            <a:r>
              <a:rPr lang="zh-TW" altLang="en-US" sz="2800" dirty="0">
                <a:latin typeface="標楷體" pitchFamily="65" charset="-120"/>
              </a:rPr>
              <a:t>珊瑚礁海岸</a:t>
            </a:r>
          </a:p>
          <a:p>
            <a:r>
              <a:rPr lang="en-US" altLang="zh-TW" sz="2800" dirty="0">
                <a:latin typeface="標楷體" pitchFamily="65" charset="-120"/>
              </a:rPr>
              <a:t>(</a:t>
            </a:r>
            <a:r>
              <a:rPr lang="zh-TW" altLang="en-US" sz="2800" dirty="0">
                <a:latin typeface="標楷體" pitchFamily="65" charset="-120"/>
              </a:rPr>
              <a:t>丙</a:t>
            </a:r>
            <a:r>
              <a:rPr lang="en-US" altLang="zh-TW" sz="2800" dirty="0">
                <a:latin typeface="標楷體" pitchFamily="65" charset="-120"/>
              </a:rPr>
              <a:t>)</a:t>
            </a:r>
            <a:r>
              <a:rPr lang="zh-TW" altLang="en-US" sz="2800" dirty="0">
                <a:latin typeface="標楷體" pitchFamily="65" charset="-120"/>
              </a:rPr>
              <a:t>埤塘灌溉         </a:t>
            </a:r>
            <a:r>
              <a:rPr lang="en-US" altLang="zh-TW" sz="2800" dirty="0">
                <a:latin typeface="標楷體" pitchFamily="65" charset="-120"/>
              </a:rPr>
              <a:t>(</a:t>
            </a:r>
            <a:r>
              <a:rPr lang="zh-TW" altLang="en-US" sz="2800" dirty="0">
                <a:latin typeface="標楷體" pitchFamily="65" charset="-120"/>
              </a:rPr>
              <a:t>丁</a:t>
            </a:r>
            <a:r>
              <a:rPr lang="en-US" altLang="zh-TW" sz="2800" dirty="0">
                <a:latin typeface="標楷體" pitchFamily="65" charset="-120"/>
              </a:rPr>
              <a:t>)</a:t>
            </a:r>
            <a:r>
              <a:rPr lang="zh-TW" altLang="en-US" sz="2800" dirty="0">
                <a:latin typeface="標楷體" pitchFamily="65" charset="-120"/>
              </a:rPr>
              <a:t>濱外沙洲</a:t>
            </a:r>
            <a:endParaRPr lang="en-US" altLang="zh-TW" sz="2800" dirty="0">
              <a:latin typeface="標楷體" pitchFamily="65" charset="-120"/>
            </a:endParaRPr>
          </a:p>
        </p:txBody>
      </p:sp>
    </p:spTree>
    <p:extLst>
      <p:ext uri="{BB962C8B-B14F-4D97-AF65-F5344CB8AC3E}">
        <p14:creationId xmlns:p14="http://schemas.microsoft.com/office/powerpoint/2010/main" val="203109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9607" y="102685"/>
            <a:ext cx="2348463" cy="4744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85393" y="656966"/>
            <a:ext cx="9020575" cy="2340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3.</a:t>
            </a:r>
            <a:r>
              <a:rPr lang="zh-TW" altLang="en-US" sz="2400" dirty="0">
                <a:latin typeface="標楷體" pitchFamily="65" charset="-120"/>
              </a:rPr>
              <a:t>某人騎腳踏車</a:t>
            </a:r>
            <a:r>
              <a:rPr lang="zh-TW" altLang="en-US" sz="2400" dirty="0">
                <a:solidFill>
                  <a:srgbClr val="FF0000"/>
                </a:solidFill>
                <a:latin typeface="標楷體" pitchFamily="65" charset="-120"/>
              </a:rPr>
              <a:t>從東北角海岸</a:t>
            </a:r>
            <a:r>
              <a:rPr lang="zh-TW" altLang="en-US" sz="2400" dirty="0">
                <a:latin typeface="標楷體" pitchFamily="65" charset="-120"/>
              </a:rPr>
              <a:t>出發，</a:t>
            </a:r>
            <a:r>
              <a:rPr lang="zh-TW" altLang="en-US" sz="2400" dirty="0">
                <a:solidFill>
                  <a:srgbClr val="FF0000"/>
                </a:solidFill>
                <a:latin typeface="標楷體" pitchFamily="65" charset="-120"/>
              </a:rPr>
              <a:t>沿西部南下到</a:t>
            </a:r>
            <a:r>
              <a:rPr lang="zh-TW" altLang="en-US" sz="2400" dirty="0">
                <a:latin typeface="標楷體" pitchFamily="65" charset="-120"/>
              </a:rPr>
              <a:t>屏東縣</a:t>
            </a:r>
            <a:r>
              <a:rPr lang="zh-TW" altLang="en-US" sz="2400" dirty="0">
                <a:solidFill>
                  <a:srgbClr val="FF0000"/>
                </a:solidFill>
                <a:latin typeface="標楷體" pitchFamily="65" charset="-120"/>
              </a:rPr>
              <a:t>鵝鑾鼻</a:t>
            </a:r>
            <a:r>
              <a:rPr lang="zh-TW" altLang="en-US" sz="2400" dirty="0">
                <a:latin typeface="標楷體" pitchFamily="65" charset="-120"/>
              </a:rPr>
              <a:t>。他</a:t>
            </a:r>
            <a:r>
              <a:rPr lang="zh-TW" altLang="en-US" sz="2400" dirty="0">
                <a:solidFill>
                  <a:srgbClr val="FF0000"/>
                </a:solidFill>
                <a:latin typeface="標楷體" pitchFamily="65" charset="-120"/>
              </a:rPr>
              <a:t>依序</a:t>
            </a:r>
            <a:r>
              <a:rPr lang="zh-TW" altLang="en-US" sz="2400" dirty="0">
                <a:latin typeface="標楷體" pitchFamily="65" charset="-120"/>
              </a:rPr>
              <a:t>最可能會</a:t>
            </a:r>
            <a:r>
              <a:rPr lang="zh-TW" altLang="en-US" sz="2400" dirty="0">
                <a:solidFill>
                  <a:srgbClr val="FF0000"/>
                </a:solidFill>
                <a:latin typeface="標楷體" pitchFamily="65" charset="-120"/>
              </a:rPr>
              <a:t>看到</a:t>
            </a:r>
            <a:r>
              <a:rPr lang="zh-TW" altLang="en-US" sz="2400" dirty="0">
                <a:latin typeface="標楷體" pitchFamily="65" charset="-120"/>
              </a:rPr>
              <a:t>下列哪些景觀？</a:t>
            </a:r>
          </a:p>
          <a:p>
            <a:r>
              <a:rPr lang="zh-TW" altLang="en-US" sz="2400" dirty="0">
                <a:latin typeface="標楷體" pitchFamily="65" charset="-120"/>
              </a:rPr>
              <a:t>   </a:t>
            </a:r>
            <a:r>
              <a:rPr lang="en-US" altLang="zh-TW" sz="2400" dirty="0">
                <a:latin typeface="標楷體" pitchFamily="65" charset="-120"/>
              </a:rPr>
              <a:t>(</a:t>
            </a:r>
            <a:r>
              <a:rPr lang="zh-TW" altLang="en-US" sz="2400" dirty="0">
                <a:latin typeface="標楷體" pitchFamily="65" charset="-120"/>
              </a:rPr>
              <a:t>甲</a:t>
            </a:r>
            <a:r>
              <a:rPr lang="en-US" altLang="zh-TW" sz="2400" dirty="0">
                <a:latin typeface="標楷體" pitchFamily="65" charset="-120"/>
              </a:rPr>
              <a:t>)</a:t>
            </a:r>
            <a:r>
              <a:rPr lang="zh-TW" altLang="en-US" sz="2400" dirty="0">
                <a:latin typeface="標楷體" pitchFamily="65" charset="-120"/>
              </a:rPr>
              <a:t>岬灣海岸         </a:t>
            </a:r>
            <a:r>
              <a:rPr lang="en-US" altLang="zh-TW" sz="2400" dirty="0">
                <a:latin typeface="標楷體" pitchFamily="65" charset="-120"/>
              </a:rPr>
              <a:t>(</a:t>
            </a:r>
            <a:r>
              <a:rPr lang="zh-TW" altLang="en-US" sz="2400" dirty="0">
                <a:latin typeface="標楷體" pitchFamily="65" charset="-120"/>
              </a:rPr>
              <a:t>乙</a:t>
            </a:r>
            <a:r>
              <a:rPr lang="en-US" altLang="zh-TW" sz="2400" dirty="0">
                <a:latin typeface="標楷體" pitchFamily="65" charset="-120"/>
              </a:rPr>
              <a:t>)</a:t>
            </a:r>
            <a:r>
              <a:rPr lang="zh-TW" altLang="en-US" sz="2400" dirty="0">
                <a:latin typeface="標楷體" pitchFamily="65" charset="-120"/>
              </a:rPr>
              <a:t>珊瑚礁海岸</a:t>
            </a:r>
          </a:p>
          <a:p>
            <a:r>
              <a:rPr lang="zh-TW" altLang="en-US" sz="2400" dirty="0">
                <a:latin typeface="標楷體" pitchFamily="65" charset="-120"/>
              </a:rPr>
              <a:t>   </a:t>
            </a:r>
            <a:r>
              <a:rPr lang="en-US" altLang="zh-TW" sz="2400" dirty="0">
                <a:latin typeface="標楷體" pitchFamily="65" charset="-120"/>
              </a:rPr>
              <a:t>(</a:t>
            </a:r>
            <a:r>
              <a:rPr lang="zh-TW" altLang="en-US" sz="2400" dirty="0">
                <a:latin typeface="標楷體" pitchFamily="65" charset="-120"/>
              </a:rPr>
              <a:t>丙</a:t>
            </a:r>
            <a:r>
              <a:rPr lang="en-US" altLang="zh-TW" sz="2400" dirty="0">
                <a:latin typeface="標楷體" pitchFamily="65" charset="-120"/>
              </a:rPr>
              <a:t>)</a:t>
            </a:r>
            <a:r>
              <a:rPr lang="zh-TW" altLang="en-US" sz="2400" dirty="0">
                <a:latin typeface="標楷體" pitchFamily="65" charset="-120"/>
              </a:rPr>
              <a:t>埤塘灌溉         </a:t>
            </a:r>
            <a:r>
              <a:rPr lang="en-US" altLang="zh-TW" sz="2400" dirty="0">
                <a:latin typeface="標楷體" pitchFamily="65" charset="-120"/>
              </a:rPr>
              <a:t>(</a:t>
            </a:r>
            <a:r>
              <a:rPr lang="zh-TW" altLang="en-US" sz="2400" dirty="0">
                <a:latin typeface="標楷體" pitchFamily="65" charset="-120"/>
              </a:rPr>
              <a:t>丁</a:t>
            </a:r>
            <a:r>
              <a:rPr lang="en-US" altLang="zh-TW" sz="2400" dirty="0">
                <a:latin typeface="標楷體" pitchFamily="65" charset="-120"/>
              </a:rPr>
              <a:t>)</a:t>
            </a:r>
            <a:r>
              <a:rPr lang="zh-TW" altLang="en-US" sz="2400" dirty="0">
                <a:latin typeface="標楷體" pitchFamily="65" charset="-120"/>
              </a:rPr>
              <a:t>濱外沙洲　</a:t>
            </a:r>
          </a:p>
          <a:p>
            <a:r>
              <a:rPr lang="zh-TW" altLang="en-US" sz="2400" dirty="0">
                <a:latin typeface="標楷體" pitchFamily="65" charset="-120"/>
              </a:rPr>
              <a:t>    </a:t>
            </a:r>
            <a:r>
              <a:rPr lang="en-US" altLang="zh-TW" sz="2400" dirty="0">
                <a:latin typeface="標楷體" pitchFamily="65" charset="-120"/>
              </a:rPr>
              <a:t>(A)</a:t>
            </a:r>
            <a:r>
              <a:rPr lang="zh-TW" altLang="en-US" sz="2400" dirty="0">
                <a:latin typeface="標楷體" pitchFamily="65" charset="-120"/>
              </a:rPr>
              <a:t>甲乙丁丙       </a:t>
            </a:r>
            <a:r>
              <a:rPr lang="en-US" altLang="zh-TW" sz="2400" dirty="0">
                <a:latin typeface="標楷體" pitchFamily="65" charset="-120"/>
              </a:rPr>
              <a:t>(B)</a:t>
            </a:r>
            <a:r>
              <a:rPr lang="zh-TW" altLang="en-US" sz="2400" dirty="0">
                <a:latin typeface="標楷體" pitchFamily="65" charset="-120"/>
              </a:rPr>
              <a:t>甲丙丁乙</a:t>
            </a:r>
          </a:p>
          <a:p>
            <a:r>
              <a:rPr lang="zh-TW" altLang="en-US" sz="2400" dirty="0">
                <a:latin typeface="標楷體" pitchFamily="65" charset="-120"/>
              </a:rPr>
              <a:t>    </a:t>
            </a:r>
            <a:r>
              <a:rPr lang="en-US" altLang="zh-TW" sz="2400" dirty="0">
                <a:latin typeface="標楷體" pitchFamily="65" charset="-120"/>
              </a:rPr>
              <a:t>(C)</a:t>
            </a:r>
            <a:r>
              <a:rPr lang="zh-TW" altLang="en-US" sz="2400" dirty="0">
                <a:latin typeface="標楷體" pitchFamily="65" charset="-120"/>
              </a:rPr>
              <a:t>丙甲丁乙       </a:t>
            </a:r>
            <a:r>
              <a:rPr lang="en-US" altLang="zh-TW" sz="2400" dirty="0">
                <a:latin typeface="標楷體" pitchFamily="65" charset="-120"/>
              </a:rPr>
              <a:t>(D)</a:t>
            </a:r>
            <a:r>
              <a:rPr lang="zh-TW" altLang="en-US" sz="2400" dirty="0">
                <a:latin typeface="標楷體" pitchFamily="65" charset="-120"/>
              </a:rPr>
              <a:t>丙丁乙甲</a:t>
            </a:r>
            <a:endParaRPr lang="en-US" altLang="zh-TW" sz="2400" dirty="0">
              <a:latin typeface="標楷體" pitchFamily="65" charset="-120"/>
            </a:endParaRPr>
          </a:p>
        </p:txBody>
      </p:sp>
      <p:pic>
        <p:nvPicPr>
          <p:cNvPr id="11" name="Picture 5" descr="an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408014">
            <a:off x="7638000" y="4988708"/>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a:spLocks noChangeArrowheads="1"/>
          </p:cNvSpPr>
          <p:nvPr/>
        </p:nvSpPr>
        <p:spPr bwMode="auto">
          <a:xfrm>
            <a:off x="97783" y="10219"/>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p.169</a:t>
            </a:r>
            <a:endParaRPr lang="zh-TW" altLang="en-US" sz="3600" b="0" dirty="0"/>
          </a:p>
        </p:txBody>
      </p:sp>
      <p:pic>
        <p:nvPicPr>
          <p:cNvPr id="1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4" y="3077306"/>
            <a:ext cx="9130031" cy="37704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15</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977043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3BFCE9-70AB-42D3-93F3-55ECBC19901C}"/>
              </a:ext>
            </a:extLst>
          </p:cNvPr>
          <p:cNvSpPr>
            <a:spLocks noGrp="1"/>
          </p:cNvSpPr>
          <p:nvPr>
            <p:ph type="title"/>
          </p:nvPr>
        </p:nvSpPr>
        <p:spPr>
          <a:xfrm>
            <a:off x="-775" y="2312876"/>
            <a:ext cx="1605492" cy="1692188"/>
          </a:xfrm>
        </p:spPr>
        <p:txBody>
          <a:bodyPr/>
          <a:lstStyle/>
          <a:p>
            <a:r>
              <a:rPr lang="zh-TW" altLang="en-US" sz="2800" dirty="0"/>
              <a:t>九份山上 看  </a:t>
            </a:r>
            <a:br>
              <a:rPr lang="en-US" altLang="zh-TW" sz="2800" dirty="0"/>
            </a:br>
            <a:r>
              <a:rPr lang="zh-TW" altLang="en-US" sz="2800" dirty="0"/>
              <a:t>岬灣海岸</a:t>
            </a:r>
          </a:p>
        </p:txBody>
      </p:sp>
      <p:sp>
        <p:nvSpPr>
          <p:cNvPr id="4" name="投影片編號版面配置區 3">
            <a:extLst>
              <a:ext uri="{FF2B5EF4-FFF2-40B4-BE49-F238E27FC236}">
                <a16:creationId xmlns:a16="http://schemas.microsoft.com/office/drawing/2014/main" id="{F4C87D29-BD2C-447B-AFA0-54DB1795EF3A}"/>
              </a:ext>
            </a:extLst>
          </p:cNvPr>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16</a:t>
            </a:fld>
            <a:endParaRPr lang="zh-TW" sz="1400">
              <a:solidFill>
                <a:schemeClr val="dk1"/>
              </a:solidFill>
              <a:latin typeface="Arial"/>
              <a:ea typeface="Arial"/>
              <a:cs typeface="Arial"/>
              <a:sym typeface="Arial"/>
            </a:endParaRPr>
          </a:p>
        </p:txBody>
      </p:sp>
      <p:pic>
        <p:nvPicPr>
          <p:cNvPr id="6" name="圖片 5">
            <a:extLst>
              <a:ext uri="{FF2B5EF4-FFF2-40B4-BE49-F238E27FC236}">
                <a16:creationId xmlns:a16="http://schemas.microsoft.com/office/drawing/2014/main" id="{F00DBB88-8F73-4885-9C0E-E49133649EA7}"/>
              </a:ext>
            </a:extLst>
          </p:cNvPr>
          <p:cNvPicPr>
            <a:picLocks noChangeAspect="1"/>
          </p:cNvPicPr>
          <p:nvPr/>
        </p:nvPicPr>
        <p:blipFill>
          <a:blip r:embed="rId2"/>
          <a:stretch>
            <a:fillRect/>
          </a:stretch>
        </p:blipFill>
        <p:spPr>
          <a:xfrm>
            <a:off x="1619672" y="0"/>
            <a:ext cx="7524328" cy="6858000"/>
          </a:xfrm>
          <a:prstGeom prst="rect">
            <a:avLst/>
          </a:prstGeom>
        </p:spPr>
      </p:pic>
    </p:spTree>
    <p:extLst>
      <p:ext uri="{BB962C8B-B14F-4D97-AF65-F5344CB8AC3E}">
        <p14:creationId xmlns:p14="http://schemas.microsoft.com/office/powerpoint/2010/main" val="3025610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9607" y="102685"/>
            <a:ext cx="2348463" cy="4744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85393" y="656966"/>
            <a:ext cx="9020575" cy="2340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3.</a:t>
            </a:r>
            <a:r>
              <a:rPr lang="zh-TW" altLang="en-US" sz="2400" dirty="0">
                <a:latin typeface="標楷體" pitchFamily="65" charset="-120"/>
              </a:rPr>
              <a:t>某人騎腳踏車</a:t>
            </a:r>
            <a:r>
              <a:rPr lang="zh-TW" altLang="en-US" sz="2400" dirty="0">
                <a:solidFill>
                  <a:srgbClr val="FF0000"/>
                </a:solidFill>
                <a:latin typeface="標楷體" pitchFamily="65" charset="-120"/>
              </a:rPr>
              <a:t>從東北角海岸</a:t>
            </a:r>
            <a:r>
              <a:rPr lang="zh-TW" altLang="en-US" sz="2400" dirty="0">
                <a:latin typeface="標楷體" pitchFamily="65" charset="-120"/>
              </a:rPr>
              <a:t>出發，</a:t>
            </a:r>
            <a:r>
              <a:rPr lang="zh-TW" altLang="en-US" sz="2400" dirty="0">
                <a:solidFill>
                  <a:srgbClr val="FF0000"/>
                </a:solidFill>
                <a:latin typeface="標楷體" pitchFamily="65" charset="-120"/>
              </a:rPr>
              <a:t>沿西部南下到</a:t>
            </a:r>
            <a:r>
              <a:rPr lang="zh-TW" altLang="en-US" sz="2400" dirty="0">
                <a:latin typeface="標楷體" pitchFamily="65" charset="-120"/>
              </a:rPr>
              <a:t>屏東縣</a:t>
            </a:r>
            <a:r>
              <a:rPr lang="zh-TW" altLang="en-US" sz="2400" dirty="0">
                <a:solidFill>
                  <a:srgbClr val="FF0000"/>
                </a:solidFill>
                <a:latin typeface="標楷體" pitchFamily="65" charset="-120"/>
              </a:rPr>
              <a:t>鵝鑾鼻</a:t>
            </a:r>
            <a:r>
              <a:rPr lang="zh-TW" altLang="en-US" sz="2400" dirty="0">
                <a:latin typeface="標楷體" pitchFamily="65" charset="-120"/>
              </a:rPr>
              <a:t>。他</a:t>
            </a:r>
            <a:r>
              <a:rPr lang="zh-TW" altLang="en-US" sz="2400" dirty="0">
                <a:solidFill>
                  <a:srgbClr val="FF0000"/>
                </a:solidFill>
                <a:latin typeface="標楷體" pitchFamily="65" charset="-120"/>
              </a:rPr>
              <a:t>依序</a:t>
            </a:r>
            <a:r>
              <a:rPr lang="zh-TW" altLang="en-US" sz="2400" dirty="0">
                <a:latin typeface="標楷體" pitchFamily="65" charset="-120"/>
              </a:rPr>
              <a:t>最可能會</a:t>
            </a:r>
            <a:r>
              <a:rPr lang="zh-TW" altLang="en-US" sz="2400" dirty="0">
                <a:solidFill>
                  <a:srgbClr val="FF0000"/>
                </a:solidFill>
                <a:latin typeface="標楷體" pitchFamily="65" charset="-120"/>
              </a:rPr>
              <a:t>看到</a:t>
            </a:r>
            <a:r>
              <a:rPr lang="zh-TW" altLang="en-US" sz="2400" dirty="0">
                <a:latin typeface="標楷體" pitchFamily="65" charset="-120"/>
              </a:rPr>
              <a:t>下列哪些景觀？</a:t>
            </a:r>
          </a:p>
          <a:p>
            <a:r>
              <a:rPr lang="zh-TW" altLang="en-US" sz="2400" dirty="0">
                <a:latin typeface="標楷體" pitchFamily="65" charset="-120"/>
              </a:rPr>
              <a:t>   </a:t>
            </a:r>
            <a:r>
              <a:rPr lang="en-US" altLang="zh-TW" sz="2400" dirty="0">
                <a:latin typeface="標楷體" pitchFamily="65" charset="-120"/>
              </a:rPr>
              <a:t>(</a:t>
            </a:r>
            <a:r>
              <a:rPr lang="zh-TW" altLang="en-US" sz="2400" dirty="0">
                <a:latin typeface="標楷體" pitchFamily="65" charset="-120"/>
              </a:rPr>
              <a:t>甲</a:t>
            </a:r>
            <a:r>
              <a:rPr lang="en-US" altLang="zh-TW" sz="2400" dirty="0">
                <a:latin typeface="標楷體" pitchFamily="65" charset="-120"/>
              </a:rPr>
              <a:t>)</a:t>
            </a:r>
            <a:r>
              <a:rPr lang="zh-TW" altLang="en-US" sz="2400" dirty="0">
                <a:latin typeface="標楷體" pitchFamily="65" charset="-120"/>
              </a:rPr>
              <a:t>岬灣海岸         </a:t>
            </a:r>
            <a:r>
              <a:rPr lang="en-US" altLang="zh-TW" sz="2400" dirty="0">
                <a:latin typeface="標楷體" pitchFamily="65" charset="-120"/>
              </a:rPr>
              <a:t>(</a:t>
            </a:r>
            <a:r>
              <a:rPr lang="zh-TW" altLang="en-US" sz="2400" dirty="0">
                <a:latin typeface="標楷體" pitchFamily="65" charset="-120"/>
              </a:rPr>
              <a:t>乙</a:t>
            </a:r>
            <a:r>
              <a:rPr lang="en-US" altLang="zh-TW" sz="2400" dirty="0">
                <a:latin typeface="標楷體" pitchFamily="65" charset="-120"/>
              </a:rPr>
              <a:t>)</a:t>
            </a:r>
            <a:r>
              <a:rPr lang="zh-TW" altLang="en-US" sz="2400" dirty="0">
                <a:latin typeface="標楷體" pitchFamily="65" charset="-120"/>
              </a:rPr>
              <a:t>珊瑚礁海岸</a:t>
            </a:r>
          </a:p>
          <a:p>
            <a:r>
              <a:rPr lang="zh-TW" altLang="en-US" sz="2400" dirty="0">
                <a:latin typeface="標楷體" pitchFamily="65" charset="-120"/>
              </a:rPr>
              <a:t>   </a:t>
            </a:r>
            <a:r>
              <a:rPr lang="en-US" altLang="zh-TW" sz="2400" dirty="0">
                <a:latin typeface="標楷體" pitchFamily="65" charset="-120"/>
              </a:rPr>
              <a:t>(</a:t>
            </a:r>
            <a:r>
              <a:rPr lang="zh-TW" altLang="en-US" sz="2400" dirty="0">
                <a:latin typeface="標楷體" pitchFamily="65" charset="-120"/>
              </a:rPr>
              <a:t>丙</a:t>
            </a:r>
            <a:r>
              <a:rPr lang="en-US" altLang="zh-TW" sz="2400" dirty="0">
                <a:latin typeface="標楷體" pitchFamily="65" charset="-120"/>
              </a:rPr>
              <a:t>)</a:t>
            </a:r>
            <a:r>
              <a:rPr lang="zh-TW" altLang="en-US" sz="2400" dirty="0">
                <a:latin typeface="標楷體" pitchFamily="65" charset="-120"/>
              </a:rPr>
              <a:t>埤塘灌溉         </a:t>
            </a:r>
            <a:r>
              <a:rPr lang="en-US" altLang="zh-TW" sz="2400" dirty="0">
                <a:latin typeface="標楷體" pitchFamily="65" charset="-120"/>
              </a:rPr>
              <a:t>(</a:t>
            </a:r>
            <a:r>
              <a:rPr lang="zh-TW" altLang="en-US" sz="2400" dirty="0">
                <a:latin typeface="標楷體" pitchFamily="65" charset="-120"/>
              </a:rPr>
              <a:t>丁</a:t>
            </a:r>
            <a:r>
              <a:rPr lang="en-US" altLang="zh-TW" sz="2400" dirty="0">
                <a:latin typeface="標楷體" pitchFamily="65" charset="-120"/>
              </a:rPr>
              <a:t>)</a:t>
            </a:r>
            <a:r>
              <a:rPr lang="zh-TW" altLang="en-US" sz="2400" dirty="0">
                <a:latin typeface="標楷體" pitchFamily="65" charset="-120"/>
              </a:rPr>
              <a:t>濱外沙洲　</a:t>
            </a:r>
          </a:p>
          <a:p>
            <a:r>
              <a:rPr lang="zh-TW" altLang="en-US" sz="2400" dirty="0">
                <a:latin typeface="標楷體" pitchFamily="65" charset="-120"/>
              </a:rPr>
              <a:t>    </a:t>
            </a:r>
            <a:r>
              <a:rPr lang="en-US" altLang="zh-TW" sz="2400" dirty="0">
                <a:latin typeface="標楷體" pitchFamily="65" charset="-120"/>
              </a:rPr>
              <a:t>(A)</a:t>
            </a:r>
            <a:r>
              <a:rPr lang="zh-TW" altLang="en-US" sz="2400" dirty="0">
                <a:latin typeface="標楷體" pitchFamily="65" charset="-120"/>
              </a:rPr>
              <a:t>甲乙丁丙       </a:t>
            </a:r>
            <a:r>
              <a:rPr lang="en-US" altLang="zh-TW" sz="2400" dirty="0">
                <a:latin typeface="標楷體" pitchFamily="65" charset="-120"/>
              </a:rPr>
              <a:t>(B)</a:t>
            </a:r>
            <a:r>
              <a:rPr lang="zh-TW" altLang="en-US" sz="2400" dirty="0">
                <a:latin typeface="標楷體" pitchFamily="65" charset="-120"/>
              </a:rPr>
              <a:t>甲丙丁乙</a:t>
            </a:r>
          </a:p>
          <a:p>
            <a:r>
              <a:rPr lang="zh-TW" altLang="en-US" sz="2400" dirty="0">
                <a:latin typeface="標楷體" pitchFamily="65" charset="-120"/>
              </a:rPr>
              <a:t>    </a:t>
            </a:r>
            <a:r>
              <a:rPr lang="en-US" altLang="zh-TW" sz="2400" dirty="0">
                <a:latin typeface="標楷體" pitchFamily="65" charset="-120"/>
              </a:rPr>
              <a:t>(C)</a:t>
            </a:r>
            <a:r>
              <a:rPr lang="zh-TW" altLang="en-US" sz="2400" dirty="0">
                <a:latin typeface="標楷體" pitchFamily="65" charset="-120"/>
              </a:rPr>
              <a:t>丙甲丁乙       </a:t>
            </a:r>
            <a:r>
              <a:rPr lang="en-US" altLang="zh-TW" sz="2400" dirty="0">
                <a:latin typeface="標楷體" pitchFamily="65" charset="-120"/>
              </a:rPr>
              <a:t>(D)</a:t>
            </a:r>
            <a:r>
              <a:rPr lang="zh-TW" altLang="en-US" sz="2400" dirty="0">
                <a:latin typeface="標楷體" pitchFamily="65" charset="-120"/>
              </a:rPr>
              <a:t>丙丁乙甲</a:t>
            </a:r>
            <a:endParaRPr lang="en-US" altLang="zh-TW" sz="2400" dirty="0">
              <a:latin typeface="標楷體" pitchFamily="65" charset="-120"/>
            </a:endParaRPr>
          </a:p>
        </p:txBody>
      </p:sp>
      <p:pic>
        <p:nvPicPr>
          <p:cNvPr id="11" name="Picture 5" descr="an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408014">
            <a:off x="7638000" y="4988708"/>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a:spLocks noChangeArrowheads="1"/>
          </p:cNvSpPr>
          <p:nvPr/>
        </p:nvSpPr>
        <p:spPr bwMode="auto">
          <a:xfrm>
            <a:off x="97783" y="10219"/>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p.169</a:t>
            </a:r>
            <a:endParaRPr lang="zh-TW" altLang="en-US" sz="3600" b="0" dirty="0"/>
          </a:p>
        </p:txBody>
      </p:sp>
      <p:pic>
        <p:nvPicPr>
          <p:cNvPr id="1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4" y="3077306"/>
            <a:ext cx="9130031" cy="37704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17</a:t>
            </a:fld>
            <a:endParaRPr lang="zh-TW" sz="1400">
              <a:solidFill>
                <a:schemeClr val="dk1"/>
              </a:solidFill>
              <a:latin typeface="Arial"/>
              <a:ea typeface="Arial"/>
              <a:cs typeface="Arial"/>
              <a:sym typeface="Arial"/>
            </a:endParaRPr>
          </a:p>
        </p:txBody>
      </p:sp>
      <p:sp>
        <p:nvSpPr>
          <p:cNvPr id="15" name="Rectangle 9">
            <a:extLst>
              <a:ext uri="{FF2B5EF4-FFF2-40B4-BE49-F238E27FC236}">
                <a16:creationId xmlns:a16="http://schemas.microsoft.com/office/drawing/2014/main" id="{4828EFF5-91AB-4D4F-8C07-C78CCDABB20D}"/>
              </a:ext>
            </a:extLst>
          </p:cNvPr>
          <p:cNvSpPr>
            <a:spLocks noChangeArrowheads="1"/>
          </p:cNvSpPr>
          <p:nvPr/>
        </p:nvSpPr>
        <p:spPr bwMode="auto">
          <a:xfrm>
            <a:off x="3470968" y="2163038"/>
            <a:ext cx="1749103" cy="383532"/>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Tree>
    <p:extLst>
      <p:ext uri="{BB962C8B-B14F-4D97-AF65-F5344CB8AC3E}">
        <p14:creationId xmlns:p14="http://schemas.microsoft.com/office/powerpoint/2010/main" val="1530176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a:xfrm>
            <a:off x="61435" y="2837911"/>
            <a:ext cx="8149251" cy="895223"/>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en-US" altLang="zh-TW" dirty="0">
                <a:latin typeface="標楷體" pitchFamily="65" charset="-120"/>
                <a:ea typeface="標楷體" pitchFamily="65" charset="-120"/>
              </a:rPr>
              <a:t>2.</a:t>
            </a:r>
            <a:r>
              <a:rPr lang="zh-TW" altLang="en-US" dirty="0">
                <a:latin typeface="標楷體" pitchFamily="65" charset="-120"/>
                <a:ea typeface="標楷體" pitchFamily="65" charset="-120"/>
              </a:rPr>
              <a:t>臺灣地形分布：</a:t>
            </a:r>
          </a:p>
        </p:txBody>
      </p:sp>
      <p:graphicFrame>
        <p:nvGraphicFramePr>
          <p:cNvPr id="11" name="Group 47"/>
          <p:cNvGraphicFramePr>
            <a:graphicFrameLocks noGrp="1"/>
          </p:cNvGraphicFramePr>
          <p:nvPr>
            <p:extLst>
              <p:ext uri="{D42A27DB-BD31-4B8C-83A1-F6EECF244321}">
                <p14:modId xmlns:p14="http://schemas.microsoft.com/office/powerpoint/2010/main" val="3143115551"/>
              </p:ext>
            </p:extLst>
          </p:nvPr>
        </p:nvGraphicFramePr>
        <p:xfrm>
          <a:off x="47147" y="3768305"/>
          <a:ext cx="9036495" cy="3089695"/>
        </p:xfrm>
        <a:graphic>
          <a:graphicData uri="http://schemas.openxmlformats.org/drawingml/2006/table">
            <a:tbl>
              <a:tblPr/>
              <a:tblGrid>
                <a:gridCol w="395535">
                  <a:extLst>
                    <a:ext uri="{9D8B030D-6E8A-4147-A177-3AD203B41FA5}">
                      <a16:colId xmlns:a16="http://schemas.microsoft.com/office/drawing/2014/main" val="20000"/>
                    </a:ext>
                  </a:extLst>
                </a:gridCol>
                <a:gridCol w="648072">
                  <a:extLst>
                    <a:ext uri="{9D8B030D-6E8A-4147-A177-3AD203B41FA5}">
                      <a16:colId xmlns:a16="http://schemas.microsoft.com/office/drawing/2014/main" val="20001"/>
                    </a:ext>
                  </a:extLst>
                </a:gridCol>
                <a:gridCol w="7992888">
                  <a:extLst>
                    <a:ext uri="{9D8B030D-6E8A-4147-A177-3AD203B41FA5}">
                      <a16:colId xmlns:a16="http://schemas.microsoft.com/office/drawing/2014/main" val="20002"/>
                    </a:ext>
                  </a:extLst>
                </a:gridCol>
              </a:tblGrid>
              <a:tr h="34671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rgbClr val="FF0000"/>
                          </a:solidFill>
                          <a:latin typeface="標楷體" pitchFamily="65" charset="-120"/>
                          <a:ea typeface="標楷體" pitchFamily="65" charset="-120"/>
                          <a:cs typeface="Arial"/>
                          <a:sym typeface="Arial"/>
                        </a:rPr>
                        <a:t>盆地</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rgbClr val="FF0000"/>
                          </a:solidFill>
                          <a:latin typeface="標楷體" pitchFamily="65" charset="-120"/>
                          <a:ea typeface="標楷體" pitchFamily="65" charset="-120"/>
                          <a:cs typeface="Arial"/>
                          <a:sym typeface="Arial"/>
                        </a:rPr>
                        <a:t>山地和台地間</a:t>
                      </a:r>
                      <a:r>
                        <a:rPr lang="zh-TW" altLang="en-US" sz="1800" b="0" i="0" u="none" strike="noStrike" cap="none" dirty="0">
                          <a:solidFill>
                            <a:schemeClr val="tx1"/>
                          </a:solidFill>
                          <a:latin typeface="標楷體" pitchFamily="65" charset="-120"/>
                          <a:ea typeface="標楷體" pitchFamily="65" charset="-120"/>
                          <a:cs typeface="Arial"/>
                          <a:sym typeface="Arial"/>
                        </a:rPr>
                        <a:t>則</a:t>
                      </a:r>
                      <a:r>
                        <a:rPr lang="zh-TW" altLang="en-US" sz="1800" b="0" i="0" u="none" strike="noStrike" cap="none" dirty="0">
                          <a:solidFill>
                            <a:srgbClr val="FF0000"/>
                          </a:solidFill>
                          <a:latin typeface="標楷體" pitchFamily="65" charset="-120"/>
                          <a:ea typeface="標楷體" pitchFamily="65" charset="-120"/>
                          <a:cs typeface="Arial"/>
                          <a:sym typeface="Arial"/>
                        </a:rPr>
                        <a:t>散布盆地</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如斷層陷落形成</a:t>
                      </a:r>
                      <a:r>
                        <a:rPr lang="zh-TW" altLang="en-US" sz="1800" b="0" i="0" u="none" strike="noStrike" cap="none" dirty="0">
                          <a:solidFill>
                            <a:schemeClr val="tx1"/>
                          </a:solidFill>
                          <a:latin typeface="標楷體" pitchFamily="65" charset="-120"/>
                          <a:ea typeface="標楷體" pitchFamily="65" charset="-120"/>
                          <a:cs typeface="Arial"/>
                          <a:sym typeface="Arial"/>
                        </a:rPr>
                        <a:t>的</a:t>
                      </a:r>
                      <a:r>
                        <a:rPr lang="zh-TW" altLang="en-US" sz="1800" b="0" i="0" u="none" strike="noStrike" cap="none" dirty="0">
                          <a:solidFill>
                            <a:srgbClr val="FF0000"/>
                          </a:solidFill>
                          <a:latin typeface="標楷體" pitchFamily="65" charset="-120"/>
                          <a:ea typeface="標楷體" pitchFamily="65" charset="-120"/>
                          <a:cs typeface="Arial"/>
                          <a:sym typeface="Arial"/>
                        </a:rPr>
                        <a:t>埔里盆地</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109706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algn="ctr"/>
                      <a:r>
                        <a:rPr lang="zh-TW" altLang="en-US" sz="1800" b="0" i="0" u="none" strike="noStrike" cap="none" dirty="0">
                          <a:solidFill>
                            <a:srgbClr val="FF0000"/>
                          </a:solidFill>
                          <a:latin typeface="標楷體" pitchFamily="65" charset="-120"/>
                          <a:ea typeface="標楷體" pitchFamily="65" charset="-120"/>
                          <a:cs typeface="Arial"/>
                          <a:sym typeface="Arial"/>
                        </a:rPr>
                        <a:t>年輕平原</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河川</a:t>
                      </a:r>
                      <a:r>
                        <a:rPr lang="zh-TW" altLang="en-US" sz="1800" b="0" i="0" u="none" strike="noStrike" cap="none" dirty="0">
                          <a:solidFill>
                            <a:schemeClr val="tx1"/>
                          </a:solidFill>
                          <a:latin typeface="標楷體" pitchFamily="65" charset="-120"/>
                          <a:ea typeface="標楷體" pitchFamily="65" charset="-120"/>
                          <a:cs typeface="Arial"/>
                          <a:sym typeface="Arial"/>
                        </a:rPr>
                        <a:t>持續</a:t>
                      </a:r>
                      <a:r>
                        <a:rPr lang="zh-TW" altLang="en-US" sz="1800" b="0" i="0" u="none" strike="noStrike" cap="none" dirty="0">
                          <a:solidFill>
                            <a:srgbClr val="FF0000"/>
                          </a:solidFill>
                          <a:latin typeface="標楷體" pitchFamily="65" charset="-120"/>
                          <a:ea typeface="標楷體" pitchFamily="65" charset="-120"/>
                          <a:cs typeface="Arial"/>
                          <a:sym typeface="Arial"/>
                        </a:rPr>
                        <a:t>大量輸沙，在臺灣島西側陸棚形成沖積平原</a:t>
                      </a:r>
                      <a:r>
                        <a:rPr lang="zh-TW" altLang="en-US" sz="1800" b="0" i="0" u="none" strike="noStrike" cap="none" dirty="0">
                          <a:solidFill>
                            <a:schemeClr val="tx1"/>
                          </a:solidFill>
                          <a:latin typeface="標楷體" pitchFamily="65" charset="-120"/>
                          <a:ea typeface="標楷體" pitchFamily="65" charset="-120"/>
                          <a:cs typeface="Arial"/>
                          <a:sym typeface="Arial"/>
                        </a:rPr>
                        <a:t>。</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臺灣島面積只占全球</a:t>
                      </a:r>
                      <a:r>
                        <a:rPr lang="en-US" altLang="zh-TW" sz="1800" b="0" i="0" u="none" strike="noStrike" cap="none" dirty="0">
                          <a:solidFill>
                            <a:schemeClr val="tx1"/>
                          </a:solidFill>
                          <a:latin typeface="標楷體" pitchFamily="65" charset="-120"/>
                          <a:ea typeface="標楷體" pitchFamily="65" charset="-120"/>
                          <a:cs typeface="Arial"/>
                          <a:sym typeface="Arial"/>
                        </a:rPr>
                        <a:t>0.02%</a:t>
                      </a:r>
                      <a:r>
                        <a:rPr lang="zh-TW" altLang="en-US" sz="1800" b="0" i="0" u="none" strike="noStrike" cap="none" dirty="0">
                          <a:solidFill>
                            <a:schemeClr val="tx1"/>
                          </a:solidFill>
                          <a:latin typeface="標楷體" pitchFamily="65" charset="-120"/>
                          <a:ea typeface="標楷體" pitchFamily="65" charset="-120"/>
                          <a:cs typeface="Arial"/>
                          <a:sym typeface="Arial"/>
                        </a:rPr>
                        <a:t>，但</a:t>
                      </a:r>
                      <a:r>
                        <a:rPr lang="zh-TW" altLang="en-US" sz="1800" b="0" i="0" u="none" strike="noStrike" cap="none" dirty="0">
                          <a:solidFill>
                            <a:srgbClr val="FF0000"/>
                          </a:solidFill>
                          <a:latin typeface="標楷體" pitchFamily="65" charset="-120"/>
                          <a:ea typeface="標楷體" pitchFamily="65" charset="-120"/>
                          <a:cs typeface="Arial"/>
                          <a:sym typeface="Arial"/>
                        </a:rPr>
                        <a:t>河川輸沙量</a:t>
                      </a:r>
                      <a:r>
                        <a:rPr lang="zh-TW" altLang="en-US" sz="1800" b="0" i="0" u="none" strike="noStrike" cap="none" dirty="0">
                          <a:solidFill>
                            <a:schemeClr val="tx1"/>
                          </a:solidFill>
                          <a:latin typeface="標楷體" pitchFamily="65" charset="-120"/>
                          <a:ea typeface="標楷體" pitchFamily="65" charset="-120"/>
                          <a:cs typeface="Arial"/>
                          <a:sym typeface="Arial"/>
                        </a:rPr>
                        <a:t>卻占全球</a:t>
                      </a:r>
                      <a:r>
                        <a:rPr lang="en-US" altLang="zh-TW" sz="1800" b="0" i="0" u="none" strike="noStrike" cap="none" dirty="0">
                          <a:solidFill>
                            <a:schemeClr val="tx1"/>
                          </a:solidFill>
                          <a:latin typeface="標楷體" pitchFamily="65" charset="-120"/>
                          <a:ea typeface="標楷體" pitchFamily="65" charset="-120"/>
                          <a:cs typeface="Arial"/>
                          <a:sym typeface="Arial"/>
                        </a:rPr>
                        <a:t>1.9%</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造就快速前進的海岸線</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如鹿港</a:t>
                      </a:r>
                      <a:r>
                        <a:rPr lang="zh-TW" altLang="en-US" sz="1800" b="0" i="0" u="none" strike="noStrike" cap="none" dirty="0">
                          <a:solidFill>
                            <a:schemeClr val="tx1"/>
                          </a:solidFill>
                          <a:latin typeface="標楷體" pitchFamily="65" charset="-120"/>
                          <a:ea typeface="標楷體" pitchFamily="65" charset="-120"/>
                          <a:cs typeface="Arial"/>
                          <a:sym typeface="Arial"/>
                        </a:rPr>
                        <a:t>周遭的海岸變遷</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6615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algn="ctr"/>
                      <a:r>
                        <a:rPr lang="zh-TW" altLang="en-US" sz="1800" b="0" i="0" u="none" strike="noStrike" cap="none" dirty="0">
                          <a:solidFill>
                            <a:srgbClr val="FF0000"/>
                          </a:solidFill>
                          <a:latin typeface="標楷體" pitchFamily="65" charset="-120"/>
                          <a:ea typeface="標楷體" pitchFamily="65" charset="-120"/>
                          <a:cs typeface="Arial"/>
                          <a:sym typeface="Arial"/>
                        </a:rPr>
                        <a:t>沖積扇</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陡急的</a:t>
                      </a:r>
                      <a:r>
                        <a:rPr lang="zh-TW" altLang="en-US" sz="1800" b="0" i="0" u="none" strike="noStrike" cap="none" dirty="0">
                          <a:solidFill>
                            <a:srgbClr val="FF0000"/>
                          </a:solidFill>
                          <a:latin typeface="標楷體" pitchFamily="65" charset="-120"/>
                          <a:ea typeface="標楷體" pitchFamily="65" charset="-120"/>
                          <a:cs typeface="Arial"/>
                          <a:sym typeface="Arial"/>
                        </a:rPr>
                        <a:t>河川出山谷</a:t>
                      </a:r>
                      <a:r>
                        <a:rPr lang="zh-TW" altLang="en-US" sz="1800" b="0" i="0" u="none" strike="noStrike" cap="none" dirty="0">
                          <a:solidFill>
                            <a:schemeClr val="tx1"/>
                          </a:solidFill>
                          <a:latin typeface="標楷體" pitchFamily="65" charset="-120"/>
                          <a:ea typeface="標楷體" pitchFamily="65" charset="-120"/>
                          <a:cs typeface="Arial"/>
                          <a:sym typeface="Arial"/>
                        </a:rPr>
                        <a:t>後，</a:t>
                      </a:r>
                      <a:r>
                        <a:rPr lang="zh-TW" altLang="en-US" sz="1800" b="0" i="0" u="none" strike="noStrike" cap="none" dirty="0">
                          <a:solidFill>
                            <a:srgbClr val="FF0000"/>
                          </a:solidFill>
                          <a:latin typeface="標楷體" pitchFamily="65" charset="-120"/>
                          <a:ea typeface="標楷體" pitchFamily="65" charset="-120"/>
                          <a:cs typeface="Arial"/>
                          <a:sym typeface="Arial"/>
                        </a:rPr>
                        <a:t>堆積成</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扇面礫石遍</a:t>
                      </a:r>
                      <a:endParaRPr lang="en-US" altLang="zh-TW" sz="1800" b="0" i="0" u="none" strike="noStrike" cap="none" dirty="0">
                        <a:solidFill>
                          <a:srgbClr val="FF0000"/>
                        </a:solidFill>
                        <a:latin typeface="標楷體" pitchFamily="65" charset="-120"/>
                        <a:ea typeface="標楷體" pitchFamily="65" charset="-120"/>
                        <a:cs typeface="Arial"/>
                        <a:sym typeface="Arial"/>
                      </a:endParaRPr>
                    </a:p>
                    <a:p>
                      <a:r>
                        <a:rPr lang="zh-TW" altLang="en-US" sz="1800" b="0" i="0" u="none" strike="noStrike" cap="none" dirty="0">
                          <a:solidFill>
                            <a:srgbClr val="FF0000"/>
                          </a:solidFill>
                          <a:latin typeface="標楷體" pitchFamily="65" charset="-120"/>
                          <a:ea typeface="標楷體" pitchFamily="65" charset="-120"/>
                          <a:cs typeface="Arial"/>
                          <a:sym typeface="Arial"/>
                        </a:rPr>
                        <a:t>布</a:t>
                      </a:r>
                      <a:r>
                        <a:rPr lang="zh-TW" altLang="en-US" sz="1800" b="0" i="0" u="none" strike="noStrike" cap="none" dirty="0">
                          <a:solidFill>
                            <a:schemeClr val="tx1"/>
                          </a:solidFill>
                          <a:latin typeface="標楷體" pitchFamily="65" charset="-120"/>
                          <a:ea typeface="標楷體" pitchFamily="65" charset="-120"/>
                          <a:cs typeface="Arial"/>
                          <a:sym typeface="Arial"/>
                        </a:rPr>
                        <a:t>形成</a:t>
                      </a:r>
                      <a:r>
                        <a:rPr lang="zh-TW" altLang="en-US" sz="1800" b="0" i="0" u="none" strike="noStrike" cap="none" dirty="0">
                          <a:solidFill>
                            <a:srgbClr val="FF0000"/>
                          </a:solidFill>
                          <a:latin typeface="標楷體" pitchFamily="65" charset="-120"/>
                          <a:ea typeface="標楷體" pitchFamily="65" charset="-120"/>
                          <a:cs typeface="Arial"/>
                          <a:sym typeface="Arial"/>
                        </a:rPr>
                        <a:t>補充地下水</a:t>
                      </a:r>
                      <a:r>
                        <a:rPr lang="zh-TW" altLang="en-US" sz="1800" b="0" i="0" u="none" strike="noStrike" cap="none" dirty="0">
                          <a:solidFill>
                            <a:schemeClr val="tx1"/>
                          </a:solidFill>
                          <a:latin typeface="標楷體" pitchFamily="65" charset="-120"/>
                          <a:ea typeface="標楷體" pitchFamily="65" charset="-120"/>
                          <a:cs typeface="Arial"/>
                          <a:sym typeface="Arial"/>
                        </a:rPr>
                        <a:t>的條件，因而</a:t>
                      </a:r>
                      <a:r>
                        <a:rPr lang="zh-TW" altLang="en-US" sz="1800" b="0" i="0" u="none" strike="noStrike" cap="none" dirty="0">
                          <a:solidFill>
                            <a:srgbClr val="FF0000"/>
                          </a:solidFill>
                          <a:latin typeface="標楷體" pitchFamily="65" charset="-120"/>
                          <a:ea typeface="標楷體" pitchFamily="65" charset="-120"/>
                          <a:cs typeface="Arial"/>
                          <a:sym typeface="Arial"/>
                        </a:rPr>
                        <a:t>有充足的地下水資源</a:t>
                      </a:r>
                      <a:r>
                        <a:rPr lang="zh-TW" altLang="en-US" sz="1800" b="0" i="0" u="none" strike="noStrike" cap="none" dirty="0">
                          <a:solidFill>
                            <a:schemeClr val="tx1"/>
                          </a:solidFill>
                          <a:latin typeface="標楷體" pitchFamily="65" charset="-120"/>
                          <a:ea typeface="標楷體" pitchFamily="65" charset="-120"/>
                          <a:cs typeface="Arial"/>
                          <a:sym typeface="Arial"/>
                        </a:rPr>
                        <a:t>，</a:t>
                      </a:r>
                      <a:endParaRPr lang="en-US" altLang="zh-TW" sz="1800" b="0" i="0" u="none" strike="noStrike" cap="none" dirty="0">
                        <a:solidFill>
                          <a:schemeClr val="tx1"/>
                        </a:solidFill>
                        <a:latin typeface="標楷體" pitchFamily="65" charset="-120"/>
                        <a:ea typeface="標楷體" pitchFamily="65" charset="-120"/>
                        <a:cs typeface="Arial"/>
                        <a:sym typeface="Arial"/>
                      </a:endParaRPr>
                    </a:p>
                    <a:p>
                      <a:r>
                        <a:rPr lang="zh-TW" altLang="en-US" sz="1800" b="0" i="0" u="none" strike="noStrike" cap="none" dirty="0">
                          <a:solidFill>
                            <a:srgbClr val="FF00FF"/>
                          </a:solidFill>
                          <a:latin typeface="標楷體" pitchFamily="65" charset="-120"/>
                          <a:ea typeface="標楷體" pitchFamily="65" charset="-120"/>
                          <a:cs typeface="Arial"/>
                          <a:sym typeface="Arial"/>
                        </a:rPr>
                        <a:t>如</a:t>
                      </a:r>
                      <a:r>
                        <a:rPr lang="zh-TW" altLang="en-US" sz="1800" b="0" i="0" u="none" strike="noStrike" cap="none" dirty="0">
                          <a:solidFill>
                            <a:schemeClr val="tx1"/>
                          </a:solidFill>
                          <a:latin typeface="標楷體" pitchFamily="65" charset="-120"/>
                          <a:ea typeface="標楷體" pitchFamily="65" charset="-120"/>
                          <a:cs typeface="Arial"/>
                          <a:sym typeface="Arial"/>
                        </a:rPr>
                        <a:t>屏東平原、</a:t>
                      </a:r>
                      <a:r>
                        <a:rPr lang="zh-TW" altLang="en-US" sz="1800" b="0" i="0" u="none" strike="noStrike" cap="none" dirty="0">
                          <a:solidFill>
                            <a:srgbClr val="FF00FF"/>
                          </a:solidFill>
                          <a:latin typeface="標楷體" pitchFamily="65" charset="-120"/>
                          <a:ea typeface="標楷體" pitchFamily="65" charset="-120"/>
                          <a:cs typeface="Arial"/>
                          <a:sym typeface="Arial"/>
                        </a:rPr>
                        <a:t>屏東縣萬巒鄉五溝水 </a:t>
                      </a:r>
                      <a:r>
                        <a:rPr lang="zh-TW" altLang="en-US" sz="1800" b="0" i="0" u="none" strike="noStrike" cap="none" dirty="0">
                          <a:solidFill>
                            <a:srgbClr val="FF0000"/>
                          </a:solidFill>
                          <a:latin typeface="標楷體" pitchFamily="65" charset="-120"/>
                          <a:ea typeface="標楷體" pitchFamily="65" charset="-120"/>
                          <a:cs typeface="Arial"/>
                          <a:sym typeface="Arial"/>
                        </a:rPr>
                        <a:t>湧泉</a:t>
                      </a:r>
                      <a:endParaRPr lang="en-US" altLang="zh-TW" sz="1800" b="0" i="0" u="none" strike="noStrike" cap="none" dirty="0">
                        <a:solidFill>
                          <a:srgbClr val="FF0000"/>
                        </a:solidFill>
                        <a:latin typeface="標楷體" pitchFamily="65" charset="-120"/>
                        <a:ea typeface="標楷體" pitchFamily="65" charset="-120"/>
                        <a:cs typeface="Arial"/>
                        <a:sym typeface="Arial"/>
                      </a:endParaRPr>
                    </a:p>
                    <a:p>
                      <a:endParaRPr lang="en-US" altLang="zh-TW" sz="1800" b="0" i="0" u="none" strike="noStrike" cap="none" dirty="0">
                        <a:solidFill>
                          <a:schemeClr val="tx1"/>
                        </a:solidFill>
                        <a:latin typeface="標楷體" pitchFamily="65" charset="-120"/>
                        <a:ea typeface="標楷體" pitchFamily="65" charset="-120"/>
                        <a:cs typeface="Arial"/>
                        <a:sym typeface="Arial"/>
                      </a:endParaRPr>
                    </a:p>
                    <a:p>
                      <a:endParaRPr lang="en-US" altLang="zh-TW" sz="1800" b="0" i="0" u="none" strike="noStrike" cap="none" dirty="0">
                        <a:solidFill>
                          <a:schemeClr val="tx1"/>
                        </a:solidFill>
                        <a:latin typeface="標楷體" pitchFamily="65" charset="-120"/>
                        <a:ea typeface="標楷體" pitchFamily="65" charset="-120"/>
                        <a:cs typeface="Arial"/>
                        <a:sym typeface="Arial"/>
                      </a:endParaRPr>
                    </a:p>
                    <a:p>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 name="矩形 8"/>
          <p:cNvSpPr>
            <a:spLocks noChangeArrowheads="1"/>
          </p:cNvSpPr>
          <p:nvPr/>
        </p:nvSpPr>
        <p:spPr bwMode="auto">
          <a:xfrm>
            <a:off x="4241790" y="5140338"/>
            <a:ext cx="10081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沖積扇</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0" y="3815869"/>
            <a:ext cx="30480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59" y="4452770"/>
            <a:ext cx="333375" cy="32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52" y="5809203"/>
            <a:ext cx="333375" cy="33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4248" y="4753296"/>
            <a:ext cx="2339752" cy="2104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 y="8394"/>
            <a:ext cx="8532440" cy="36650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04248" y="2712663"/>
            <a:ext cx="2314661" cy="19718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Rectangle 3"/>
          <p:cNvSpPr txBox="1">
            <a:spLocks noChangeArrowheads="1"/>
          </p:cNvSpPr>
          <p:nvPr/>
        </p:nvSpPr>
        <p:spPr>
          <a:xfrm>
            <a:off x="-8787" y="3326431"/>
            <a:ext cx="8149251" cy="417607"/>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en-US" altLang="zh-TW" dirty="0">
                <a:latin typeface="標楷體" pitchFamily="65" charset="-120"/>
                <a:ea typeface="標楷體" pitchFamily="65" charset="-120"/>
              </a:rPr>
              <a:t>2.</a:t>
            </a:r>
            <a:r>
              <a:rPr lang="zh-TW" altLang="en-US" dirty="0">
                <a:latin typeface="標楷體" pitchFamily="65" charset="-120"/>
                <a:ea typeface="標楷體" pitchFamily="65" charset="-120"/>
              </a:rPr>
              <a:t>臺灣地形分布：</a:t>
            </a:r>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18</a:t>
            </a:fld>
            <a:endParaRPr lang="zh-TW" sz="1400">
              <a:solidFill>
                <a:schemeClr val="dk1"/>
              </a:solidFill>
              <a:latin typeface="Arial"/>
              <a:ea typeface="Arial"/>
              <a:cs typeface="Arial"/>
              <a:sym typeface="Arial"/>
            </a:endParaRPr>
          </a:p>
        </p:txBody>
      </p:sp>
      <p:sp>
        <p:nvSpPr>
          <p:cNvPr id="16" name="矩形 15">
            <a:extLst>
              <a:ext uri="{FF2B5EF4-FFF2-40B4-BE49-F238E27FC236}">
                <a16:creationId xmlns:a16="http://schemas.microsoft.com/office/drawing/2014/main" id="{A4C70CB4-CD46-4A1E-B513-92832A848361}"/>
              </a:ext>
            </a:extLst>
          </p:cNvPr>
          <p:cNvSpPr>
            <a:spLocks noChangeArrowheads="1"/>
          </p:cNvSpPr>
          <p:nvPr/>
        </p:nvSpPr>
        <p:spPr bwMode="auto">
          <a:xfrm>
            <a:off x="-12971" y="2632678"/>
            <a:ext cx="21820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p.168~169</a:t>
            </a:r>
            <a:endParaRPr lang="zh-TW" altLang="en-US" sz="3600" b="0" dirty="0"/>
          </a:p>
        </p:txBody>
      </p:sp>
    </p:spTree>
    <p:extLst>
      <p:ext uri="{BB962C8B-B14F-4D97-AF65-F5344CB8AC3E}">
        <p14:creationId xmlns:p14="http://schemas.microsoft.com/office/powerpoint/2010/main" val="395038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標題 1"/>
          <p:cNvSpPr>
            <a:spLocks/>
          </p:cNvSpPr>
          <p:nvPr/>
        </p:nvSpPr>
        <p:spPr bwMode="auto">
          <a:xfrm>
            <a:off x="755576" y="188640"/>
            <a:ext cx="676875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3600" dirty="0">
                <a:latin typeface="標楷體" pitchFamily="65" charset="-120"/>
                <a:ea typeface="標楷體" pitchFamily="65" charset="-120"/>
              </a:rPr>
              <a:t>二、</a:t>
            </a:r>
            <a:r>
              <a:rPr lang="zh-TW" altLang="en-US" sz="3600" dirty="0">
                <a:solidFill>
                  <a:srgbClr val="FF0000"/>
                </a:solidFill>
                <a:latin typeface="標楷體" pitchFamily="65" charset="-120"/>
                <a:ea typeface="標楷體" pitchFamily="65" charset="-120"/>
              </a:rPr>
              <a:t>降雨 時空分布不均</a:t>
            </a:r>
            <a:endParaRPr lang="en-US" altLang="zh-TW" sz="3600" b="1" dirty="0">
              <a:latin typeface="微軟正黑體" pitchFamily="34" charset="-120"/>
            </a:endParaRPr>
          </a:p>
        </p:txBody>
      </p:sp>
      <p:sp>
        <p:nvSpPr>
          <p:cNvPr id="7" name="Rectangle 3"/>
          <p:cNvSpPr txBox="1">
            <a:spLocks noChangeArrowheads="1"/>
          </p:cNvSpPr>
          <p:nvPr/>
        </p:nvSpPr>
        <p:spPr>
          <a:xfrm>
            <a:off x="671220" y="548680"/>
            <a:ext cx="8149251" cy="4680521"/>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en-US" altLang="zh-TW" dirty="0">
                <a:solidFill>
                  <a:schemeClr val="tx1"/>
                </a:solidFill>
                <a:latin typeface="標楷體" pitchFamily="65" charset="-120"/>
                <a:ea typeface="標楷體" pitchFamily="65" charset="-120"/>
              </a:rPr>
              <a:t>1.</a:t>
            </a:r>
            <a:r>
              <a:rPr lang="zh-TW" altLang="en-US" dirty="0">
                <a:solidFill>
                  <a:schemeClr val="tx1"/>
                </a:solidFill>
                <a:latin typeface="標楷體" pitchFamily="65" charset="-120"/>
                <a:ea typeface="標楷體" pitchFamily="65" charset="-120"/>
              </a:rPr>
              <a:t>臺灣位於</a:t>
            </a:r>
            <a:r>
              <a:rPr lang="zh-TW" altLang="en-US" dirty="0">
                <a:solidFill>
                  <a:srgbClr val="FF0000"/>
                </a:solidFill>
                <a:latin typeface="標楷體" pitchFamily="65" charset="-120"/>
                <a:ea typeface="標楷體" pitchFamily="65" charset="-120"/>
              </a:rPr>
              <a:t>亞洲大陸與海洋交界</a:t>
            </a:r>
            <a:r>
              <a:rPr lang="zh-TW" altLang="en-US" dirty="0">
                <a:solidFill>
                  <a:schemeClr val="tx1"/>
                </a:solidFill>
                <a:latin typeface="標楷體" pitchFamily="65" charset="-120"/>
                <a:ea typeface="標楷體" pitchFamily="65" charset="-120"/>
              </a:rPr>
              <a:t>，氣候分類上屬於</a:t>
            </a:r>
            <a:r>
              <a:rPr lang="zh-TW" altLang="en-US" dirty="0">
                <a:solidFill>
                  <a:srgbClr val="FF0000"/>
                </a:solidFill>
                <a:latin typeface="標楷體" pitchFamily="65" charset="-120"/>
                <a:ea typeface="標楷體" pitchFamily="65" charset="-120"/>
              </a:rPr>
              <a:t>季風氣候</a:t>
            </a:r>
            <a:r>
              <a:rPr lang="zh-TW" altLang="en-US" dirty="0">
                <a:solidFill>
                  <a:schemeClr val="tx1"/>
                </a:solidFill>
                <a:latin typeface="標楷體" pitchFamily="65" charset="-120"/>
                <a:ea typeface="標楷體" pitchFamily="65" charset="-120"/>
              </a:rPr>
              <a:t>。</a:t>
            </a:r>
            <a:endParaRPr lang="en-US" altLang="zh-TW" dirty="0">
              <a:solidFill>
                <a:schemeClr val="tx1"/>
              </a:solidFill>
              <a:latin typeface="標楷體" pitchFamily="65" charset="-120"/>
              <a:ea typeface="標楷體" pitchFamily="65" charset="-120"/>
            </a:endParaRPr>
          </a:p>
          <a:p>
            <a:r>
              <a:rPr lang="en-US" altLang="zh-TW" dirty="0">
                <a:latin typeface="標楷體" pitchFamily="65" charset="-120"/>
                <a:ea typeface="標楷體" pitchFamily="65" charset="-120"/>
              </a:rPr>
              <a:t>2.</a:t>
            </a:r>
            <a:r>
              <a:rPr lang="zh-TW" altLang="en-US" dirty="0">
                <a:solidFill>
                  <a:srgbClr val="FF0000"/>
                </a:solidFill>
                <a:latin typeface="標楷體" pitchFamily="65" charset="-120"/>
                <a:ea typeface="標楷體" pitchFamily="65" charset="-120"/>
              </a:rPr>
              <a:t>降雨時</a:t>
            </a:r>
            <a:r>
              <a:rPr lang="zh-TW" altLang="en-US" dirty="0">
                <a:latin typeface="標楷體" pitchFamily="65" charset="-120"/>
                <a:ea typeface="標楷體" pitchFamily="65" charset="-120"/>
              </a:rPr>
              <a:t>間與</a:t>
            </a:r>
            <a:r>
              <a:rPr lang="zh-TW" altLang="en-US" dirty="0">
                <a:solidFill>
                  <a:srgbClr val="FF0000"/>
                </a:solidFill>
                <a:latin typeface="標楷體" pitchFamily="65" charset="-120"/>
                <a:ea typeface="標楷體" pitchFamily="65" charset="-120"/>
              </a:rPr>
              <a:t>空</a:t>
            </a:r>
            <a:r>
              <a:rPr lang="zh-TW" altLang="en-US" dirty="0">
                <a:latin typeface="標楷體" pitchFamily="65" charset="-120"/>
                <a:ea typeface="標楷體" pitchFamily="65" charset="-120"/>
              </a:rPr>
              <a:t>間</a:t>
            </a:r>
            <a:r>
              <a:rPr lang="zh-TW" altLang="en-US" dirty="0">
                <a:solidFill>
                  <a:srgbClr val="FF0000"/>
                </a:solidFill>
                <a:latin typeface="標楷體" pitchFamily="65" charset="-120"/>
                <a:ea typeface="標楷體" pitchFamily="65" charset="-120"/>
              </a:rPr>
              <a:t>差異</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(1)</a:t>
            </a:r>
            <a:r>
              <a:rPr lang="zh-TW" altLang="en-US" dirty="0">
                <a:solidFill>
                  <a:srgbClr val="FF0000"/>
                </a:solidFill>
                <a:latin typeface="標楷體" pitchFamily="65" charset="-120"/>
                <a:ea typeface="標楷體" pitchFamily="65" charset="-120"/>
              </a:rPr>
              <a:t>夏</a:t>
            </a:r>
            <a:r>
              <a:rPr lang="zh-TW" altLang="en-US" dirty="0">
                <a:latin typeface="標楷體" pitchFamily="65" charset="-120"/>
                <a:ea typeface="標楷體" pitchFamily="65" charset="-120"/>
              </a:rPr>
              <a:t>季時，</a:t>
            </a:r>
            <a:r>
              <a:rPr lang="zh-TW" altLang="en-US" u="sng" dirty="0">
                <a:solidFill>
                  <a:srgbClr val="FF0000"/>
                </a:solidFill>
                <a:latin typeface="標楷體" pitchFamily="65" charset="-120"/>
                <a:ea typeface="標楷體" pitchFamily="65" charset="-120"/>
              </a:rPr>
              <a:t>        </a:t>
            </a:r>
            <a:r>
              <a:rPr lang="zh-TW" altLang="en-US" dirty="0">
                <a:solidFill>
                  <a:srgbClr val="FF0000"/>
                </a:solidFill>
                <a:latin typeface="標楷體" pitchFamily="65" charset="-120"/>
                <a:ea typeface="標楷體" pitchFamily="65" charset="-120"/>
              </a:rPr>
              <a:t>氣流</a:t>
            </a:r>
            <a:r>
              <a:rPr lang="zh-TW" altLang="en-US" dirty="0">
                <a:latin typeface="標楷體" pitchFamily="65" charset="-120"/>
                <a:ea typeface="標楷體" pitchFamily="65" charset="-120"/>
              </a:rPr>
              <a:t>從海面帶來大量水氣，加上</a:t>
            </a:r>
            <a:r>
              <a:rPr lang="en-US" altLang="zh-TW" dirty="0">
                <a:solidFill>
                  <a:srgbClr val="0000FF"/>
                </a:solidFill>
                <a:latin typeface="標楷體" pitchFamily="65" charset="-120"/>
                <a:ea typeface="標楷體" pitchFamily="65" charset="-120"/>
              </a:rPr>
              <a:t>789</a:t>
            </a:r>
            <a:r>
              <a:rPr lang="zh-TW" altLang="en-US" dirty="0">
                <a:solidFill>
                  <a:srgbClr val="0000FF"/>
                </a:solidFill>
                <a:latin typeface="標楷體" pitchFamily="65" charset="-120"/>
                <a:ea typeface="標楷體" pitchFamily="65" charset="-120"/>
              </a:rPr>
              <a:t>月</a:t>
            </a:r>
            <a:r>
              <a:rPr lang="zh-TW" altLang="en-US" dirty="0">
                <a:solidFill>
                  <a:srgbClr val="FF0000"/>
                </a:solidFill>
                <a:latin typeface="標楷體" pitchFamily="65" charset="-120"/>
                <a:ea typeface="標楷體" pitchFamily="65" charset="-120"/>
              </a:rPr>
              <a:t>颱風</a:t>
            </a:r>
            <a:r>
              <a:rPr lang="zh-TW" altLang="en-US" dirty="0">
                <a:latin typeface="標楷體" pitchFamily="65" charset="-120"/>
                <a:ea typeface="標楷體" pitchFamily="65" charset="-120"/>
              </a:rPr>
              <a:t>、</a:t>
            </a:r>
            <a:r>
              <a:rPr lang="en-US" altLang="zh-TW" dirty="0">
                <a:solidFill>
                  <a:srgbClr val="0000FF"/>
                </a:solidFill>
                <a:latin typeface="標楷體" pitchFamily="65" charset="-120"/>
                <a:ea typeface="標楷體" pitchFamily="65" charset="-120"/>
              </a:rPr>
              <a:t> </a:t>
            </a:r>
            <a:br>
              <a:rPr lang="en-US" altLang="zh-TW" dirty="0">
                <a:solidFill>
                  <a:srgbClr val="0000FF"/>
                </a:solidFill>
                <a:latin typeface="標楷體" pitchFamily="65" charset="-120"/>
                <a:ea typeface="標楷體" pitchFamily="65" charset="-120"/>
              </a:rPr>
            </a:br>
            <a:r>
              <a:rPr lang="en-US" altLang="zh-TW" dirty="0">
                <a:solidFill>
                  <a:srgbClr val="0000FF"/>
                </a:solidFill>
                <a:latin typeface="標楷體" pitchFamily="65" charset="-120"/>
                <a:ea typeface="標楷體" pitchFamily="65" charset="-120"/>
              </a:rPr>
              <a:t>56</a:t>
            </a:r>
            <a:r>
              <a:rPr lang="zh-TW" altLang="en-US" dirty="0">
                <a:solidFill>
                  <a:srgbClr val="0000FF"/>
                </a:solidFill>
                <a:latin typeface="標楷體" pitchFamily="65" charset="-120"/>
                <a:ea typeface="標楷體" pitchFamily="65" charset="-120"/>
              </a:rPr>
              <a:t>月梅雨</a:t>
            </a:r>
            <a:r>
              <a:rPr lang="zh-TW" altLang="en-US" dirty="0">
                <a:solidFill>
                  <a:srgbClr val="FF0000"/>
                </a:solidFill>
                <a:latin typeface="標楷體" pitchFamily="65" charset="-120"/>
                <a:ea typeface="標楷體" pitchFamily="65" charset="-120"/>
              </a:rPr>
              <a:t>滯留鋒</a:t>
            </a:r>
            <a:r>
              <a:rPr lang="zh-TW" altLang="en-US" dirty="0">
                <a:latin typeface="標楷體" pitchFamily="65" charset="-120"/>
                <a:ea typeface="標楷體" pitchFamily="65" charset="-120"/>
              </a:rPr>
              <a:t>及</a:t>
            </a:r>
            <a:r>
              <a:rPr lang="zh-TW" altLang="en-US" dirty="0">
                <a:solidFill>
                  <a:srgbClr val="FF0000"/>
                </a:solidFill>
                <a:latin typeface="標楷體" pitchFamily="65" charset="-120"/>
                <a:ea typeface="標楷體" pitchFamily="65" charset="-120"/>
              </a:rPr>
              <a:t>午後雷陣雨</a:t>
            </a:r>
            <a:r>
              <a:rPr lang="zh-TW" altLang="en-US" dirty="0">
                <a:latin typeface="標楷體" pitchFamily="65" charset="-120"/>
                <a:ea typeface="標楷體" pitchFamily="65" charset="-120"/>
              </a:rPr>
              <a:t>，</a:t>
            </a:r>
            <a:r>
              <a:rPr lang="zh-TW" altLang="en-US" dirty="0">
                <a:solidFill>
                  <a:srgbClr val="FF0000"/>
                </a:solidFill>
                <a:latin typeface="標楷體" pitchFamily="65" charset="-120"/>
                <a:ea typeface="標楷體" pitchFamily="65" charset="-120"/>
              </a:rPr>
              <a:t>全島普遍多雨</a:t>
            </a:r>
            <a:r>
              <a:rPr lang="zh-TW" altLang="en-US" dirty="0">
                <a:latin typeface="標楷體" pitchFamily="65" charset="-120"/>
                <a:ea typeface="標楷體" pitchFamily="65" charset="-120"/>
              </a:rPr>
              <a:t>。</a:t>
            </a:r>
          </a:p>
          <a:p>
            <a:r>
              <a:rPr lang="en-US" altLang="zh-TW" dirty="0">
                <a:latin typeface="標楷體" pitchFamily="65" charset="-120"/>
                <a:ea typeface="標楷體" pitchFamily="65" charset="-120"/>
              </a:rPr>
              <a:t>(2)</a:t>
            </a:r>
            <a:r>
              <a:rPr lang="zh-TW" altLang="en-US" dirty="0">
                <a:solidFill>
                  <a:srgbClr val="FF0000"/>
                </a:solidFill>
                <a:latin typeface="標楷體" pitchFamily="65" charset="-120"/>
                <a:ea typeface="標楷體" pitchFamily="65" charset="-120"/>
              </a:rPr>
              <a:t>冬</a:t>
            </a:r>
            <a:r>
              <a:rPr lang="zh-TW" altLang="en-US" dirty="0">
                <a:latin typeface="標楷體" pitchFamily="65" charset="-120"/>
                <a:ea typeface="標楷體" pitchFamily="65" charset="-120"/>
              </a:rPr>
              <a:t>季時，位處</a:t>
            </a:r>
            <a:r>
              <a:rPr lang="zh-TW" altLang="en-US" u="sng" dirty="0">
                <a:solidFill>
                  <a:srgbClr val="FF0000"/>
                </a:solidFill>
                <a:latin typeface="標楷體" pitchFamily="65" charset="-120"/>
                <a:ea typeface="標楷體" pitchFamily="65" charset="-120"/>
              </a:rPr>
              <a:t>          </a:t>
            </a:r>
            <a:r>
              <a:rPr lang="zh-TW" altLang="en-US" dirty="0">
                <a:solidFill>
                  <a:srgbClr val="FF0000"/>
                </a:solidFill>
                <a:latin typeface="標楷體" pitchFamily="65" charset="-120"/>
                <a:ea typeface="標楷體" pitchFamily="65" charset="-120"/>
              </a:rPr>
              <a:t>季風迎風面的北部，依然有降水，位處背風側的</a:t>
            </a:r>
            <a:r>
              <a:rPr lang="zh-TW" altLang="en-US" u="sng" dirty="0">
                <a:solidFill>
                  <a:srgbClr val="FF0000"/>
                </a:solidFill>
                <a:latin typeface="標楷體" pitchFamily="65" charset="-120"/>
                <a:ea typeface="標楷體" pitchFamily="65" charset="-120"/>
              </a:rPr>
              <a:t>        </a:t>
            </a:r>
            <a:r>
              <a:rPr lang="zh-TW" altLang="en-US" dirty="0">
                <a:solidFill>
                  <a:srgbClr val="FF0000"/>
                </a:solidFill>
                <a:latin typeface="標楷體" pitchFamily="65" charset="-120"/>
                <a:ea typeface="標楷體" pitchFamily="65" charset="-120"/>
              </a:rPr>
              <a:t>及</a:t>
            </a:r>
            <a:r>
              <a:rPr lang="zh-TW" altLang="en-US" u="sng" dirty="0">
                <a:solidFill>
                  <a:srgbClr val="FF0000"/>
                </a:solidFill>
                <a:latin typeface="標楷體" pitchFamily="65" charset="-120"/>
                <a:ea typeface="標楷體" pitchFamily="65" charset="-120"/>
              </a:rPr>
              <a:t>         </a:t>
            </a:r>
            <a:r>
              <a:rPr lang="zh-TW" altLang="en-US" dirty="0">
                <a:solidFill>
                  <a:srgbClr val="FF0000"/>
                </a:solidFill>
                <a:latin typeface="標楷體" pitchFamily="65" charset="-120"/>
                <a:ea typeface="標楷體" pitchFamily="65" charset="-120"/>
              </a:rPr>
              <a:t>地區則少雨</a:t>
            </a:r>
            <a:r>
              <a:rPr lang="zh-TW" altLang="en-US" dirty="0">
                <a:latin typeface="標楷體" pitchFamily="65" charset="-120"/>
                <a:ea typeface="標楷體" pitchFamily="65" charset="-120"/>
              </a:rPr>
              <a:t>，</a:t>
            </a:r>
            <a:r>
              <a:rPr lang="zh-TW" altLang="en-US" dirty="0">
                <a:solidFill>
                  <a:srgbClr val="FF0000"/>
                </a:solidFill>
                <a:latin typeface="標楷體" pitchFamily="65" charset="-120"/>
                <a:ea typeface="標楷體" pitchFamily="65" charset="-120"/>
              </a:rPr>
              <a:t>旱季</a:t>
            </a:r>
            <a:r>
              <a:rPr lang="zh-TW" altLang="en-US" dirty="0">
                <a:latin typeface="標楷體" pitchFamily="65" charset="-120"/>
                <a:ea typeface="標楷體" pitchFamily="65" charset="-120"/>
              </a:rPr>
              <a:t>可長達</a:t>
            </a:r>
            <a:r>
              <a:rPr lang="zh-TW" altLang="en-US" dirty="0">
                <a:solidFill>
                  <a:srgbClr val="FF0000"/>
                </a:solidFill>
                <a:latin typeface="標楷體" pitchFamily="65" charset="-120"/>
                <a:ea typeface="標楷體" pitchFamily="65" charset="-120"/>
              </a:rPr>
              <a:t>數月</a:t>
            </a:r>
            <a:r>
              <a:rPr lang="zh-TW" altLang="en-US" dirty="0">
                <a:latin typeface="標楷體" pitchFamily="65" charset="-120"/>
                <a:ea typeface="標楷體" pitchFamily="65" charset="-120"/>
              </a:rPr>
              <a:t>，</a:t>
            </a:r>
            <a:r>
              <a:rPr lang="zh-TW" altLang="en-US" dirty="0">
                <a:solidFill>
                  <a:srgbClr val="FF0000"/>
                </a:solidFill>
                <a:latin typeface="標楷體" pitchFamily="65" charset="-120"/>
                <a:ea typeface="標楷體" pitchFamily="65" charset="-120"/>
              </a:rPr>
              <a:t>乾溼</a:t>
            </a:r>
            <a:r>
              <a:rPr lang="zh-TW" altLang="en-US" dirty="0">
                <a:latin typeface="標楷體" pitchFamily="65" charset="-120"/>
                <a:ea typeface="標楷體" pitchFamily="65" charset="-120"/>
              </a:rPr>
              <a:t>特別</a:t>
            </a:r>
            <a:r>
              <a:rPr lang="zh-TW" altLang="en-US" dirty="0">
                <a:solidFill>
                  <a:srgbClr val="FF0000"/>
                </a:solidFill>
                <a:latin typeface="標楷體" pitchFamily="65" charset="-120"/>
                <a:ea typeface="標楷體" pitchFamily="65" charset="-120"/>
              </a:rPr>
              <a:t>分明</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3.</a:t>
            </a:r>
            <a:r>
              <a:rPr lang="zh-TW" altLang="en-US" dirty="0">
                <a:solidFill>
                  <a:srgbClr val="FF0000"/>
                </a:solidFill>
                <a:latin typeface="標楷體" pitchFamily="65" charset="-120"/>
                <a:ea typeface="標楷體" pitchFamily="65" charset="-120"/>
              </a:rPr>
              <a:t>降水特徵</a:t>
            </a:r>
            <a:r>
              <a:rPr lang="zh-TW" altLang="en-US" dirty="0">
                <a:latin typeface="標楷體" pitchFamily="65" charset="-120"/>
                <a:ea typeface="標楷體" pitchFamily="65" charset="-120"/>
              </a:rPr>
              <a:t>：臺灣年均</a:t>
            </a:r>
            <a:r>
              <a:rPr lang="zh-TW" altLang="en-US" dirty="0">
                <a:solidFill>
                  <a:srgbClr val="FF0000"/>
                </a:solidFill>
                <a:latin typeface="標楷體" pitchFamily="65" charset="-120"/>
                <a:ea typeface="標楷體" pitchFamily="65" charset="-120"/>
              </a:rPr>
              <a:t>降水量高達 </a:t>
            </a:r>
            <a:r>
              <a:rPr lang="en-US" altLang="zh-TW" dirty="0">
                <a:solidFill>
                  <a:srgbClr val="FF0000"/>
                </a:solidFill>
                <a:latin typeface="標楷體" pitchFamily="65" charset="-120"/>
                <a:ea typeface="標楷體" pitchFamily="65" charset="-120"/>
              </a:rPr>
              <a:t>2,500 </a:t>
            </a:r>
            <a:r>
              <a:rPr lang="zh-TW" altLang="en-US" dirty="0">
                <a:solidFill>
                  <a:srgbClr val="FF0000"/>
                </a:solidFill>
                <a:latin typeface="標楷體" pitchFamily="65" charset="-120"/>
                <a:ea typeface="標楷體" pitchFamily="65" charset="-120"/>
              </a:rPr>
              <a:t>毫米以上，是世界平均值的</a:t>
            </a:r>
            <a:endParaRPr lang="en-US" altLang="zh-TW" dirty="0">
              <a:solidFill>
                <a:srgbClr val="FF0000"/>
              </a:solidFill>
              <a:latin typeface="標楷體" pitchFamily="65" charset="-120"/>
              <a:ea typeface="標楷體" pitchFamily="65" charset="-120"/>
            </a:endParaRPr>
          </a:p>
          <a:p>
            <a:r>
              <a:rPr lang="zh-TW" altLang="en-US" dirty="0">
                <a:solidFill>
                  <a:srgbClr val="FF0000"/>
                </a:solidFill>
                <a:latin typeface="標楷體" pitchFamily="65" charset="-120"/>
                <a:ea typeface="標楷體" pitchFamily="65" charset="-120"/>
              </a:rPr>
              <a:t>  </a:t>
            </a:r>
            <a:r>
              <a:rPr lang="en-US" altLang="zh-TW" dirty="0">
                <a:solidFill>
                  <a:srgbClr val="FF0000"/>
                </a:solidFill>
                <a:latin typeface="標楷體" pitchFamily="65" charset="-120"/>
                <a:ea typeface="標楷體" pitchFamily="65" charset="-120"/>
              </a:rPr>
              <a:t>2.6 </a:t>
            </a:r>
            <a:r>
              <a:rPr lang="zh-TW" altLang="en-US" dirty="0">
                <a:solidFill>
                  <a:srgbClr val="FF0000"/>
                </a:solidFill>
                <a:latin typeface="標楷體" pitchFamily="65" charset="-120"/>
                <a:ea typeface="標楷體" pitchFamily="65" charset="-120"/>
              </a:rPr>
              <a:t>倍，但</a:t>
            </a:r>
            <a:r>
              <a:rPr lang="zh-TW" altLang="en-US" dirty="0">
                <a:latin typeface="標楷體" pitchFamily="65" charset="-120"/>
                <a:ea typeface="標楷體" pitchFamily="65" charset="-120"/>
              </a:rPr>
              <a:t>卻也是</a:t>
            </a:r>
            <a:r>
              <a:rPr lang="zh-TW" altLang="en-US" dirty="0">
                <a:solidFill>
                  <a:srgbClr val="FF0000"/>
                </a:solidFill>
                <a:latin typeface="標楷體" pitchFamily="65" charset="-120"/>
                <a:ea typeface="標楷體" pitchFamily="65" charset="-120"/>
              </a:rPr>
              <a:t>世界排名第 </a:t>
            </a:r>
            <a:r>
              <a:rPr lang="en-US" altLang="zh-TW" dirty="0">
                <a:solidFill>
                  <a:srgbClr val="FF0000"/>
                </a:solidFill>
                <a:latin typeface="標楷體" pitchFamily="65" charset="-120"/>
                <a:ea typeface="標楷體" pitchFamily="65" charset="-120"/>
              </a:rPr>
              <a:t>18 </a:t>
            </a:r>
            <a:r>
              <a:rPr lang="zh-TW" altLang="en-US" dirty="0">
                <a:solidFill>
                  <a:srgbClr val="FF0000"/>
                </a:solidFill>
                <a:latin typeface="標楷體" pitchFamily="65" charset="-120"/>
                <a:ea typeface="標楷體" pitchFamily="65" charset="-120"/>
              </a:rPr>
              <a:t>缺水的國家</a:t>
            </a:r>
            <a:r>
              <a:rPr lang="zh-TW" altLang="en-US" dirty="0">
                <a:latin typeface="標楷體" pitchFamily="65" charset="-120"/>
                <a:ea typeface="標楷體" pitchFamily="65" charset="-120"/>
              </a:rPr>
              <a:t>（</a:t>
            </a:r>
            <a:r>
              <a:rPr lang="en-US" altLang="zh-TW" dirty="0">
                <a:latin typeface="標楷體" pitchFamily="65" charset="-120"/>
                <a:ea typeface="標楷體" pitchFamily="65" charset="-120"/>
              </a:rPr>
              <a:t>2020 </a:t>
            </a:r>
            <a:r>
              <a:rPr lang="zh-TW" altLang="en-US" dirty="0">
                <a:latin typeface="標楷體" pitchFamily="65" charset="-120"/>
                <a:ea typeface="標楷體" pitchFamily="65" charset="-120"/>
              </a:rPr>
              <a:t>年）。</a:t>
            </a:r>
          </a:p>
          <a:p>
            <a:r>
              <a:rPr lang="zh-TW" altLang="en-US" dirty="0">
                <a:latin typeface="標楷體" pitchFamily="65" charset="-120"/>
                <a:ea typeface="標楷體" pitchFamily="65" charset="-120"/>
              </a:rPr>
              <a:t>→</a:t>
            </a:r>
            <a:r>
              <a:rPr lang="zh-TW" altLang="en-US" dirty="0">
                <a:solidFill>
                  <a:srgbClr val="FF0000"/>
                </a:solidFill>
                <a:latin typeface="標楷體" pitchFamily="65" charset="-120"/>
                <a:ea typeface="標楷體" pitchFamily="65" charset="-120"/>
              </a:rPr>
              <a:t>原因：</a:t>
            </a:r>
            <a:r>
              <a:rPr lang="en-US" altLang="zh-TW" dirty="0">
                <a:latin typeface="標楷體" pitchFamily="65" charset="-120"/>
                <a:ea typeface="標楷體" pitchFamily="65" charset="-120"/>
              </a:rPr>
              <a:t> (1)</a:t>
            </a:r>
            <a:r>
              <a:rPr lang="zh-TW" altLang="en-US" dirty="0">
                <a:solidFill>
                  <a:srgbClr val="FF0000"/>
                </a:solidFill>
                <a:latin typeface="標楷體" pitchFamily="65" charset="-120"/>
                <a:ea typeface="標楷體" pitchFamily="65" charset="-120"/>
              </a:rPr>
              <a:t>降雨時空分布不均</a:t>
            </a:r>
            <a:r>
              <a:rPr lang="zh-TW" altLang="en-US" dirty="0">
                <a:latin typeface="標楷體" pitchFamily="65" charset="-120"/>
                <a:ea typeface="標楷體" pitchFamily="65" charset="-120"/>
              </a:rPr>
              <a:t>，</a:t>
            </a:r>
            <a:r>
              <a:rPr lang="en-US" altLang="zh-TW" dirty="0">
                <a:latin typeface="標楷體" pitchFamily="65" charset="-120"/>
                <a:ea typeface="標楷體" pitchFamily="65" charset="-120"/>
              </a:rPr>
              <a:t> (2)</a:t>
            </a:r>
            <a:r>
              <a:rPr lang="zh-TW" altLang="en-US" dirty="0">
                <a:latin typeface="標楷體" pitchFamily="65" charset="-120"/>
                <a:ea typeface="標楷體" pitchFamily="65" charset="-120"/>
              </a:rPr>
              <a:t>地形起伏大、</a:t>
            </a:r>
            <a:r>
              <a:rPr lang="zh-TW" altLang="en-US" dirty="0">
                <a:solidFill>
                  <a:srgbClr val="FF0000"/>
                </a:solidFill>
                <a:latin typeface="標楷體" pitchFamily="65" charset="-120"/>
                <a:ea typeface="標楷體" pitchFamily="65" charset="-120"/>
              </a:rPr>
              <a:t>河川短促</a:t>
            </a:r>
            <a:r>
              <a:rPr lang="zh-TW" altLang="en-US" dirty="0">
                <a:latin typeface="標楷體" pitchFamily="65" charset="-120"/>
                <a:ea typeface="標楷體" pitchFamily="65" charset="-120"/>
              </a:rPr>
              <a:t>且雨季時常見</a:t>
            </a:r>
            <a:r>
              <a:rPr lang="zh-TW" altLang="en-US" dirty="0">
                <a:solidFill>
                  <a:srgbClr val="FF0000"/>
                </a:solidFill>
                <a:latin typeface="標楷體" pitchFamily="65" charset="-120"/>
                <a:ea typeface="標楷體" pitchFamily="65" charset="-120"/>
              </a:rPr>
              <a:t>短時間強降雨，使水資源不易保存</a:t>
            </a:r>
            <a:r>
              <a:rPr lang="zh-TW" altLang="en-US" dirty="0">
                <a:latin typeface="標楷體" pitchFamily="65" charset="-120"/>
                <a:ea typeface="標楷體" pitchFamily="65" charset="-120"/>
              </a:rPr>
              <a:t>且容易致災，</a:t>
            </a:r>
            <a:r>
              <a:rPr lang="en-US" altLang="zh-TW" dirty="0">
                <a:latin typeface="標楷體" pitchFamily="65" charset="-120"/>
                <a:ea typeface="標楷體" pitchFamily="65" charset="-120"/>
              </a:rPr>
              <a:t> (3)</a:t>
            </a:r>
            <a:r>
              <a:rPr lang="zh-TW" altLang="en-US" dirty="0">
                <a:solidFill>
                  <a:srgbClr val="FF0000"/>
                </a:solidFill>
                <a:latin typeface="標楷體" pitchFamily="65" charset="-120"/>
                <a:ea typeface="標楷體" pitchFamily="65" charset="-120"/>
              </a:rPr>
              <a:t>人口密集，每人所能分配的水資源量少</a:t>
            </a:r>
            <a:r>
              <a:rPr lang="zh-TW" altLang="en-US" dirty="0">
                <a:latin typeface="標楷體" pitchFamily="65" charset="-120"/>
                <a:ea typeface="標楷體" pitchFamily="65" charset="-120"/>
              </a:rPr>
              <a:t>，約</a:t>
            </a:r>
            <a:r>
              <a:rPr lang="zh-TW" altLang="en-US" dirty="0">
                <a:solidFill>
                  <a:srgbClr val="FF0000"/>
                </a:solidFill>
                <a:latin typeface="標楷體" pitchFamily="65" charset="-120"/>
                <a:ea typeface="標楷體" pitchFamily="65" charset="-120"/>
              </a:rPr>
              <a:t>只有世界平均的 </a:t>
            </a:r>
            <a:r>
              <a:rPr lang="en-US" altLang="zh-TW" dirty="0">
                <a:solidFill>
                  <a:srgbClr val="FF0000"/>
                </a:solidFill>
                <a:latin typeface="標楷體" pitchFamily="65" charset="-120"/>
                <a:ea typeface="標楷體" pitchFamily="65" charset="-120"/>
              </a:rPr>
              <a:t>1╱7</a:t>
            </a:r>
            <a:r>
              <a:rPr lang="zh-TW" altLang="en-US" dirty="0">
                <a:latin typeface="標楷體" pitchFamily="65" charset="-120"/>
                <a:ea typeface="標楷體" pitchFamily="65" charset="-120"/>
              </a:rPr>
              <a:t>。</a:t>
            </a:r>
          </a:p>
        </p:txBody>
      </p:sp>
      <p:sp>
        <p:nvSpPr>
          <p:cNvPr id="9" name="矩形 8"/>
          <p:cNvSpPr>
            <a:spLocks noChangeArrowheads="1"/>
          </p:cNvSpPr>
          <p:nvPr/>
        </p:nvSpPr>
        <p:spPr bwMode="auto">
          <a:xfrm>
            <a:off x="2306532" y="1834462"/>
            <a:ext cx="7542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西南</a:t>
            </a:r>
          </a:p>
        </p:txBody>
      </p:sp>
      <p:sp>
        <p:nvSpPr>
          <p:cNvPr id="11" name="矩形 10"/>
          <p:cNvSpPr>
            <a:spLocks noChangeArrowheads="1"/>
          </p:cNvSpPr>
          <p:nvPr/>
        </p:nvSpPr>
        <p:spPr bwMode="auto">
          <a:xfrm>
            <a:off x="2949653" y="2522604"/>
            <a:ext cx="7542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東北</a:t>
            </a:r>
          </a:p>
        </p:txBody>
      </p:sp>
      <p:sp>
        <p:nvSpPr>
          <p:cNvPr id="12" name="矩形 11"/>
          <p:cNvSpPr>
            <a:spLocks noChangeArrowheads="1"/>
          </p:cNvSpPr>
          <p:nvPr/>
        </p:nvSpPr>
        <p:spPr bwMode="auto">
          <a:xfrm>
            <a:off x="1693353" y="2785958"/>
            <a:ext cx="7542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中部</a:t>
            </a:r>
          </a:p>
        </p:txBody>
      </p:sp>
      <p:sp>
        <p:nvSpPr>
          <p:cNvPr id="13" name="矩形 12"/>
          <p:cNvSpPr>
            <a:spLocks noChangeArrowheads="1"/>
          </p:cNvSpPr>
          <p:nvPr/>
        </p:nvSpPr>
        <p:spPr bwMode="auto">
          <a:xfrm>
            <a:off x="3059832" y="2810636"/>
            <a:ext cx="7542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南部</a:t>
            </a:r>
          </a:p>
        </p:txBody>
      </p:sp>
      <p:sp>
        <p:nvSpPr>
          <p:cNvPr id="15" name="矩形 14"/>
          <p:cNvSpPr>
            <a:spLocks noChangeArrowheads="1"/>
          </p:cNvSpPr>
          <p:nvPr/>
        </p:nvSpPr>
        <p:spPr bwMode="auto">
          <a:xfrm>
            <a:off x="72944" y="176939"/>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p.170</a:t>
            </a:r>
            <a:endParaRPr lang="zh-TW" altLang="en-US" sz="3600" b="0" dirty="0"/>
          </a:p>
        </p:txBody>
      </p:sp>
      <p:pic>
        <p:nvPicPr>
          <p:cNvPr id="1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5180757"/>
            <a:ext cx="7992888" cy="16037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Rectangle 9"/>
          <p:cNvSpPr>
            <a:spLocks noChangeArrowheads="1"/>
          </p:cNvSpPr>
          <p:nvPr/>
        </p:nvSpPr>
        <p:spPr bwMode="auto">
          <a:xfrm>
            <a:off x="553062" y="1098253"/>
            <a:ext cx="8051386" cy="240275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19</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190280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left)">
                                      <p:cBhvr>
                                        <p:cTn id="2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3" grpId="0"/>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979712" y="4033"/>
            <a:ext cx="8149251" cy="504056"/>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二、降雨</a:t>
            </a:r>
            <a:r>
              <a:rPr lang="zh-TW" altLang="en-US" dirty="0">
                <a:solidFill>
                  <a:srgbClr val="FF0000"/>
                </a:solidFill>
                <a:latin typeface="標楷體" pitchFamily="65" charset="-120"/>
                <a:ea typeface="標楷體" pitchFamily="65" charset="-120"/>
              </a:rPr>
              <a:t>時空分布不均</a:t>
            </a:r>
            <a:endParaRPr lang="en-US" altLang="zh-TW" dirty="0">
              <a:solidFill>
                <a:srgbClr val="FF0000"/>
              </a:solidFill>
              <a:latin typeface="標楷體" pitchFamily="65" charset="-120"/>
              <a:ea typeface="標楷體" pitchFamily="65" charset="-120"/>
            </a:endParaRPr>
          </a:p>
        </p:txBody>
      </p:sp>
      <p:sp>
        <p:nvSpPr>
          <p:cNvPr id="9" name="矩形 8"/>
          <p:cNvSpPr>
            <a:spLocks noChangeArrowheads="1"/>
          </p:cNvSpPr>
          <p:nvPr/>
        </p:nvSpPr>
        <p:spPr bwMode="auto">
          <a:xfrm>
            <a:off x="467544" y="-103430"/>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p.170</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20</a:t>
            </a:fld>
            <a:endParaRPr lang="zh-TW" sz="1400">
              <a:solidFill>
                <a:schemeClr val="dk1"/>
              </a:solidFill>
              <a:latin typeface="Arial"/>
              <a:ea typeface="Arial"/>
              <a:cs typeface="Arial"/>
              <a:sym typeface="Arial"/>
            </a:endParaRPr>
          </a:p>
        </p:txBody>
      </p:sp>
      <p:pic>
        <p:nvPicPr>
          <p:cNvPr id="1026" name="Picture 2">
            <a:extLst>
              <a:ext uri="{FF2B5EF4-FFF2-40B4-BE49-F238E27FC236}">
                <a16:creationId xmlns:a16="http://schemas.microsoft.com/office/drawing/2014/main" id="{D5198F72-0627-4F96-90E6-44544DCFB0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16" y="570431"/>
            <a:ext cx="9123784" cy="6287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直線接點 9">
            <a:extLst>
              <a:ext uri="{FF2B5EF4-FFF2-40B4-BE49-F238E27FC236}">
                <a16:creationId xmlns:a16="http://schemas.microsoft.com/office/drawing/2014/main" id="{4A6688E9-6FA8-4C58-9BA9-8458AC7C1640}"/>
              </a:ext>
            </a:extLst>
          </p:cNvPr>
          <p:cNvCxnSpPr>
            <a:cxnSpLocks/>
          </p:cNvCxnSpPr>
          <p:nvPr/>
        </p:nvCxnSpPr>
        <p:spPr>
          <a:xfrm>
            <a:off x="0" y="3861048"/>
            <a:ext cx="4932040" cy="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0359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3"/>
          <p:cNvSpPr>
            <a:spLocks noChangeArrowheads="1"/>
          </p:cNvSpPr>
          <p:nvPr/>
        </p:nvSpPr>
        <p:spPr bwMode="auto">
          <a:xfrm>
            <a:off x="-180528" y="199802"/>
            <a:ext cx="684371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a:solidFill>
                  <a:schemeClr val="tx1"/>
                </a:solidFill>
                <a:latin typeface="Arial" panose="020B0604020202020204" pitchFamily="34" charset="0"/>
                <a:ea typeface="新細明體" panose="02020500000000000000" pitchFamily="18" charset="-120"/>
              </a:defRPr>
            </a:lvl1pPr>
            <a:lvl2pPr marL="742950" indent="-285750" eaLnBrk="0" hangingPunct="0">
              <a:defRPr kumimoji="1">
                <a:solidFill>
                  <a:schemeClr val="tx1"/>
                </a:solidFill>
                <a:latin typeface="Arial" panose="020B0604020202020204" pitchFamily="34" charset="0"/>
                <a:ea typeface="新細明體" panose="02020500000000000000" pitchFamily="18" charset="-120"/>
              </a:defRPr>
            </a:lvl2pPr>
            <a:lvl3pPr marL="1143000" indent="-228600" eaLnBrk="0" hangingPunct="0">
              <a:defRPr kumimoji="1">
                <a:solidFill>
                  <a:schemeClr val="tx1"/>
                </a:solidFill>
                <a:latin typeface="Arial" panose="020B0604020202020204" pitchFamily="34" charset="0"/>
                <a:ea typeface="新細明體" panose="02020500000000000000" pitchFamily="18" charset="-120"/>
              </a:defRPr>
            </a:lvl3pPr>
            <a:lvl4pPr marL="1600200" indent="-228600" eaLnBrk="0" hangingPunct="0">
              <a:defRPr kumimoji="1">
                <a:solidFill>
                  <a:schemeClr val="tx1"/>
                </a:solidFill>
                <a:latin typeface="Arial" panose="020B0604020202020204" pitchFamily="34" charset="0"/>
                <a:ea typeface="新細明體" panose="02020500000000000000" pitchFamily="18" charset="-120"/>
              </a:defRPr>
            </a:lvl4pPr>
            <a:lvl5pPr marL="2057400" indent="-228600" eaLnBrk="0" hangingPunct="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a:defRPr/>
            </a:pPr>
            <a:r>
              <a:rPr lang="zh-TW" altLang="en-US" sz="4000" b="1" dirty="0">
                <a:latin typeface="標楷體" panose="03000509000000000000" pitchFamily="65" charset="-120"/>
                <a:ea typeface="標楷體" panose="03000509000000000000" pitchFamily="65" charset="-120"/>
              </a:rPr>
              <a:t>臺灣的</a:t>
            </a:r>
            <a:r>
              <a:rPr lang="zh-TW" altLang="en-US" sz="4000" b="1" dirty="0">
                <a:solidFill>
                  <a:srgbClr val="FF0000"/>
                </a:solidFill>
                <a:latin typeface="標楷體" panose="03000509000000000000" pitchFamily="65" charset="-120"/>
                <a:ea typeface="標楷體" panose="03000509000000000000" pitchFamily="65" charset="-120"/>
              </a:rPr>
              <a:t>位置</a:t>
            </a:r>
            <a:r>
              <a:rPr lang="zh-TW" altLang="en-US" sz="4000" b="1" dirty="0">
                <a:latin typeface="標楷體" panose="03000509000000000000" pitchFamily="65" charset="-120"/>
                <a:ea typeface="標楷體" panose="03000509000000000000" pitchFamily="65" charset="-120"/>
              </a:rPr>
              <a:t>與</a:t>
            </a:r>
            <a:r>
              <a:rPr lang="zh-TW" altLang="en-US" sz="4000" b="1" dirty="0">
                <a:solidFill>
                  <a:srgbClr val="FF0000"/>
                </a:solidFill>
                <a:latin typeface="標楷體" panose="03000509000000000000" pitchFamily="65" charset="-120"/>
                <a:ea typeface="標楷體" panose="03000509000000000000" pitchFamily="65" charset="-120"/>
              </a:rPr>
              <a:t>環境特色</a:t>
            </a:r>
            <a:r>
              <a:rPr lang="zh-TW" altLang="en-US" sz="4000" dirty="0">
                <a:latin typeface="標楷體" panose="03000509000000000000" pitchFamily="65" charset="-120"/>
                <a:ea typeface="標楷體" panose="03000509000000000000" pitchFamily="65" charset="-120"/>
              </a:rPr>
              <a:t> </a:t>
            </a:r>
            <a:endParaRPr lang="zh-TW" altLang="en-US" sz="4000" b="1" dirty="0">
              <a:latin typeface="微軟正黑體" panose="020B0604030504040204" pitchFamily="34" charset="-120"/>
              <a:ea typeface="微軟正黑體" panose="020B0604030504040204" pitchFamily="34" charset="-120"/>
            </a:endParaRPr>
          </a:p>
        </p:txBody>
      </p:sp>
      <p:sp>
        <p:nvSpPr>
          <p:cNvPr id="2" name="矩形 1"/>
          <p:cNvSpPr/>
          <p:nvPr/>
        </p:nvSpPr>
        <p:spPr>
          <a:xfrm>
            <a:off x="1979613" y="2420938"/>
            <a:ext cx="5813425" cy="2336800"/>
          </a:xfrm>
          <a:prstGeom prst="rect">
            <a:avLst/>
          </a:prstGeom>
          <a:noFill/>
          <a:ln>
            <a:noFill/>
          </a:ln>
        </p:spPr>
        <p:txBody>
          <a:bodyPr/>
          <a:lstStyle/>
          <a:p>
            <a:pPr marL="342900" indent="-342900">
              <a:spcBef>
                <a:spcPct val="20000"/>
              </a:spcBef>
              <a:defRPr/>
            </a:pPr>
            <a:r>
              <a:rPr lang="zh-TW" altLang="en-US" sz="4000" b="1" dirty="0">
                <a:latin typeface="+mn-ea"/>
                <a:ea typeface="+mn-ea"/>
              </a:rPr>
              <a:t>第一節</a:t>
            </a:r>
            <a:r>
              <a:rPr lang="en-US" altLang="zh-TW" sz="4000" b="1" dirty="0">
                <a:latin typeface="+mn-ea"/>
                <a:ea typeface="+mn-ea"/>
              </a:rPr>
              <a:t> </a:t>
            </a:r>
            <a:r>
              <a:rPr lang="zh-TW" altLang="en-US" sz="4000" b="1" dirty="0">
                <a:latin typeface="+mn-ea"/>
                <a:ea typeface="+mn-ea"/>
              </a:rPr>
              <a:t>臺灣的</a:t>
            </a:r>
            <a:r>
              <a:rPr lang="zh-TW" altLang="en-US" sz="4000" b="1" dirty="0">
                <a:solidFill>
                  <a:srgbClr val="FF0000"/>
                </a:solidFill>
                <a:latin typeface="+mn-ea"/>
                <a:ea typeface="+mn-ea"/>
              </a:rPr>
              <a:t>地理位置</a:t>
            </a:r>
          </a:p>
          <a:p>
            <a:pPr marL="342900" indent="-342900">
              <a:spcBef>
                <a:spcPct val="20000"/>
              </a:spcBef>
              <a:defRPr/>
            </a:pPr>
            <a:r>
              <a:rPr lang="zh-TW" altLang="en-US" sz="4000" b="1" dirty="0">
                <a:latin typeface="+mn-ea"/>
                <a:ea typeface="+mn-ea"/>
              </a:rPr>
              <a:t>第二節</a:t>
            </a:r>
            <a:r>
              <a:rPr lang="en-US" altLang="zh-TW" sz="4000" b="1" dirty="0">
                <a:latin typeface="+mn-ea"/>
                <a:ea typeface="+mn-ea"/>
              </a:rPr>
              <a:t> </a:t>
            </a:r>
            <a:r>
              <a:rPr lang="zh-TW" altLang="en-US" sz="4000" b="1" dirty="0">
                <a:latin typeface="+mn-ea"/>
                <a:ea typeface="+mn-ea"/>
              </a:rPr>
              <a:t>臺灣的</a:t>
            </a:r>
            <a:r>
              <a:rPr lang="zh-TW" altLang="en-US" sz="4000" b="1" dirty="0">
                <a:solidFill>
                  <a:srgbClr val="FF0000"/>
                </a:solidFill>
                <a:latin typeface="+mn-ea"/>
                <a:ea typeface="+mn-ea"/>
              </a:rPr>
              <a:t>環境特色</a:t>
            </a:r>
          </a:p>
          <a:p>
            <a:pPr marL="342900" indent="-342900">
              <a:spcBef>
                <a:spcPct val="20000"/>
              </a:spcBef>
              <a:defRPr/>
            </a:pPr>
            <a:r>
              <a:rPr lang="zh-TW" altLang="en-US" sz="4000" b="1" dirty="0">
                <a:latin typeface="+mn-ea"/>
                <a:ea typeface="+mn-ea"/>
              </a:rPr>
              <a:t>第三節</a:t>
            </a:r>
            <a:r>
              <a:rPr lang="en-US" altLang="zh-TW" sz="4000" b="1" dirty="0">
                <a:latin typeface="+mn-ea"/>
                <a:ea typeface="+mn-ea"/>
              </a:rPr>
              <a:t> </a:t>
            </a:r>
            <a:r>
              <a:rPr lang="zh-TW" altLang="en-US" sz="4000" b="1" dirty="0">
                <a:solidFill>
                  <a:srgbClr val="FF0000"/>
                </a:solidFill>
                <a:latin typeface="+mn-ea"/>
                <a:ea typeface="+mn-ea"/>
              </a:rPr>
              <a:t>多樣性</a:t>
            </a:r>
            <a:r>
              <a:rPr lang="zh-TW" altLang="en-US" sz="4000" b="1" dirty="0">
                <a:latin typeface="+mn-ea"/>
                <a:ea typeface="+mn-ea"/>
              </a:rPr>
              <a:t>的臺灣</a:t>
            </a:r>
          </a:p>
        </p:txBody>
      </p:sp>
      <p:pic>
        <p:nvPicPr>
          <p:cNvPr id="6148" name="圖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30288" y="1700213"/>
            <a:ext cx="7129462" cy="440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descr="http://bbs.godeyes.cn/upload/2008/09/23/23294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196752"/>
            <a:ext cx="9144000" cy="566124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線接點 5"/>
          <p:cNvCxnSpPr/>
          <p:nvPr/>
        </p:nvCxnSpPr>
        <p:spPr>
          <a:xfrm>
            <a:off x="0" y="3284984"/>
            <a:ext cx="9144000" cy="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3" name="投影片編號版面配置區 2"/>
          <p:cNvSpPr>
            <a:spLocks noGrp="1"/>
          </p:cNvSpPr>
          <p:nvPr>
            <p:ph type="sldNum" sz="quarter" idx="12"/>
          </p:nvPr>
        </p:nvSpPr>
        <p:spPr/>
        <p:txBody>
          <a:bodyPr/>
          <a:lstStyle/>
          <a:p>
            <a:pPr>
              <a:defRPr/>
            </a:pPr>
            <a:fld id="{08063CA8-1185-43EE-B4E3-538D737CA152}" type="slidenum">
              <a:rPr lang="en-US" altLang="zh-TW" smtClean="0"/>
              <a:pPr>
                <a:defRPr/>
              </a:pPr>
              <a:t>21</a:t>
            </a:fld>
            <a:endParaRPr lang="en-US" altLang="zh-TW"/>
          </a:p>
        </p:txBody>
      </p:sp>
      <p:sp>
        <p:nvSpPr>
          <p:cNvPr id="4" name="矩形 3"/>
          <p:cNvSpPr/>
          <p:nvPr/>
        </p:nvSpPr>
        <p:spPr>
          <a:xfrm>
            <a:off x="6317441" y="543714"/>
            <a:ext cx="2760692" cy="584775"/>
          </a:xfrm>
          <a:prstGeom prst="rect">
            <a:avLst/>
          </a:prstGeom>
        </p:spPr>
        <p:txBody>
          <a:bodyPr wrap="none">
            <a:spAutoFit/>
          </a:bodyPr>
          <a:lstStyle/>
          <a:p>
            <a:r>
              <a:rPr lang="zh-TW" altLang="en-US" sz="3200" dirty="0">
                <a:solidFill>
                  <a:srgbClr val="FF0000"/>
                </a:solidFill>
                <a:ea typeface="標楷體" panose="03000509000000000000" pitchFamily="65" charset="-120"/>
              </a:rPr>
              <a:t>熱帶沙漠氣候 </a:t>
            </a:r>
            <a:endParaRPr lang="zh-TW" altLang="en-US" sz="3200" dirty="0"/>
          </a:p>
        </p:txBody>
      </p:sp>
      <p:cxnSp>
        <p:nvCxnSpPr>
          <p:cNvPr id="9" name="直線接點 8">
            <a:extLst>
              <a:ext uri="{FF2B5EF4-FFF2-40B4-BE49-F238E27FC236}">
                <a16:creationId xmlns:a16="http://schemas.microsoft.com/office/drawing/2014/main" id="{FA104F26-C415-43D3-BA81-C99102F8ED1C}"/>
              </a:ext>
            </a:extLst>
          </p:cNvPr>
          <p:cNvCxnSpPr/>
          <p:nvPr/>
        </p:nvCxnSpPr>
        <p:spPr>
          <a:xfrm>
            <a:off x="-65867" y="4869160"/>
            <a:ext cx="9144000" cy="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905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FontTx/>
              <a:buNone/>
            </a:pPr>
            <a:fld id="{2A41A207-CB95-4AC5-9895-0EA55D1B2466}" type="slidenum">
              <a:rPr lang="en-US" altLang="zh-TW" sz="1400" smtClean="0"/>
              <a:pPr>
                <a:spcBef>
                  <a:spcPct val="0"/>
                </a:spcBef>
                <a:buFontTx/>
                <a:buNone/>
              </a:pPr>
              <a:t>22</a:t>
            </a:fld>
            <a:endParaRPr lang="en-US" altLang="zh-TW" sz="1400"/>
          </a:p>
        </p:txBody>
      </p:sp>
      <p:sp>
        <p:nvSpPr>
          <p:cNvPr id="80899" name="Rectangle 6"/>
          <p:cNvSpPr txBox="1">
            <a:spLocks noGrp="1"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r" eaLnBrk="1" hangingPunct="1">
              <a:spcBef>
                <a:spcPct val="0"/>
              </a:spcBef>
              <a:buFontTx/>
              <a:buNone/>
            </a:pPr>
            <a:fld id="{D36D0887-2317-4FC5-A3EA-4D46DA8830D2}" type="slidenum">
              <a:rPr lang="en-US" altLang="zh-TW" sz="1400"/>
              <a:pPr algn="r" eaLnBrk="1" hangingPunct="1">
                <a:spcBef>
                  <a:spcPct val="0"/>
                </a:spcBef>
                <a:buFontTx/>
                <a:buNone/>
              </a:pPr>
              <a:t>22</a:t>
            </a:fld>
            <a:endParaRPr lang="en-US" altLang="zh-TW" sz="1400"/>
          </a:p>
        </p:txBody>
      </p:sp>
      <p:sp>
        <p:nvSpPr>
          <p:cNvPr id="80900" name="Rectangle 2"/>
          <p:cNvSpPr>
            <a:spLocks noGrp="1" noChangeArrowheads="1"/>
          </p:cNvSpPr>
          <p:nvPr>
            <p:ph type="title" idx="4294967295"/>
          </p:nvPr>
        </p:nvSpPr>
        <p:spPr>
          <a:xfrm>
            <a:off x="391435" y="35253"/>
            <a:ext cx="8540750" cy="801361"/>
          </a:xfrm>
        </p:spPr>
        <p:txBody>
          <a:bodyPr/>
          <a:lstStyle/>
          <a:p>
            <a:r>
              <a:rPr lang="zh-TW" altLang="en-US" dirty="0"/>
              <a:t> 氣候</a:t>
            </a:r>
            <a:r>
              <a:rPr lang="en-US" altLang="zh-TW" dirty="0"/>
              <a:t>(</a:t>
            </a:r>
            <a:r>
              <a:rPr lang="zh-TW" altLang="en-US" dirty="0"/>
              <a:t>補充</a:t>
            </a:r>
            <a:r>
              <a:rPr lang="en-US" altLang="zh-TW" dirty="0"/>
              <a:t>1)</a:t>
            </a:r>
            <a:endParaRPr lang="zh-TW" altLang="en-US" dirty="0"/>
          </a:p>
        </p:txBody>
      </p:sp>
      <p:sp>
        <p:nvSpPr>
          <p:cNvPr id="80901" name="Rectangle 3"/>
          <p:cNvSpPr>
            <a:spLocks noGrp="1" noChangeArrowheads="1"/>
          </p:cNvSpPr>
          <p:nvPr>
            <p:ph type="body" idx="4294967295"/>
          </p:nvPr>
        </p:nvSpPr>
        <p:spPr>
          <a:xfrm>
            <a:off x="179388" y="836614"/>
            <a:ext cx="8713787" cy="5211762"/>
          </a:xfrm>
        </p:spPr>
        <p:txBody>
          <a:bodyPr/>
          <a:lstStyle/>
          <a:p>
            <a:pPr marL="172720" indent="0">
              <a:buNone/>
            </a:pPr>
            <a:r>
              <a:rPr lang="zh-TW" altLang="en-US" sz="2800" b="1" dirty="0">
                <a:solidFill>
                  <a:srgbClr val="FF0000"/>
                </a:solidFill>
              </a:rPr>
              <a:t>降水</a:t>
            </a:r>
            <a:r>
              <a:rPr lang="zh-TW" altLang="en-US" sz="2800" b="1" dirty="0"/>
              <a:t>豐沛</a:t>
            </a:r>
            <a:r>
              <a:rPr lang="en-US" altLang="zh-TW" sz="2800" b="1" dirty="0"/>
              <a:t>──</a:t>
            </a:r>
          </a:p>
          <a:p>
            <a:pPr marL="172720" indent="0">
              <a:buNone/>
            </a:pPr>
            <a:r>
              <a:rPr lang="en-US" altLang="zh-TW" sz="2800" b="1" dirty="0"/>
              <a:t>1 </a:t>
            </a:r>
            <a:r>
              <a:rPr lang="zh-TW" altLang="en-US" sz="2800" b="1" dirty="0">
                <a:solidFill>
                  <a:srgbClr val="FF0000"/>
                </a:solidFill>
              </a:rPr>
              <a:t>成因</a:t>
            </a:r>
            <a:r>
              <a:rPr lang="zh-TW" altLang="en-US" sz="2800" b="1" dirty="0"/>
              <a:t>：位於</a:t>
            </a:r>
            <a:r>
              <a:rPr lang="zh-TW" altLang="en-US" sz="2800" b="1" dirty="0">
                <a:solidFill>
                  <a:srgbClr val="FF0000"/>
                </a:solidFill>
              </a:rPr>
              <a:t>大範圍的陸地和海洋交會</a:t>
            </a:r>
            <a:r>
              <a:rPr lang="zh-TW" altLang="en-US" sz="2800" b="1" dirty="0"/>
              <a:t>處，</a:t>
            </a:r>
            <a:br>
              <a:rPr lang="zh-TW" altLang="en-US" sz="2800" b="1" dirty="0"/>
            </a:br>
            <a:r>
              <a:rPr lang="zh-TW" altLang="en-US" sz="2800" b="1" dirty="0"/>
              <a:t>受</a:t>
            </a:r>
            <a:r>
              <a:rPr lang="zh-TW" altLang="en-US" sz="2800" b="1" u="sng" dirty="0">
                <a:solidFill>
                  <a:srgbClr val="0000FF"/>
                </a:solidFill>
              </a:rPr>
              <a:t>季風</a:t>
            </a:r>
            <a:r>
              <a:rPr lang="zh-TW" altLang="en-US" sz="2800" b="1" dirty="0">
                <a:solidFill>
                  <a:srgbClr val="FF0000"/>
                </a:solidFill>
              </a:rPr>
              <a:t>、</a:t>
            </a:r>
            <a:br>
              <a:rPr lang="en-US" altLang="zh-TW" sz="2800" b="1" dirty="0">
                <a:solidFill>
                  <a:srgbClr val="FF0000"/>
                </a:solidFill>
              </a:rPr>
            </a:br>
            <a:r>
              <a:rPr lang="zh-TW" altLang="en-US" sz="2800" b="1" u="sng" dirty="0">
                <a:solidFill>
                  <a:srgbClr val="0000FF"/>
                </a:solidFill>
              </a:rPr>
              <a:t>　梅雨　</a:t>
            </a:r>
            <a:r>
              <a:rPr lang="zh-TW" altLang="en-US" sz="2800" b="1" dirty="0"/>
              <a:t>及</a:t>
            </a:r>
            <a:r>
              <a:rPr lang="zh-TW" altLang="en-US" sz="2800" b="1" u="sng" dirty="0">
                <a:solidFill>
                  <a:srgbClr val="0000FF"/>
                </a:solidFill>
              </a:rPr>
              <a:t>　颱風  </a:t>
            </a:r>
            <a:r>
              <a:rPr lang="zh-TW" altLang="en-US" sz="2800" b="1" dirty="0"/>
              <a:t>影響。</a:t>
            </a:r>
            <a:endParaRPr lang="en-US" altLang="zh-TW" sz="2800" b="1" dirty="0"/>
          </a:p>
          <a:p>
            <a:pPr marL="172720" indent="0">
              <a:buNone/>
            </a:pPr>
            <a:endParaRPr lang="zh-TW" altLang="en-US" sz="2800" b="1" dirty="0"/>
          </a:p>
          <a:p>
            <a:pPr marL="172720" indent="0">
              <a:buNone/>
            </a:pPr>
            <a:r>
              <a:rPr lang="en-US" altLang="zh-TW" sz="2800" b="1" dirty="0"/>
              <a:t>a.</a:t>
            </a:r>
            <a:r>
              <a:rPr lang="zh-TW" altLang="en-US" sz="2800" b="1" dirty="0"/>
              <a:t>介於</a:t>
            </a:r>
            <a:r>
              <a:rPr lang="zh-TW" altLang="en-US" sz="2800" b="1" dirty="0">
                <a:solidFill>
                  <a:srgbClr val="FF0000"/>
                </a:solidFill>
              </a:rPr>
              <a:t>副熱帶季風</a:t>
            </a:r>
            <a:r>
              <a:rPr lang="en-US" altLang="zh-TW" sz="2800" b="1" dirty="0">
                <a:solidFill>
                  <a:srgbClr val="0000FF"/>
                </a:solidFill>
              </a:rPr>
              <a:t>(</a:t>
            </a:r>
            <a:r>
              <a:rPr lang="zh-TW" altLang="en-US" sz="2800" b="1" dirty="0">
                <a:solidFill>
                  <a:srgbClr val="0000FF"/>
                </a:solidFill>
              </a:rPr>
              <a:t>北部</a:t>
            </a:r>
            <a:r>
              <a:rPr lang="en-US" altLang="zh-TW" sz="2800" b="1" dirty="0">
                <a:solidFill>
                  <a:srgbClr val="0000FF"/>
                </a:solidFill>
              </a:rPr>
              <a:t>)</a:t>
            </a:r>
            <a:r>
              <a:rPr lang="zh-TW" altLang="en-US" sz="2800" b="1" dirty="0">
                <a:solidFill>
                  <a:srgbClr val="FF0000"/>
                </a:solidFill>
              </a:rPr>
              <a:t> 與 熱帶季風</a:t>
            </a:r>
            <a:r>
              <a:rPr lang="en-US" altLang="zh-TW" sz="2800" b="1" dirty="0">
                <a:solidFill>
                  <a:srgbClr val="0000FF"/>
                </a:solidFill>
              </a:rPr>
              <a:t>(</a:t>
            </a:r>
            <a:r>
              <a:rPr lang="zh-TW" altLang="en-US" sz="2800" b="1" dirty="0">
                <a:solidFill>
                  <a:srgbClr val="0000FF"/>
                </a:solidFill>
              </a:rPr>
              <a:t>南部</a:t>
            </a:r>
            <a:r>
              <a:rPr lang="en-US" altLang="zh-TW" sz="2800" b="1" dirty="0">
                <a:solidFill>
                  <a:srgbClr val="0000FF"/>
                </a:solidFill>
              </a:rPr>
              <a:t>)</a:t>
            </a:r>
            <a:r>
              <a:rPr lang="en-US" altLang="zh-TW" sz="2800" b="1" dirty="0">
                <a:solidFill>
                  <a:srgbClr val="FF0000"/>
                </a:solidFill>
              </a:rPr>
              <a:t> </a:t>
            </a:r>
            <a:r>
              <a:rPr lang="zh-TW" altLang="en-US" sz="2800" b="1" dirty="0">
                <a:solidFill>
                  <a:srgbClr val="FF0000"/>
                </a:solidFill>
              </a:rPr>
              <a:t>交接</a:t>
            </a:r>
            <a:r>
              <a:rPr lang="zh-TW" altLang="en-US" sz="2800" b="1" dirty="0"/>
              <a:t>處：</a:t>
            </a:r>
          </a:p>
          <a:p>
            <a:pPr marL="172720" indent="0">
              <a:buNone/>
            </a:pPr>
            <a:r>
              <a:rPr lang="zh-TW" altLang="en-US" sz="2800" b="1" dirty="0">
                <a:solidFill>
                  <a:srgbClr val="FF0000"/>
                </a:solidFill>
              </a:rPr>
              <a:t>夏</a:t>
            </a:r>
            <a:r>
              <a:rPr lang="zh-TW" altLang="en-US" sz="2800" b="1" dirty="0"/>
              <a:t>季</a:t>
            </a:r>
            <a:r>
              <a:rPr lang="en-US" altLang="zh-TW" sz="2800" b="1" dirty="0"/>
              <a:t>──</a:t>
            </a:r>
            <a:r>
              <a:rPr lang="zh-TW" altLang="en-US" sz="2800" b="1" dirty="0">
                <a:solidFill>
                  <a:srgbClr val="FF0000"/>
                </a:solidFill>
              </a:rPr>
              <a:t>西南季風 </a:t>
            </a:r>
            <a:r>
              <a:rPr lang="zh-TW" altLang="zh-TW" sz="2800" dirty="0"/>
              <a:t>，夏季為</a:t>
            </a:r>
            <a:r>
              <a:rPr lang="zh-TW" altLang="zh-TW" sz="2800" b="1" dirty="0">
                <a:solidFill>
                  <a:srgbClr val="FF0000"/>
                </a:solidFill>
              </a:rPr>
              <a:t>主要雨季</a:t>
            </a:r>
            <a:endParaRPr lang="en-US" altLang="zh-TW" sz="2800" b="1" dirty="0">
              <a:solidFill>
                <a:srgbClr val="FF0000"/>
              </a:solidFill>
            </a:endParaRPr>
          </a:p>
          <a:p>
            <a:pPr marL="172720" indent="0">
              <a:buNone/>
            </a:pPr>
            <a:r>
              <a:rPr lang="zh-TW" altLang="en-US" sz="2800" b="1" dirty="0">
                <a:solidFill>
                  <a:srgbClr val="FF0000"/>
                </a:solidFill>
              </a:rPr>
              <a:t>冬</a:t>
            </a:r>
            <a:r>
              <a:rPr lang="zh-TW" altLang="en-US" sz="2800" b="1" dirty="0"/>
              <a:t>季</a:t>
            </a:r>
            <a:r>
              <a:rPr lang="en-US" altLang="zh-TW" sz="2800" b="1" dirty="0"/>
              <a:t>──</a:t>
            </a:r>
            <a:r>
              <a:rPr lang="zh-TW" altLang="en-US" sz="2800" b="1" dirty="0">
                <a:solidFill>
                  <a:srgbClr val="FF0000"/>
                </a:solidFill>
              </a:rPr>
              <a:t>東北季風</a:t>
            </a:r>
            <a:r>
              <a:rPr lang="zh-TW" altLang="zh-TW" sz="2800" dirty="0"/>
              <a:t>，</a:t>
            </a:r>
            <a:r>
              <a:rPr lang="zh-TW" altLang="en-US" sz="2800" b="1" dirty="0">
                <a:solidFill>
                  <a:srgbClr val="0000FF"/>
                </a:solidFill>
              </a:rPr>
              <a:t>迎風坡亦</a:t>
            </a:r>
            <a:r>
              <a:rPr lang="zh-TW" altLang="zh-TW" sz="2800" b="1" dirty="0"/>
              <a:t>會</a:t>
            </a:r>
            <a:r>
              <a:rPr lang="zh-TW" altLang="en-US" sz="2800" b="1" dirty="0"/>
              <a:t>帶來</a:t>
            </a:r>
            <a:r>
              <a:rPr lang="zh-TW" altLang="en-US" sz="2800" b="1" dirty="0">
                <a:solidFill>
                  <a:srgbClr val="0000FF"/>
                </a:solidFill>
              </a:rPr>
              <a:t>降水</a:t>
            </a:r>
            <a:endParaRPr lang="en-US" altLang="zh-TW" sz="2800" b="1" dirty="0">
              <a:solidFill>
                <a:srgbClr val="0000FF"/>
              </a:solidFill>
            </a:endParaRPr>
          </a:p>
          <a:p>
            <a:pPr marL="172720" indent="0">
              <a:buNone/>
            </a:pPr>
            <a:r>
              <a:rPr lang="en-US" altLang="zh-TW" sz="2800" b="1" dirty="0"/>
              <a:t>b. </a:t>
            </a:r>
            <a:r>
              <a:rPr lang="zh-TW" altLang="en-US" sz="2800" b="1" dirty="0"/>
              <a:t>位居</a:t>
            </a:r>
            <a:r>
              <a:rPr lang="zh-TW" altLang="en-US" sz="2800" b="1" dirty="0">
                <a:solidFill>
                  <a:srgbClr val="FF0000"/>
                </a:solidFill>
              </a:rPr>
              <a:t>冷氣團 和 暖氣團 交會</a:t>
            </a:r>
            <a:r>
              <a:rPr lang="zh-TW" altLang="en-US" sz="2800" b="1" dirty="0"/>
              <a:t>處：</a:t>
            </a:r>
          </a:p>
          <a:p>
            <a:pPr marL="172720" indent="0">
              <a:buNone/>
            </a:pPr>
            <a:r>
              <a:rPr lang="en-US" altLang="zh-TW" sz="2800" b="1" dirty="0"/>
              <a:t>    </a:t>
            </a:r>
            <a:r>
              <a:rPr lang="zh-TW" altLang="en-US" sz="2800" b="1" dirty="0">
                <a:solidFill>
                  <a:srgbClr val="FF0000"/>
                </a:solidFill>
              </a:rPr>
              <a:t>春、夏之交</a:t>
            </a:r>
            <a:r>
              <a:rPr lang="en-US" altLang="zh-TW" sz="2800" b="1" dirty="0"/>
              <a:t>──</a:t>
            </a:r>
            <a:r>
              <a:rPr lang="zh-TW" altLang="en-US" sz="2800" b="1" u="sng" dirty="0">
                <a:solidFill>
                  <a:srgbClr val="0000FF"/>
                </a:solidFill>
              </a:rPr>
              <a:t>　梅雨　</a:t>
            </a:r>
            <a:r>
              <a:rPr lang="en-US" altLang="zh-TW" sz="2800" b="1" u="sng" dirty="0">
                <a:solidFill>
                  <a:srgbClr val="0000FF"/>
                </a:solidFill>
              </a:rPr>
              <a:t>(56</a:t>
            </a:r>
            <a:r>
              <a:rPr lang="zh-TW" altLang="en-US" sz="2800" b="1" u="sng" dirty="0">
                <a:solidFill>
                  <a:srgbClr val="0000FF"/>
                </a:solidFill>
              </a:rPr>
              <a:t>月</a:t>
            </a:r>
            <a:r>
              <a:rPr lang="en-US" altLang="zh-TW" sz="2800" b="1" u="sng" dirty="0">
                <a:solidFill>
                  <a:srgbClr val="0000FF"/>
                </a:solidFill>
              </a:rPr>
              <a:t>)</a:t>
            </a:r>
            <a:r>
              <a:rPr lang="zh-TW" altLang="en-US" sz="2800" b="1" dirty="0">
                <a:solidFill>
                  <a:srgbClr val="0000FF"/>
                </a:solidFill>
              </a:rPr>
              <a:t>。</a:t>
            </a:r>
          </a:p>
          <a:p>
            <a:pPr marL="172720" indent="0">
              <a:buNone/>
            </a:pPr>
            <a:r>
              <a:rPr lang="en-US" altLang="zh-TW" sz="2800" b="1" dirty="0"/>
              <a:t>c. </a:t>
            </a:r>
            <a:r>
              <a:rPr lang="zh-TW" altLang="en-US" sz="2800" b="1" dirty="0">
                <a:solidFill>
                  <a:srgbClr val="FF0000"/>
                </a:solidFill>
              </a:rPr>
              <a:t>夏、秋時期</a:t>
            </a:r>
            <a:r>
              <a:rPr lang="en-US" altLang="zh-TW" sz="2800" b="1" dirty="0"/>
              <a:t>──</a:t>
            </a:r>
            <a:r>
              <a:rPr lang="zh-TW" altLang="en-US" sz="2800" b="1" u="sng" dirty="0">
                <a:solidFill>
                  <a:srgbClr val="0000FF"/>
                </a:solidFill>
              </a:rPr>
              <a:t>　颱風　</a:t>
            </a:r>
            <a:r>
              <a:rPr lang="en-US" altLang="zh-TW" sz="2800" b="1" u="sng" dirty="0">
                <a:solidFill>
                  <a:srgbClr val="0000FF"/>
                </a:solidFill>
              </a:rPr>
              <a:t>(789</a:t>
            </a:r>
            <a:r>
              <a:rPr lang="zh-TW" altLang="en-US" sz="2800" b="1" u="sng" dirty="0">
                <a:solidFill>
                  <a:srgbClr val="0000FF"/>
                </a:solidFill>
              </a:rPr>
              <a:t>月</a:t>
            </a:r>
            <a:r>
              <a:rPr lang="en-US" altLang="zh-TW" sz="2800" b="1" u="sng" dirty="0">
                <a:solidFill>
                  <a:srgbClr val="0000FF"/>
                </a:solidFill>
              </a:rPr>
              <a:t>)</a:t>
            </a:r>
            <a:r>
              <a:rPr lang="zh-TW" altLang="en-US" sz="2800" b="1" dirty="0">
                <a:solidFill>
                  <a:srgbClr val="0000FF"/>
                </a:solidFill>
              </a:rPr>
              <a:t>。</a:t>
            </a:r>
          </a:p>
        </p:txBody>
      </p:sp>
      <p:sp>
        <p:nvSpPr>
          <p:cNvPr id="122885" name="Rectangle 5"/>
          <p:cNvSpPr>
            <a:spLocks noChangeArrowheads="1"/>
          </p:cNvSpPr>
          <p:nvPr/>
        </p:nvSpPr>
        <p:spPr bwMode="auto">
          <a:xfrm>
            <a:off x="734314" y="5800355"/>
            <a:ext cx="504825" cy="431800"/>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122886" name="Rectangle 6"/>
          <p:cNvSpPr>
            <a:spLocks noChangeArrowheads="1"/>
          </p:cNvSpPr>
          <p:nvPr/>
        </p:nvSpPr>
        <p:spPr bwMode="auto">
          <a:xfrm>
            <a:off x="1454394" y="5257156"/>
            <a:ext cx="431800" cy="431800"/>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20486" name="Rectangle 6"/>
          <p:cNvSpPr>
            <a:spLocks noChangeArrowheads="1"/>
          </p:cNvSpPr>
          <p:nvPr/>
        </p:nvSpPr>
        <p:spPr bwMode="auto">
          <a:xfrm>
            <a:off x="252413" y="836614"/>
            <a:ext cx="7127900" cy="186372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2" name="Rectangle 6"/>
          <p:cNvSpPr>
            <a:spLocks noChangeArrowheads="1"/>
          </p:cNvSpPr>
          <p:nvPr/>
        </p:nvSpPr>
        <p:spPr bwMode="auto">
          <a:xfrm>
            <a:off x="152034" y="3212827"/>
            <a:ext cx="8640762" cy="3168650"/>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3" name="矩形 2"/>
          <p:cNvSpPr/>
          <p:nvPr/>
        </p:nvSpPr>
        <p:spPr>
          <a:xfrm>
            <a:off x="252413" y="2771917"/>
            <a:ext cx="2462534" cy="461665"/>
          </a:xfrm>
          <a:prstGeom prst="rect">
            <a:avLst/>
          </a:prstGeom>
        </p:spPr>
        <p:txBody>
          <a:bodyPr wrap="none">
            <a:spAutoFit/>
          </a:bodyPr>
          <a:lstStyle/>
          <a:p>
            <a:pPr marL="342900" indent="-342900">
              <a:buFont typeface="Wingdings" panose="05000000000000000000" pitchFamily="2" charset="2"/>
              <a:buChar char="u"/>
            </a:pPr>
            <a:r>
              <a:rPr lang="zh-TW" altLang="en-US" sz="2400" b="1" dirty="0"/>
              <a:t>降水</a:t>
            </a:r>
            <a:r>
              <a:rPr lang="en-US" altLang="zh-TW" sz="2400" b="1" dirty="0"/>
              <a:t>’</a:t>
            </a:r>
            <a:r>
              <a:rPr lang="zh-TW" altLang="en-US" sz="2400" b="1" dirty="0">
                <a:solidFill>
                  <a:srgbClr val="FF0000"/>
                </a:solidFill>
              </a:rPr>
              <a:t>時間分布</a:t>
            </a:r>
            <a:endParaRPr lang="zh-TW" altLang="en-US" sz="2400" dirty="0"/>
          </a:p>
        </p:txBody>
      </p:sp>
    </p:spTree>
    <p:extLst>
      <p:ext uri="{BB962C8B-B14F-4D97-AF65-F5344CB8AC3E}">
        <p14:creationId xmlns:p14="http://schemas.microsoft.com/office/powerpoint/2010/main" val="15217422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6"/>
                                        </p:tgtEl>
                                        <p:attrNameLst>
                                          <p:attrName>style.visibility</p:attrName>
                                        </p:attrNameLst>
                                      </p:cBhvr>
                                      <p:to>
                                        <p:strVal val="visible"/>
                                      </p:to>
                                    </p:set>
                                    <p:animEffect transition="in" filter="wipe(left)">
                                      <p:cBhvr>
                                        <p:cTn id="7" dur="500"/>
                                        <p:tgtEl>
                                          <p:spTgt spid="204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2885"/>
                                        </p:tgtEl>
                                        <p:attrNameLst>
                                          <p:attrName>style.visibility</p:attrName>
                                        </p:attrNameLst>
                                      </p:cBhvr>
                                      <p:to>
                                        <p:strVal val="visible"/>
                                      </p:to>
                                    </p:set>
                                    <p:animEffect transition="in" filter="wipe(left)">
                                      <p:cBhvr>
                                        <p:cTn id="17" dur="500"/>
                                        <p:tgtEl>
                                          <p:spTgt spid="122885"/>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22886"/>
                                        </p:tgtEl>
                                        <p:attrNameLst>
                                          <p:attrName>style.visibility</p:attrName>
                                        </p:attrNameLst>
                                      </p:cBhvr>
                                      <p:to>
                                        <p:strVal val="visible"/>
                                      </p:to>
                                    </p:set>
                                    <p:animEffect transition="in" filter="wipe(left)">
                                      <p:cBhvr>
                                        <p:cTn id="20" dur="500"/>
                                        <p:tgtEl>
                                          <p:spTgt spid="122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5" grpId="0" animBg="1"/>
      <p:bldP spid="122886" grpId="0" animBg="1"/>
      <p:bldP spid="20486" grpId="0" animBg="1"/>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FontTx/>
              <a:buNone/>
            </a:pPr>
            <a:fld id="{276FC5E6-7FC2-4912-88F6-41F974541CA9}" type="slidenum">
              <a:rPr lang="en-US" altLang="zh-TW" sz="1400" smtClean="0"/>
              <a:pPr>
                <a:spcBef>
                  <a:spcPct val="0"/>
                </a:spcBef>
                <a:buFontTx/>
                <a:buNone/>
              </a:pPr>
              <a:t>23</a:t>
            </a:fld>
            <a:endParaRPr lang="en-US" altLang="zh-TW" sz="1400"/>
          </a:p>
        </p:txBody>
      </p:sp>
      <p:sp>
        <p:nvSpPr>
          <p:cNvPr id="82947" name="Rectangle 2"/>
          <p:cNvSpPr>
            <a:spLocks noGrp="1" noChangeArrowheads="1"/>
          </p:cNvSpPr>
          <p:nvPr>
            <p:ph type="title"/>
          </p:nvPr>
        </p:nvSpPr>
        <p:spPr>
          <a:xfrm>
            <a:off x="468313" y="0"/>
            <a:ext cx="5255815" cy="765175"/>
          </a:xfrm>
        </p:spPr>
        <p:txBody>
          <a:bodyPr/>
          <a:lstStyle/>
          <a:p>
            <a:r>
              <a:rPr lang="zh-TW" altLang="en-US" dirty="0"/>
              <a:t>氣候</a:t>
            </a:r>
            <a:r>
              <a:rPr lang="en-US" altLang="zh-TW" dirty="0"/>
              <a:t>(</a:t>
            </a:r>
            <a:r>
              <a:rPr lang="zh-TW" altLang="en-US" dirty="0"/>
              <a:t>補充</a:t>
            </a:r>
            <a:r>
              <a:rPr lang="en-US" altLang="zh-TW" dirty="0"/>
              <a:t>2)</a:t>
            </a:r>
          </a:p>
        </p:txBody>
      </p:sp>
      <p:graphicFrame>
        <p:nvGraphicFramePr>
          <p:cNvPr id="29732" name="Group 36"/>
          <p:cNvGraphicFramePr>
            <a:graphicFrameLocks noGrp="1"/>
          </p:cNvGraphicFramePr>
          <p:nvPr/>
        </p:nvGraphicFramePr>
        <p:xfrm>
          <a:off x="323850" y="2205038"/>
          <a:ext cx="7832725" cy="3062287"/>
        </p:xfrm>
        <a:graphic>
          <a:graphicData uri="http://schemas.openxmlformats.org/drawingml/2006/table">
            <a:tbl>
              <a:tblPr/>
              <a:tblGrid>
                <a:gridCol w="1008063">
                  <a:extLst>
                    <a:ext uri="{9D8B030D-6E8A-4147-A177-3AD203B41FA5}">
                      <a16:colId xmlns:a16="http://schemas.microsoft.com/office/drawing/2014/main" val="20000"/>
                    </a:ext>
                  </a:extLst>
                </a:gridCol>
                <a:gridCol w="2805112">
                  <a:extLst>
                    <a:ext uri="{9D8B030D-6E8A-4147-A177-3AD203B41FA5}">
                      <a16:colId xmlns:a16="http://schemas.microsoft.com/office/drawing/2014/main" val="20001"/>
                    </a:ext>
                  </a:extLst>
                </a:gridCol>
                <a:gridCol w="2378075">
                  <a:extLst>
                    <a:ext uri="{9D8B030D-6E8A-4147-A177-3AD203B41FA5}">
                      <a16:colId xmlns:a16="http://schemas.microsoft.com/office/drawing/2014/main" val="20002"/>
                    </a:ext>
                  </a:extLst>
                </a:gridCol>
                <a:gridCol w="1641475">
                  <a:extLst>
                    <a:ext uri="{9D8B030D-6E8A-4147-A177-3AD203B41FA5}">
                      <a16:colId xmlns:a16="http://schemas.microsoft.com/office/drawing/2014/main" val="20003"/>
                    </a:ext>
                  </a:extLst>
                </a:gridCol>
              </a:tblGrid>
              <a:tr h="101602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TW" altLang="en-US" sz="2800" b="0" i="0" u="none" strike="noStrike" cap="none" normalizeH="0" baseline="0">
                        <a:ln>
                          <a:noFill/>
                        </a:ln>
                        <a:solidFill>
                          <a:schemeClr val="tx1"/>
                        </a:solidFill>
                        <a:effectLst/>
                        <a:latin typeface="Arial" charset="0"/>
                        <a:ea typeface="新細明體" charset="-120"/>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TW" altLang="en-US" sz="2800" b="0" i="0" u="none" strike="noStrike" cap="none" normalizeH="0" baseline="0">
                          <a:ln>
                            <a:noFill/>
                          </a:ln>
                          <a:solidFill>
                            <a:schemeClr val="tx1"/>
                          </a:solidFill>
                          <a:effectLst/>
                          <a:latin typeface="Arial" charset="0"/>
                          <a:ea typeface="新細明體" charset="-120"/>
                        </a:rPr>
                        <a:t>冬</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TW" altLang="en-US" sz="2800" b="0" i="0" u="none" strike="noStrike" cap="none" normalizeH="0" baseline="0">
                          <a:ln>
                            <a:noFill/>
                          </a:ln>
                          <a:solidFill>
                            <a:schemeClr val="tx1"/>
                          </a:solidFill>
                          <a:effectLst/>
                          <a:latin typeface="Arial" charset="0"/>
                          <a:ea typeface="新細明體" charset="-120"/>
                        </a:rPr>
                        <a:t>夏</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1" lang="zh-TW" altLang="en-US" sz="2800" b="0" i="0" u="none" strike="noStrike" cap="none" normalizeH="0" baseline="0">
                        <a:ln>
                          <a:noFill/>
                        </a:ln>
                        <a:solidFill>
                          <a:schemeClr val="tx1"/>
                        </a:solidFill>
                        <a:effectLst/>
                        <a:latin typeface="Arial" charset="0"/>
                        <a:ea typeface="新細明體" charset="-120"/>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03024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TW" altLang="en-US" sz="2800" b="0" i="0" u="none" strike="noStrike" cap="none" normalizeH="0" baseline="0">
                          <a:ln>
                            <a:noFill/>
                          </a:ln>
                          <a:solidFill>
                            <a:schemeClr val="tx1"/>
                          </a:solidFill>
                          <a:effectLst/>
                          <a:latin typeface="Arial" charset="0"/>
                          <a:ea typeface="新細明體" charset="-120"/>
                        </a:rPr>
                        <a:t>東北部</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TW" altLang="en-US" sz="2800" b="0" i="0" u="none" strike="noStrike" cap="none" normalizeH="0" baseline="0">
                          <a:ln>
                            <a:noFill/>
                          </a:ln>
                          <a:solidFill>
                            <a:schemeClr val="tx1"/>
                          </a:solidFill>
                          <a:effectLst/>
                          <a:latin typeface="Arial" charset="0"/>
                          <a:ea typeface="新細明體" charset="-120"/>
                        </a:rPr>
                        <a:t>雨</a:t>
                      </a:r>
                    </a:p>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TW" sz="2800" b="0" i="0" u="none" strike="noStrike" cap="none" normalizeH="0" baseline="0">
                          <a:ln>
                            <a:noFill/>
                          </a:ln>
                          <a:solidFill>
                            <a:schemeClr val="tx1"/>
                          </a:solidFill>
                          <a:effectLst/>
                          <a:latin typeface="Arial" charset="0"/>
                          <a:ea typeface="新細明體" charset="-120"/>
                        </a:rPr>
                        <a:t>(</a:t>
                      </a:r>
                      <a:r>
                        <a:rPr kumimoji="1" lang="zh-TW" altLang="en-US" sz="2800" b="0" i="0" u="none" strike="noStrike" cap="none" normalizeH="0" baseline="0">
                          <a:ln>
                            <a:noFill/>
                          </a:ln>
                          <a:solidFill>
                            <a:schemeClr val="tx1"/>
                          </a:solidFill>
                          <a:effectLst/>
                          <a:latin typeface="Arial" charset="0"/>
                          <a:ea typeface="新細明體" charset="-120"/>
                        </a:rPr>
                        <a:t>迎風坡 地形雨</a:t>
                      </a:r>
                      <a:r>
                        <a:rPr kumimoji="1" lang="en-US" altLang="zh-TW" sz="2800" b="0" i="0" u="none" strike="noStrike" cap="none" normalizeH="0" baseline="0">
                          <a:ln>
                            <a:noFill/>
                          </a:ln>
                          <a:solidFill>
                            <a:schemeClr val="tx1"/>
                          </a:solidFill>
                          <a:effectLst/>
                          <a:latin typeface="Arial" charset="0"/>
                          <a:ea typeface="新細明體" charset="-120"/>
                        </a:rPr>
                        <a:t>)</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TW" altLang="en-US" sz="2800" b="0" i="0" u="none" strike="noStrike" cap="none" normalizeH="0" baseline="0">
                          <a:ln>
                            <a:noFill/>
                          </a:ln>
                          <a:solidFill>
                            <a:schemeClr val="tx1"/>
                          </a:solidFill>
                          <a:effectLst/>
                          <a:latin typeface="Arial" charset="0"/>
                          <a:ea typeface="新細明體" charset="-120"/>
                        </a:rPr>
                        <a:t>雨</a:t>
                      </a:r>
                    </a:p>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TW" sz="2800" b="0" i="0" u="none" strike="noStrike" cap="none" normalizeH="0" baseline="0">
                          <a:ln>
                            <a:noFill/>
                          </a:ln>
                          <a:solidFill>
                            <a:schemeClr val="tx1"/>
                          </a:solidFill>
                          <a:effectLst/>
                          <a:latin typeface="Arial" charset="0"/>
                          <a:ea typeface="新細明體" charset="-120"/>
                        </a:rPr>
                        <a:t>(</a:t>
                      </a:r>
                      <a:r>
                        <a:rPr kumimoji="1" lang="zh-TW" altLang="en-US" sz="2800" b="0" i="0" u="none" strike="noStrike" cap="none" normalizeH="0" baseline="0">
                          <a:ln>
                            <a:noFill/>
                          </a:ln>
                          <a:solidFill>
                            <a:schemeClr val="tx1"/>
                          </a:solidFill>
                          <a:effectLst/>
                          <a:latin typeface="Arial" charset="0"/>
                          <a:ea typeface="新細明體" charset="-120"/>
                        </a:rPr>
                        <a:t>梅雨、颱風</a:t>
                      </a:r>
                      <a:r>
                        <a:rPr kumimoji="1" lang="en-US" altLang="zh-TW" sz="2800" b="0" i="0" u="none" strike="noStrike" cap="none" normalizeH="0" baseline="0">
                          <a:ln>
                            <a:noFill/>
                          </a:ln>
                          <a:solidFill>
                            <a:schemeClr val="tx1"/>
                          </a:solidFill>
                          <a:effectLst/>
                          <a:latin typeface="Arial" charset="0"/>
                          <a:ea typeface="新細明體" charset="-120"/>
                        </a:rPr>
                        <a:t>)</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TW" altLang="en-US" sz="2800" b="0" i="0" u="none" strike="noStrike" cap="none" normalizeH="0" baseline="0">
                          <a:ln>
                            <a:noFill/>
                          </a:ln>
                          <a:solidFill>
                            <a:srgbClr val="FF0000"/>
                          </a:solidFill>
                          <a:effectLst/>
                          <a:latin typeface="Arial" charset="0"/>
                          <a:ea typeface="新細明體" charset="-120"/>
                        </a:rPr>
                        <a:t>四季有雨</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16021">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TW" altLang="en-US" sz="2800" b="0" i="0" u="none" strike="noStrike" cap="none" normalizeH="0" baseline="0">
                          <a:ln>
                            <a:noFill/>
                          </a:ln>
                          <a:solidFill>
                            <a:schemeClr val="tx1"/>
                          </a:solidFill>
                          <a:effectLst/>
                          <a:latin typeface="Arial" charset="0"/>
                          <a:ea typeface="新細明體" charset="-120"/>
                        </a:rPr>
                        <a:t>中南部</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TW" altLang="en-US" sz="2800" b="0" i="0" u="none" strike="noStrike" cap="none" normalizeH="0" baseline="0">
                          <a:ln>
                            <a:noFill/>
                          </a:ln>
                          <a:solidFill>
                            <a:schemeClr val="tx1"/>
                          </a:solidFill>
                          <a:effectLst/>
                          <a:latin typeface="Arial" charset="0"/>
                          <a:ea typeface="新細明體" charset="-120"/>
                        </a:rPr>
                        <a:t>乾</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TW" altLang="en-US" sz="2800" b="0" i="0" u="none" strike="noStrike" cap="none" normalizeH="0" baseline="0">
                          <a:ln>
                            <a:noFill/>
                          </a:ln>
                          <a:solidFill>
                            <a:schemeClr val="tx1"/>
                          </a:solidFill>
                          <a:effectLst/>
                          <a:latin typeface="Arial" charset="0"/>
                          <a:ea typeface="新細明體" charset="-120"/>
                        </a:rPr>
                        <a:t>雨</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zh-TW" altLang="en-US" sz="2800" b="0" i="0" u="none" strike="noStrike" cap="none" normalizeH="0" baseline="0">
                          <a:ln>
                            <a:noFill/>
                          </a:ln>
                          <a:solidFill>
                            <a:srgbClr val="FF0000"/>
                          </a:solidFill>
                          <a:effectLst/>
                          <a:latin typeface="Arial" charset="0"/>
                          <a:ea typeface="新細明體" charset="-120"/>
                        </a:rPr>
                        <a:t>夏雨冬乾</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82970" name="Line 25"/>
          <p:cNvSpPr>
            <a:spLocks noChangeShapeType="1"/>
          </p:cNvSpPr>
          <p:nvPr/>
        </p:nvSpPr>
        <p:spPr bwMode="auto">
          <a:xfrm flipH="1">
            <a:off x="2484438" y="2349500"/>
            <a:ext cx="609600" cy="533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82971" name="Line 26"/>
          <p:cNvSpPr>
            <a:spLocks noChangeShapeType="1"/>
          </p:cNvSpPr>
          <p:nvPr/>
        </p:nvSpPr>
        <p:spPr bwMode="auto">
          <a:xfrm flipV="1">
            <a:off x="4859338" y="2420938"/>
            <a:ext cx="533400" cy="533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
        <p:nvSpPr>
          <p:cNvPr id="47132" name="Text Box 27"/>
          <p:cNvSpPr txBox="1">
            <a:spLocks noChangeArrowheads="1"/>
          </p:cNvSpPr>
          <p:nvPr/>
        </p:nvSpPr>
        <p:spPr bwMode="auto">
          <a:xfrm>
            <a:off x="129759" y="5327735"/>
            <a:ext cx="533992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r>
              <a:rPr lang="en-US" altLang="zh-TW" sz="3600" b="1" dirty="0">
                <a:solidFill>
                  <a:srgbClr val="0000FF"/>
                </a:solidFill>
                <a:latin typeface="Times New Roman" panose="02020603050405020304" pitchFamily="18" charset="0"/>
              </a:rPr>
              <a:t>∴</a:t>
            </a:r>
            <a:r>
              <a:rPr lang="zh-TW" altLang="en-US" sz="3600" b="1" dirty="0">
                <a:solidFill>
                  <a:srgbClr val="0000FF"/>
                </a:solidFill>
                <a:latin typeface="Times New Roman" panose="02020603050405020304" pitchFamily="18" charset="0"/>
              </a:rPr>
              <a:t>北部河川古有航行之利</a:t>
            </a:r>
          </a:p>
          <a:p>
            <a:pPr eaLnBrk="1" hangingPunct="1">
              <a:spcBef>
                <a:spcPct val="0"/>
              </a:spcBef>
              <a:buFontTx/>
              <a:buNone/>
            </a:pPr>
            <a:r>
              <a:rPr lang="zh-TW" altLang="en-US" sz="3600" b="1" dirty="0">
                <a:solidFill>
                  <a:srgbClr val="0000FF"/>
                </a:solidFill>
                <a:latin typeface="Times New Roman" panose="02020603050405020304" pitchFamily="18" charset="0"/>
              </a:rPr>
              <a:t>    南部多水庫 </a:t>
            </a:r>
            <a:r>
              <a:rPr lang="en-US" altLang="zh-TW" sz="3600" b="1" dirty="0">
                <a:solidFill>
                  <a:srgbClr val="0000FF"/>
                </a:solidFill>
                <a:latin typeface="Times New Roman" panose="02020603050405020304" pitchFamily="18" charset="0"/>
              </a:rPr>
              <a:t>(</a:t>
            </a:r>
            <a:r>
              <a:rPr lang="zh-TW" altLang="en-US" sz="3600" b="1" dirty="0">
                <a:solidFill>
                  <a:srgbClr val="0000FF"/>
                </a:solidFill>
                <a:latin typeface="Times New Roman" panose="02020603050405020304" pitchFamily="18" charset="0"/>
              </a:rPr>
              <a:t>以解 春旱</a:t>
            </a:r>
            <a:r>
              <a:rPr lang="en-US" altLang="zh-TW" sz="3600" b="1" dirty="0">
                <a:solidFill>
                  <a:srgbClr val="0000FF"/>
                </a:solidFill>
                <a:latin typeface="Times New Roman" panose="02020603050405020304" pitchFamily="18" charset="0"/>
              </a:rPr>
              <a:t>)</a:t>
            </a:r>
            <a:endParaRPr lang="en-US" altLang="zh-TW" sz="3600" b="1" dirty="0">
              <a:solidFill>
                <a:srgbClr val="FF00FF"/>
              </a:solidFill>
              <a:latin typeface="Times New Roman" panose="02020603050405020304" pitchFamily="18" charset="0"/>
            </a:endParaRPr>
          </a:p>
        </p:txBody>
      </p:sp>
      <p:sp>
        <p:nvSpPr>
          <p:cNvPr id="82973" name="Rectangle 28"/>
          <p:cNvSpPr>
            <a:spLocks noChangeArrowheads="1"/>
          </p:cNvSpPr>
          <p:nvPr/>
        </p:nvSpPr>
        <p:spPr bwMode="auto">
          <a:xfrm>
            <a:off x="395288" y="620713"/>
            <a:ext cx="8748712"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r>
              <a:rPr lang="zh-TW" altLang="en-US" b="1" dirty="0">
                <a:solidFill>
                  <a:srgbClr val="FF0000"/>
                </a:solidFill>
              </a:rPr>
              <a:t>降水</a:t>
            </a:r>
            <a:r>
              <a:rPr lang="zh-TW" altLang="en-US" b="1" dirty="0"/>
              <a:t>豐沛</a:t>
            </a:r>
            <a:r>
              <a:rPr lang="en-US" altLang="zh-TW" b="1" dirty="0"/>
              <a:t>──</a:t>
            </a:r>
          </a:p>
          <a:p>
            <a:pPr eaLnBrk="1" hangingPunct="1">
              <a:spcBef>
                <a:spcPct val="0"/>
              </a:spcBef>
              <a:buFontTx/>
              <a:buNone/>
            </a:pPr>
            <a:r>
              <a:rPr lang="en-US" altLang="zh-TW" b="1" dirty="0"/>
              <a:t>1 </a:t>
            </a:r>
            <a:r>
              <a:rPr lang="zh-TW" altLang="en-US" b="1" dirty="0">
                <a:solidFill>
                  <a:srgbClr val="FF0000"/>
                </a:solidFill>
              </a:rPr>
              <a:t>成因</a:t>
            </a:r>
            <a:r>
              <a:rPr lang="zh-TW" altLang="en-US" b="1" dirty="0"/>
              <a:t>：位於大</a:t>
            </a:r>
            <a:r>
              <a:rPr lang="zh-TW" altLang="en-US" b="1" dirty="0">
                <a:solidFill>
                  <a:srgbClr val="FF0000"/>
                </a:solidFill>
              </a:rPr>
              <a:t>範圍的陸地和海洋交會</a:t>
            </a:r>
            <a:r>
              <a:rPr lang="zh-TW" altLang="en-US" b="1" dirty="0"/>
              <a:t>處，受</a:t>
            </a:r>
            <a:br>
              <a:rPr lang="zh-TW" altLang="en-US" b="1" dirty="0"/>
            </a:br>
            <a:r>
              <a:rPr lang="zh-TW" altLang="en-US" b="1" u="sng" dirty="0">
                <a:solidFill>
                  <a:srgbClr val="0000FF"/>
                </a:solidFill>
              </a:rPr>
              <a:t>季風</a:t>
            </a:r>
            <a:r>
              <a:rPr lang="zh-TW" altLang="en-US" b="1" dirty="0">
                <a:solidFill>
                  <a:srgbClr val="FF0000"/>
                </a:solidFill>
              </a:rPr>
              <a:t>、</a:t>
            </a:r>
            <a:r>
              <a:rPr lang="zh-TW" altLang="en-US" b="1" u="sng" dirty="0">
                <a:solidFill>
                  <a:srgbClr val="0000FF"/>
                </a:solidFill>
              </a:rPr>
              <a:t>　梅雨　</a:t>
            </a:r>
            <a:r>
              <a:rPr lang="zh-TW" altLang="en-US" b="1" dirty="0"/>
              <a:t>及</a:t>
            </a:r>
            <a:r>
              <a:rPr lang="zh-TW" altLang="en-US" b="1" u="sng" dirty="0">
                <a:solidFill>
                  <a:srgbClr val="0000FF"/>
                </a:solidFill>
              </a:rPr>
              <a:t>　颱風  </a:t>
            </a:r>
            <a:r>
              <a:rPr lang="zh-TW" altLang="en-US" b="1" dirty="0"/>
              <a:t>影響。</a:t>
            </a:r>
          </a:p>
        </p:txBody>
      </p:sp>
      <p:sp>
        <p:nvSpPr>
          <p:cNvPr id="210973" name="Rectangle 29"/>
          <p:cNvSpPr>
            <a:spLocks noChangeArrowheads="1"/>
          </p:cNvSpPr>
          <p:nvPr/>
        </p:nvSpPr>
        <p:spPr bwMode="auto">
          <a:xfrm>
            <a:off x="4140200" y="2205038"/>
            <a:ext cx="2376488" cy="309562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210974" name="Rectangle 30"/>
          <p:cNvSpPr>
            <a:spLocks noChangeArrowheads="1"/>
          </p:cNvSpPr>
          <p:nvPr/>
        </p:nvSpPr>
        <p:spPr bwMode="auto">
          <a:xfrm>
            <a:off x="1331913" y="2205038"/>
            <a:ext cx="2808287" cy="309562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210975" name="Rectangle 31"/>
          <p:cNvSpPr>
            <a:spLocks noChangeArrowheads="1"/>
          </p:cNvSpPr>
          <p:nvPr/>
        </p:nvSpPr>
        <p:spPr bwMode="auto">
          <a:xfrm>
            <a:off x="323850" y="3213100"/>
            <a:ext cx="7848600" cy="1008063"/>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210976" name="Rectangle 32"/>
          <p:cNvSpPr>
            <a:spLocks noChangeArrowheads="1"/>
          </p:cNvSpPr>
          <p:nvPr/>
        </p:nvSpPr>
        <p:spPr bwMode="auto">
          <a:xfrm>
            <a:off x="323850" y="4221163"/>
            <a:ext cx="7848600" cy="1008062"/>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pic>
        <p:nvPicPr>
          <p:cNvPr id="33797" name="Picture 5"/>
          <p:cNvPicPr>
            <a:picLocks noChangeAspect="1" noChangeArrowheads="1"/>
          </p:cNvPicPr>
          <p:nvPr/>
        </p:nvPicPr>
        <p:blipFill>
          <a:blip r:embed="rId3">
            <a:extLst>
              <a:ext uri="{28A0092B-C50C-407E-A947-70E740481C1C}">
                <a14:useLocalDpi xmlns:a14="http://schemas.microsoft.com/office/drawing/2010/main" val="0"/>
              </a:ext>
            </a:extLst>
          </a:blip>
          <a:srcRect b="5724"/>
          <a:stretch>
            <a:fillRect/>
          </a:stretch>
        </p:blipFill>
        <p:spPr bwMode="auto">
          <a:xfrm>
            <a:off x="5435600" y="0"/>
            <a:ext cx="37084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71147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10974"/>
                                        </p:tgtEl>
                                        <p:attrNameLst>
                                          <p:attrName>style.visibility</p:attrName>
                                        </p:attrNameLst>
                                      </p:cBhvr>
                                      <p:to>
                                        <p:strVal val="visible"/>
                                      </p:to>
                                    </p:set>
                                    <p:animEffect transition="in" filter="wipe(up)">
                                      <p:cBhvr>
                                        <p:cTn id="7" dur="500"/>
                                        <p:tgtEl>
                                          <p:spTgt spid="2109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xit" presetSubtype="4" fill="hold" grpId="1" nodeType="clickEffect">
                                  <p:stCondLst>
                                    <p:cond delay="0"/>
                                  </p:stCondLst>
                                  <p:childTnLst>
                                    <p:animEffect transition="out" filter="wipe(down)">
                                      <p:cBhvr>
                                        <p:cTn id="11" dur="500"/>
                                        <p:tgtEl>
                                          <p:spTgt spid="210974"/>
                                        </p:tgtEl>
                                      </p:cBhvr>
                                    </p:animEffect>
                                    <p:set>
                                      <p:cBhvr>
                                        <p:cTn id="12" dur="1" fill="hold">
                                          <p:stCondLst>
                                            <p:cond delay="499"/>
                                          </p:stCondLst>
                                        </p:cTn>
                                        <p:tgtEl>
                                          <p:spTgt spid="210974"/>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10973"/>
                                        </p:tgtEl>
                                        <p:attrNameLst>
                                          <p:attrName>style.visibility</p:attrName>
                                        </p:attrNameLst>
                                      </p:cBhvr>
                                      <p:to>
                                        <p:strVal val="visible"/>
                                      </p:to>
                                    </p:set>
                                    <p:animEffect transition="in" filter="wipe(up)">
                                      <p:cBhvr>
                                        <p:cTn id="17" dur="500"/>
                                        <p:tgtEl>
                                          <p:spTgt spid="21097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xit" presetSubtype="4" fill="hold" grpId="1" nodeType="clickEffect">
                                  <p:stCondLst>
                                    <p:cond delay="0"/>
                                  </p:stCondLst>
                                  <p:childTnLst>
                                    <p:animEffect transition="out" filter="wipe(down)">
                                      <p:cBhvr>
                                        <p:cTn id="21" dur="500"/>
                                        <p:tgtEl>
                                          <p:spTgt spid="210973"/>
                                        </p:tgtEl>
                                      </p:cBhvr>
                                    </p:animEffect>
                                    <p:set>
                                      <p:cBhvr>
                                        <p:cTn id="22" dur="1" fill="hold">
                                          <p:stCondLst>
                                            <p:cond delay="499"/>
                                          </p:stCondLst>
                                        </p:cTn>
                                        <p:tgtEl>
                                          <p:spTgt spid="210973"/>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0975"/>
                                        </p:tgtEl>
                                        <p:attrNameLst>
                                          <p:attrName>style.visibility</p:attrName>
                                        </p:attrNameLst>
                                      </p:cBhvr>
                                      <p:to>
                                        <p:strVal val="visible"/>
                                      </p:to>
                                    </p:set>
                                    <p:animEffect transition="in" filter="wipe(left)">
                                      <p:cBhvr>
                                        <p:cTn id="27" dur="500"/>
                                        <p:tgtEl>
                                          <p:spTgt spid="21097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xit" presetSubtype="2" fill="hold" grpId="1" nodeType="clickEffect">
                                  <p:stCondLst>
                                    <p:cond delay="0"/>
                                  </p:stCondLst>
                                  <p:childTnLst>
                                    <p:animEffect transition="out" filter="wipe(right)">
                                      <p:cBhvr>
                                        <p:cTn id="31" dur="500"/>
                                        <p:tgtEl>
                                          <p:spTgt spid="210975"/>
                                        </p:tgtEl>
                                      </p:cBhvr>
                                    </p:animEffect>
                                    <p:set>
                                      <p:cBhvr>
                                        <p:cTn id="32" dur="1" fill="hold">
                                          <p:stCondLst>
                                            <p:cond delay="499"/>
                                          </p:stCondLst>
                                        </p:cTn>
                                        <p:tgtEl>
                                          <p:spTgt spid="210975"/>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0976"/>
                                        </p:tgtEl>
                                        <p:attrNameLst>
                                          <p:attrName>style.visibility</p:attrName>
                                        </p:attrNameLst>
                                      </p:cBhvr>
                                      <p:to>
                                        <p:strVal val="visible"/>
                                      </p:to>
                                    </p:set>
                                    <p:animEffect transition="in" filter="wipe(left)">
                                      <p:cBhvr>
                                        <p:cTn id="37" dur="500"/>
                                        <p:tgtEl>
                                          <p:spTgt spid="21097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xit" presetSubtype="2" fill="hold" grpId="1" nodeType="clickEffect">
                                  <p:stCondLst>
                                    <p:cond delay="0"/>
                                  </p:stCondLst>
                                  <p:childTnLst>
                                    <p:animEffect transition="out" filter="wipe(right)">
                                      <p:cBhvr>
                                        <p:cTn id="41" dur="500"/>
                                        <p:tgtEl>
                                          <p:spTgt spid="210976"/>
                                        </p:tgtEl>
                                      </p:cBhvr>
                                    </p:animEffect>
                                    <p:set>
                                      <p:cBhvr>
                                        <p:cTn id="42" dur="1" fill="hold">
                                          <p:stCondLst>
                                            <p:cond delay="499"/>
                                          </p:stCondLst>
                                        </p:cTn>
                                        <p:tgtEl>
                                          <p:spTgt spid="210976"/>
                                        </p:tgtEl>
                                        <p:attrNameLst>
                                          <p:attrName>style.visibility</p:attrName>
                                        </p:attrNameLst>
                                      </p:cBhvr>
                                      <p:to>
                                        <p:strVal val="hidden"/>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7132"/>
                                        </p:tgtEl>
                                        <p:attrNameLst>
                                          <p:attrName>style.visibility</p:attrName>
                                        </p:attrNameLst>
                                      </p:cBhvr>
                                      <p:to>
                                        <p:strVal val="visible"/>
                                      </p:to>
                                    </p:set>
                                    <p:animEffect transition="in" filter="wipe(left)">
                                      <p:cBhvr>
                                        <p:cTn id="47" dur="500"/>
                                        <p:tgtEl>
                                          <p:spTgt spid="47132"/>
                                        </p:tgtEl>
                                      </p:cBhvr>
                                    </p:animEffect>
                                  </p:childTnLst>
                                </p:cTn>
                              </p:par>
                            </p:childTnLst>
                          </p:cTn>
                        </p:par>
                        <p:par>
                          <p:cTn id="48" fill="hold" nodeType="afterGroup">
                            <p:stCondLst>
                              <p:cond delay="500"/>
                            </p:stCondLst>
                            <p:childTnLst>
                              <p:par>
                                <p:cTn id="49" presetID="18" presetClass="entr" presetSubtype="6" fill="hold" nodeType="afterEffect">
                                  <p:stCondLst>
                                    <p:cond delay="0"/>
                                  </p:stCondLst>
                                  <p:childTnLst>
                                    <p:set>
                                      <p:cBhvr>
                                        <p:cTn id="50" dur="1" fill="hold">
                                          <p:stCondLst>
                                            <p:cond delay="0"/>
                                          </p:stCondLst>
                                        </p:cTn>
                                        <p:tgtEl>
                                          <p:spTgt spid="33797"/>
                                        </p:tgtEl>
                                        <p:attrNameLst>
                                          <p:attrName>style.visibility</p:attrName>
                                        </p:attrNameLst>
                                      </p:cBhvr>
                                      <p:to>
                                        <p:strVal val="visible"/>
                                      </p:to>
                                    </p:set>
                                    <p:animEffect transition="in" filter="strips(downRight)">
                                      <p:cBhvr>
                                        <p:cTn id="51" dur="500"/>
                                        <p:tgtEl>
                                          <p:spTgt spid="33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32" grpId="0"/>
      <p:bldP spid="210973" grpId="0" animBg="1"/>
      <p:bldP spid="210973" grpId="1" animBg="1"/>
      <p:bldP spid="210974" grpId="0" animBg="1"/>
      <p:bldP spid="210974" grpId="1" animBg="1"/>
      <p:bldP spid="210975" grpId="0" animBg="1"/>
      <p:bldP spid="210975" grpId="1" animBg="1"/>
      <p:bldP spid="210976" grpId="0" animBg="1"/>
      <p:bldP spid="210976"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979713" y="4033"/>
            <a:ext cx="3024336" cy="504056"/>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二、降雨</a:t>
            </a:r>
            <a:r>
              <a:rPr lang="zh-TW" altLang="en-US" dirty="0">
                <a:solidFill>
                  <a:srgbClr val="FF0000"/>
                </a:solidFill>
                <a:latin typeface="標楷體" pitchFamily="65" charset="-120"/>
                <a:ea typeface="標楷體" pitchFamily="65" charset="-120"/>
              </a:rPr>
              <a:t>時</a:t>
            </a:r>
            <a:r>
              <a:rPr lang="en-US" altLang="zh-TW" dirty="0">
                <a:solidFill>
                  <a:srgbClr val="FF0000"/>
                </a:solidFill>
                <a:latin typeface="標楷體" pitchFamily="65" charset="-120"/>
                <a:ea typeface="標楷體" pitchFamily="65" charset="-120"/>
              </a:rPr>
              <a:t>/</a:t>
            </a:r>
            <a:r>
              <a:rPr lang="zh-TW" altLang="en-US" dirty="0">
                <a:solidFill>
                  <a:srgbClr val="FF0000"/>
                </a:solidFill>
                <a:latin typeface="標楷體" pitchFamily="65" charset="-120"/>
                <a:ea typeface="標楷體" pitchFamily="65" charset="-120"/>
              </a:rPr>
              <a:t>空 分布不均</a:t>
            </a:r>
            <a:endParaRPr lang="en-US" altLang="zh-TW" dirty="0">
              <a:solidFill>
                <a:srgbClr val="FF0000"/>
              </a:solidFill>
              <a:latin typeface="標楷體" pitchFamily="65" charset="-120"/>
              <a:ea typeface="標楷體" pitchFamily="65" charset="-120"/>
            </a:endParaRPr>
          </a:p>
        </p:txBody>
      </p:sp>
      <p:sp>
        <p:nvSpPr>
          <p:cNvPr id="9" name="矩形 8"/>
          <p:cNvSpPr>
            <a:spLocks noChangeArrowheads="1"/>
          </p:cNvSpPr>
          <p:nvPr/>
        </p:nvSpPr>
        <p:spPr bwMode="auto">
          <a:xfrm>
            <a:off x="467544" y="-103430"/>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p.170</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24</a:t>
            </a:fld>
            <a:endParaRPr lang="zh-TW" sz="1400">
              <a:solidFill>
                <a:schemeClr val="dk1"/>
              </a:solidFill>
              <a:latin typeface="Arial"/>
              <a:ea typeface="Arial"/>
              <a:cs typeface="Arial"/>
              <a:sym typeface="Arial"/>
            </a:endParaRPr>
          </a:p>
        </p:txBody>
      </p:sp>
      <p:pic>
        <p:nvPicPr>
          <p:cNvPr id="1026" name="Picture 2">
            <a:extLst>
              <a:ext uri="{FF2B5EF4-FFF2-40B4-BE49-F238E27FC236}">
                <a16:creationId xmlns:a16="http://schemas.microsoft.com/office/drawing/2014/main" id="{D5198F72-0627-4F96-90E6-44544DCFB0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16" y="570431"/>
            <a:ext cx="9123784" cy="6287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5">
            <a:extLst>
              <a:ext uri="{FF2B5EF4-FFF2-40B4-BE49-F238E27FC236}">
                <a16:creationId xmlns:a16="http://schemas.microsoft.com/office/drawing/2014/main" id="{8E307C61-FB87-42B4-87FC-9697235FAC6C}"/>
              </a:ext>
            </a:extLst>
          </p:cNvPr>
          <p:cNvSpPr>
            <a:spLocks noChangeArrowheads="1"/>
          </p:cNvSpPr>
          <p:nvPr/>
        </p:nvSpPr>
        <p:spPr bwMode="auto">
          <a:xfrm>
            <a:off x="1386728" y="1772817"/>
            <a:ext cx="865187" cy="4782764"/>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11" name="Rectangle 7">
            <a:extLst>
              <a:ext uri="{FF2B5EF4-FFF2-40B4-BE49-F238E27FC236}">
                <a16:creationId xmlns:a16="http://schemas.microsoft.com/office/drawing/2014/main" id="{B083DC6C-78DD-46E3-9363-D6553A33FCC0}"/>
              </a:ext>
            </a:extLst>
          </p:cNvPr>
          <p:cNvSpPr>
            <a:spLocks noChangeArrowheads="1"/>
          </p:cNvSpPr>
          <p:nvPr/>
        </p:nvSpPr>
        <p:spPr bwMode="auto">
          <a:xfrm>
            <a:off x="2771800" y="5251658"/>
            <a:ext cx="2076209"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r>
              <a:rPr lang="zh-TW" altLang="en-US" sz="2000" b="1" dirty="0">
                <a:solidFill>
                  <a:srgbClr val="0000FF"/>
                </a:solidFill>
                <a:latin typeface="Verdana" panose="020B0604030504040204" pitchFamily="34" charset="0"/>
              </a:rPr>
              <a:t>時：夏雨，</a:t>
            </a:r>
            <a:endParaRPr lang="en-US" altLang="zh-TW" sz="2000" b="1" dirty="0">
              <a:solidFill>
                <a:srgbClr val="0000FF"/>
              </a:solidFill>
              <a:latin typeface="Verdana" panose="020B0604030504040204" pitchFamily="34" charset="0"/>
            </a:endParaRPr>
          </a:p>
          <a:p>
            <a:pPr eaLnBrk="1" hangingPunct="1">
              <a:spcBef>
                <a:spcPct val="0"/>
              </a:spcBef>
              <a:buFontTx/>
              <a:buNone/>
            </a:pPr>
            <a:r>
              <a:rPr lang="zh-TW" altLang="en-US" sz="2000" b="1" dirty="0">
                <a:solidFill>
                  <a:srgbClr val="0000FF"/>
                </a:solidFill>
                <a:latin typeface="Verdana" panose="020B0604030504040204" pitchFamily="34" charset="0"/>
              </a:rPr>
              <a:t>尤 中南部</a:t>
            </a:r>
            <a:br>
              <a:rPr lang="en-US" altLang="zh-TW" sz="2000" b="1" dirty="0">
                <a:solidFill>
                  <a:srgbClr val="0000FF"/>
                </a:solidFill>
                <a:latin typeface="Verdana" panose="020B0604030504040204" pitchFamily="34" charset="0"/>
              </a:rPr>
            </a:br>
            <a:r>
              <a:rPr lang="en-US" altLang="zh-TW" sz="2000" b="1" dirty="0">
                <a:solidFill>
                  <a:srgbClr val="0000FF"/>
                </a:solidFill>
                <a:latin typeface="Verdana" panose="020B0604030504040204" pitchFamily="34" charset="0"/>
              </a:rPr>
              <a:t>    </a:t>
            </a:r>
            <a:r>
              <a:rPr lang="zh-TW" altLang="en-US" sz="2000" b="1" dirty="0">
                <a:solidFill>
                  <a:srgbClr val="0000FF"/>
                </a:solidFill>
                <a:latin typeface="Verdana" panose="020B0604030504040204" pitchFamily="34" charset="0"/>
              </a:rPr>
              <a:t>夏雨集中度高</a:t>
            </a:r>
          </a:p>
        </p:txBody>
      </p:sp>
      <p:sp>
        <p:nvSpPr>
          <p:cNvPr id="12" name="文字方塊 11">
            <a:extLst>
              <a:ext uri="{FF2B5EF4-FFF2-40B4-BE49-F238E27FC236}">
                <a16:creationId xmlns:a16="http://schemas.microsoft.com/office/drawing/2014/main" id="{34C70AE7-1029-469D-B448-11BE87E8419E}"/>
              </a:ext>
            </a:extLst>
          </p:cNvPr>
          <p:cNvSpPr txBox="1"/>
          <p:nvPr/>
        </p:nvSpPr>
        <p:spPr>
          <a:xfrm>
            <a:off x="4867218" y="94181"/>
            <a:ext cx="2528192" cy="400110"/>
          </a:xfrm>
          <a:prstGeom prst="rect">
            <a:avLst/>
          </a:prstGeom>
          <a:noFill/>
        </p:spPr>
        <p:txBody>
          <a:bodyPr wrap="square">
            <a:spAutoFit/>
          </a:bodyPr>
          <a:lstStyle/>
          <a:p>
            <a:r>
              <a:rPr lang="zh-TW" altLang="en-US" sz="2000" b="1" dirty="0">
                <a:solidFill>
                  <a:srgbClr val="0000FF"/>
                </a:solidFill>
              </a:rPr>
              <a:t>空：山地</a:t>
            </a:r>
            <a:r>
              <a:rPr lang="en-US" altLang="zh-TW" sz="2000" b="1" dirty="0">
                <a:solidFill>
                  <a:srgbClr val="0000FF"/>
                </a:solidFill>
              </a:rPr>
              <a:t>&gt;</a:t>
            </a:r>
            <a:r>
              <a:rPr lang="zh-TW" altLang="en-US" sz="2000" b="1" dirty="0">
                <a:solidFill>
                  <a:srgbClr val="0000FF"/>
                </a:solidFill>
              </a:rPr>
              <a:t>平地</a:t>
            </a:r>
            <a:r>
              <a:rPr lang="en-US" altLang="zh-TW" sz="2000" b="1" dirty="0">
                <a:solidFill>
                  <a:srgbClr val="0000FF"/>
                </a:solidFill>
              </a:rPr>
              <a:t>&gt;</a:t>
            </a:r>
            <a:r>
              <a:rPr lang="zh-TW" altLang="en-US" sz="2000" b="1" dirty="0">
                <a:solidFill>
                  <a:srgbClr val="0000FF"/>
                </a:solidFill>
              </a:rPr>
              <a:t>沿海</a:t>
            </a:r>
            <a:endParaRPr lang="zh-TW" altLang="en-US" sz="2000" dirty="0"/>
          </a:p>
        </p:txBody>
      </p:sp>
      <p:sp>
        <p:nvSpPr>
          <p:cNvPr id="13" name="Line 7">
            <a:extLst>
              <a:ext uri="{FF2B5EF4-FFF2-40B4-BE49-F238E27FC236}">
                <a16:creationId xmlns:a16="http://schemas.microsoft.com/office/drawing/2014/main" id="{F21D7C2C-8E57-41A0-B315-1C9E245EED5C}"/>
              </a:ext>
            </a:extLst>
          </p:cNvPr>
          <p:cNvSpPr>
            <a:spLocks noChangeShapeType="1"/>
          </p:cNvSpPr>
          <p:nvPr/>
        </p:nvSpPr>
        <p:spPr bwMode="auto">
          <a:xfrm flipH="1" flipV="1">
            <a:off x="722313" y="3789039"/>
            <a:ext cx="1944688" cy="173277"/>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TW" altLang="en-US"/>
          </a:p>
        </p:txBody>
      </p:sp>
    </p:spTree>
    <p:extLst>
      <p:ext uri="{BB962C8B-B14F-4D97-AF65-F5344CB8AC3E}">
        <p14:creationId xmlns:p14="http://schemas.microsoft.com/office/powerpoint/2010/main" val="3310113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right)">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22912"/>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539552" y="1054224"/>
            <a:ext cx="806489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4.</a:t>
            </a:r>
            <a:r>
              <a:rPr lang="zh-TW" altLang="en-US" sz="2400" dirty="0"/>
              <a:t>基隆的冬季降水量比夏季多，全年的降水量高於可能蒸發散量，主要與</a:t>
            </a:r>
            <a:r>
              <a:rPr lang="zh-TW" altLang="en-US" sz="2400" dirty="0">
                <a:solidFill>
                  <a:srgbClr val="FF0000"/>
                </a:solidFill>
              </a:rPr>
              <a:t>基隆冬季</a:t>
            </a:r>
            <a:r>
              <a:rPr lang="zh-TW" altLang="en-US" sz="2400" dirty="0"/>
              <a:t>常出現哪一種</a:t>
            </a:r>
            <a:r>
              <a:rPr lang="zh-TW" altLang="en-US" sz="2400" dirty="0">
                <a:solidFill>
                  <a:srgbClr val="FF0000"/>
                </a:solidFill>
              </a:rPr>
              <a:t>降雨類型</a:t>
            </a:r>
            <a:r>
              <a:rPr lang="zh-TW" altLang="en-US" sz="2400" dirty="0"/>
              <a:t>有關？</a:t>
            </a:r>
            <a:endParaRPr lang="en-US" altLang="zh-TW" sz="2400" dirty="0"/>
          </a:p>
          <a:p>
            <a:r>
              <a:rPr lang="zh-TW" altLang="en-US" sz="2400" dirty="0">
                <a:latin typeface="標楷體" pitchFamily="65" charset="-120"/>
              </a:rPr>
              <a:t>   </a:t>
            </a:r>
            <a:r>
              <a:rPr lang="en-US" altLang="zh-TW" sz="2400" dirty="0">
                <a:latin typeface="標楷體" pitchFamily="65" charset="-120"/>
              </a:rPr>
              <a:t>(A)</a:t>
            </a:r>
            <a:r>
              <a:rPr lang="zh-TW" altLang="en-US" sz="2400" dirty="0">
                <a:latin typeface="標楷體" pitchFamily="65" charset="-120"/>
              </a:rPr>
              <a:t>對流雨</a:t>
            </a:r>
            <a:endParaRPr lang="en-US" altLang="zh-TW" sz="2400" dirty="0">
              <a:latin typeface="標楷體" pitchFamily="65" charset="-120"/>
            </a:endParaRPr>
          </a:p>
          <a:p>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(C)</a:t>
            </a:r>
            <a:r>
              <a:rPr lang="zh-TW" altLang="en-US" sz="2400" dirty="0">
                <a:latin typeface="標楷體" pitchFamily="65" charset="-120"/>
              </a:rPr>
              <a:t>鋒面雨</a:t>
            </a:r>
            <a:endParaRPr lang="en-US" altLang="zh-TW" sz="2400" dirty="0">
              <a:latin typeface="標楷體" pitchFamily="65" charset="-120"/>
            </a:endParaRPr>
          </a:p>
          <a:p>
            <a:r>
              <a:rPr lang="zh-TW" altLang="en-US" sz="2400" dirty="0">
                <a:latin typeface="標楷體" pitchFamily="65" charset="-120"/>
              </a:rPr>
              <a:t>   </a:t>
            </a:r>
            <a:r>
              <a:rPr lang="en-US" altLang="zh-TW" sz="2400" dirty="0">
                <a:latin typeface="標楷體" pitchFamily="65" charset="-120"/>
              </a:rPr>
              <a:t>(D)</a:t>
            </a:r>
            <a:r>
              <a:rPr lang="zh-TW" altLang="en-US" sz="2400" dirty="0">
                <a:latin typeface="標楷體" pitchFamily="65" charset="-120"/>
              </a:rPr>
              <a:t>溫帶氣旋雨</a:t>
            </a:r>
          </a:p>
        </p:txBody>
      </p:sp>
      <p:sp>
        <p:nvSpPr>
          <p:cNvPr id="12" name="Rectangle 8"/>
          <p:cNvSpPr>
            <a:spLocks noChangeArrowheads="1"/>
          </p:cNvSpPr>
          <p:nvPr/>
        </p:nvSpPr>
        <p:spPr bwMode="auto">
          <a:xfrm>
            <a:off x="999401" y="3725897"/>
            <a:ext cx="669674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kern="1200" dirty="0">
                <a:solidFill>
                  <a:srgbClr val="FF0000"/>
                </a:solidFill>
                <a:latin typeface="Arial" charset="0"/>
                <a:ea typeface="標楷體" pitchFamily="65" charset="-120"/>
                <a:cs typeface="+mn-cs"/>
              </a:rPr>
              <a:t>基隆位於臺灣東北，冬季面迎來自海上的東北季風，潮溼水氣受地形攔阻抬升而降水，為副熱帶季風氣候區因</a:t>
            </a:r>
            <a:r>
              <a:rPr lang="en-US" altLang="zh-TW" sz="2400" dirty="0">
                <a:solidFill>
                  <a:srgbClr val="FF0000"/>
                </a:solidFill>
                <a:latin typeface="標楷體" pitchFamily="65" charset="-120"/>
              </a:rPr>
              <a:t>(B)</a:t>
            </a:r>
            <a:r>
              <a:rPr kumimoji="1" lang="zh-TW" altLang="en-US" sz="2400" kern="1200" dirty="0">
                <a:solidFill>
                  <a:srgbClr val="FF0000"/>
                </a:solidFill>
                <a:latin typeface="Arial" charset="0"/>
                <a:ea typeface="標楷體" pitchFamily="65" charset="-120"/>
                <a:cs typeface="+mn-cs"/>
              </a:rPr>
              <a:t>地形雨所形成的「冬雨區」。</a:t>
            </a:r>
          </a:p>
        </p:txBody>
      </p:sp>
      <p:sp>
        <p:nvSpPr>
          <p:cNvPr id="9" name="Text Box 3"/>
          <p:cNvSpPr txBox="1">
            <a:spLocks noChangeArrowheads="1"/>
          </p:cNvSpPr>
          <p:nvPr/>
        </p:nvSpPr>
        <p:spPr bwMode="auto">
          <a:xfrm>
            <a:off x="999401" y="2136209"/>
            <a:ext cx="23484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(B)</a:t>
            </a:r>
            <a:r>
              <a:rPr lang="zh-TW" altLang="en-US" sz="2400" dirty="0">
                <a:latin typeface="標楷體" pitchFamily="65" charset="-120"/>
              </a:rPr>
              <a:t>地形雨</a:t>
            </a:r>
          </a:p>
        </p:txBody>
      </p:sp>
      <p:sp>
        <p:nvSpPr>
          <p:cNvPr id="13" name="矩形 12"/>
          <p:cNvSpPr>
            <a:spLocks noChangeArrowheads="1"/>
          </p:cNvSpPr>
          <p:nvPr/>
        </p:nvSpPr>
        <p:spPr bwMode="auto">
          <a:xfrm>
            <a:off x="72944" y="176939"/>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p.171</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25</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317765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9">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9">
                                            <p:txEl>
                                              <p:pRg st="0" end="0"/>
                                            </p:txEl>
                                          </p:spTgt>
                                        </p:tgtEl>
                                        <p:attrNameLst>
                                          <p:attrName>style.fontStyle</p:attrName>
                                        </p:attrNameLst>
                                      </p:cBhvr>
                                      <p:to>
                                        <p:strVal val="normal"/>
                                      </p:to>
                                    </p:set>
                                    <p:set>
                                      <p:cBhvr override="childStyle">
                                        <p:cTn id="9" dur="indefinite"/>
                                        <p:tgtEl>
                                          <p:spTgt spid="9">
                                            <p:txEl>
                                              <p:pRg st="0" end="0"/>
                                            </p:txEl>
                                          </p:spTgt>
                                        </p:tgtEl>
                                        <p:attrNameLst>
                                          <p:attrName>style.fontWeight</p:attrName>
                                        </p:attrNameLst>
                                      </p:cBhvr>
                                      <p:to>
                                        <p:strVal val="bold"/>
                                      </p:to>
                                    </p:set>
                                    <p:set>
                                      <p:cBhvr override="childStyle">
                                        <p:cTn id="10" dur="indefinite"/>
                                        <p:tgtEl>
                                          <p:spTgt spid="9">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2240" y="177186"/>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4211960" y="1054224"/>
            <a:ext cx="446449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800" dirty="0">
                <a:latin typeface="標楷體" pitchFamily="65" charset="-120"/>
              </a:rPr>
              <a:t>5.</a:t>
            </a:r>
            <a:r>
              <a:rPr lang="zh-TW" altLang="en-US" sz="2800" dirty="0">
                <a:solidFill>
                  <a:srgbClr val="FF0000"/>
                </a:solidFill>
              </a:rPr>
              <a:t>花蓮  秋季降水</a:t>
            </a:r>
            <a:r>
              <a:rPr lang="zh-TW" altLang="en-US" sz="2800" dirty="0"/>
              <a:t>特別</a:t>
            </a:r>
            <a:r>
              <a:rPr lang="zh-TW" altLang="en-US" sz="2800" dirty="0">
                <a:solidFill>
                  <a:srgbClr val="FF0000"/>
                </a:solidFill>
              </a:rPr>
              <a:t>多</a:t>
            </a:r>
            <a:r>
              <a:rPr lang="zh-TW" altLang="en-US" sz="2800" dirty="0"/>
              <a:t>，最可能與臺灣</a:t>
            </a:r>
            <a:br>
              <a:rPr lang="en-US" altLang="zh-TW" sz="2800" dirty="0"/>
            </a:br>
            <a:r>
              <a:rPr lang="zh-TW" altLang="en-US" sz="2800" dirty="0"/>
              <a:t>何種自然災害有關？</a:t>
            </a:r>
            <a:r>
              <a:rPr lang="zh-TW" altLang="en-US" sz="2800" dirty="0">
                <a:ea typeface="新細明體" pitchFamily="18" charset="-120"/>
              </a:rPr>
              <a:t> </a:t>
            </a:r>
            <a:endParaRPr lang="en-US" altLang="zh-TW" sz="2800" dirty="0">
              <a:ea typeface="新細明體" pitchFamily="18" charset="-120"/>
            </a:endParaRPr>
          </a:p>
          <a:p>
            <a:r>
              <a:rPr lang="zh-TW" altLang="en-US" sz="2800" dirty="0">
                <a:latin typeface="標楷體" pitchFamily="65" charset="-120"/>
              </a:rPr>
              <a:t>   </a:t>
            </a:r>
            <a:r>
              <a:rPr lang="en-US" altLang="zh-TW" sz="2800" dirty="0">
                <a:latin typeface="標楷體" pitchFamily="65" charset="-120"/>
              </a:rPr>
              <a:t>(A)</a:t>
            </a:r>
            <a:r>
              <a:rPr lang="zh-TW" altLang="en-US" sz="2800" dirty="0">
                <a:latin typeface="標楷體" pitchFamily="65" charset="-120"/>
              </a:rPr>
              <a:t>地震 </a:t>
            </a:r>
            <a:r>
              <a:rPr lang="en-US" altLang="zh-TW" sz="2800" dirty="0">
                <a:latin typeface="標楷體" pitchFamily="65" charset="-120"/>
              </a:rPr>
              <a:t>  (B)</a:t>
            </a:r>
            <a:r>
              <a:rPr lang="zh-TW" altLang="en-US" sz="2800" dirty="0">
                <a:latin typeface="標楷體" pitchFamily="65" charset="-120"/>
              </a:rPr>
              <a:t>焚風</a:t>
            </a:r>
            <a:endParaRPr lang="en-US" altLang="zh-TW" sz="2800" dirty="0">
              <a:latin typeface="標楷體" pitchFamily="65" charset="-120"/>
            </a:endParaRPr>
          </a:p>
          <a:p>
            <a:r>
              <a:rPr lang="zh-TW" altLang="en-US" sz="2800" dirty="0">
                <a:latin typeface="標楷體" pitchFamily="65" charset="-120"/>
              </a:rPr>
              <a:t>   </a:t>
            </a:r>
            <a:r>
              <a:rPr lang="en-US" altLang="zh-TW" sz="2800" dirty="0">
                <a:latin typeface="標楷體" pitchFamily="65" charset="-120"/>
              </a:rPr>
              <a:t>(C)</a:t>
            </a:r>
            <a:r>
              <a:rPr lang="zh-TW" altLang="en-US" sz="2800" dirty="0">
                <a:latin typeface="標楷體" pitchFamily="65" charset="-120"/>
              </a:rPr>
              <a:t>土石流</a:t>
            </a:r>
          </a:p>
        </p:txBody>
      </p:sp>
      <p:sp>
        <p:nvSpPr>
          <p:cNvPr id="9" name="Text Box 3"/>
          <p:cNvSpPr txBox="1">
            <a:spLocks noChangeArrowheads="1"/>
          </p:cNvSpPr>
          <p:nvPr/>
        </p:nvSpPr>
        <p:spPr bwMode="auto">
          <a:xfrm>
            <a:off x="6523555" y="2841959"/>
            <a:ext cx="23484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800" dirty="0">
                <a:latin typeface="標楷體" pitchFamily="65" charset="-120"/>
              </a:rPr>
              <a:t>(D)</a:t>
            </a:r>
            <a:r>
              <a:rPr lang="zh-TW" altLang="en-US" sz="2800" dirty="0">
                <a:latin typeface="標楷體" pitchFamily="65" charset="-120"/>
              </a:rPr>
              <a:t>颱風</a:t>
            </a:r>
          </a:p>
        </p:txBody>
      </p:sp>
      <p:sp>
        <p:nvSpPr>
          <p:cNvPr id="13" name="矩形 12"/>
          <p:cNvSpPr>
            <a:spLocks noChangeArrowheads="1"/>
          </p:cNvSpPr>
          <p:nvPr/>
        </p:nvSpPr>
        <p:spPr bwMode="auto">
          <a:xfrm>
            <a:off x="5304140" y="110764"/>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p.171</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26</a:t>
            </a:fld>
            <a:endParaRPr lang="zh-TW" sz="1400">
              <a:solidFill>
                <a:schemeClr val="dk1"/>
              </a:solidFill>
              <a:latin typeface="Arial"/>
              <a:ea typeface="Arial"/>
              <a:cs typeface="Arial"/>
              <a:sym typeface="Arial"/>
            </a:endParaRPr>
          </a:p>
        </p:txBody>
      </p:sp>
      <p:pic>
        <p:nvPicPr>
          <p:cNvPr id="14" name="Picture 2">
            <a:extLst>
              <a:ext uri="{FF2B5EF4-FFF2-40B4-BE49-F238E27FC236}">
                <a16:creationId xmlns:a16="http://schemas.microsoft.com/office/drawing/2014/main" id="{DE1DAB6E-E563-484D-9081-064AAE01F8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4985" y="668518"/>
            <a:ext cx="8697425" cy="610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a:extLst>
              <a:ext uri="{FF2B5EF4-FFF2-40B4-BE49-F238E27FC236}">
                <a16:creationId xmlns:a16="http://schemas.microsoft.com/office/drawing/2014/main" id="{06EFF0FC-981B-4510-9091-41F7C6FD9CC8}"/>
              </a:ext>
            </a:extLst>
          </p:cNvPr>
          <p:cNvSpPr>
            <a:spLocks noChangeArrowheads="1"/>
          </p:cNvSpPr>
          <p:nvPr/>
        </p:nvSpPr>
        <p:spPr bwMode="auto">
          <a:xfrm>
            <a:off x="1339208" y="-34801"/>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p.170</a:t>
            </a:r>
            <a:endParaRPr lang="zh-TW" altLang="en-US" sz="3600" b="0" dirty="0"/>
          </a:p>
        </p:txBody>
      </p:sp>
    </p:spTree>
    <p:extLst>
      <p:ext uri="{BB962C8B-B14F-4D97-AF65-F5344CB8AC3E}">
        <p14:creationId xmlns:p14="http://schemas.microsoft.com/office/powerpoint/2010/main" val="32761076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FontTx/>
              <a:buNone/>
            </a:pPr>
            <a:fld id="{2A41A207-CB95-4AC5-9895-0EA55D1B2466}" type="slidenum">
              <a:rPr lang="en-US" altLang="zh-TW" sz="1400" smtClean="0"/>
              <a:pPr>
                <a:spcBef>
                  <a:spcPct val="0"/>
                </a:spcBef>
                <a:buFontTx/>
                <a:buNone/>
              </a:pPr>
              <a:t>27</a:t>
            </a:fld>
            <a:endParaRPr lang="en-US" altLang="zh-TW" sz="1400"/>
          </a:p>
        </p:txBody>
      </p:sp>
      <p:sp>
        <p:nvSpPr>
          <p:cNvPr id="80899" name="Rectangle 6"/>
          <p:cNvSpPr txBox="1">
            <a:spLocks noGrp="1"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gn="r" eaLnBrk="1" hangingPunct="1">
              <a:spcBef>
                <a:spcPct val="0"/>
              </a:spcBef>
              <a:buFontTx/>
              <a:buNone/>
            </a:pPr>
            <a:fld id="{D36D0887-2317-4FC5-A3EA-4D46DA8830D2}" type="slidenum">
              <a:rPr lang="en-US" altLang="zh-TW" sz="1400"/>
              <a:pPr algn="r" eaLnBrk="1" hangingPunct="1">
                <a:spcBef>
                  <a:spcPct val="0"/>
                </a:spcBef>
                <a:buFontTx/>
                <a:buNone/>
              </a:pPr>
              <a:t>27</a:t>
            </a:fld>
            <a:endParaRPr lang="en-US" altLang="zh-TW" sz="1400"/>
          </a:p>
        </p:txBody>
      </p:sp>
      <p:sp>
        <p:nvSpPr>
          <p:cNvPr id="80900" name="Rectangle 2"/>
          <p:cNvSpPr>
            <a:spLocks noGrp="1" noChangeArrowheads="1"/>
          </p:cNvSpPr>
          <p:nvPr>
            <p:ph type="title" idx="4294967295"/>
          </p:nvPr>
        </p:nvSpPr>
        <p:spPr>
          <a:xfrm>
            <a:off x="391435" y="35253"/>
            <a:ext cx="8540750" cy="801361"/>
          </a:xfrm>
        </p:spPr>
        <p:txBody>
          <a:bodyPr/>
          <a:lstStyle/>
          <a:p>
            <a:r>
              <a:rPr lang="zh-TW" altLang="en-US" dirty="0"/>
              <a:t> 氣候</a:t>
            </a:r>
            <a:r>
              <a:rPr lang="en-US" altLang="zh-TW" dirty="0"/>
              <a:t>(</a:t>
            </a:r>
            <a:r>
              <a:rPr lang="zh-TW" altLang="en-US" dirty="0"/>
              <a:t>補充</a:t>
            </a:r>
            <a:r>
              <a:rPr lang="en-US" altLang="zh-TW" dirty="0"/>
              <a:t>1)</a:t>
            </a:r>
            <a:endParaRPr lang="zh-TW" altLang="en-US" dirty="0"/>
          </a:p>
        </p:txBody>
      </p:sp>
      <p:sp>
        <p:nvSpPr>
          <p:cNvPr id="80901" name="Rectangle 3"/>
          <p:cNvSpPr>
            <a:spLocks noGrp="1" noChangeArrowheads="1"/>
          </p:cNvSpPr>
          <p:nvPr>
            <p:ph type="body" idx="4294967295"/>
          </p:nvPr>
        </p:nvSpPr>
        <p:spPr>
          <a:xfrm>
            <a:off x="179388" y="836614"/>
            <a:ext cx="8713787" cy="5211762"/>
          </a:xfrm>
        </p:spPr>
        <p:txBody>
          <a:bodyPr/>
          <a:lstStyle/>
          <a:p>
            <a:pPr marL="172720" indent="0">
              <a:buNone/>
            </a:pPr>
            <a:r>
              <a:rPr lang="zh-TW" altLang="en-US" sz="2800" b="1" dirty="0">
                <a:solidFill>
                  <a:srgbClr val="FF0000"/>
                </a:solidFill>
              </a:rPr>
              <a:t>降水</a:t>
            </a:r>
            <a:r>
              <a:rPr lang="zh-TW" altLang="en-US" sz="2800" b="1" dirty="0"/>
              <a:t>豐沛</a:t>
            </a:r>
            <a:r>
              <a:rPr lang="en-US" altLang="zh-TW" sz="2800" b="1" dirty="0"/>
              <a:t>──</a:t>
            </a:r>
          </a:p>
          <a:p>
            <a:pPr marL="172720" indent="0">
              <a:buNone/>
            </a:pPr>
            <a:r>
              <a:rPr lang="en-US" altLang="zh-TW" sz="2800" b="1" dirty="0"/>
              <a:t>1 </a:t>
            </a:r>
            <a:r>
              <a:rPr lang="zh-TW" altLang="en-US" sz="2800" b="1" dirty="0">
                <a:solidFill>
                  <a:srgbClr val="FF0000"/>
                </a:solidFill>
              </a:rPr>
              <a:t>成因</a:t>
            </a:r>
            <a:r>
              <a:rPr lang="zh-TW" altLang="en-US" sz="2800" b="1" dirty="0"/>
              <a:t>：位於</a:t>
            </a:r>
            <a:r>
              <a:rPr lang="zh-TW" altLang="en-US" sz="2800" b="1" dirty="0">
                <a:solidFill>
                  <a:srgbClr val="FF0000"/>
                </a:solidFill>
              </a:rPr>
              <a:t>大範圍的陸地和海洋交會</a:t>
            </a:r>
            <a:r>
              <a:rPr lang="zh-TW" altLang="en-US" sz="2800" b="1" dirty="0"/>
              <a:t>處，</a:t>
            </a:r>
            <a:br>
              <a:rPr lang="zh-TW" altLang="en-US" sz="2800" b="1" dirty="0"/>
            </a:br>
            <a:r>
              <a:rPr lang="zh-TW" altLang="en-US" sz="2800" b="1" dirty="0"/>
              <a:t>受</a:t>
            </a:r>
            <a:r>
              <a:rPr lang="zh-TW" altLang="en-US" sz="2800" b="1" u="sng" dirty="0">
                <a:solidFill>
                  <a:srgbClr val="0000FF"/>
                </a:solidFill>
              </a:rPr>
              <a:t>季風</a:t>
            </a:r>
            <a:r>
              <a:rPr lang="zh-TW" altLang="en-US" sz="2800" b="1" dirty="0">
                <a:solidFill>
                  <a:srgbClr val="FF0000"/>
                </a:solidFill>
              </a:rPr>
              <a:t>、</a:t>
            </a:r>
            <a:br>
              <a:rPr lang="en-US" altLang="zh-TW" sz="2800" b="1" dirty="0">
                <a:solidFill>
                  <a:srgbClr val="FF0000"/>
                </a:solidFill>
              </a:rPr>
            </a:br>
            <a:r>
              <a:rPr lang="zh-TW" altLang="en-US" sz="2800" b="1" u="sng" dirty="0">
                <a:solidFill>
                  <a:srgbClr val="0000FF"/>
                </a:solidFill>
              </a:rPr>
              <a:t>　梅雨　</a:t>
            </a:r>
            <a:r>
              <a:rPr lang="zh-TW" altLang="en-US" sz="2800" b="1" dirty="0"/>
              <a:t>及</a:t>
            </a:r>
            <a:r>
              <a:rPr lang="zh-TW" altLang="en-US" sz="2800" b="1" u="sng" dirty="0">
                <a:solidFill>
                  <a:srgbClr val="0000FF"/>
                </a:solidFill>
              </a:rPr>
              <a:t>　颱風  </a:t>
            </a:r>
            <a:r>
              <a:rPr lang="zh-TW" altLang="en-US" sz="2800" b="1" dirty="0"/>
              <a:t>影響。</a:t>
            </a:r>
            <a:endParaRPr lang="en-US" altLang="zh-TW" sz="2800" b="1" dirty="0"/>
          </a:p>
          <a:p>
            <a:pPr marL="172720" indent="0">
              <a:buNone/>
            </a:pPr>
            <a:endParaRPr lang="zh-TW" altLang="en-US" sz="2800" b="1" dirty="0"/>
          </a:p>
          <a:p>
            <a:pPr marL="172720" indent="0">
              <a:buNone/>
            </a:pPr>
            <a:r>
              <a:rPr lang="en-US" altLang="zh-TW" sz="2800" b="1" dirty="0"/>
              <a:t>a.</a:t>
            </a:r>
            <a:r>
              <a:rPr lang="zh-TW" altLang="en-US" sz="2800" b="1" dirty="0"/>
              <a:t>介於</a:t>
            </a:r>
            <a:r>
              <a:rPr lang="zh-TW" altLang="en-US" sz="2800" b="1" dirty="0">
                <a:solidFill>
                  <a:srgbClr val="FF0000"/>
                </a:solidFill>
              </a:rPr>
              <a:t>副熱帶季風</a:t>
            </a:r>
            <a:r>
              <a:rPr lang="en-US" altLang="zh-TW" sz="2800" b="1" dirty="0">
                <a:solidFill>
                  <a:srgbClr val="0000FF"/>
                </a:solidFill>
              </a:rPr>
              <a:t>(</a:t>
            </a:r>
            <a:r>
              <a:rPr lang="zh-TW" altLang="en-US" sz="2800" b="1" dirty="0">
                <a:solidFill>
                  <a:srgbClr val="0000FF"/>
                </a:solidFill>
              </a:rPr>
              <a:t>北部</a:t>
            </a:r>
            <a:r>
              <a:rPr lang="en-US" altLang="zh-TW" sz="2800" b="1" dirty="0">
                <a:solidFill>
                  <a:srgbClr val="0000FF"/>
                </a:solidFill>
              </a:rPr>
              <a:t>)</a:t>
            </a:r>
            <a:r>
              <a:rPr lang="zh-TW" altLang="en-US" sz="2800" b="1" dirty="0">
                <a:solidFill>
                  <a:srgbClr val="FF0000"/>
                </a:solidFill>
              </a:rPr>
              <a:t> 與 熱帶季風</a:t>
            </a:r>
            <a:r>
              <a:rPr lang="en-US" altLang="zh-TW" sz="2800" b="1" dirty="0">
                <a:solidFill>
                  <a:srgbClr val="0000FF"/>
                </a:solidFill>
              </a:rPr>
              <a:t>(</a:t>
            </a:r>
            <a:r>
              <a:rPr lang="zh-TW" altLang="en-US" sz="2800" b="1" dirty="0">
                <a:solidFill>
                  <a:srgbClr val="0000FF"/>
                </a:solidFill>
              </a:rPr>
              <a:t>南部</a:t>
            </a:r>
            <a:r>
              <a:rPr lang="en-US" altLang="zh-TW" sz="2800" b="1" dirty="0">
                <a:solidFill>
                  <a:srgbClr val="0000FF"/>
                </a:solidFill>
              </a:rPr>
              <a:t>)</a:t>
            </a:r>
            <a:r>
              <a:rPr lang="en-US" altLang="zh-TW" sz="2800" b="1" dirty="0">
                <a:solidFill>
                  <a:srgbClr val="FF0000"/>
                </a:solidFill>
              </a:rPr>
              <a:t> </a:t>
            </a:r>
            <a:r>
              <a:rPr lang="zh-TW" altLang="en-US" sz="2800" b="1" dirty="0">
                <a:solidFill>
                  <a:srgbClr val="FF0000"/>
                </a:solidFill>
              </a:rPr>
              <a:t>交接</a:t>
            </a:r>
            <a:r>
              <a:rPr lang="zh-TW" altLang="en-US" sz="2800" b="1" dirty="0"/>
              <a:t>處：</a:t>
            </a:r>
          </a:p>
          <a:p>
            <a:pPr marL="172720" indent="0">
              <a:buNone/>
            </a:pPr>
            <a:r>
              <a:rPr lang="zh-TW" altLang="en-US" sz="2800" b="1" dirty="0">
                <a:solidFill>
                  <a:srgbClr val="FF0000"/>
                </a:solidFill>
              </a:rPr>
              <a:t>夏</a:t>
            </a:r>
            <a:r>
              <a:rPr lang="zh-TW" altLang="en-US" sz="2800" b="1" dirty="0"/>
              <a:t>季</a:t>
            </a:r>
            <a:r>
              <a:rPr lang="en-US" altLang="zh-TW" sz="2800" b="1" dirty="0"/>
              <a:t>──</a:t>
            </a:r>
            <a:r>
              <a:rPr lang="zh-TW" altLang="en-US" sz="2800" b="1" dirty="0">
                <a:solidFill>
                  <a:srgbClr val="FF0000"/>
                </a:solidFill>
              </a:rPr>
              <a:t>西南季風 </a:t>
            </a:r>
            <a:r>
              <a:rPr lang="zh-TW" altLang="zh-TW" sz="2800" dirty="0"/>
              <a:t>，夏季為</a:t>
            </a:r>
            <a:r>
              <a:rPr lang="zh-TW" altLang="zh-TW" sz="2800" b="1" dirty="0">
                <a:solidFill>
                  <a:srgbClr val="FF0000"/>
                </a:solidFill>
              </a:rPr>
              <a:t>主要雨季</a:t>
            </a:r>
            <a:endParaRPr lang="en-US" altLang="zh-TW" sz="2800" b="1" dirty="0">
              <a:solidFill>
                <a:srgbClr val="FF0000"/>
              </a:solidFill>
            </a:endParaRPr>
          </a:p>
          <a:p>
            <a:pPr marL="172720" indent="0">
              <a:buNone/>
            </a:pPr>
            <a:r>
              <a:rPr lang="zh-TW" altLang="en-US" sz="2800" b="1" dirty="0">
                <a:solidFill>
                  <a:srgbClr val="FF0000"/>
                </a:solidFill>
              </a:rPr>
              <a:t>冬</a:t>
            </a:r>
            <a:r>
              <a:rPr lang="zh-TW" altLang="en-US" sz="2800" b="1" dirty="0"/>
              <a:t>季</a:t>
            </a:r>
            <a:r>
              <a:rPr lang="en-US" altLang="zh-TW" sz="2800" b="1" dirty="0"/>
              <a:t>──</a:t>
            </a:r>
            <a:r>
              <a:rPr lang="zh-TW" altLang="en-US" sz="2800" b="1" dirty="0">
                <a:solidFill>
                  <a:srgbClr val="FF0000"/>
                </a:solidFill>
              </a:rPr>
              <a:t>東北季風</a:t>
            </a:r>
            <a:r>
              <a:rPr lang="zh-TW" altLang="zh-TW" sz="2800" dirty="0"/>
              <a:t>，</a:t>
            </a:r>
            <a:r>
              <a:rPr lang="zh-TW" altLang="en-US" sz="2800" b="1" dirty="0">
                <a:solidFill>
                  <a:srgbClr val="0000FF"/>
                </a:solidFill>
              </a:rPr>
              <a:t>迎風坡亦</a:t>
            </a:r>
            <a:r>
              <a:rPr lang="zh-TW" altLang="zh-TW" sz="2800" b="1" dirty="0"/>
              <a:t>會</a:t>
            </a:r>
            <a:r>
              <a:rPr lang="zh-TW" altLang="en-US" sz="2800" b="1" dirty="0"/>
              <a:t>帶來</a:t>
            </a:r>
            <a:r>
              <a:rPr lang="zh-TW" altLang="en-US" sz="2800" b="1" dirty="0">
                <a:solidFill>
                  <a:srgbClr val="0000FF"/>
                </a:solidFill>
              </a:rPr>
              <a:t>降水</a:t>
            </a:r>
            <a:endParaRPr lang="en-US" altLang="zh-TW" sz="2800" b="1" dirty="0">
              <a:solidFill>
                <a:srgbClr val="0000FF"/>
              </a:solidFill>
            </a:endParaRPr>
          </a:p>
          <a:p>
            <a:pPr marL="172720" indent="0">
              <a:buNone/>
            </a:pPr>
            <a:r>
              <a:rPr lang="en-US" altLang="zh-TW" sz="2800" b="1" dirty="0"/>
              <a:t>b. </a:t>
            </a:r>
            <a:r>
              <a:rPr lang="zh-TW" altLang="en-US" sz="2800" b="1" dirty="0"/>
              <a:t>位居</a:t>
            </a:r>
            <a:r>
              <a:rPr lang="zh-TW" altLang="en-US" sz="2800" b="1" dirty="0">
                <a:solidFill>
                  <a:srgbClr val="FF0000"/>
                </a:solidFill>
              </a:rPr>
              <a:t>冷氣團 和 暖氣團 交會</a:t>
            </a:r>
            <a:r>
              <a:rPr lang="zh-TW" altLang="en-US" sz="2800" b="1" dirty="0"/>
              <a:t>處：</a:t>
            </a:r>
          </a:p>
          <a:p>
            <a:pPr marL="172720" indent="0">
              <a:buNone/>
            </a:pPr>
            <a:r>
              <a:rPr lang="en-US" altLang="zh-TW" sz="2800" b="1" dirty="0"/>
              <a:t>    </a:t>
            </a:r>
            <a:r>
              <a:rPr lang="zh-TW" altLang="en-US" sz="2800" b="1" dirty="0">
                <a:solidFill>
                  <a:srgbClr val="FF0000"/>
                </a:solidFill>
              </a:rPr>
              <a:t>春、夏之交</a:t>
            </a:r>
            <a:r>
              <a:rPr lang="en-US" altLang="zh-TW" sz="2800" b="1" dirty="0"/>
              <a:t>──</a:t>
            </a:r>
            <a:r>
              <a:rPr lang="zh-TW" altLang="en-US" sz="2800" b="1" u="sng" dirty="0">
                <a:solidFill>
                  <a:srgbClr val="0000FF"/>
                </a:solidFill>
              </a:rPr>
              <a:t>　梅雨　</a:t>
            </a:r>
            <a:r>
              <a:rPr lang="en-US" altLang="zh-TW" sz="2800" b="1" u="sng" dirty="0">
                <a:solidFill>
                  <a:srgbClr val="0000FF"/>
                </a:solidFill>
              </a:rPr>
              <a:t>(56</a:t>
            </a:r>
            <a:r>
              <a:rPr lang="zh-TW" altLang="en-US" sz="2800" b="1" u="sng" dirty="0">
                <a:solidFill>
                  <a:srgbClr val="0000FF"/>
                </a:solidFill>
              </a:rPr>
              <a:t>月</a:t>
            </a:r>
            <a:r>
              <a:rPr lang="en-US" altLang="zh-TW" sz="2800" b="1" u="sng" dirty="0">
                <a:solidFill>
                  <a:srgbClr val="0000FF"/>
                </a:solidFill>
              </a:rPr>
              <a:t>)</a:t>
            </a:r>
            <a:r>
              <a:rPr lang="zh-TW" altLang="en-US" sz="2800" b="1" dirty="0">
                <a:solidFill>
                  <a:srgbClr val="0000FF"/>
                </a:solidFill>
              </a:rPr>
              <a:t>。</a:t>
            </a:r>
          </a:p>
          <a:p>
            <a:pPr marL="172720" indent="0">
              <a:buNone/>
            </a:pPr>
            <a:r>
              <a:rPr lang="en-US" altLang="zh-TW" sz="2800" b="1" dirty="0"/>
              <a:t>c. </a:t>
            </a:r>
            <a:r>
              <a:rPr lang="zh-TW" altLang="en-US" sz="2800" b="1" dirty="0">
                <a:solidFill>
                  <a:srgbClr val="FF0000"/>
                </a:solidFill>
              </a:rPr>
              <a:t>夏、秋時期</a:t>
            </a:r>
            <a:r>
              <a:rPr lang="en-US" altLang="zh-TW" sz="2800" b="1" dirty="0"/>
              <a:t>──</a:t>
            </a:r>
            <a:r>
              <a:rPr lang="zh-TW" altLang="en-US" sz="2800" b="1" u="sng" dirty="0">
                <a:solidFill>
                  <a:srgbClr val="0000FF"/>
                </a:solidFill>
              </a:rPr>
              <a:t>　颱風　</a:t>
            </a:r>
            <a:r>
              <a:rPr lang="en-US" altLang="zh-TW" sz="2800" b="1" u="sng" dirty="0">
                <a:solidFill>
                  <a:srgbClr val="0000FF"/>
                </a:solidFill>
              </a:rPr>
              <a:t>(789</a:t>
            </a:r>
            <a:r>
              <a:rPr lang="zh-TW" altLang="en-US" sz="2800" b="1" u="sng" dirty="0">
                <a:solidFill>
                  <a:srgbClr val="0000FF"/>
                </a:solidFill>
              </a:rPr>
              <a:t>月</a:t>
            </a:r>
            <a:r>
              <a:rPr lang="en-US" altLang="zh-TW" sz="2800" b="1" u="sng" dirty="0">
                <a:solidFill>
                  <a:srgbClr val="0000FF"/>
                </a:solidFill>
              </a:rPr>
              <a:t>)</a:t>
            </a:r>
            <a:r>
              <a:rPr lang="zh-TW" altLang="en-US" sz="2800" b="1" dirty="0">
                <a:solidFill>
                  <a:srgbClr val="0000FF"/>
                </a:solidFill>
              </a:rPr>
              <a:t>。</a:t>
            </a:r>
          </a:p>
        </p:txBody>
      </p:sp>
      <p:sp>
        <p:nvSpPr>
          <p:cNvPr id="122885" name="Rectangle 5"/>
          <p:cNvSpPr>
            <a:spLocks noChangeArrowheads="1"/>
          </p:cNvSpPr>
          <p:nvPr/>
        </p:nvSpPr>
        <p:spPr bwMode="auto">
          <a:xfrm>
            <a:off x="734314" y="5800354"/>
            <a:ext cx="5421862" cy="476249"/>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3" name="矩形 2"/>
          <p:cNvSpPr/>
          <p:nvPr/>
        </p:nvSpPr>
        <p:spPr>
          <a:xfrm>
            <a:off x="252413" y="2771917"/>
            <a:ext cx="1633781" cy="369332"/>
          </a:xfrm>
          <a:prstGeom prst="rect">
            <a:avLst/>
          </a:prstGeom>
        </p:spPr>
        <p:txBody>
          <a:bodyPr wrap="none">
            <a:spAutoFit/>
          </a:bodyPr>
          <a:lstStyle/>
          <a:p>
            <a:r>
              <a:rPr lang="zh-TW" altLang="en-US" b="1" dirty="0"/>
              <a:t>降水</a:t>
            </a:r>
            <a:r>
              <a:rPr lang="en-US" altLang="zh-TW" b="1" dirty="0"/>
              <a:t>’</a:t>
            </a:r>
            <a:r>
              <a:rPr lang="zh-TW" altLang="en-US" b="1" dirty="0">
                <a:solidFill>
                  <a:srgbClr val="FF0000"/>
                </a:solidFill>
              </a:rPr>
              <a:t>時間分布</a:t>
            </a:r>
            <a:endParaRPr lang="zh-TW" altLang="en-US" dirty="0"/>
          </a:p>
        </p:txBody>
      </p:sp>
    </p:spTree>
    <p:extLst>
      <p:ext uri="{BB962C8B-B14F-4D97-AF65-F5344CB8AC3E}">
        <p14:creationId xmlns:p14="http://schemas.microsoft.com/office/powerpoint/2010/main" val="15539249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2885"/>
                                        </p:tgtEl>
                                        <p:attrNameLst>
                                          <p:attrName>style.visibility</p:attrName>
                                        </p:attrNameLst>
                                      </p:cBhvr>
                                      <p:to>
                                        <p:strVal val="visible"/>
                                      </p:to>
                                    </p:set>
                                    <p:animEffect transition="in" filter="wipe(left)">
                                      <p:cBhvr>
                                        <p:cTn id="7" dur="500"/>
                                        <p:tgtEl>
                                          <p:spTgt spid="1228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0696" y="139844"/>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4211960" y="1054224"/>
            <a:ext cx="446449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800" dirty="0">
                <a:latin typeface="標楷體" pitchFamily="65" charset="-120"/>
              </a:rPr>
              <a:t>5.</a:t>
            </a:r>
            <a:r>
              <a:rPr lang="zh-TW" altLang="en-US" sz="2800" dirty="0">
                <a:solidFill>
                  <a:srgbClr val="FF0000"/>
                </a:solidFill>
              </a:rPr>
              <a:t>花蓮  秋季降水</a:t>
            </a:r>
            <a:r>
              <a:rPr lang="zh-TW" altLang="en-US" sz="2800" dirty="0"/>
              <a:t>特別</a:t>
            </a:r>
            <a:r>
              <a:rPr lang="zh-TW" altLang="en-US" sz="2800" dirty="0">
                <a:solidFill>
                  <a:srgbClr val="FF0000"/>
                </a:solidFill>
              </a:rPr>
              <a:t>多</a:t>
            </a:r>
            <a:r>
              <a:rPr lang="zh-TW" altLang="en-US" sz="2800" dirty="0"/>
              <a:t>，最可能與臺灣</a:t>
            </a:r>
            <a:br>
              <a:rPr lang="en-US" altLang="zh-TW" sz="2800" dirty="0"/>
            </a:br>
            <a:r>
              <a:rPr lang="zh-TW" altLang="en-US" sz="2800" dirty="0"/>
              <a:t>何種自然災害有關？</a:t>
            </a:r>
            <a:r>
              <a:rPr lang="zh-TW" altLang="en-US" sz="2800" dirty="0">
                <a:ea typeface="新細明體" pitchFamily="18" charset="-120"/>
              </a:rPr>
              <a:t> </a:t>
            </a:r>
            <a:endParaRPr lang="en-US" altLang="zh-TW" sz="2800" dirty="0">
              <a:ea typeface="新細明體" pitchFamily="18" charset="-120"/>
            </a:endParaRPr>
          </a:p>
          <a:p>
            <a:r>
              <a:rPr lang="zh-TW" altLang="en-US" sz="2800" dirty="0">
                <a:latin typeface="標楷體" pitchFamily="65" charset="-120"/>
              </a:rPr>
              <a:t>   </a:t>
            </a:r>
            <a:r>
              <a:rPr lang="en-US" altLang="zh-TW" sz="2800" dirty="0">
                <a:latin typeface="標楷體" pitchFamily="65" charset="-120"/>
              </a:rPr>
              <a:t>(A)</a:t>
            </a:r>
            <a:r>
              <a:rPr lang="zh-TW" altLang="en-US" sz="2800" dirty="0">
                <a:latin typeface="標楷體" pitchFamily="65" charset="-120"/>
              </a:rPr>
              <a:t>地震 </a:t>
            </a:r>
            <a:r>
              <a:rPr lang="en-US" altLang="zh-TW" sz="2800" dirty="0">
                <a:latin typeface="標楷體" pitchFamily="65" charset="-120"/>
              </a:rPr>
              <a:t>  (B)</a:t>
            </a:r>
            <a:r>
              <a:rPr lang="zh-TW" altLang="en-US" sz="2800" dirty="0">
                <a:latin typeface="標楷體" pitchFamily="65" charset="-120"/>
              </a:rPr>
              <a:t>焚風</a:t>
            </a:r>
            <a:endParaRPr lang="en-US" altLang="zh-TW" sz="2800" dirty="0">
              <a:latin typeface="標楷體" pitchFamily="65" charset="-120"/>
            </a:endParaRPr>
          </a:p>
          <a:p>
            <a:r>
              <a:rPr lang="zh-TW" altLang="en-US" sz="2800" dirty="0">
                <a:latin typeface="標楷體" pitchFamily="65" charset="-120"/>
              </a:rPr>
              <a:t>   </a:t>
            </a:r>
            <a:r>
              <a:rPr lang="en-US" altLang="zh-TW" sz="2800" dirty="0">
                <a:latin typeface="標楷體" pitchFamily="65" charset="-120"/>
              </a:rPr>
              <a:t>(C)</a:t>
            </a:r>
            <a:r>
              <a:rPr lang="zh-TW" altLang="en-US" sz="2800" dirty="0">
                <a:latin typeface="標楷體" pitchFamily="65" charset="-120"/>
              </a:rPr>
              <a:t>土石流</a:t>
            </a:r>
          </a:p>
        </p:txBody>
      </p:sp>
      <p:sp>
        <p:nvSpPr>
          <p:cNvPr id="12" name="Rectangle 8"/>
          <p:cNvSpPr>
            <a:spLocks noChangeArrowheads="1"/>
          </p:cNvSpPr>
          <p:nvPr/>
        </p:nvSpPr>
        <p:spPr bwMode="auto">
          <a:xfrm>
            <a:off x="4752531" y="3674487"/>
            <a:ext cx="4048069"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400" dirty="0">
                <a:solidFill>
                  <a:srgbClr val="FF0000"/>
                </a:solidFill>
                <a:latin typeface="標楷體" pitchFamily="65" charset="-120"/>
                <a:ea typeface="標楷體" pitchFamily="65" charset="-120"/>
              </a:rPr>
              <a:t>(D)</a:t>
            </a:r>
            <a:r>
              <a:rPr kumimoji="1" lang="zh-TW" altLang="en-US" sz="2400" dirty="0">
                <a:solidFill>
                  <a:srgbClr val="FF0000"/>
                </a:solidFill>
                <a:latin typeface="標楷體" pitchFamily="65" charset="-120"/>
                <a:ea typeface="標楷體" pitchFamily="65" charset="-120"/>
              </a:rPr>
              <a:t>臺灣地區颱風多發生於夏、秋兩季，而花蓮位於臺灣東部，地處颱風路徑所影響範圍內，且位於迎風坡，故秋季降水量特別多（其實夏季降水也不少）。</a:t>
            </a:r>
            <a:endParaRPr kumimoji="1" lang="zh-TW" altLang="en-US" sz="2400" kern="1200" dirty="0">
              <a:solidFill>
                <a:srgbClr val="FF0000"/>
              </a:solidFill>
              <a:latin typeface="Arial" charset="0"/>
              <a:ea typeface="標楷體" pitchFamily="65" charset="-120"/>
              <a:cs typeface="+mn-cs"/>
            </a:endParaRPr>
          </a:p>
        </p:txBody>
      </p:sp>
      <p:sp>
        <p:nvSpPr>
          <p:cNvPr id="9" name="Text Box 3"/>
          <p:cNvSpPr txBox="1">
            <a:spLocks noChangeArrowheads="1"/>
          </p:cNvSpPr>
          <p:nvPr/>
        </p:nvSpPr>
        <p:spPr bwMode="auto">
          <a:xfrm>
            <a:off x="6523555" y="2841959"/>
            <a:ext cx="23484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800" dirty="0">
                <a:latin typeface="標楷體" pitchFamily="65" charset="-120"/>
              </a:rPr>
              <a:t>(D)</a:t>
            </a:r>
            <a:r>
              <a:rPr lang="zh-TW" altLang="en-US" sz="2800" dirty="0">
                <a:latin typeface="標楷體" pitchFamily="65" charset="-120"/>
              </a:rPr>
              <a:t>颱風</a:t>
            </a:r>
          </a:p>
        </p:txBody>
      </p:sp>
      <p:sp>
        <p:nvSpPr>
          <p:cNvPr id="13" name="矩形 12"/>
          <p:cNvSpPr>
            <a:spLocks noChangeArrowheads="1"/>
          </p:cNvSpPr>
          <p:nvPr/>
        </p:nvSpPr>
        <p:spPr bwMode="auto">
          <a:xfrm>
            <a:off x="4608513" y="183871"/>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p.171</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28</a:t>
            </a:fld>
            <a:endParaRPr lang="zh-TW" sz="1400">
              <a:solidFill>
                <a:schemeClr val="dk1"/>
              </a:solidFill>
              <a:latin typeface="Arial"/>
              <a:ea typeface="Arial"/>
              <a:cs typeface="Arial"/>
              <a:sym typeface="Arial"/>
            </a:endParaRPr>
          </a:p>
        </p:txBody>
      </p:sp>
      <p:pic>
        <p:nvPicPr>
          <p:cNvPr id="14" name="Picture 2">
            <a:extLst>
              <a:ext uri="{FF2B5EF4-FFF2-40B4-BE49-F238E27FC236}">
                <a16:creationId xmlns:a16="http://schemas.microsoft.com/office/drawing/2014/main" id="{DE1DAB6E-E563-484D-9081-064AAE01F8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7207" y="1054224"/>
            <a:ext cx="8697425" cy="5667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30666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9">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9">
                                            <p:txEl>
                                              <p:pRg st="0" end="0"/>
                                            </p:txEl>
                                          </p:spTgt>
                                        </p:tgtEl>
                                        <p:attrNameLst>
                                          <p:attrName>style.fontStyle</p:attrName>
                                        </p:attrNameLst>
                                      </p:cBhvr>
                                      <p:to>
                                        <p:strVal val="normal"/>
                                      </p:to>
                                    </p:set>
                                    <p:set>
                                      <p:cBhvr override="childStyle">
                                        <p:cTn id="9" dur="indefinite"/>
                                        <p:tgtEl>
                                          <p:spTgt spid="9">
                                            <p:txEl>
                                              <p:pRg st="0" end="0"/>
                                            </p:txEl>
                                          </p:spTgt>
                                        </p:tgtEl>
                                        <p:attrNameLst>
                                          <p:attrName>style.fontWeight</p:attrName>
                                        </p:attrNameLst>
                                      </p:cBhvr>
                                      <p:to>
                                        <p:strVal val="bold"/>
                                      </p:to>
                                    </p:set>
                                    <p:set>
                                      <p:cBhvr override="childStyle">
                                        <p:cTn id="10" dur="indefinite"/>
                                        <p:tgtEl>
                                          <p:spTgt spid="9">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標題 1"/>
          <p:cNvSpPr>
            <a:spLocks/>
          </p:cNvSpPr>
          <p:nvPr/>
        </p:nvSpPr>
        <p:spPr bwMode="auto">
          <a:xfrm>
            <a:off x="722313" y="-87732"/>
            <a:ext cx="676875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3600" dirty="0">
                <a:latin typeface="標楷體" pitchFamily="65" charset="-120"/>
                <a:ea typeface="標楷體" pitchFamily="65" charset="-120"/>
              </a:rPr>
              <a:t>二、</a:t>
            </a:r>
            <a:r>
              <a:rPr lang="zh-TW" altLang="en-US" sz="3600" dirty="0">
                <a:solidFill>
                  <a:srgbClr val="FF0000"/>
                </a:solidFill>
                <a:latin typeface="標楷體" pitchFamily="65" charset="-120"/>
                <a:ea typeface="標楷體" pitchFamily="65" charset="-120"/>
              </a:rPr>
              <a:t>降雨時空分布不均</a:t>
            </a:r>
            <a:endParaRPr lang="en-US" altLang="zh-TW" sz="3600" b="1" dirty="0">
              <a:latin typeface="微軟正黑體" pitchFamily="34" charset="-120"/>
            </a:endParaRPr>
          </a:p>
        </p:txBody>
      </p:sp>
      <p:sp>
        <p:nvSpPr>
          <p:cNvPr id="7" name="Rectangle 3"/>
          <p:cNvSpPr txBox="1">
            <a:spLocks noChangeArrowheads="1"/>
          </p:cNvSpPr>
          <p:nvPr/>
        </p:nvSpPr>
        <p:spPr>
          <a:xfrm>
            <a:off x="519595" y="883590"/>
            <a:ext cx="8509291" cy="3732196"/>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en-US" altLang="zh-TW" dirty="0">
                <a:solidFill>
                  <a:schemeClr val="tx1"/>
                </a:solidFill>
                <a:latin typeface="標楷體" pitchFamily="65" charset="-120"/>
                <a:ea typeface="標楷體" pitchFamily="65" charset="-120"/>
              </a:rPr>
              <a:t>1.</a:t>
            </a:r>
            <a:r>
              <a:rPr lang="zh-TW" altLang="en-US" dirty="0">
                <a:solidFill>
                  <a:schemeClr val="tx1"/>
                </a:solidFill>
                <a:latin typeface="標楷體" pitchFamily="65" charset="-120"/>
                <a:ea typeface="標楷體" pitchFamily="65" charset="-120"/>
              </a:rPr>
              <a:t>臺灣位於</a:t>
            </a:r>
            <a:r>
              <a:rPr lang="zh-TW" altLang="en-US" dirty="0">
                <a:solidFill>
                  <a:srgbClr val="FF0000"/>
                </a:solidFill>
                <a:latin typeface="標楷體" pitchFamily="65" charset="-120"/>
                <a:ea typeface="標楷體" pitchFamily="65" charset="-120"/>
              </a:rPr>
              <a:t>亞洲大陸與海洋交界</a:t>
            </a:r>
            <a:r>
              <a:rPr lang="zh-TW" altLang="en-US" dirty="0">
                <a:solidFill>
                  <a:schemeClr val="tx1"/>
                </a:solidFill>
                <a:latin typeface="標楷體" pitchFamily="65" charset="-120"/>
                <a:ea typeface="標楷體" pitchFamily="65" charset="-120"/>
              </a:rPr>
              <a:t>，氣候分類上屬於</a:t>
            </a:r>
            <a:r>
              <a:rPr lang="zh-TW" altLang="en-US" dirty="0">
                <a:solidFill>
                  <a:srgbClr val="FF0000"/>
                </a:solidFill>
                <a:latin typeface="標楷體" pitchFamily="65" charset="-120"/>
                <a:ea typeface="標楷體" pitchFamily="65" charset="-120"/>
              </a:rPr>
              <a:t>季風氣候</a:t>
            </a:r>
            <a:r>
              <a:rPr lang="zh-TW" altLang="en-US" dirty="0">
                <a:solidFill>
                  <a:schemeClr val="tx1"/>
                </a:solidFill>
                <a:latin typeface="標楷體" pitchFamily="65" charset="-120"/>
                <a:ea typeface="標楷體" pitchFamily="65" charset="-120"/>
              </a:rPr>
              <a:t>。</a:t>
            </a:r>
            <a:endParaRPr lang="en-US" altLang="zh-TW" dirty="0">
              <a:solidFill>
                <a:schemeClr val="tx1"/>
              </a:solidFill>
              <a:latin typeface="標楷體" pitchFamily="65" charset="-120"/>
              <a:ea typeface="標楷體" pitchFamily="65" charset="-120"/>
            </a:endParaRPr>
          </a:p>
          <a:p>
            <a:r>
              <a:rPr lang="en-US" altLang="zh-TW" dirty="0">
                <a:latin typeface="標楷體" pitchFamily="65" charset="-120"/>
                <a:ea typeface="標楷體" pitchFamily="65" charset="-120"/>
              </a:rPr>
              <a:t>2.</a:t>
            </a:r>
            <a:r>
              <a:rPr lang="zh-TW" altLang="en-US" dirty="0">
                <a:solidFill>
                  <a:srgbClr val="FF0000"/>
                </a:solidFill>
                <a:latin typeface="標楷體" pitchFamily="65" charset="-120"/>
                <a:ea typeface="標楷體" pitchFamily="65" charset="-120"/>
              </a:rPr>
              <a:t>降雨時</a:t>
            </a:r>
            <a:r>
              <a:rPr lang="zh-TW" altLang="en-US" dirty="0">
                <a:latin typeface="標楷體" pitchFamily="65" charset="-120"/>
                <a:ea typeface="標楷體" pitchFamily="65" charset="-120"/>
              </a:rPr>
              <a:t>間與</a:t>
            </a:r>
            <a:r>
              <a:rPr lang="zh-TW" altLang="en-US" dirty="0">
                <a:solidFill>
                  <a:srgbClr val="FF0000"/>
                </a:solidFill>
                <a:latin typeface="標楷體" pitchFamily="65" charset="-120"/>
                <a:ea typeface="標楷體" pitchFamily="65" charset="-120"/>
              </a:rPr>
              <a:t>空</a:t>
            </a:r>
            <a:r>
              <a:rPr lang="zh-TW" altLang="en-US" dirty="0">
                <a:latin typeface="標楷體" pitchFamily="65" charset="-120"/>
                <a:ea typeface="標楷體" pitchFamily="65" charset="-120"/>
              </a:rPr>
              <a:t>間</a:t>
            </a:r>
            <a:r>
              <a:rPr lang="zh-TW" altLang="en-US" dirty="0">
                <a:solidFill>
                  <a:srgbClr val="FF0000"/>
                </a:solidFill>
                <a:latin typeface="標楷體" pitchFamily="65" charset="-120"/>
                <a:ea typeface="標楷體" pitchFamily="65" charset="-120"/>
              </a:rPr>
              <a:t>差異</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(1)</a:t>
            </a:r>
            <a:r>
              <a:rPr lang="zh-TW" altLang="en-US" dirty="0">
                <a:solidFill>
                  <a:srgbClr val="FF0000"/>
                </a:solidFill>
                <a:latin typeface="標楷體" pitchFamily="65" charset="-120"/>
                <a:ea typeface="標楷體" pitchFamily="65" charset="-120"/>
              </a:rPr>
              <a:t>夏</a:t>
            </a:r>
            <a:r>
              <a:rPr lang="zh-TW" altLang="en-US" dirty="0">
                <a:latin typeface="標楷體" pitchFamily="65" charset="-120"/>
                <a:ea typeface="標楷體" pitchFamily="65" charset="-120"/>
              </a:rPr>
              <a:t>季時，</a:t>
            </a:r>
            <a:r>
              <a:rPr lang="zh-TW" altLang="en-US" u="sng" dirty="0">
                <a:solidFill>
                  <a:srgbClr val="FF0000"/>
                </a:solidFill>
                <a:latin typeface="標楷體" pitchFamily="65" charset="-120"/>
                <a:ea typeface="標楷體" pitchFamily="65" charset="-120"/>
              </a:rPr>
              <a:t>        </a:t>
            </a:r>
            <a:r>
              <a:rPr lang="zh-TW" altLang="en-US" dirty="0">
                <a:solidFill>
                  <a:srgbClr val="FF0000"/>
                </a:solidFill>
                <a:latin typeface="標楷體" pitchFamily="65" charset="-120"/>
                <a:ea typeface="標楷體" pitchFamily="65" charset="-120"/>
              </a:rPr>
              <a:t>氣流</a:t>
            </a:r>
            <a:r>
              <a:rPr lang="zh-TW" altLang="en-US" dirty="0">
                <a:latin typeface="標楷體" pitchFamily="65" charset="-120"/>
                <a:ea typeface="標楷體" pitchFamily="65" charset="-120"/>
              </a:rPr>
              <a:t>從海面帶來大量水氣，加上</a:t>
            </a:r>
            <a:r>
              <a:rPr lang="en-US" altLang="zh-TW" dirty="0">
                <a:solidFill>
                  <a:srgbClr val="0000FF"/>
                </a:solidFill>
                <a:highlight>
                  <a:srgbClr val="00FF00"/>
                </a:highlight>
                <a:latin typeface="標楷體" pitchFamily="65" charset="-120"/>
                <a:ea typeface="標楷體" pitchFamily="65" charset="-120"/>
              </a:rPr>
              <a:t>78</a:t>
            </a:r>
            <a:r>
              <a:rPr lang="en-US" altLang="zh-TW" dirty="0">
                <a:solidFill>
                  <a:srgbClr val="0000FF"/>
                </a:solidFill>
                <a:highlight>
                  <a:srgbClr val="FFFF00"/>
                </a:highlight>
                <a:latin typeface="標楷體" pitchFamily="65" charset="-120"/>
                <a:ea typeface="標楷體" pitchFamily="65" charset="-120"/>
              </a:rPr>
              <a:t>9</a:t>
            </a:r>
            <a:r>
              <a:rPr lang="zh-TW" altLang="en-US" dirty="0">
                <a:solidFill>
                  <a:srgbClr val="0000FF"/>
                </a:solidFill>
                <a:latin typeface="標楷體" pitchFamily="65" charset="-120"/>
                <a:ea typeface="標楷體" pitchFamily="65" charset="-120"/>
              </a:rPr>
              <a:t>月</a:t>
            </a:r>
            <a:r>
              <a:rPr lang="zh-TW" altLang="en-US" dirty="0">
                <a:solidFill>
                  <a:srgbClr val="FF0000"/>
                </a:solidFill>
                <a:latin typeface="標楷體" pitchFamily="65" charset="-120"/>
                <a:ea typeface="標楷體" pitchFamily="65" charset="-120"/>
              </a:rPr>
              <a:t>颱風</a:t>
            </a:r>
            <a:r>
              <a:rPr lang="zh-TW" altLang="en-US" dirty="0">
                <a:latin typeface="標楷體" pitchFamily="65" charset="-120"/>
                <a:ea typeface="標楷體" pitchFamily="65" charset="-120"/>
              </a:rPr>
              <a:t>、</a:t>
            </a:r>
            <a:r>
              <a:rPr lang="en-US" altLang="zh-TW" dirty="0">
                <a:solidFill>
                  <a:srgbClr val="0000FF"/>
                </a:solidFill>
                <a:latin typeface="標楷體" pitchFamily="65" charset="-120"/>
                <a:ea typeface="標楷體" pitchFamily="65" charset="-120"/>
              </a:rPr>
              <a:t> </a:t>
            </a:r>
            <a:br>
              <a:rPr lang="en-US" altLang="zh-TW" dirty="0">
                <a:solidFill>
                  <a:srgbClr val="0000FF"/>
                </a:solidFill>
                <a:latin typeface="標楷體" pitchFamily="65" charset="-120"/>
                <a:ea typeface="標楷體" pitchFamily="65" charset="-120"/>
              </a:rPr>
            </a:br>
            <a:r>
              <a:rPr lang="en-US" altLang="zh-TW" dirty="0">
                <a:solidFill>
                  <a:srgbClr val="0000FF"/>
                </a:solidFill>
                <a:highlight>
                  <a:srgbClr val="FFFF00"/>
                </a:highlight>
                <a:latin typeface="標楷體" pitchFamily="65" charset="-120"/>
                <a:ea typeface="標楷體" pitchFamily="65" charset="-120"/>
              </a:rPr>
              <a:t>5</a:t>
            </a:r>
            <a:r>
              <a:rPr lang="en-US" altLang="zh-TW" dirty="0">
                <a:solidFill>
                  <a:srgbClr val="0000FF"/>
                </a:solidFill>
                <a:highlight>
                  <a:srgbClr val="00FF00"/>
                </a:highlight>
                <a:latin typeface="標楷體" pitchFamily="65" charset="-120"/>
                <a:ea typeface="標楷體" pitchFamily="65" charset="-120"/>
              </a:rPr>
              <a:t>6</a:t>
            </a:r>
            <a:r>
              <a:rPr lang="zh-TW" altLang="en-US" dirty="0">
                <a:solidFill>
                  <a:srgbClr val="0000FF"/>
                </a:solidFill>
                <a:latin typeface="標楷體" pitchFamily="65" charset="-120"/>
                <a:ea typeface="標楷體" pitchFamily="65" charset="-120"/>
              </a:rPr>
              <a:t>月梅雨</a:t>
            </a:r>
            <a:r>
              <a:rPr lang="zh-TW" altLang="en-US" dirty="0">
                <a:solidFill>
                  <a:srgbClr val="FF0000"/>
                </a:solidFill>
                <a:latin typeface="標楷體" pitchFamily="65" charset="-120"/>
                <a:ea typeface="標楷體" pitchFamily="65" charset="-120"/>
              </a:rPr>
              <a:t>滯留鋒</a:t>
            </a:r>
            <a:r>
              <a:rPr lang="zh-TW" altLang="en-US" dirty="0">
                <a:latin typeface="標楷體" pitchFamily="65" charset="-120"/>
                <a:ea typeface="標楷體" pitchFamily="65" charset="-120"/>
              </a:rPr>
              <a:t>及</a:t>
            </a:r>
            <a:r>
              <a:rPr lang="zh-TW" altLang="en-US" dirty="0">
                <a:solidFill>
                  <a:srgbClr val="FF0000"/>
                </a:solidFill>
                <a:latin typeface="標楷體" pitchFamily="65" charset="-120"/>
                <a:ea typeface="標楷體" pitchFamily="65" charset="-120"/>
              </a:rPr>
              <a:t>午後雷陣雨</a:t>
            </a:r>
            <a:r>
              <a:rPr lang="zh-TW" altLang="en-US" dirty="0">
                <a:latin typeface="標楷體" pitchFamily="65" charset="-120"/>
                <a:ea typeface="標楷體" pitchFamily="65" charset="-120"/>
              </a:rPr>
              <a:t>，</a:t>
            </a:r>
            <a:r>
              <a:rPr lang="zh-TW" altLang="en-US" dirty="0">
                <a:solidFill>
                  <a:srgbClr val="FF0000"/>
                </a:solidFill>
                <a:latin typeface="標楷體" pitchFamily="65" charset="-120"/>
                <a:ea typeface="標楷體" pitchFamily="65" charset="-120"/>
              </a:rPr>
              <a:t>全島普遍多雨</a:t>
            </a:r>
            <a:r>
              <a:rPr lang="zh-TW" altLang="en-US" dirty="0">
                <a:latin typeface="標楷體" pitchFamily="65" charset="-120"/>
                <a:ea typeface="標楷體" pitchFamily="65" charset="-120"/>
              </a:rPr>
              <a:t>。</a:t>
            </a:r>
          </a:p>
          <a:p>
            <a:r>
              <a:rPr lang="en-US" altLang="zh-TW" dirty="0">
                <a:latin typeface="標楷體" pitchFamily="65" charset="-120"/>
                <a:ea typeface="標楷體" pitchFamily="65" charset="-120"/>
              </a:rPr>
              <a:t>(2)</a:t>
            </a:r>
            <a:r>
              <a:rPr lang="zh-TW" altLang="en-US" dirty="0">
                <a:solidFill>
                  <a:srgbClr val="FF0000"/>
                </a:solidFill>
                <a:latin typeface="標楷體" pitchFamily="65" charset="-120"/>
                <a:ea typeface="標楷體" pitchFamily="65" charset="-120"/>
              </a:rPr>
              <a:t>冬</a:t>
            </a:r>
            <a:r>
              <a:rPr lang="zh-TW" altLang="en-US" dirty="0">
                <a:latin typeface="標楷體" pitchFamily="65" charset="-120"/>
                <a:ea typeface="標楷體" pitchFamily="65" charset="-120"/>
              </a:rPr>
              <a:t>季時，位處</a:t>
            </a:r>
            <a:r>
              <a:rPr lang="zh-TW" altLang="en-US" u="sng" dirty="0">
                <a:solidFill>
                  <a:srgbClr val="FF0000"/>
                </a:solidFill>
                <a:latin typeface="標楷體" pitchFamily="65" charset="-120"/>
                <a:ea typeface="標楷體" pitchFamily="65" charset="-120"/>
              </a:rPr>
              <a:t>          </a:t>
            </a:r>
            <a:r>
              <a:rPr lang="zh-TW" altLang="en-US" dirty="0">
                <a:solidFill>
                  <a:srgbClr val="FF0000"/>
                </a:solidFill>
                <a:latin typeface="標楷體" pitchFamily="65" charset="-120"/>
                <a:ea typeface="標楷體" pitchFamily="65" charset="-120"/>
              </a:rPr>
              <a:t>季風迎風面的北部，依然有降水，位處背風側的</a:t>
            </a:r>
            <a:r>
              <a:rPr lang="zh-TW" altLang="en-US" u="sng" dirty="0">
                <a:solidFill>
                  <a:srgbClr val="FF0000"/>
                </a:solidFill>
                <a:latin typeface="標楷體" pitchFamily="65" charset="-120"/>
                <a:ea typeface="標楷體" pitchFamily="65" charset="-120"/>
              </a:rPr>
              <a:t>        </a:t>
            </a:r>
            <a:r>
              <a:rPr lang="zh-TW" altLang="en-US" dirty="0">
                <a:solidFill>
                  <a:srgbClr val="FF0000"/>
                </a:solidFill>
                <a:latin typeface="標楷體" pitchFamily="65" charset="-120"/>
                <a:ea typeface="標楷體" pitchFamily="65" charset="-120"/>
              </a:rPr>
              <a:t>及</a:t>
            </a:r>
            <a:r>
              <a:rPr lang="zh-TW" altLang="en-US" u="sng" dirty="0">
                <a:solidFill>
                  <a:srgbClr val="FF0000"/>
                </a:solidFill>
                <a:latin typeface="標楷體" pitchFamily="65" charset="-120"/>
                <a:ea typeface="標楷體" pitchFamily="65" charset="-120"/>
              </a:rPr>
              <a:t>         </a:t>
            </a:r>
            <a:r>
              <a:rPr lang="zh-TW" altLang="en-US" dirty="0">
                <a:solidFill>
                  <a:srgbClr val="FF0000"/>
                </a:solidFill>
                <a:latin typeface="標楷體" pitchFamily="65" charset="-120"/>
                <a:ea typeface="標楷體" pitchFamily="65" charset="-120"/>
              </a:rPr>
              <a:t>地區則少雨</a:t>
            </a:r>
            <a:r>
              <a:rPr lang="zh-TW" altLang="en-US" dirty="0">
                <a:latin typeface="標楷體" pitchFamily="65" charset="-120"/>
                <a:ea typeface="標楷體" pitchFamily="65" charset="-120"/>
              </a:rPr>
              <a:t>，</a:t>
            </a:r>
            <a:r>
              <a:rPr lang="zh-TW" altLang="en-US" dirty="0">
                <a:solidFill>
                  <a:srgbClr val="FF0000"/>
                </a:solidFill>
                <a:latin typeface="標楷體" pitchFamily="65" charset="-120"/>
                <a:ea typeface="標楷體" pitchFamily="65" charset="-120"/>
              </a:rPr>
              <a:t>旱季</a:t>
            </a:r>
            <a:r>
              <a:rPr lang="zh-TW" altLang="en-US" dirty="0">
                <a:latin typeface="標楷體" pitchFamily="65" charset="-120"/>
                <a:ea typeface="標楷體" pitchFamily="65" charset="-120"/>
              </a:rPr>
              <a:t>可長達</a:t>
            </a:r>
            <a:r>
              <a:rPr lang="zh-TW" altLang="en-US" dirty="0">
                <a:solidFill>
                  <a:srgbClr val="FF0000"/>
                </a:solidFill>
                <a:latin typeface="標楷體" pitchFamily="65" charset="-120"/>
                <a:ea typeface="標楷體" pitchFamily="65" charset="-120"/>
              </a:rPr>
              <a:t>數月</a:t>
            </a:r>
            <a:r>
              <a:rPr lang="zh-TW" altLang="en-US" dirty="0">
                <a:latin typeface="標楷體" pitchFamily="65" charset="-120"/>
                <a:ea typeface="標楷體" pitchFamily="65" charset="-120"/>
              </a:rPr>
              <a:t>，</a:t>
            </a:r>
            <a:r>
              <a:rPr lang="zh-TW" altLang="en-US" dirty="0">
                <a:solidFill>
                  <a:srgbClr val="FF0000"/>
                </a:solidFill>
                <a:latin typeface="標楷體" pitchFamily="65" charset="-120"/>
                <a:ea typeface="標楷體" pitchFamily="65" charset="-120"/>
              </a:rPr>
              <a:t>乾溼</a:t>
            </a:r>
            <a:r>
              <a:rPr lang="zh-TW" altLang="en-US" dirty="0">
                <a:latin typeface="標楷體" pitchFamily="65" charset="-120"/>
                <a:ea typeface="標楷體" pitchFamily="65" charset="-120"/>
              </a:rPr>
              <a:t>特別</a:t>
            </a:r>
            <a:r>
              <a:rPr lang="zh-TW" altLang="en-US" dirty="0">
                <a:solidFill>
                  <a:srgbClr val="FF0000"/>
                </a:solidFill>
                <a:latin typeface="標楷體" pitchFamily="65" charset="-120"/>
                <a:ea typeface="標楷體" pitchFamily="65" charset="-120"/>
              </a:rPr>
              <a:t>分明</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3.</a:t>
            </a:r>
            <a:r>
              <a:rPr lang="zh-TW" altLang="en-US" dirty="0">
                <a:solidFill>
                  <a:srgbClr val="FF0000"/>
                </a:solidFill>
                <a:latin typeface="標楷體" pitchFamily="65" charset="-120"/>
                <a:ea typeface="標楷體" pitchFamily="65" charset="-120"/>
              </a:rPr>
              <a:t>降水特徵</a:t>
            </a:r>
            <a:r>
              <a:rPr lang="zh-TW" altLang="en-US" dirty="0">
                <a:latin typeface="標楷體" pitchFamily="65" charset="-120"/>
                <a:ea typeface="標楷體" pitchFamily="65" charset="-120"/>
              </a:rPr>
              <a:t>：臺灣年均</a:t>
            </a:r>
            <a:r>
              <a:rPr lang="zh-TW" altLang="en-US" dirty="0">
                <a:solidFill>
                  <a:srgbClr val="FF0000"/>
                </a:solidFill>
                <a:latin typeface="標楷體" pitchFamily="65" charset="-120"/>
                <a:ea typeface="標楷體" pitchFamily="65" charset="-120"/>
              </a:rPr>
              <a:t>降水量高達 </a:t>
            </a:r>
            <a:r>
              <a:rPr lang="en-US" altLang="zh-TW" dirty="0">
                <a:solidFill>
                  <a:srgbClr val="FF0000"/>
                </a:solidFill>
                <a:latin typeface="標楷體" pitchFamily="65" charset="-120"/>
                <a:ea typeface="標楷體" pitchFamily="65" charset="-120"/>
              </a:rPr>
              <a:t>2,500 </a:t>
            </a:r>
            <a:r>
              <a:rPr lang="zh-TW" altLang="en-US" dirty="0">
                <a:solidFill>
                  <a:srgbClr val="FF0000"/>
                </a:solidFill>
                <a:latin typeface="標楷體" pitchFamily="65" charset="-120"/>
                <a:ea typeface="標楷體" pitchFamily="65" charset="-120"/>
              </a:rPr>
              <a:t>毫米以上，是世界平均值的</a:t>
            </a:r>
            <a:endParaRPr lang="en-US" altLang="zh-TW" dirty="0">
              <a:solidFill>
                <a:srgbClr val="FF0000"/>
              </a:solidFill>
              <a:latin typeface="標楷體" pitchFamily="65" charset="-120"/>
              <a:ea typeface="標楷體" pitchFamily="65" charset="-120"/>
            </a:endParaRPr>
          </a:p>
          <a:p>
            <a:r>
              <a:rPr lang="zh-TW" altLang="en-US" dirty="0">
                <a:solidFill>
                  <a:srgbClr val="FF0000"/>
                </a:solidFill>
                <a:latin typeface="標楷體" pitchFamily="65" charset="-120"/>
                <a:ea typeface="標楷體" pitchFamily="65" charset="-120"/>
              </a:rPr>
              <a:t>  </a:t>
            </a:r>
            <a:r>
              <a:rPr lang="en-US" altLang="zh-TW" dirty="0">
                <a:solidFill>
                  <a:srgbClr val="FF0000"/>
                </a:solidFill>
                <a:latin typeface="標楷體" pitchFamily="65" charset="-120"/>
                <a:ea typeface="標楷體" pitchFamily="65" charset="-120"/>
              </a:rPr>
              <a:t>2.6 </a:t>
            </a:r>
            <a:r>
              <a:rPr lang="zh-TW" altLang="en-US" dirty="0">
                <a:solidFill>
                  <a:srgbClr val="FF0000"/>
                </a:solidFill>
                <a:latin typeface="標楷體" pitchFamily="65" charset="-120"/>
                <a:ea typeface="標楷體" pitchFamily="65" charset="-120"/>
              </a:rPr>
              <a:t>倍，但</a:t>
            </a:r>
            <a:r>
              <a:rPr lang="zh-TW" altLang="en-US" dirty="0">
                <a:latin typeface="標楷體" pitchFamily="65" charset="-120"/>
                <a:ea typeface="標楷體" pitchFamily="65" charset="-120"/>
              </a:rPr>
              <a:t>卻也是</a:t>
            </a:r>
            <a:r>
              <a:rPr lang="zh-TW" altLang="en-US" dirty="0">
                <a:solidFill>
                  <a:srgbClr val="FF0000"/>
                </a:solidFill>
                <a:latin typeface="標楷體" pitchFamily="65" charset="-120"/>
                <a:ea typeface="標楷體" pitchFamily="65" charset="-120"/>
              </a:rPr>
              <a:t>世界排名第 </a:t>
            </a:r>
            <a:r>
              <a:rPr lang="en-US" altLang="zh-TW" dirty="0">
                <a:solidFill>
                  <a:srgbClr val="FF0000"/>
                </a:solidFill>
                <a:latin typeface="標楷體" pitchFamily="65" charset="-120"/>
                <a:ea typeface="標楷體" pitchFamily="65" charset="-120"/>
              </a:rPr>
              <a:t>18 </a:t>
            </a:r>
            <a:r>
              <a:rPr lang="zh-TW" altLang="en-US" dirty="0">
                <a:solidFill>
                  <a:srgbClr val="FF0000"/>
                </a:solidFill>
                <a:latin typeface="標楷體" pitchFamily="65" charset="-120"/>
                <a:ea typeface="標楷體" pitchFamily="65" charset="-120"/>
              </a:rPr>
              <a:t>缺水的國家</a:t>
            </a:r>
            <a:r>
              <a:rPr lang="zh-TW" altLang="en-US" dirty="0">
                <a:latin typeface="標楷體" pitchFamily="65" charset="-120"/>
                <a:ea typeface="標楷體" pitchFamily="65" charset="-120"/>
              </a:rPr>
              <a:t>（</a:t>
            </a:r>
            <a:r>
              <a:rPr lang="en-US" altLang="zh-TW" dirty="0">
                <a:latin typeface="標楷體" pitchFamily="65" charset="-120"/>
                <a:ea typeface="標楷體" pitchFamily="65" charset="-120"/>
              </a:rPr>
              <a:t>2020 </a:t>
            </a:r>
            <a:r>
              <a:rPr lang="zh-TW" altLang="en-US" dirty="0">
                <a:latin typeface="標楷體" pitchFamily="65" charset="-120"/>
                <a:ea typeface="標楷體" pitchFamily="65" charset="-120"/>
              </a:rPr>
              <a:t>年）。</a:t>
            </a:r>
          </a:p>
          <a:p>
            <a:r>
              <a:rPr lang="zh-TW" altLang="en-US" dirty="0">
                <a:latin typeface="標楷體" pitchFamily="65" charset="-120"/>
                <a:ea typeface="標楷體" pitchFamily="65" charset="-120"/>
              </a:rPr>
              <a:t>→</a:t>
            </a:r>
            <a:r>
              <a:rPr lang="zh-TW" altLang="en-US" dirty="0">
                <a:solidFill>
                  <a:srgbClr val="FF0000"/>
                </a:solidFill>
                <a:latin typeface="標楷體" pitchFamily="65" charset="-120"/>
                <a:ea typeface="標楷體" pitchFamily="65" charset="-120"/>
              </a:rPr>
              <a:t>原因：</a:t>
            </a:r>
            <a:r>
              <a:rPr lang="en-US" altLang="zh-TW" dirty="0">
                <a:latin typeface="標楷體" pitchFamily="65" charset="-120"/>
                <a:ea typeface="標楷體" pitchFamily="65" charset="-120"/>
              </a:rPr>
              <a:t> (1)</a:t>
            </a:r>
            <a:r>
              <a:rPr lang="zh-TW" altLang="en-US" dirty="0">
                <a:solidFill>
                  <a:srgbClr val="FF0000"/>
                </a:solidFill>
                <a:latin typeface="標楷體" pitchFamily="65" charset="-120"/>
                <a:ea typeface="標楷體" pitchFamily="65" charset="-120"/>
              </a:rPr>
              <a:t>降雨時空分布不均</a:t>
            </a:r>
            <a:r>
              <a:rPr lang="zh-TW" altLang="en-US" dirty="0">
                <a:latin typeface="標楷體" pitchFamily="65" charset="-120"/>
                <a:ea typeface="標楷體" pitchFamily="65" charset="-120"/>
              </a:rPr>
              <a:t>，</a:t>
            </a:r>
            <a:r>
              <a:rPr lang="en-US" altLang="zh-TW" dirty="0">
                <a:latin typeface="標楷體" pitchFamily="65" charset="-120"/>
                <a:ea typeface="標楷體" pitchFamily="65" charset="-120"/>
              </a:rPr>
              <a:t> </a:t>
            </a:r>
            <a:br>
              <a:rPr lang="en-US" altLang="zh-TW" dirty="0">
                <a:latin typeface="標楷體" pitchFamily="65" charset="-120"/>
                <a:ea typeface="標楷體" pitchFamily="65" charset="-120"/>
              </a:rPr>
            </a:br>
            <a:r>
              <a:rPr lang="en-US" altLang="zh-TW" dirty="0">
                <a:latin typeface="標楷體" pitchFamily="65" charset="-120"/>
                <a:ea typeface="標楷體" pitchFamily="65" charset="-120"/>
              </a:rPr>
              <a:t>(2)</a:t>
            </a:r>
            <a:r>
              <a:rPr lang="zh-TW" altLang="en-US" dirty="0">
                <a:solidFill>
                  <a:srgbClr val="FF0000"/>
                </a:solidFill>
                <a:latin typeface="標楷體" pitchFamily="65" charset="-120"/>
                <a:ea typeface="標楷體" pitchFamily="65" charset="-120"/>
              </a:rPr>
              <a:t>地形起伏大</a:t>
            </a:r>
            <a:r>
              <a:rPr lang="zh-TW" altLang="en-US" dirty="0">
                <a:latin typeface="標楷體" pitchFamily="65" charset="-120"/>
                <a:ea typeface="標楷體" pitchFamily="65" charset="-120"/>
              </a:rPr>
              <a:t>、</a:t>
            </a:r>
            <a:r>
              <a:rPr lang="zh-TW" altLang="en-US" dirty="0">
                <a:solidFill>
                  <a:srgbClr val="FF0000"/>
                </a:solidFill>
                <a:latin typeface="標楷體" pitchFamily="65" charset="-120"/>
                <a:ea typeface="標楷體" pitchFamily="65" charset="-120"/>
              </a:rPr>
              <a:t>河川短促</a:t>
            </a:r>
            <a:r>
              <a:rPr lang="zh-TW" altLang="en-US" dirty="0">
                <a:latin typeface="標楷體" pitchFamily="65" charset="-120"/>
                <a:ea typeface="標楷體" pitchFamily="65" charset="-120"/>
              </a:rPr>
              <a:t>且雨季時常見</a:t>
            </a:r>
            <a:r>
              <a:rPr lang="zh-TW" altLang="en-US" dirty="0">
                <a:solidFill>
                  <a:srgbClr val="FF0000"/>
                </a:solidFill>
                <a:latin typeface="標楷體" pitchFamily="65" charset="-120"/>
                <a:ea typeface="標楷體" pitchFamily="65" charset="-120"/>
              </a:rPr>
              <a:t>短時間強降雨，使水資源不易保存</a:t>
            </a:r>
            <a:r>
              <a:rPr lang="zh-TW" altLang="en-US" dirty="0">
                <a:latin typeface="標楷體" pitchFamily="65" charset="-120"/>
                <a:ea typeface="標楷體" pitchFamily="65" charset="-120"/>
              </a:rPr>
              <a:t>且容易</a:t>
            </a:r>
            <a:r>
              <a:rPr lang="zh-TW" altLang="en-US" dirty="0">
                <a:solidFill>
                  <a:srgbClr val="FF0000"/>
                </a:solidFill>
                <a:latin typeface="標楷體" pitchFamily="65" charset="-120"/>
                <a:ea typeface="標楷體" pitchFamily="65" charset="-120"/>
              </a:rPr>
              <a:t>致災</a:t>
            </a:r>
            <a:r>
              <a:rPr lang="zh-TW" altLang="en-US" dirty="0">
                <a:latin typeface="標楷體" pitchFamily="65" charset="-120"/>
                <a:ea typeface="標楷體" pitchFamily="65" charset="-120"/>
              </a:rPr>
              <a:t>，</a:t>
            </a:r>
            <a:r>
              <a:rPr lang="en-US" altLang="zh-TW" dirty="0">
                <a:latin typeface="標楷體" pitchFamily="65" charset="-120"/>
                <a:ea typeface="標楷體" pitchFamily="65" charset="-120"/>
              </a:rPr>
              <a:t> </a:t>
            </a:r>
            <a:br>
              <a:rPr lang="en-US" altLang="zh-TW" dirty="0">
                <a:latin typeface="標楷體" pitchFamily="65" charset="-120"/>
                <a:ea typeface="標楷體" pitchFamily="65" charset="-120"/>
              </a:rPr>
            </a:br>
            <a:r>
              <a:rPr lang="en-US" altLang="zh-TW" dirty="0">
                <a:latin typeface="標楷體" pitchFamily="65" charset="-120"/>
                <a:ea typeface="標楷體" pitchFamily="65" charset="-120"/>
              </a:rPr>
              <a:t>(3)</a:t>
            </a:r>
            <a:r>
              <a:rPr lang="zh-TW" altLang="en-US" dirty="0">
                <a:solidFill>
                  <a:srgbClr val="FF0000"/>
                </a:solidFill>
                <a:latin typeface="標楷體" pitchFamily="65" charset="-120"/>
                <a:ea typeface="標楷體" pitchFamily="65" charset="-120"/>
              </a:rPr>
              <a:t>人口密集，每人所能分配的水資源量少</a:t>
            </a:r>
            <a:r>
              <a:rPr lang="zh-TW" altLang="en-US" dirty="0">
                <a:latin typeface="標楷體" pitchFamily="65" charset="-120"/>
                <a:ea typeface="標楷體" pitchFamily="65" charset="-120"/>
              </a:rPr>
              <a:t>，約</a:t>
            </a:r>
            <a:r>
              <a:rPr lang="zh-TW" altLang="en-US" dirty="0">
                <a:solidFill>
                  <a:srgbClr val="FF0000"/>
                </a:solidFill>
                <a:latin typeface="標楷體" pitchFamily="65" charset="-120"/>
                <a:ea typeface="標楷體" pitchFamily="65" charset="-120"/>
              </a:rPr>
              <a:t>只有世界平均的 </a:t>
            </a:r>
            <a:r>
              <a:rPr lang="en-US" altLang="zh-TW" dirty="0">
                <a:solidFill>
                  <a:srgbClr val="FF0000"/>
                </a:solidFill>
                <a:latin typeface="標楷體" pitchFamily="65" charset="-120"/>
                <a:ea typeface="標楷體" pitchFamily="65" charset="-120"/>
              </a:rPr>
              <a:t>1╱7</a:t>
            </a:r>
            <a:r>
              <a:rPr lang="zh-TW" altLang="en-US" dirty="0">
                <a:latin typeface="標楷體" pitchFamily="65" charset="-120"/>
                <a:ea typeface="標楷體" pitchFamily="65" charset="-120"/>
              </a:rPr>
              <a:t>。</a:t>
            </a:r>
          </a:p>
        </p:txBody>
      </p:sp>
      <p:sp>
        <p:nvSpPr>
          <p:cNvPr id="9" name="矩形 8"/>
          <p:cNvSpPr>
            <a:spLocks noChangeArrowheads="1"/>
          </p:cNvSpPr>
          <p:nvPr/>
        </p:nvSpPr>
        <p:spPr bwMode="auto">
          <a:xfrm>
            <a:off x="2272553" y="1231703"/>
            <a:ext cx="7542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西南</a:t>
            </a:r>
          </a:p>
        </p:txBody>
      </p:sp>
      <p:sp>
        <p:nvSpPr>
          <p:cNvPr id="11" name="矩形 10"/>
          <p:cNvSpPr>
            <a:spLocks noChangeArrowheads="1"/>
          </p:cNvSpPr>
          <p:nvPr/>
        </p:nvSpPr>
        <p:spPr bwMode="auto">
          <a:xfrm>
            <a:off x="2839507" y="1875312"/>
            <a:ext cx="7542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東北</a:t>
            </a:r>
          </a:p>
        </p:txBody>
      </p:sp>
      <p:sp>
        <p:nvSpPr>
          <p:cNvPr id="12" name="矩形 11"/>
          <p:cNvSpPr>
            <a:spLocks noChangeArrowheads="1"/>
          </p:cNvSpPr>
          <p:nvPr/>
        </p:nvSpPr>
        <p:spPr bwMode="auto">
          <a:xfrm>
            <a:off x="988572" y="2202562"/>
            <a:ext cx="7542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中部</a:t>
            </a:r>
          </a:p>
        </p:txBody>
      </p:sp>
      <p:sp>
        <p:nvSpPr>
          <p:cNvPr id="13" name="矩形 12"/>
          <p:cNvSpPr>
            <a:spLocks noChangeArrowheads="1"/>
          </p:cNvSpPr>
          <p:nvPr/>
        </p:nvSpPr>
        <p:spPr bwMode="auto">
          <a:xfrm>
            <a:off x="2347290" y="2174790"/>
            <a:ext cx="75420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南部</a:t>
            </a:r>
          </a:p>
        </p:txBody>
      </p:sp>
      <p:sp>
        <p:nvSpPr>
          <p:cNvPr id="15" name="矩形 14"/>
          <p:cNvSpPr>
            <a:spLocks noChangeArrowheads="1"/>
          </p:cNvSpPr>
          <p:nvPr/>
        </p:nvSpPr>
        <p:spPr bwMode="auto">
          <a:xfrm>
            <a:off x="72012" y="-89553"/>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p.170</a:t>
            </a:r>
            <a:endParaRPr lang="zh-TW" altLang="en-US" sz="3600" b="0" dirty="0"/>
          </a:p>
        </p:txBody>
      </p:sp>
      <p:pic>
        <p:nvPicPr>
          <p:cNvPr id="1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481" y="4612096"/>
            <a:ext cx="8427337" cy="2172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29</a:t>
            </a:fld>
            <a:endParaRPr lang="zh-TW" sz="1400">
              <a:solidFill>
                <a:schemeClr val="dk1"/>
              </a:solidFill>
              <a:latin typeface="Arial"/>
              <a:ea typeface="Arial"/>
              <a:cs typeface="Arial"/>
              <a:sym typeface="Arial"/>
            </a:endParaRPr>
          </a:p>
        </p:txBody>
      </p:sp>
      <p:sp>
        <p:nvSpPr>
          <p:cNvPr id="17" name="Rectangle 9">
            <a:extLst>
              <a:ext uri="{FF2B5EF4-FFF2-40B4-BE49-F238E27FC236}">
                <a16:creationId xmlns:a16="http://schemas.microsoft.com/office/drawing/2014/main" id="{B6556603-618B-4B8E-AA3F-47E6B38C328E}"/>
              </a:ext>
            </a:extLst>
          </p:cNvPr>
          <p:cNvSpPr>
            <a:spLocks noChangeArrowheads="1"/>
          </p:cNvSpPr>
          <p:nvPr/>
        </p:nvSpPr>
        <p:spPr bwMode="auto">
          <a:xfrm>
            <a:off x="312182" y="2551617"/>
            <a:ext cx="8601591" cy="4232892"/>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18" name="Rectangle 9">
            <a:extLst>
              <a:ext uri="{FF2B5EF4-FFF2-40B4-BE49-F238E27FC236}">
                <a16:creationId xmlns:a16="http://schemas.microsoft.com/office/drawing/2014/main" id="{BC0713B7-BBCE-415B-994B-A758F3F8B4DB}"/>
              </a:ext>
            </a:extLst>
          </p:cNvPr>
          <p:cNvSpPr>
            <a:spLocks noChangeArrowheads="1"/>
          </p:cNvSpPr>
          <p:nvPr/>
        </p:nvSpPr>
        <p:spPr bwMode="auto">
          <a:xfrm>
            <a:off x="2877985" y="2924554"/>
            <a:ext cx="3105386" cy="341742"/>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19" name="Rectangle 9">
            <a:extLst>
              <a:ext uri="{FF2B5EF4-FFF2-40B4-BE49-F238E27FC236}">
                <a16:creationId xmlns:a16="http://schemas.microsoft.com/office/drawing/2014/main" id="{4A1BC46F-1CBE-4ADB-925F-CE3008C07C62}"/>
              </a:ext>
            </a:extLst>
          </p:cNvPr>
          <p:cNvSpPr>
            <a:spLocks noChangeArrowheads="1"/>
          </p:cNvSpPr>
          <p:nvPr/>
        </p:nvSpPr>
        <p:spPr bwMode="auto">
          <a:xfrm>
            <a:off x="988572" y="4201704"/>
            <a:ext cx="1101030" cy="383532"/>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
        <p:nvSpPr>
          <p:cNvPr id="20" name="Rectangle 9">
            <a:extLst>
              <a:ext uri="{FF2B5EF4-FFF2-40B4-BE49-F238E27FC236}">
                <a16:creationId xmlns:a16="http://schemas.microsoft.com/office/drawing/2014/main" id="{098C990A-C298-4771-A833-652CCC9CBB95}"/>
              </a:ext>
            </a:extLst>
          </p:cNvPr>
          <p:cNvSpPr>
            <a:spLocks noChangeArrowheads="1"/>
          </p:cNvSpPr>
          <p:nvPr/>
        </p:nvSpPr>
        <p:spPr bwMode="auto">
          <a:xfrm>
            <a:off x="2228730" y="4198927"/>
            <a:ext cx="6087686" cy="383532"/>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eaLnBrk="1" hangingPunct="1">
              <a:spcBef>
                <a:spcPct val="0"/>
              </a:spcBef>
              <a:buFontTx/>
              <a:buNone/>
            </a:pPr>
            <a:endParaRPr lang="zh-TW" altLang="en-US" sz="1800"/>
          </a:p>
        </p:txBody>
      </p:sp>
    </p:spTree>
    <p:extLst>
      <p:ext uri="{BB962C8B-B14F-4D97-AF65-F5344CB8AC3E}">
        <p14:creationId xmlns:p14="http://schemas.microsoft.com/office/powerpoint/2010/main" val="78527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472020" y="897672"/>
            <a:ext cx="8199959" cy="648072"/>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pPr fontAlgn="base">
              <a:spcBef>
                <a:spcPct val="0"/>
              </a:spcBef>
              <a:spcAft>
                <a:spcPct val="0"/>
              </a:spcAft>
              <a:buClrTx/>
              <a:buSzTx/>
            </a:pPr>
            <a:endParaRPr lang="en-US" altLang="zh-TW" sz="2400" dirty="0">
              <a:solidFill>
                <a:schemeClr val="bg2">
                  <a:lumMod val="75000"/>
                </a:schemeClr>
              </a:solidFill>
              <a:latin typeface="標楷體" pitchFamily="65" charset="-120"/>
              <a:ea typeface="標楷體" pitchFamily="65" charset="-120"/>
            </a:endParaRPr>
          </a:p>
          <a:p>
            <a:pPr fontAlgn="base">
              <a:spcBef>
                <a:spcPct val="0"/>
              </a:spcBef>
              <a:spcAft>
                <a:spcPct val="0"/>
              </a:spcAft>
              <a:buClrTx/>
              <a:buSzTx/>
            </a:pPr>
            <a:r>
              <a:rPr lang="zh-TW" altLang="en-US" sz="2400" dirty="0">
                <a:solidFill>
                  <a:schemeClr val="bg2">
                    <a:lumMod val="75000"/>
                  </a:schemeClr>
                </a:solidFill>
                <a:latin typeface="標楷體" pitchFamily="65" charset="-120"/>
                <a:ea typeface="標楷體" pitchFamily="65" charset="-120"/>
              </a:rPr>
              <a:t>臺灣</a:t>
            </a:r>
            <a:r>
              <a:rPr lang="zh-TW" altLang="en-US" sz="2400" dirty="0">
                <a:solidFill>
                  <a:srgbClr val="FF0000"/>
                </a:solidFill>
                <a:latin typeface="標楷體" pitchFamily="65" charset="-120"/>
                <a:ea typeface="標楷體" pitchFamily="65" charset="-120"/>
              </a:rPr>
              <a:t>強降雨</a:t>
            </a:r>
            <a:r>
              <a:rPr lang="zh-TW" altLang="en-US" sz="2400" dirty="0">
                <a:solidFill>
                  <a:schemeClr val="bg2">
                    <a:lumMod val="75000"/>
                  </a:schemeClr>
                </a:solidFill>
                <a:latin typeface="標楷體" pitchFamily="65" charset="-120"/>
                <a:ea typeface="標楷體" pitchFamily="65" charset="-120"/>
              </a:rPr>
              <a:t>情況</a:t>
            </a:r>
            <a:endParaRPr lang="en-US" altLang="zh-TW" sz="2400" dirty="0">
              <a:solidFill>
                <a:schemeClr val="bg2">
                  <a:lumMod val="75000"/>
                </a:schemeClr>
              </a:solidFill>
              <a:latin typeface="標楷體" pitchFamily="65" charset="-120"/>
              <a:ea typeface="標楷體" pitchFamily="65" charset="-120"/>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2696" y="260648"/>
            <a:ext cx="2464875" cy="605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3"/>
          <p:cNvSpPr txBox="1">
            <a:spLocks noChangeArrowheads="1"/>
          </p:cNvSpPr>
          <p:nvPr/>
        </p:nvSpPr>
        <p:spPr>
          <a:xfrm>
            <a:off x="37111" y="2492896"/>
            <a:ext cx="4414814" cy="3600400"/>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    </a:t>
            </a:r>
            <a:r>
              <a:rPr lang="zh-TW" altLang="en-US" dirty="0">
                <a:solidFill>
                  <a:srgbClr val="FF0000"/>
                </a:solidFill>
                <a:latin typeface="標楷體" pitchFamily="65" charset="-120"/>
                <a:ea typeface="標楷體" pitchFamily="65" charset="-120"/>
              </a:rPr>
              <a:t>過去</a:t>
            </a:r>
            <a:r>
              <a:rPr lang="zh-TW" altLang="en-US" dirty="0">
                <a:latin typeface="標楷體" pitchFamily="65" charset="-120"/>
                <a:ea typeface="標楷體" pitchFamily="65" charset="-120"/>
              </a:rPr>
              <a:t>臺灣</a:t>
            </a:r>
            <a:r>
              <a:rPr lang="zh-TW" altLang="en-US" dirty="0">
                <a:solidFill>
                  <a:srgbClr val="FF0000"/>
                </a:solidFill>
                <a:latin typeface="標楷體" pitchFamily="65" charset="-120"/>
                <a:ea typeface="標楷體" pitchFamily="65" charset="-120"/>
              </a:rPr>
              <a:t>豪大雨統計</a:t>
            </a:r>
            <a:r>
              <a:rPr lang="zh-TW" altLang="en-US" dirty="0">
                <a:latin typeface="標楷體" pitchFamily="65" charset="-120"/>
                <a:ea typeface="標楷體" pitchFamily="65" charset="-120"/>
              </a:rPr>
              <a:t>常見</a:t>
            </a:r>
            <a:r>
              <a:rPr lang="zh-TW" altLang="en-US" dirty="0">
                <a:solidFill>
                  <a:srgbClr val="FF0000"/>
                </a:solidFill>
                <a:latin typeface="標楷體" pitchFamily="65" charset="-120"/>
                <a:ea typeface="標楷體" pitchFamily="65" charset="-120"/>
              </a:rPr>
              <a:t>以 </a:t>
            </a:r>
            <a:r>
              <a:rPr lang="en-US" altLang="zh-TW" dirty="0">
                <a:solidFill>
                  <a:srgbClr val="FF0000"/>
                </a:solidFill>
                <a:latin typeface="標楷體" pitchFamily="65" charset="-120"/>
                <a:ea typeface="標楷體" pitchFamily="65" charset="-120"/>
              </a:rPr>
              <a:t>24 </a:t>
            </a:r>
            <a:r>
              <a:rPr lang="zh-TW" altLang="en-US" dirty="0">
                <a:solidFill>
                  <a:srgbClr val="FF0000"/>
                </a:solidFill>
                <a:latin typeface="標楷體" pitchFamily="65" charset="-120"/>
                <a:ea typeface="標楷體" pitchFamily="65" charset="-120"/>
              </a:rPr>
              <a:t>小時作為統計區間</a:t>
            </a:r>
            <a:r>
              <a:rPr lang="zh-TW" altLang="en-US" dirty="0">
                <a:latin typeface="標楷體" pitchFamily="65" charset="-120"/>
                <a:ea typeface="標楷體" pitchFamily="65" charset="-120"/>
              </a:rPr>
              <a:t>，</a:t>
            </a:r>
            <a:r>
              <a:rPr lang="zh-TW" altLang="en-US" dirty="0">
                <a:solidFill>
                  <a:srgbClr val="FF0000"/>
                </a:solidFill>
                <a:latin typeface="標楷體" pitchFamily="65" charset="-120"/>
                <a:ea typeface="標楷體" pitchFamily="65" charset="-120"/>
              </a:rPr>
              <a:t>但</a:t>
            </a:r>
            <a:r>
              <a:rPr lang="zh-TW" altLang="en-US" dirty="0">
                <a:latin typeface="標楷體" pitchFamily="65" charset="-120"/>
                <a:ea typeface="標楷體" pitchFamily="65" charset="-120"/>
              </a:rPr>
              <a:t>隨著</a:t>
            </a:r>
            <a:r>
              <a:rPr lang="zh-TW" altLang="en-US" dirty="0">
                <a:solidFill>
                  <a:srgbClr val="FF0000"/>
                </a:solidFill>
                <a:latin typeface="標楷體" pitchFamily="65" charset="-120"/>
                <a:ea typeface="標楷體" pitchFamily="65" charset="-120"/>
              </a:rPr>
              <a:t>極端降雨</a:t>
            </a:r>
            <a:r>
              <a:rPr lang="zh-TW" altLang="en-US" dirty="0">
                <a:latin typeface="標楷體" pitchFamily="65" charset="-120"/>
                <a:ea typeface="標楷體" pitchFamily="65" charset="-120"/>
              </a:rPr>
              <a:t>事件更</a:t>
            </a:r>
            <a:r>
              <a:rPr lang="zh-TW" altLang="en-US" dirty="0">
                <a:solidFill>
                  <a:srgbClr val="FF0000"/>
                </a:solidFill>
                <a:latin typeface="標楷體" pitchFamily="65" charset="-120"/>
                <a:ea typeface="標楷體" pitchFamily="65" charset="-120"/>
              </a:rPr>
              <a:t>頻繁</a:t>
            </a:r>
            <a:r>
              <a:rPr lang="zh-TW" altLang="en-US" dirty="0">
                <a:latin typeface="標楷體" pitchFamily="65" charset="-120"/>
                <a:ea typeface="標楷體" pitchFamily="65" charset="-120"/>
              </a:rPr>
              <a:t>的發生，</a:t>
            </a:r>
            <a:r>
              <a:rPr lang="zh-TW" altLang="en-US" dirty="0">
                <a:solidFill>
                  <a:srgbClr val="FF0000"/>
                </a:solidFill>
                <a:latin typeface="標楷體" pitchFamily="65" charset="-120"/>
                <a:ea typeface="標楷體" pitchFamily="65" charset="-120"/>
              </a:rPr>
              <a:t>開始重視 </a:t>
            </a:r>
            <a:r>
              <a:rPr lang="en-US" altLang="zh-TW" dirty="0">
                <a:latin typeface="標楷體" pitchFamily="65" charset="-120"/>
                <a:ea typeface="標楷體" pitchFamily="65" charset="-120"/>
              </a:rPr>
              <a:t>3 </a:t>
            </a:r>
            <a:r>
              <a:rPr lang="zh-TW" altLang="en-US" dirty="0">
                <a:latin typeface="標楷體" pitchFamily="65" charset="-120"/>
                <a:ea typeface="標楷體" pitchFamily="65" charset="-120"/>
              </a:rPr>
              <a:t>小時、</a:t>
            </a:r>
            <a:r>
              <a:rPr lang="en-US" altLang="zh-TW" dirty="0">
                <a:latin typeface="標楷體" pitchFamily="65" charset="-120"/>
                <a:ea typeface="標楷體" pitchFamily="65" charset="-120"/>
              </a:rPr>
              <a:t>6 </a:t>
            </a:r>
            <a:r>
              <a:rPr lang="zh-TW" altLang="en-US" dirty="0">
                <a:latin typeface="標楷體" pitchFamily="65" charset="-120"/>
                <a:ea typeface="標楷體" pitchFamily="65" charset="-120"/>
              </a:rPr>
              <a:t>小時區間這種更易致災的</a:t>
            </a:r>
            <a:r>
              <a:rPr lang="zh-TW" altLang="en-US" dirty="0">
                <a:solidFill>
                  <a:srgbClr val="FF0000"/>
                </a:solidFill>
                <a:latin typeface="標楷體" pitchFamily="65" charset="-120"/>
                <a:ea typeface="標楷體" pitchFamily="65" charset="-120"/>
              </a:rPr>
              <a:t>短時間強降雨數據</a:t>
            </a:r>
            <a:r>
              <a:rPr lang="zh-TW" altLang="en-US" dirty="0">
                <a:latin typeface="標楷體" pitchFamily="65" charset="-120"/>
                <a:ea typeface="標楷體" pitchFamily="65" charset="-120"/>
              </a:rPr>
              <a:t>，中央氣象局於 </a:t>
            </a:r>
            <a:r>
              <a:rPr lang="en-US" altLang="zh-TW" dirty="0">
                <a:latin typeface="標楷體" pitchFamily="65" charset="-120"/>
                <a:ea typeface="標楷體" pitchFamily="65" charset="-120"/>
              </a:rPr>
              <a:t>2020</a:t>
            </a:r>
            <a:r>
              <a:rPr lang="zh-TW" altLang="en-US" dirty="0">
                <a:latin typeface="標楷體" pitchFamily="65" charset="-120"/>
                <a:ea typeface="標楷體" pitchFamily="65" charset="-120"/>
              </a:rPr>
              <a:t>年</a:t>
            </a:r>
            <a:r>
              <a:rPr lang="en-US" altLang="zh-TW" dirty="0">
                <a:latin typeface="標楷體" pitchFamily="65" charset="-120"/>
                <a:ea typeface="標楷體" pitchFamily="65" charset="-120"/>
              </a:rPr>
              <a:t>3</a:t>
            </a:r>
            <a:r>
              <a:rPr lang="zh-TW" altLang="en-US" dirty="0">
                <a:latin typeface="標楷體" pitchFamily="65" charset="-120"/>
                <a:ea typeface="標楷體" pitchFamily="65" charset="-120"/>
              </a:rPr>
              <a:t>月 </a:t>
            </a:r>
            <a:r>
              <a:rPr lang="en-US" altLang="zh-TW" dirty="0">
                <a:latin typeface="標楷體" pitchFamily="65" charset="-120"/>
                <a:ea typeface="標楷體" pitchFamily="65" charset="-120"/>
              </a:rPr>
              <a:t>1 </a:t>
            </a:r>
            <a:r>
              <a:rPr lang="zh-TW" altLang="en-US" dirty="0">
                <a:latin typeface="標楷體" pitchFamily="65" charset="-120"/>
                <a:ea typeface="標楷體" pitchFamily="65" charset="-120"/>
              </a:rPr>
              <a:t>日</a:t>
            </a:r>
            <a:r>
              <a:rPr lang="zh-TW" altLang="en-US" dirty="0">
                <a:solidFill>
                  <a:srgbClr val="FF0000"/>
                </a:solidFill>
                <a:latin typeface="標楷體" pitchFamily="65" charset="-120"/>
                <a:ea typeface="標楷體" pitchFamily="65" charset="-120"/>
              </a:rPr>
              <a:t>修訂新的雨量分級</a:t>
            </a:r>
            <a:r>
              <a:rPr lang="zh-TW" altLang="en-US" dirty="0">
                <a:latin typeface="標楷體" pitchFamily="65" charset="-120"/>
                <a:ea typeface="標楷體" pitchFamily="65" charset="-120"/>
              </a:rPr>
              <a:t>（右圖）。</a:t>
            </a:r>
          </a:p>
          <a:p>
            <a:r>
              <a:rPr lang="zh-TW" altLang="en-US" dirty="0">
                <a:latin typeface="標楷體" pitchFamily="65" charset="-120"/>
                <a:ea typeface="標楷體" pitchFamily="65" charset="-120"/>
              </a:rPr>
              <a:t>　　</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強降雨世界紀錄為 </a:t>
            </a:r>
            <a:r>
              <a:rPr lang="en-US" altLang="zh-TW" dirty="0">
                <a:latin typeface="標楷體" pitchFamily="65" charset="-120"/>
                <a:ea typeface="標楷體" pitchFamily="65" charset="-120"/>
              </a:rPr>
              <a:t>1,825 </a:t>
            </a:r>
            <a:r>
              <a:rPr lang="zh-TW" altLang="en-US" dirty="0">
                <a:latin typeface="標楷體" pitchFamily="65" charset="-120"/>
                <a:ea typeface="標楷體" pitchFamily="65" charset="-120"/>
              </a:rPr>
              <a:t>毫米／</a:t>
            </a:r>
            <a:r>
              <a:rPr lang="en-US" altLang="zh-TW" dirty="0">
                <a:latin typeface="標楷體" pitchFamily="65" charset="-120"/>
                <a:ea typeface="標楷體" pitchFamily="65" charset="-120"/>
              </a:rPr>
              <a:t>24 </a:t>
            </a:r>
            <a:r>
              <a:rPr lang="zh-TW" altLang="en-US" dirty="0">
                <a:latin typeface="標楷體" pitchFamily="65" charset="-120"/>
                <a:ea typeface="標楷體" pitchFamily="65" charset="-120"/>
              </a:rPr>
              <a:t>小時及 </a:t>
            </a:r>
            <a:r>
              <a:rPr lang="en-US" altLang="zh-TW" dirty="0">
                <a:latin typeface="標楷體" pitchFamily="65" charset="-120"/>
                <a:ea typeface="標楷體" pitchFamily="65" charset="-120"/>
              </a:rPr>
              <a:t>2,467 </a:t>
            </a:r>
            <a:r>
              <a:rPr lang="zh-TW" altLang="en-US" dirty="0">
                <a:latin typeface="標楷體" pitchFamily="65" charset="-120"/>
                <a:ea typeface="標楷體" pitchFamily="65" charset="-120"/>
              </a:rPr>
              <a:t>毫米／</a:t>
            </a:r>
            <a:r>
              <a:rPr lang="en-US" altLang="zh-TW" dirty="0">
                <a:latin typeface="標楷體" pitchFamily="65" charset="-120"/>
                <a:ea typeface="標楷體" pitchFamily="65" charset="-120"/>
              </a:rPr>
              <a:t>48 </a:t>
            </a:r>
            <a:r>
              <a:rPr lang="zh-TW" altLang="en-US" dirty="0">
                <a:latin typeface="標楷體" pitchFamily="65" charset="-120"/>
                <a:ea typeface="標楷體" pitchFamily="65" charset="-120"/>
              </a:rPr>
              <a:t>小時。</a:t>
            </a:r>
            <a:endParaRPr lang="en-US" altLang="zh-TW" dirty="0">
              <a:latin typeface="標楷體" pitchFamily="65" charset="-120"/>
              <a:ea typeface="標楷體" pitchFamily="65" charset="-120"/>
            </a:endParaRPr>
          </a:p>
          <a:p>
            <a:r>
              <a:rPr lang="zh-TW" altLang="en-US" dirty="0">
                <a:solidFill>
                  <a:schemeClr val="tx1"/>
                </a:solidFill>
                <a:latin typeface="標楷體" pitchFamily="65" charset="-120"/>
                <a:ea typeface="標楷體" pitchFamily="65" charset="-120"/>
              </a:rPr>
              <a:t>而</a:t>
            </a:r>
            <a:r>
              <a:rPr lang="zh-TW" altLang="en-US" dirty="0">
                <a:solidFill>
                  <a:srgbClr val="FF0000"/>
                </a:solidFill>
                <a:latin typeface="標楷體" pitchFamily="65" charset="-120"/>
                <a:ea typeface="標楷體" pitchFamily="65" charset="-120"/>
              </a:rPr>
              <a:t>臺灣在 </a:t>
            </a:r>
            <a:r>
              <a:rPr lang="en-US" altLang="zh-TW" dirty="0">
                <a:solidFill>
                  <a:srgbClr val="FF0000"/>
                </a:solidFill>
                <a:latin typeface="標楷體" pitchFamily="65" charset="-120"/>
                <a:ea typeface="標楷體" pitchFamily="65" charset="-120"/>
              </a:rPr>
              <a:t>2009 </a:t>
            </a:r>
            <a:r>
              <a:rPr lang="zh-TW" altLang="en-US" dirty="0">
                <a:solidFill>
                  <a:srgbClr val="FF0000"/>
                </a:solidFill>
                <a:latin typeface="標楷體" pitchFamily="65" charset="-120"/>
                <a:ea typeface="標楷體" pitchFamily="65" charset="-120"/>
              </a:rPr>
              <a:t>年莫拉克颱風</a:t>
            </a:r>
            <a:r>
              <a:rPr lang="zh-TW" altLang="en-US" dirty="0">
                <a:latin typeface="標楷體" pitchFamily="65" charset="-120"/>
                <a:ea typeface="標楷體" pitchFamily="65" charset="-120"/>
              </a:rPr>
              <a:t>於阿里山測站測得 </a:t>
            </a:r>
            <a:r>
              <a:rPr lang="en-US" altLang="zh-TW" dirty="0">
                <a:latin typeface="標楷體" pitchFamily="65" charset="-120"/>
                <a:ea typeface="標楷體" pitchFamily="65" charset="-120"/>
              </a:rPr>
              <a:t>1,623.5 </a:t>
            </a:r>
            <a:r>
              <a:rPr lang="zh-TW" altLang="en-US" dirty="0">
                <a:latin typeface="標楷體" pitchFamily="65" charset="-120"/>
                <a:ea typeface="標楷體" pitchFamily="65" charset="-120"/>
              </a:rPr>
              <a:t>毫米／</a:t>
            </a:r>
            <a:r>
              <a:rPr lang="en-US" altLang="zh-TW" dirty="0">
                <a:latin typeface="標楷體" pitchFamily="65" charset="-120"/>
                <a:ea typeface="標楷體" pitchFamily="65" charset="-120"/>
              </a:rPr>
              <a:t>24 </a:t>
            </a:r>
            <a:r>
              <a:rPr lang="zh-TW" altLang="en-US" dirty="0">
                <a:latin typeface="標楷體" pitchFamily="65" charset="-120"/>
                <a:ea typeface="標楷體" pitchFamily="65" charset="-120"/>
              </a:rPr>
              <a:t>小時及 </a:t>
            </a:r>
            <a:r>
              <a:rPr lang="en-US" altLang="zh-TW" dirty="0">
                <a:latin typeface="標楷體" pitchFamily="65" charset="-120"/>
                <a:ea typeface="標楷體" pitchFamily="65" charset="-120"/>
              </a:rPr>
              <a:t>2,361 </a:t>
            </a:r>
            <a:r>
              <a:rPr lang="zh-TW" altLang="en-US" dirty="0">
                <a:latin typeface="標楷體" pitchFamily="65" charset="-120"/>
                <a:ea typeface="標楷體" pitchFamily="65" charset="-120"/>
              </a:rPr>
              <a:t>毫米／</a:t>
            </a:r>
            <a:r>
              <a:rPr lang="en-US" altLang="zh-TW" dirty="0">
                <a:latin typeface="標楷體" pitchFamily="65" charset="-120"/>
                <a:ea typeface="標楷體" pitchFamily="65" charset="-120"/>
              </a:rPr>
              <a:t>48 </a:t>
            </a:r>
            <a:r>
              <a:rPr lang="zh-TW" altLang="en-US" dirty="0">
                <a:latin typeface="標楷體" pitchFamily="65" charset="-120"/>
                <a:ea typeface="標楷體" pitchFamily="65" charset="-120"/>
              </a:rPr>
              <a:t>小時，</a:t>
            </a:r>
            <a:r>
              <a:rPr lang="zh-TW" altLang="en-US" dirty="0">
                <a:solidFill>
                  <a:srgbClr val="FF0000"/>
                </a:solidFill>
                <a:latin typeface="標楷體" pitchFamily="65" charset="-120"/>
                <a:ea typeface="標楷體" pitchFamily="65" charset="-120"/>
              </a:rPr>
              <a:t>逼近世界紀錄。</a:t>
            </a:r>
            <a:endParaRPr lang="en-US" altLang="zh-TW" dirty="0">
              <a:solidFill>
                <a:srgbClr val="FF0000"/>
              </a:solidFill>
              <a:latin typeface="標楷體" pitchFamily="65" charset="-120"/>
              <a:ea typeface="標楷體" pitchFamily="65" charset="-120"/>
            </a:endParaRPr>
          </a:p>
        </p:txBody>
      </p:sp>
      <p:sp>
        <p:nvSpPr>
          <p:cNvPr id="8" name="矩形 7"/>
          <p:cNvSpPr>
            <a:spLocks noChangeArrowheads="1"/>
          </p:cNvSpPr>
          <p:nvPr/>
        </p:nvSpPr>
        <p:spPr bwMode="auto">
          <a:xfrm>
            <a:off x="72944" y="176939"/>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p.171</a:t>
            </a:r>
            <a:endParaRPr lang="zh-TW" altLang="en-US" sz="3600" b="0" dirty="0"/>
          </a:p>
        </p:txBody>
      </p:sp>
      <p:sp>
        <p:nvSpPr>
          <p:cNvPr id="2" name="投影片編號版面配置區 1"/>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30</a:t>
            </a:fld>
            <a:endParaRPr lang="zh-TW" sz="1400">
              <a:solidFill>
                <a:schemeClr val="dk1"/>
              </a:solidFill>
              <a:latin typeface="Arial"/>
              <a:ea typeface="Arial"/>
              <a:cs typeface="Arial"/>
              <a:sym typeface="Arial"/>
            </a:endParaRPr>
          </a:p>
        </p:txBody>
      </p:sp>
      <p:pic>
        <p:nvPicPr>
          <p:cNvPr id="1026" name="Picture 2">
            <a:extLst>
              <a:ext uri="{FF2B5EF4-FFF2-40B4-BE49-F238E27FC236}">
                <a16:creationId xmlns:a16="http://schemas.microsoft.com/office/drawing/2014/main" id="{F7EB3ACF-0CF6-4EFA-BED6-D23FE68127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7186" y="897672"/>
            <a:ext cx="4414814" cy="5699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73688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7516" y="3727273"/>
            <a:ext cx="7772400" cy="1362075"/>
          </a:xfrm>
        </p:spPr>
        <p:txBody>
          <a:bodyPr/>
          <a:lstStyle/>
          <a:p>
            <a:endParaRPr lang="zh-TW" altLang="en-US"/>
          </a:p>
        </p:txBody>
      </p:sp>
      <p:sp>
        <p:nvSpPr>
          <p:cNvPr id="3" name="文字版面配置區 2"/>
          <p:cNvSpPr>
            <a:spLocks noGrp="1"/>
          </p:cNvSpPr>
          <p:nvPr>
            <p:ph type="body" idx="1"/>
          </p:nvPr>
        </p:nvSpPr>
        <p:spPr>
          <a:xfrm>
            <a:off x="57516" y="2227086"/>
            <a:ext cx="7772400" cy="1500187"/>
          </a:xfrm>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標題 1"/>
          <p:cNvSpPr>
            <a:spLocks/>
          </p:cNvSpPr>
          <p:nvPr/>
        </p:nvSpPr>
        <p:spPr bwMode="auto">
          <a:xfrm>
            <a:off x="1257998" y="-28647"/>
            <a:ext cx="43370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TW" altLang="en-US" sz="3600" dirty="0">
                <a:latin typeface="標楷體" pitchFamily="65" charset="-120"/>
                <a:ea typeface="標楷體" pitchFamily="65" charset="-120"/>
              </a:rPr>
              <a:t>三、</a:t>
            </a:r>
            <a:r>
              <a:rPr lang="zh-TW" altLang="en-US" sz="3600" dirty="0">
                <a:solidFill>
                  <a:srgbClr val="FF0000"/>
                </a:solidFill>
                <a:latin typeface="標楷體" pitchFamily="65" charset="-120"/>
                <a:ea typeface="標楷體" pitchFamily="65" charset="-120"/>
              </a:rPr>
              <a:t>生物多樣性</a:t>
            </a:r>
            <a:r>
              <a:rPr lang="zh-TW" altLang="en-US" sz="3600" dirty="0">
                <a:latin typeface="標楷體" pitchFamily="65" charset="-120"/>
                <a:ea typeface="標楷體" pitchFamily="65" charset="-120"/>
              </a:rPr>
              <a:t>高</a:t>
            </a:r>
            <a:endParaRPr lang="en-US" altLang="zh-TW" sz="3600" dirty="0">
              <a:latin typeface="標楷體" pitchFamily="65" charset="-120"/>
              <a:ea typeface="標楷體" pitchFamily="65" charset="-120"/>
            </a:endParaRPr>
          </a:p>
        </p:txBody>
      </p:sp>
      <p:sp>
        <p:nvSpPr>
          <p:cNvPr id="7" name="Rectangle 3"/>
          <p:cNvSpPr txBox="1">
            <a:spLocks noChangeArrowheads="1"/>
          </p:cNvSpPr>
          <p:nvPr/>
        </p:nvSpPr>
        <p:spPr>
          <a:xfrm>
            <a:off x="28624" y="624676"/>
            <a:ext cx="9115376" cy="1512168"/>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dirty="0">
                <a:latin typeface="標楷體" pitchFamily="65" charset="-120"/>
                <a:ea typeface="標楷體" pitchFamily="65" charset="-120"/>
              </a:rPr>
              <a:t>地球上多樣性的生物建構一個穩定的生態是人類生存與發展的基礎。</a:t>
            </a:r>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臺灣面積雖小，卻孕育出豐富多樣的物種。</a:t>
            </a:r>
          </a:p>
          <a:p>
            <a:r>
              <a:rPr lang="en-US" altLang="zh-TW" dirty="0">
                <a:latin typeface="標楷體" pitchFamily="65" charset="-120"/>
                <a:ea typeface="標楷體" pitchFamily="65" charset="-120"/>
              </a:rPr>
              <a:t>1.</a:t>
            </a:r>
            <a:r>
              <a:rPr lang="zh-TW" altLang="en-US" dirty="0">
                <a:solidFill>
                  <a:srgbClr val="FF0000"/>
                </a:solidFill>
                <a:latin typeface="標楷體" pitchFamily="65" charset="-120"/>
                <a:ea typeface="標楷體" pitchFamily="65" charset="-120"/>
              </a:rPr>
              <a:t>陸域</a:t>
            </a:r>
            <a:r>
              <a:rPr lang="zh-TW" altLang="en-US" dirty="0">
                <a:latin typeface="標楷體" pitchFamily="65" charset="-120"/>
                <a:ea typeface="標楷體" pitchFamily="65" charset="-120"/>
              </a:rPr>
              <a:t>：臺灣陸域面積只占全球的 </a:t>
            </a:r>
            <a:r>
              <a:rPr lang="en-US" altLang="zh-TW" dirty="0">
                <a:latin typeface="標楷體" pitchFamily="65" charset="-120"/>
                <a:ea typeface="標楷體" pitchFamily="65" charset="-120"/>
              </a:rPr>
              <a:t>0.02 </a:t>
            </a:r>
            <a:r>
              <a:rPr lang="zh-TW" altLang="en-US" dirty="0">
                <a:latin typeface="標楷體" pitchFamily="65" charset="-120"/>
                <a:ea typeface="標楷體" pitchFamily="65" charset="-120"/>
              </a:rPr>
              <a:t>％，陸地物種數量占比卻高達全球 </a:t>
            </a:r>
            <a:r>
              <a:rPr lang="en-US" altLang="zh-TW" dirty="0">
                <a:latin typeface="標楷體" pitchFamily="65" charset="-120"/>
                <a:ea typeface="標楷體" pitchFamily="65" charset="-120"/>
              </a:rPr>
              <a:t>3.8 </a:t>
            </a:r>
            <a:r>
              <a:rPr lang="zh-TW" altLang="en-US" dirty="0">
                <a:latin typeface="標楷體" pitchFamily="65" charset="-120"/>
                <a:ea typeface="標楷體" pitchFamily="65" charset="-120"/>
              </a:rPr>
              <a:t>％，顯示</a:t>
            </a:r>
            <a:r>
              <a:rPr lang="zh-TW" altLang="en-US" dirty="0">
                <a:solidFill>
                  <a:srgbClr val="FF0000"/>
                </a:solidFill>
                <a:latin typeface="標楷體" pitchFamily="65" charset="-120"/>
                <a:ea typeface="標楷體" pitchFamily="65" charset="-120"/>
              </a:rPr>
              <a:t>單位面積上的物種數量非常高</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p:txBody>
      </p:sp>
      <p:graphicFrame>
        <p:nvGraphicFramePr>
          <p:cNvPr id="8" name="Group 47"/>
          <p:cNvGraphicFramePr>
            <a:graphicFrameLocks noGrp="1"/>
          </p:cNvGraphicFramePr>
          <p:nvPr>
            <p:extLst>
              <p:ext uri="{D42A27DB-BD31-4B8C-83A1-F6EECF244321}">
                <p14:modId xmlns:p14="http://schemas.microsoft.com/office/powerpoint/2010/main" val="2489767652"/>
              </p:ext>
            </p:extLst>
          </p:nvPr>
        </p:nvGraphicFramePr>
        <p:xfrm>
          <a:off x="90780" y="2101301"/>
          <a:ext cx="8945716" cy="2218919"/>
        </p:xfrm>
        <a:graphic>
          <a:graphicData uri="http://schemas.openxmlformats.org/drawingml/2006/table">
            <a:tbl>
              <a:tblPr/>
              <a:tblGrid>
                <a:gridCol w="1672908">
                  <a:extLst>
                    <a:ext uri="{9D8B030D-6E8A-4147-A177-3AD203B41FA5}">
                      <a16:colId xmlns:a16="http://schemas.microsoft.com/office/drawing/2014/main" val="20000"/>
                    </a:ext>
                  </a:extLst>
                </a:gridCol>
                <a:gridCol w="7272808">
                  <a:extLst>
                    <a:ext uri="{9D8B030D-6E8A-4147-A177-3AD203B41FA5}">
                      <a16:colId xmlns:a16="http://schemas.microsoft.com/office/drawing/2014/main" val="20001"/>
                    </a:ext>
                  </a:extLst>
                </a:gridCol>
              </a:tblGrid>
              <a:tr h="277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影響因素</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說明</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1107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位於副熱帶且地形起伏大</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chemeClr val="tx1"/>
                          </a:solidFill>
                          <a:latin typeface="標楷體" pitchFamily="65" charset="-120"/>
                          <a:ea typeface="標楷體" pitchFamily="65" charset="-120"/>
                          <a:cs typeface="Arial"/>
                          <a:sym typeface="Arial"/>
                        </a:rPr>
                        <a:t>臺灣位於</a:t>
                      </a:r>
                      <a:r>
                        <a:rPr lang="zh-TW" altLang="en-US" sz="2000" b="0" i="0" u="none" strike="noStrike" cap="none" dirty="0">
                          <a:solidFill>
                            <a:srgbClr val="FF0000"/>
                          </a:solidFill>
                          <a:latin typeface="標楷體" pitchFamily="65" charset="-120"/>
                          <a:ea typeface="標楷體" pitchFamily="65" charset="-120"/>
                          <a:cs typeface="Arial"/>
                          <a:sym typeface="Arial"/>
                        </a:rPr>
                        <a:t>副熱帶地區且降雨豐富</a:t>
                      </a:r>
                      <a:r>
                        <a:rPr lang="zh-TW" altLang="en-US" sz="2000" b="0" i="0" u="none" strike="noStrike" cap="none" dirty="0">
                          <a:solidFill>
                            <a:schemeClr val="tx1"/>
                          </a:solidFill>
                          <a:latin typeface="標楷體" pitchFamily="65" charset="-120"/>
                          <a:ea typeface="標楷體" pitchFamily="65" charset="-120"/>
                          <a:cs typeface="Arial"/>
                          <a:sym typeface="Arial"/>
                        </a:rPr>
                        <a:t>，適宜生物繁衍</a:t>
                      </a:r>
                    </a:p>
                    <a:p>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chemeClr val="tx1"/>
                          </a:solidFill>
                          <a:latin typeface="標楷體" pitchFamily="65" charset="-120"/>
                          <a:ea typeface="標楷體" pitchFamily="65" charset="-120"/>
                          <a:cs typeface="Arial"/>
                          <a:sym typeface="Arial"/>
                        </a:rPr>
                        <a:t>受板塊擠壓臺灣島</a:t>
                      </a:r>
                      <a:r>
                        <a:rPr lang="zh-TW" altLang="en-US" sz="2000" b="0" i="0" u="none" strike="noStrike" cap="none" dirty="0">
                          <a:solidFill>
                            <a:srgbClr val="FF0000"/>
                          </a:solidFill>
                          <a:latin typeface="標楷體" pitchFamily="65" charset="-120"/>
                          <a:ea typeface="標楷體" pitchFamily="65" charset="-120"/>
                          <a:cs typeface="Arial"/>
                          <a:sym typeface="Arial"/>
                        </a:rPr>
                        <a:t>地形起伏大</a:t>
                      </a:r>
                      <a:r>
                        <a:rPr lang="zh-TW" altLang="en-US" sz="2000" b="0" i="0" u="none" strike="noStrike" cap="none" dirty="0">
                          <a:solidFill>
                            <a:schemeClr val="tx1"/>
                          </a:solidFill>
                          <a:latin typeface="標楷體" pitchFamily="65" charset="-120"/>
                          <a:ea typeface="標楷體" pitchFamily="65" charset="-120"/>
                          <a:cs typeface="Arial"/>
                          <a:sym typeface="Arial"/>
                        </a:rPr>
                        <a:t>，隨海拔上升可見</a:t>
                      </a:r>
                      <a:r>
                        <a:rPr lang="zh-TW" altLang="en-US" sz="2000" b="0" i="0" u="none" strike="noStrike" cap="none" dirty="0">
                          <a:solidFill>
                            <a:srgbClr val="FF0000"/>
                          </a:solidFill>
                          <a:latin typeface="標楷體" pitchFamily="65" charset="-120"/>
                          <a:ea typeface="標楷體" pitchFamily="65" charset="-120"/>
                          <a:cs typeface="Arial"/>
                          <a:sym typeface="Arial"/>
                        </a:rPr>
                        <a:t>從熱帶</a:t>
                      </a:r>
                      <a:r>
                        <a:rPr lang="zh-TW" altLang="en-US" sz="2000" b="0" i="0" u="none" strike="noStrike" cap="none" dirty="0">
                          <a:solidFill>
                            <a:schemeClr val="tx1"/>
                          </a:solidFill>
                          <a:latin typeface="標楷體" pitchFamily="65" charset="-120"/>
                          <a:ea typeface="標楷體" pitchFamily="65" charset="-120"/>
                          <a:cs typeface="Arial"/>
                          <a:sym typeface="Arial"/>
                        </a:rPr>
                        <a:t>過渡</a:t>
                      </a:r>
                      <a:r>
                        <a:rPr lang="zh-TW" altLang="en-US" sz="2000" b="0" i="0" u="none" strike="noStrike" cap="none" dirty="0">
                          <a:solidFill>
                            <a:srgbClr val="FF0000"/>
                          </a:solidFill>
                          <a:latin typeface="標楷體" pitchFamily="65" charset="-120"/>
                          <a:ea typeface="標楷體" pitchFamily="65" charset="-120"/>
                          <a:cs typeface="Arial"/>
                          <a:sym typeface="Arial"/>
                        </a:rPr>
                        <a:t>至寒帶</a:t>
                      </a:r>
                      <a:r>
                        <a:rPr lang="zh-TW" altLang="en-US" sz="2000" b="0" i="0" u="none" strike="noStrike" cap="none" dirty="0">
                          <a:solidFill>
                            <a:schemeClr val="tx1"/>
                          </a:solidFill>
                          <a:latin typeface="標楷體" pitchFamily="65" charset="-120"/>
                          <a:ea typeface="標楷體" pitchFamily="65" charset="-120"/>
                          <a:cs typeface="Arial"/>
                          <a:sym typeface="Arial"/>
                        </a:rPr>
                        <a:t>的世界各林相縮影，</a:t>
                      </a:r>
                      <a:r>
                        <a:rPr lang="zh-TW" altLang="en-US" sz="2000" b="0" i="0" u="none" strike="noStrike" cap="none" dirty="0">
                          <a:solidFill>
                            <a:srgbClr val="FF0000"/>
                          </a:solidFill>
                          <a:latin typeface="標楷體" pitchFamily="65" charset="-120"/>
                          <a:ea typeface="標楷體" pitchFamily="65" charset="-120"/>
                          <a:cs typeface="Arial"/>
                          <a:sym typeface="Arial"/>
                        </a:rPr>
                        <a:t>生物亦</a:t>
                      </a:r>
                      <a:r>
                        <a:rPr lang="zh-TW" altLang="en-US" sz="2000" b="0" i="0" u="none" strike="noStrike" cap="none" dirty="0">
                          <a:solidFill>
                            <a:schemeClr val="tx1"/>
                          </a:solidFill>
                          <a:latin typeface="標楷體" pitchFamily="65" charset="-120"/>
                          <a:ea typeface="標楷體" pitchFamily="65" charset="-120"/>
                          <a:cs typeface="Arial"/>
                          <a:sym typeface="Arial"/>
                        </a:rPr>
                        <a:t>呈現</a:t>
                      </a:r>
                      <a:r>
                        <a:rPr lang="zh-TW" altLang="en-US" sz="2000" b="0" i="0" u="none" strike="noStrike" cap="none" dirty="0">
                          <a:solidFill>
                            <a:srgbClr val="FF0000"/>
                          </a:solidFill>
                          <a:latin typeface="標楷體" pitchFamily="65" charset="-120"/>
                          <a:ea typeface="標楷體" pitchFamily="65" charset="-120"/>
                          <a:cs typeface="Arial"/>
                          <a:sym typeface="Arial"/>
                        </a:rPr>
                        <a:t>隨溫度</a:t>
                      </a:r>
                      <a:r>
                        <a:rPr lang="zh-TW" altLang="en-US" sz="2000" b="0" i="0" u="sng" strike="noStrike" cap="none" dirty="0">
                          <a:solidFill>
                            <a:srgbClr val="FF0000"/>
                          </a:solidFill>
                          <a:latin typeface="標楷體" pitchFamily="65" charset="-120"/>
                          <a:ea typeface="標楷體" pitchFamily="65" charset="-120"/>
                          <a:cs typeface="Arial"/>
                          <a:sym typeface="Arial"/>
                        </a:rPr>
                        <a:t>          </a:t>
                      </a:r>
                      <a:r>
                        <a:rPr lang="zh-TW" altLang="en-US" sz="2000" b="0" i="0" u="none" strike="noStrike" cap="none" dirty="0">
                          <a:solidFill>
                            <a:schemeClr val="tx1"/>
                          </a:solidFill>
                          <a:latin typeface="標楷體" pitchFamily="65" charset="-120"/>
                          <a:ea typeface="標楷體" pitchFamily="65" charset="-120"/>
                          <a:cs typeface="Arial"/>
                          <a:sym typeface="Arial"/>
                        </a:rPr>
                        <a:t>的現象</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341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物種南北遷移</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的 中繼站</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2000" b="0" i="0" u="none" strike="noStrike" cap="none" dirty="0">
                          <a:solidFill>
                            <a:schemeClr val="tx1"/>
                          </a:solidFill>
                          <a:latin typeface="標楷體" pitchFamily="65" charset="-120"/>
                          <a:ea typeface="標楷體" pitchFamily="65" charset="-120"/>
                          <a:cs typeface="Arial"/>
                          <a:sym typeface="Arial"/>
                        </a:rPr>
                        <a:t>臺灣位於</a:t>
                      </a:r>
                      <a:r>
                        <a:rPr lang="zh-TW" altLang="en-US" sz="2000" b="0" i="0" u="sng" strike="noStrike" cap="none" dirty="0">
                          <a:solidFill>
                            <a:srgbClr val="FF0000"/>
                          </a:solidFill>
                          <a:latin typeface="標楷體" pitchFamily="65" charset="-120"/>
                          <a:ea typeface="標楷體" pitchFamily="65" charset="-120"/>
                          <a:cs typeface="Arial"/>
                          <a:sym typeface="Arial"/>
                        </a:rPr>
                        <a:t>           </a:t>
                      </a:r>
                      <a:r>
                        <a:rPr lang="zh-TW" altLang="en-US" sz="2000" b="0" i="0" u="none" strike="noStrike" cap="none" dirty="0">
                          <a:solidFill>
                            <a:schemeClr val="tx1"/>
                          </a:solidFill>
                          <a:latin typeface="標楷體" pitchFamily="65" charset="-120"/>
                          <a:ea typeface="標楷體" pitchFamily="65" charset="-120"/>
                          <a:cs typeface="Arial"/>
                          <a:sym typeface="Arial"/>
                        </a:rPr>
                        <a:t>的</a:t>
                      </a:r>
                      <a:r>
                        <a:rPr lang="zh-TW" altLang="en-US" sz="2000" b="0" i="0" u="none" strike="noStrike" cap="none" dirty="0">
                          <a:solidFill>
                            <a:srgbClr val="FF0000"/>
                          </a:solidFill>
                          <a:latin typeface="標楷體" pitchFamily="65" charset="-120"/>
                          <a:ea typeface="標楷體" pitchFamily="65" charset="-120"/>
                          <a:cs typeface="Arial"/>
                          <a:sym typeface="Arial"/>
                        </a:rPr>
                        <a:t>中樞位置</a:t>
                      </a:r>
                      <a:r>
                        <a:rPr lang="zh-TW" altLang="en-US" sz="2000" b="0" i="0" u="none" strike="noStrike" cap="none" dirty="0">
                          <a:solidFill>
                            <a:schemeClr val="tx1"/>
                          </a:solidFill>
                          <a:latin typeface="標楷體" pitchFamily="65" charset="-120"/>
                          <a:ea typeface="標楷體" pitchFamily="65" charset="-120"/>
                          <a:cs typeface="Arial"/>
                          <a:sym typeface="Arial"/>
                        </a:rPr>
                        <a:t>，許多</a:t>
                      </a:r>
                      <a:r>
                        <a:rPr lang="zh-TW" altLang="en-US" sz="2000" b="0" i="0" u="none" strike="noStrike" cap="none" dirty="0">
                          <a:solidFill>
                            <a:srgbClr val="FF0000"/>
                          </a:solidFill>
                          <a:latin typeface="標楷體" pitchFamily="65" charset="-120"/>
                          <a:ea typeface="標楷體" pitchFamily="65" charset="-120"/>
                          <a:cs typeface="Arial"/>
                          <a:sym typeface="Arial"/>
                        </a:rPr>
                        <a:t>因應季節南北遷徙的物種會在臺灣停留</a:t>
                      </a:r>
                      <a:r>
                        <a:rPr lang="zh-TW" altLang="en-US" sz="2000" b="0" i="0" u="none" strike="noStrike" cap="none" dirty="0">
                          <a:solidFill>
                            <a:schemeClr val="tx1"/>
                          </a:solidFill>
                          <a:latin typeface="標楷體" pitchFamily="65" charset="-120"/>
                          <a:ea typeface="標楷體" pitchFamily="65" charset="-120"/>
                          <a:cs typeface="Arial"/>
                          <a:sym typeface="Arial"/>
                        </a:rPr>
                        <a:t>，如灰面鵟鷹，</a:t>
                      </a:r>
                      <a:r>
                        <a:rPr lang="zh-TW" altLang="en-US" sz="2000" b="0" i="0" u="none" strike="noStrike" cap="none" dirty="0">
                          <a:solidFill>
                            <a:srgbClr val="FF0000"/>
                          </a:solidFill>
                          <a:latin typeface="標楷體" pitchFamily="65" charset="-120"/>
                          <a:ea typeface="標楷體" pitchFamily="65" charset="-120"/>
                          <a:cs typeface="Arial"/>
                          <a:sym typeface="Arial"/>
                        </a:rPr>
                        <a:t>豐富</a:t>
                      </a:r>
                      <a:r>
                        <a:rPr lang="zh-TW" altLang="en-US" sz="2000" b="0" i="0" u="none" strike="noStrike" cap="none" dirty="0">
                          <a:solidFill>
                            <a:schemeClr val="tx1"/>
                          </a:solidFill>
                          <a:latin typeface="標楷體" pitchFamily="65" charset="-120"/>
                          <a:ea typeface="標楷體" pitchFamily="65" charset="-120"/>
                          <a:cs typeface="Arial"/>
                          <a:sym typeface="Arial"/>
                        </a:rPr>
                        <a:t>臺灣</a:t>
                      </a:r>
                      <a:r>
                        <a:rPr lang="zh-TW" altLang="en-US" sz="2000" b="0" i="0" u="none" strike="noStrike" cap="none" dirty="0">
                          <a:solidFill>
                            <a:srgbClr val="FF0000"/>
                          </a:solidFill>
                          <a:latin typeface="標楷體" pitchFamily="65" charset="-120"/>
                          <a:ea typeface="標楷體" pitchFamily="65" charset="-120"/>
                          <a:cs typeface="Arial"/>
                          <a:sym typeface="Arial"/>
                        </a:rPr>
                        <a:t>生物多樣性</a:t>
                      </a:r>
                      <a:endParaRPr lang="en-US" altLang="zh-TW" sz="20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 name="矩形 8"/>
          <p:cNvSpPr>
            <a:spLocks noChangeArrowheads="1"/>
          </p:cNvSpPr>
          <p:nvPr/>
        </p:nvSpPr>
        <p:spPr bwMode="auto">
          <a:xfrm>
            <a:off x="6948264" y="3028890"/>
            <a:ext cx="12749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垂直分布</a:t>
            </a:r>
          </a:p>
        </p:txBody>
      </p:sp>
      <p:sp>
        <p:nvSpPr>
          <p:cNvPr id="10" name="矩形 9"/>
          <p:cNvSpPr>
            <a:spLocks noChangeArrowheads="1"/>
          </p:cNvSpPr>
          <p:nvPr/>
        </p:nvSpPr>
        <p:spPr bwMode="auto">
          <a:xfrm>
            <a:off x="2915816" y="3555865"/>
            <a:ext cx="12749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東亞島弧</a:t>
            </a:r>
          </a:p>
        </p:txBody>
      </p:sp>
      <p:sp>
        <p:nvSpPr>
          <p:cNvPr id="11" name="矩形 10"/>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p.171</a:t>
            </a:r>
            <a:endParaRPr lang="zh-TW" altLang="en-US" sz="3600" b="0" dirty="0"/>
          </a:p>
        </p:txBody>
      </p:sp>
      <p:graphicFrame>
        <p:nvGraphicFramePr>
          <p:cNvPr id="6" name="表格 5"/>
          <p:cNvGraphicFramePr>
            <a:graphicFrameLocks noGrp="1"/>
          </p:cNvGraphicFramePr>
          <p:nvPr>
            <p:extLst>
              <p:ext uri="{D42A27DB-BD31-4B8C-83A1-F6EECF244321}">
                <p14:modId xmlns:p14="http://schemas.microsoft.com/office/powerpoint/2010/main" val="36593912"/>
              </p:ext>
            </p:extLst>
          </p:nvPr>
        </p:nvGraphicFramePr>
        <p:xfrm>
          <a:off x="107504" y="4321046"/>
          <a:ext cx="8928992" cy="2376264"/>
        </p:xfrm>
        <a:graphic>
          <a:graphicData uri="http://schemas.openxmlformats.org/drawingml/2006/table">
            <a:tbl>
              <a:tblPr/>
              <a:tblGrid>
                <a:gridCol w="1656184">
                  <a:extLst>
                    <a:ext uri="{9D8B030D-6E8A-4147-A177-3AD203B41FA5}">
                      <a16:colId xmlns:a16="http://schemas.microsoft.com/office/drawing/2014/main" val="20000"/>
                    </a:ext>
                  </a:extLst>
                </a:gridCol>
                <a:gridCol w="7272808">
                  <a:extLst>
                    <a:ext uri="{9D8B030D-6E8A-4147-A177-3AD203B41FA5}">
                      <a16:colId xmlns:a16="http://schemas.microsoft.com/office/drawing/2014/main" val="20001"/>
                    </a:ext>
                  </a:extLst>
                </a:gridCol>
              </a:tblGrid>
              <a:tr h="237626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大陸邊緣</a:t>
                      </a:r>
                      <a:r>
                        <a:rPr lang="zh-TW" altLang="en-US" sz="2000" b="0" i="0" u="none" strike="noStrike" cap="none" dirty="0">
                          <a:solidFill>
                            <a:schemeClr val="tx1"/>
                          </a:solidFill>
                          <a:latin typeface="標楷體" pitchFamily="65" charset="-120"/>
                          <a:ea typeface="標楷體" pitchFamily="65" charset="-120"/>
                          <a:cs typeface="Arial"/>
                          <a:sym typeface="Arial"/>
                        </a:rPr>
                        <a:t>的</a:t>
                      </a:r>
                      <a:r>
                        <a:rPr lang="zh-TW" altLang="en-US" sz="2000" b="0" i="0" u="none" strike="noStrike" cap="none" dirty="0">
                          <a:solidFill>
                            <a:srgbClr val="FF0000"/>
                          </a:solidFill>
                          <a:latin typeface="標楷體" pitchFamily="65" charset="-120"/>
                          <a:ea typeface="標楷體" pitchFamily="65" charset="-120"/>
                          <a:cs typeface="Arial"/>
                          <a:sym typeface="Arial"/>
                        </a:rPr>
                        <a:t>冰河孓遺</a:t>
                      </a:r>
                      <a:endParaRPr lang="en-US" altLang="zh-TW" sz="2000" b="0" i="0" u="none" strike="noStrike" cap="none" dirty="0">
                        <a:solidFill>
                          <a:srgbClr val="FF0000"/>
                        </a:solidFill>
                        <a:latin typeface="標楷體" pitchFamily="65" charset="-120"/>
                        <a:ea typeface="標楷體" pitchFamily="65" charset="-120"/>
                        <a:cs typeface="Arial"/>
                        <a:sym typeface="Arial"/>
                      </a:endParaRP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島嶼</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rgbClr val="FF0000"/>
                          </a:solidFill>
                          <a:latin typeface="標楷體" pitchFamily="65" charset="-120"/>
                          <a:ea typeface="標楷體" pitchFamily="65" charset="-120"/>
                          <a:cs typeface="Arial"/>
                          <a:sym typeface="Arial"/>
                        </a:rPr>
                        <a:t>冰河時期，臺灣島與歐亞大陸相連</a:t>
                      </a:r>
                      <a:r>
                        <a:rPr lang="zh-TW" altLang="en-US" sz="2000" b="0" i="0" u="none" strike="noStrike" cap="none" dirty="0">
                          <a:solidFill>
                            <a:schemeClr val="tx1"/>
                          </a:solidFill>
                          <a:latin typeface="標楷體" pitchFamily="65" charset="-120"/>
                          <a:ea typeface="標楷體" pitchFamily="65" charset="-120"/>
                          <a:cs typeface="Arial"/>
                          <a:sym typeface="Arial"/>
                        </a:rPr>
                        <a:t>，</a:t>
                      </a:r>
                      <a:r>
                        <a:rPr lang="zh-TW" altLang="en-US" sz="2000" b="0" i="0" u="none" strike="noStrike" cap="none" dirty="0">
                          <a:solidFill>
                            <a:srgbClr val="FF0000"/>
                          </a:solidFill>
                          <a:latin typeface="標楷體" pitchFamily="65" charset="-120"/>
                          <a:ea typeface="標楷體" pitchFamily="65" charset="-120"/>
                          <a:cs typeface="Arial"/>
                          <a:sym typeface="Arial"/>
                        </a:rPr>
                        <a:t>寒、溫帶的生物</a:t>
                      </a:r>
                      <a:r>
                        <a:rPr lang="zh-TW" altLang="en-US" sz="2000" b="0" i="0" u="none" strike="noStrike" cap="none" dirty="0">
                          <a:solidFill>
                            <a:schemeClr val="tx1"/>
                          </a:solidFill>
                          <a:latin typeface="標楷體" pitchFamily="65" charset="-120"/>
                          <a:ea typeface="標楷體" pitchFamily="65" charset="-120"/>
                          <a:cs typeface="Arial"/>
                          <a:sym typeface="Arial"/>
                        </a:rPr>
                        <a:t>得以由大陸南</a:t>
                      </a:r>
                      <a:r>
                        <a:rPr lang="zh-TW" altLang="en-US" sz="2000" b="0" i="0" u="none" strike="noStrike" cap="none" dirty="0">
                          <a:solidFill>
                            <a:srgbClr val="FF0000"/>
                          </a:solidFill>
                          <a:latin typeface="標楷體" pitchFamily="65" charset="-120"/>
                          <a:ea typeface="標楷體" pitchFamily="65" charset="-120"/>
                          <a:cs typeface="Arial"/>
                          <a:sym typeface="Arial"/>
                        </a:rPr>
                        <a:t>遷到臺灣島</a:t>
                      </a:r>
                      <a:r>
                        <a:rPr lang="zh-TW" altLang="en-US" sz="2000" b="0" i="0" u="none" strike="noStrike" cap="none" dirty="0">
                          <a:solidFill>
                            <a:schemeClr val="tx1"/>
                          </a:solidFill>
                          <a:latin typeface="標楷體" pitchFamily="65" charset="-120"/>
                          <a:ea typeface="標楷體" pitchFamily="65" charset="-120"/>
                          <a:cs typeface="Arial"/>
                          <a:sym typeface="Arial"/>
                        </a:rPr>
                        <a:t>上</a:t>
                      </a:r>
                    </a:p>
                    <a:p>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chemeClr val="tx1"/>
                          </a:solidFill>
                          <a:latin typeface="標楷體" pitchFamily="65" charset="-120"/>
                          <a:ea typeface="標楷體" pitchFamily="65" charset="-120"/>
                          <a:cs typeface="Arial"/>
                          <a:sym typeface="Arial"/>
                        </a:rPr>
                        <a:t>一萬八千年前</a:t>
                      </a:r>
                      <a:r>
                        <a:rPr lang="zh-TW" altLang="en-US" sz="2000" b="0" i="0" u="none" strike="noStrike" cap="none" dirty="0">
                          <a:solidFill>
                            <a:srgbClr val="FF0000"/>
                          </a:solidFill>
                          <a:latin typeface="標楷體" pitchFamily="65" charset="-120"/>
                          <a:ea typeface="標楷體" pitchFamily="65" charset="-120"/>
                          <a:cs typeface="Arial"/>
                          <a:sym typeface="Arial"/>
                        </a:rPr>
                        <a:t>冰河期結束，氣溫上升，臺灣海峽重現，被隔絕在島上的冰河期孓遺生物，遷往氣溫較低的中高海拔地區</a:t>
                      </a:r>
                      <a:r>
                        <a:rPr lang="zh-TW" altLang="en-US" sz="2000" b="0" i="0" u="none" strike="noStrike" cap="none" dirty="0">
                          <a:solidFill>
                            <a:schemeClr val="tx1"/>
                          </a:solidFill>
                          <a:latin typeface="標楷體" pitchFamily="65" charset="-120"/>
                          <a:ea typeface="標楷體" pitchFamily="65" charset="-120"/>
                          <a:cs typeface="Arial"/>
                          <a:sym typeface="Arial"/>
                        </a:rPr>
                        <a:t>，繁衍出</a:t>
                      </a:r>
                      <a:r>
                        <a:rPr lang="zh-TW" altLang="en-US" sz="2000" b="0" i="0" u="none" strike="noStrike" cap="none" dirty="0">
                          <a:solidFill>
                            <a:srgbClr val="FF0000"/>
                          </a:solidFill>
                          <a:latin typeface="標楷體" pitchFamily="65" charset="-120"/>
                          <a:ea typeface="標楷體" pitchFamily="65" charset="-120"/>
                          <a:cs typeface="Arial"/>
                          <a:sym typeface="Arial"/>
                        </a:rPr>
                        <a:t>櫻花鉤吻鮭、山椒魚、臺灣杉、香杉等動植物</a:t>
                      </a:r>
                    </a:p>
                    <a:p>
                      <a:r>
                        <a:rPr lang="en-US" altLang="zh-TW" sz="2000" b="0" i="0" u="none" strike="noStrike" cap="none" dirty="0">
                          <a:solidFill>
                            <a:schemeClr val="tx1"/>
                          </a:solidFill>
                          <a:latin typeface="標楷體" pitchFamily="65" charset="-120"/>
                          <a:ea typeface="標楷體" pitchFamily="65" charset="-120"/>
                          <a:cs typeface="Arial"/>
                          <a:sym typeface="Arial"/>
                        </a:rPr>
                        <a:t>(3)</a:t>
                      </a:r>
                      <a:r>
                        <a:rPr lang="zh-TW" altLang="en-US" sz="2000" b="0" i="0" u="none" strike="noStrike" cap="none" dirty="0">
                          <a:solidFill>
                            <a:schemeClr val="tx1"/>
                          </a:solidFill>
                          <a:latin typeface="標楷體" pitchFamily="65" charset="-120"/>
                          <a:ea typeface="標楷體" pitchFamily="65" charset="-120"/>
                          <a:cs typeface="Arial"/>
                          <a:sym typeface="Arial"/>
                        </a:rPr>
                        <a:t>生物</a:t>
                      </a:r>
                      <a:r>
                        <a:rPr lang="zh-TW" altLang="en-US" sz="2000" b="0" i="0" u="none" strike="noStrike" cap="none" dirty="0">
                          <a:solidFill>
                            <a:srgbClr val="FF0000"/>
                          </a:solidFill>
                          <a:latin typeface="標楷體" pitchFamily="65" charset="-120"/>
                          <a:ea typeface="標楷體" pitchFamily="65" charset="-120"/>
                          <a:cs typeface="Arial"/>
                          <a:sym typeface="Arial"/>
                        </a:rPr>
                        <a:t>為適應島嶼封閉的環境</a:t>
                      </a:r>
                      <a:r>
                        <a:rPr lang="zh-TW" altLang="en-US" sz="2000" b="0" i="0" u="none" strike="noStrike" cap="none" dirty="0">
                          <a:solidFill>
                            <a:schemeClr val="tx1"/>
                          </a:solidFill>
                          <a:latin typeface="標楷體" pitchFamily="65" charset="-120"/>
                          <a:ea typeface="標楷體" pitchFamily="65" charset="-120"/>
                          <a:cs typeface="Arial"/>
                          <a:sym typeface="Arial"/>
                        </a:rPr>
                        <a:t>而不斷</a:t>
                      </a:r>
                      <a:r>
                        <a:rPr lang="zh-TW" altLang="en-US" sz="2000" b="0" i="0" u="none" strike="noStrike" cap="none" dirty="0">
                          <a:solidFill>
                            <a:srgbClr val="FF0000"/>
                          </a:solidFill>
                          <a:latin typeface="標楷體" pitchFamily="65" charset="-120"/>
                          <a:ea typeface="標楷體" pitchFamily="65" charset="-120"/>
                          <a:cs typeface="Arial"/>
                          <a:sym typeface="Arial"/>
                        </a:rPr>
                        <a:t>演化</a:t>
                      </a:r>
                      <a:r>
                        <a:rPr lang="zh-TW" altLang="en-US" sz="2000" b="0" i="0" u="none" strike="noStrike" cap="none" dirty="0">
                          <a:solidFill>
                            <a:schemeClr val="tx1"/>
                          </a:solidFill>
                          <a:latin typeface="標楷體" pitchFamily="65" charset="-120"/>
                          <a:ea typeface="標楷體" pitchFamily="65" charset="-120"/>
                          <a:cs typeface="Arial"/>
                          <a:sym typeface="Arial"/>
                        </a:rPr>
                        <a:t>，使得臺灣境內</a:t>
                      </a:r>
                      <a:r>
                        <a:rPr lang="zh-TW" altLang="en-US" sz="2000" b="0" i="0" u="none" strike="noStrike" cap="none" dirty="0">
                          <a:solidFill>
                            <a:srgbClr val="FF0000"/>
                          </a:solidFill>
                          <a:latin typeface="標楷體" pitchFamily="65" charset="-120"/>
                          <a:ea typeface="標楷體" pitchFamily="65" charset="-120"/>
                          <a:cs typeface="Arial"/>
                          <a:sym typeface="Arial"/>
                        </a:rPr>
                        <a:t>高達</a:t>
                      </a:r>
                      <a:r>
                        <a:rPr lang="en-US" altLang="zh-TW" sz="2000" b="0" i="0" u="none" strike="noStrike" cap="none" dirty="0">
                          <a:solidFill>
                            <a:srgbClr val="FF0000"/>
                          </a:solidFill>
                          <a:latin typeface="標楷體" pitchFamily="65" charset="-120"/>
                          <a:ea typeface="標楷體" pitchFamily="65" charset="-120"/>
                          <a:cs typeface="Arial"/>
                          <a:sym typeface="Arial"/>
                        </a:rPr>
                        <a:t>1╱4 ∼ 1╱3 </a:t>
                      </a:r>
                      <a:r>
                        <a:rPr lang="zh-TW" altLang="en-US" sz="2000" b="0" i="0" u="none" strike="noStrike" cap="none" dirty="0">
                          <a:solidFill>
                            <a:srgbClr val="FF0000"/>
                          </a:solidFill>
                          <a:latin typeface="標楷體" pitchFamily="65" charset="-120"/>
                          <a:ea typeface="標楷體" pitchFamily="65" charset="-120"/>
                          <a:cs typeface="Arial"/>
                          <a:sym typeface="Arial"/>
                        </a:rPr>
                        <a:t>的物種都是特有種</a:t>
                      </a:r>
                      <a:endParaRPr lang="en-US" altLang="zh-TW" sz="20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2" name="投影片編號版面配置區 11"/>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31</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342341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547664" y="25850"/>
            <a:ext cx="8199959" cy="648072"/>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2800" dirty="0">
                <a:solidFill>
                  <a:srgbClr val="FF0000"/>
                </a:solidFill>
                <a:latin typeface="標楷體" pitchFamily="65" charset="-120"/>
                <a:ea typeface="標楷體" pitchFamily="65" charset="-120"/>
              </a:rPr>
              <a:t>東亞島弧</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94791"/>
            <a:ext cx="2376264" cy="6780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3"/>
          <p:cNvSpPr txBox="1">
            <a:spLocks noChangeArrowheads="1"/>
          </p:cNvSpPr>
          <p:nvPr/>
        </p:nvSpPr>
        <p:spPr>
          <a:xfrm>
            <a:off x="19474" y="617685"/>
            <a:ext cx="4795912" cy="6214466"/>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2400" kern="1200" dirty="0">
                <a:solidFill>
                  <a:schemeClr val="tx1"/>
                </a:solidFill>
                <a:latin typeface="標楷體" pitchFamily="65" charset="-120"/>
                <a:ea typeface="標楷體" pitchFamily="65" charset="-120"/>
                <a:cs typeface="+mj-cs"/>
              </a:rPr>
              <a:t>是指東亞大陸棚與太平洋西部海溝之間的島弧，包括：阿留申群島、千島群島、日本群島、琉球群島、臺灣及其附屬小島、菲律賓群島。由於排列類似喜慶時所結的花綵，故</a:t>
            </a:r>
            <a:r>
              <a:rPr lang="zh-TW" altLang="en-US" sz="2400" kern="1200" dirty="0">
                <a:solidFill>
                  <a:srgbClr val="FF0000"/>
                </a:solidFill>
                <a:latin typeface="標楷體" pitchFamily="65" charset="-120"/>
                <a:ea typeface="標楷體" pitchFamily="65" charset="-120"/>
                <a:cs typeface="+mj-cs"/>
              </a:rPr>
              <a:t>又稱為「花綵列島」</a:t>
            </a:r>
            <a:r>
              <a:rPr lang="zh-TW" altLang="en-US" sz="2400" kern="1200" dirty="0">
                <a:solidFill>
                  <a:schemeClr val="tx1"/>
                </a:solidFill>
                <a:latin typeface="標楷體" pitchFamily="65" charset="-120"/>
                <a:ea typeface="標楷體" pitchFamily="65" charset="-120"/>
                <a:cs typeface="+mj-cs"/>
              </a:rPr>
              <a:t>。</a:t>
            </a:r>
            <a:endParaRPr lang="en-US" altLang="zh-TW" sz="2400" kern="1200" dirty="0">
              <a:solidFill>
                <a:schemeClr val="tx1"/>
              </a:solidFill>
              <a:latin typeface="標楷體" pitchFamily="65" charset="-120"/>
              <a:ea typeface="標楷體" pitchFamily="65" charset="-120"/>
              <a:cs typeface="+mj-cs"/>
            </a:endParaRPr>
          </a:p>
          <a:p>
            <a:endParaRPr lang="en-US" altLang="zh-TW" sz="2400" kern="1200" dirty="0">
              <a:solidFill>
                <a:schemeClr val="tx1"/>
              </a:solidFill>
              <a:latin typeface="標楷體" pitchFamily="65" charset="-120"/>
              <a:ea typeface="標楷體" pitchFamily="65" charset="-120"/>
              <a:cs typeface="+mj-cs"/>
            </a:endParaRPr>
          </a:p>
          <a:p>
            <a:endParaRPr lang="en-US" altLang="zh-TW" sz="2400" kern="1200" dirty="0">
              <a:solidFill>
                <a:schemeClr val="tx1"/>
              </a:solidFill>
              <a:latin typeface="標楷體" pitchFamily="65" charset="-120"/>
              <a:ea typeface="標楷體" pitchFamily="65" charset="-120"/>
              <a:cs typeface="+mj-cs"/>
            </a:endParaRPr>
          </a:p>
          <a:p>
            <a:endParaRPr lang="en-US" altLang="zh-TW" sz="2400" kern="1200" dirty="0">
              <a:solidFill>
                <a:schemeClr val="tx1"/>
              </a:solidFill>
              <a:latin typeface="標楷體" pitchFamily="65" charset="-120"/>
              <a:ea typeface="標楷體" pitchFamily="65" charset="-120"/>
              <a:cs typeface="+mj-cs"/>
            </a:endParaRPr>
          </a:p>
          <a:p>
            <a:endParaRPr lang="en-US" altLang="zh-TW" sz="2400" kern="1200" dirty="0">
              <a:solidFill>
                <a:schemeClr val="tx1"/>
              </a:solidFill>
              <a:latin typeface="標楷體" pitchFamily="65" charset="-120"/>
              <a:ea typeface="標楷體" pitchFamily="65" charset="-120"/>
              <a:cs typeface="+mj-cs"/>
            </a:endParaRPr>
          </a:p>
          <a:p>
            <a:r>
              <a:rPr lang="zh-TW" altLang="en-US" sz="2400" kern="1200" dirty="0">
                <a:solidFill>
                  <a:srgbClr val="FF0000"/>
                </a:solidFill>
                <a:latin typeface="標楷體" pitchFamily="65" charset="-120"/>
                <a:ea typeface="標楷體" pitchFamily="65" charset="-120"/>
                <a:cs typeface="+mj-cs"/>
              </a:rPr>
              <a:t>臺灣島位在歐亞大陸東緣的「東亞島弧」中點</a:t>
            </a:r>
            <a:r>
              <a:rPr lang="zh-TW" altLang="en-US" sz="2400" kern="1200" dirty="0">
                <a:solidFill>
                  <a:schemeClr val="tx1"/>
                </a:solidFill>
                <a:latin typeface="標楷體" pitchFamily="65" charset="-120"/>
                <a:ea typeface="標楷體" pitchFamily="65" charset="-120"/>
                <a:cs typeface="+mj-cs"/>
              </a:rPr>
              <a:t>上，是西太平洋地區海、空航線必經之處，串連東南亞與東北亞航線，為</a:t>
            </a:r>
            <a:r>
              <a:rPr lang="zh-TW" altLang="en-US" sz="2400" kern="1200" dirty="0">
                <a:solidFill>
                  <a:srgbClr val="FF0000"/>
                </a:solidFill>
                <a:latin typeface="標楷體" pitchFamily="65" charset="-120"/>
                <a:ea typeface="標楷體" pitchFamily="65" charset="-120"/>
                <a:cs typeface="+mj-cs"/>
              </a:rPr>
              <a:t>東亞交通樞紐</a:t>
            </a:r>
            <a:r>
              <a:rPr lang="zh-TW" altLang="en-US" sz="2400" kern="1200" dirty="0">
                <a:solidFill>
                  <a:schemeClr val="tx1"/>
                </a:solidFill>
                <a:latin typeface="標楷體" pitchFamily="65" charset="-120"/>
                <a:ea typeface="標楷體" pitchFamily="65" charset="-120"/>
                <a:cs typeface="+mj-cs"/>
              </a:rPr>
              <a:t>，有利臺灣對外經貿發展，戰略位置也極為重要。</a:t>
            </a:r>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1442789"/>
            <a:ext cx="3960440" cy="4905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矩形 9"/>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p.172</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32</a:t>
            </a:fld>
            <a:endParaRPr lang="zh-TW" sz="1400">
              <a:solidFill>
                <a:schemeClr val="dk1"/>
              </a:solidFill>
              <a:latin typeface="Arial"/>
              <a:ea typeface="Arial"/>
              <a:cs typeface="Arial"/>
              <a:sym typeface="Arial"/>
            </a:endParaRPr>
          </a:p>
        </p:txBody>
      </p:sp>
      <p:pic>
        <p:nvPicPr>
          <p:cNvPr id="11" name="Picture 8" descr="http://blog.sina.com.tw/myimages/49/171825/images/14506963381871.jpg">
            <a:extLst>
              <a:ext uri="{FF2B5EF4-FFF2-40B4-BE49-F238E27FC236}">
                <a16:creationId xmlns:a16="http://schemas.microsoft.com/office/drawing/2014/main" id="{0826F1EE-ECE6-43A9-9022-F80C18250B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441" y="2906713"/>
            <a:ext cx="4191983" cy="1629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453768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345462" y="548680"/>
            <a:ext cx="8691034" cy="4104456"/>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en-US" altLang="zh-TW" dirty="0">
                <a:latin typeface="標楷體" pitchFamily="65" charset="-120"/>
                <a:ea typeface="標楷體" pitchFamily="65" charset="-120"/>
              </a:rPr>
              <a:t>2.</a:t>
            </a:r>
            <a:r>
              <a:rPr lang="zh-TW" altLang="en-US" dirty="0">
                <a:solidFill>
                  <a:srgbClr val="FF0000"/>
                </a:solidFill>
                <a:latin typeface="標楷體" pitchFamily="65" charset="-120"/>
                <a:ea typeface="標楷體" pitchFamily="65" charset="-120"/>
              </a:rPr>
              <a:t>海域</a:t>
            </a:r>
            <a:r>
              <a:rPr lang="zh-TW" altLang="en-US" dirty="0">
                <a:latin typeface="標楷體" pitchFamily="65" charset="-120"/>
                <a:ea typeface="標楷體" pitchFamily="65" charset="-120"/>
              </a:rPr>
              <a:t>：臺灣海洋物種的</a:t>
            </a:r>
            <a:r>
              <a:rPr lang="zh-TW" altLang="en-US" dirty="0">
                <a:solidFill>
                  <a:srgbClr val="FF0000"/>
                </a:solidFill>
                <a:latin typeface="標楷體" pitchFamily="65" charset="-120"/>
                <a:ea typeface="標楷體" pitchFamily="65" charset="-120"/>
              </a:rPr>
              <a:t>多樣性更勝陸地</a:t>
            </a:r>
            <a:r>
              <a:rPr lang="zh-TW" altLang="en-US" dirty="0">
                <a:latin typeface="標楷體" pitchFamily="65" charset="-120"/>
                <a:ea typeface="標楷體" pitchFamily="65" charset="-120"/>
              </a:rPr>
              <a:t>，約占全球海洋物種的 </a:t>
            </a:r>
            <a:r>
              <a:rPr lang="en-US" altLang="zh-TW" dirty="0">
                <a:latin typeface="標楷體" pitchFamily="65" charset="-120"/>
                <a:ea typeface="標楷體" pitchFamily="65" charset="-120"/>
              </a:rPr>
              <a:t>10 </a:t>
            </a:r>
            <a:r>
              <a:rPr lang="zh-TW" altLang="en-US" dirty="0">
                <a:latin typeface="標楷體" pitchFamily="65" charset="-120"/>
                <a:ea typeface="標楷體" pitchFamily="65" charset="-120"/>
              </a:rPr>
              <a:t>％。</a:t>
            </a:r>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en-US" altLang="zh-TW" dirty="0">
                <a:latin typeface="標楷體" pitchFamily="65" charset="-120"/>
                <a:ea typeface="標楷體" pitchFamily="65" charset="-120"/>
              </a:rPr>
              <a:t>※ </a:t>
            </a:r>
            <a:r>
              <a:rPr lang="zh-TW" altLang="en-US" dirty="0">
                <a:latin typeface="標楷體" pitchFamily="65" charset="-120"/>
                <a:ea typeface="標楷體" pitchFamily="65" charset="-120"/>
              </a:rPr>
              <a:t>多樣性的生物及生態環境是臺灣重要資產，值得保護及珍惜。透過與國際合作進行物種調查記錄與資料庫建置，設立保護區維護生物棲地，都是生態保育的一環。</a:t>
            </a:r>
            <a:endParaRPr lang="en-US" altLang="zh-TW" dirty="0">
              <a:latin typeface="標楷體" pitchFamily="65" charset="-120"/>
              <a:ea typeface="標楷體" pitchFamily="65" charset="-120"/>
            </a:endParaRPr>
          </a:p>
        </p:txBody>
      </p:sp>
      <p:graphicFrame>
        <p:nvGraphicFramePr>
          <p:cNvPr id="8" name="Group 47"/>
          <p:cNvGraphicFramePr>
            <a:graphicFrameLocks noGrp="1"/>
          </p:cNvGraphicFramePr>
          <p:nvPr>
            <p:extLst>
              <p:ext uri="{D42A27DB-BD31-4B8C-83A1-F6EECF244321}">
                <p14:modId xmlns:p14="http://schemas.microsoft.com/office/powerpoint/2010/main" val="403614950"/>
              </p:ext>
            </p:extLst>
          </p:nvPr>
        </p:nvGraphicFramePr>
        <p:xfrm>
          <a:off x="107504" y="1160144"/>
          <a:ext cx="8928992" cy="2412872"/>
        </p:xfrm>
        <a:graphic>
          <a:graphicData uri="http://schemas.openxmlformats.org/drawingml/2006/table">
            <a:tbl>
              <a:tblPr/>
              <a:tblGrid>
                <a:gridCol w="1516243">
                  <a:extLst>
                    <a:ext uri="{9D8B030D-6E8A-4147-A177-3AD203B41FA5}">
                      <a16:colId xmlns:a16="http://schemas.microsoft.com/office/drawing/2014/main" val="20000"/>
                    </a:ext>
                  </a:extLst>
                </a:gridCol>
                <a:gridCol w="7412749">
                  <a:extLst>
                    <a:ext uri="{9D8B030D-6E8A-4147-A177-3AD203B41FA5}">
                      <a16:colId xmlns:a16="http://schemas.microsoft.com/office/drawing/2014/main" val="20001"/>
                    </a:ext>
                  </a:extLst>
                </a:gridCol>
              </a:tblGrid>
              <a:tr h="43204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影響因素</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說明</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9727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深淺海交界</a:t>
                      </a:r>
                      <a:r>
                        <a:rPr lang="zh-TW" altLang="en-US" sz="2000" b="0" i="0" u="none" strike="noStrike" cap="none" dirty="0">
                          <a:solidFill>
                            <a:schemeClr val="tx1"/>
                          </a:solidFill>
                          <a:latin typeface="標楷體" pitchFamily="65" charset="-120"/>
                          <a:ea typeface="標楷體" pitchFamily="65" charset="-120"/>
                          <a:cs typeface="Arial"/>
                          <a:sym typeface="Arial"/>
                        </a:rPr>
                        <a:t>的</a:t>
                      </a:r>
                      <a:r>
                        <a:rPr lang="zh-TW" altLang="en-US" sz="2000" b="0" i="0" u="none" strike="noStrike" cap="none" dirty="0">
                          <a:solidFill>
                            <a:srgbClr val="FF0000"/>
                          </a:solidFill>
                          <a:latin typeface="標楷體" pitchFamily="65" charset="-120"/>
                          <a:ea typeface="標楷體" pitchFamily="65" charset="-120"/>
                          <a:cs typeface="Arial"/>
                          <a:sym typeface="Arial"/>
                        </a:rPr>
                        <a:t>陸棚</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2000" b="0" i="0" u="none" strike="noStrike" cap="none" dirty="0">
                          <a:solidFill>
                            <a:schemeClr val="tx1"/>
                          </a:solidFill>
                          <a:latin typeface="標楷體" pitchFamily="65" charset="-120"/>
                          <a:ea typeface="標楷體" pitchFamily="65" charset="-120"/>
                          <a:cs typeface="Arial"/>
                          <a:sym typeface="Arial"/>
                        </a:rPr>
                        <a:t>臺灣位於歐亞大陸邊緣，周遭海洋環境是</a:t>
                      </a:r>
                      <a:r>
                        <a:rPr lang="zh-TW" altLang="en-US" sz="2000" b="0" i="0" u="none" strike="noStrike" cap="none" dirty="0">
                          <a:solidFill>
                            <a:srgbClr val="FF0000"/>
                          </a:solidFill>
                          <a:latin typeface="標楷體" pitchFamily="65" charset="-120"/>
                          <a:ea typeface="標楷體" pitchFamily="65" charset="-120"/>
                          <a:cs typeface="Arial"/>
                          <a:sym typeface="Arial"/>
                        </a:rPr>
                        <a:t>淺海陸棚區和深海區交會</a:t>
                      </a:r>
                      <a:r>
                        <a:rPr lang="zh-TW" altLang="en-US" sz="2000" b="0" i="0" u="none" strike="noStrike" cap="none" dirty="0">
                          <a:solidFill>
                            <a:schemeClr val="tx1"/>
                          </a:solidFill>
                          <a:latin typeface="標楷體" pitchFamily="65" charset="-120"/>
                          <a:ea typeface="標楷體" pitchFamily="65" charset="-120"/>
                          <a:cs typeface="Arial"/>
                          <a:sym typeface="Arial"/>
                        </a:rPr>
                        <a:t>，且有</a:t>
                      </a:r>
                      <a:r>
                        <a:rPr lang="zh-TW" altLang="en-US" sz="2000" b="0" i="0" u="none" strike="noStrike" cap="none" dirty="0">
                          <a:solidFill>
                            <a:srgbClr val="FF0000"/>
                          </a:solidFill>
                          <a:latin typeface="標楷體" pitchFamily="65" charset="-120"/>
                          <a:ea typeface="標楷體" pitchFamily="65" charset="-120"/>
                          <a:cs typeface="Arial"/>
                          <a:sym typeface="Arial"/>
                        </a:rPr>
                        <a:t>黑潮流經</a:t>
                      </a:r>
                      <a:r>
                        <a:rPr lang="zh-TW" altLang="en-US" sz="2000" b="0" i="0" u="none" strike="noStrike" cap="none" dirty="0">
                          <a:solidFill>
                            <a:schemeClr val="tx1"/>
                          </a:solidFill>
                          <a:latin typeface="標楷體" pitchFamily="65" charset="-120"/>
                          <a:ea typeface="標楷體" pitchFamily="65" charset="-120"/>
                          <a:cs typeface="Arial"/>
                          <a:sym typeface="Arial"/>
                        </a:rPr>
                        <a:t>，又是全世界海洋生物多樣性最高的</a:t>
                      </a:r>
                      <a:r>
                        <a:rPr lang="zh-TW" altLang="en-US" sz="2000" b="0" i="0" u="none" strike="noStrike" cap="none" dirty="0">
                          <a:solidFill>
                            <a:srgbClr val="FF0000"/>
                          </a:solidFill>
                          <a:latin typeface="標楷體" pitchFamily="65" charset="-120"/>
                          <a:ea typeface="標楷體" pitchFamily="65" charset="-120"/>
                          <a:cs typeface="Arial"/>
                          <a:sym typeface="Arial"/>
                        </a:rPr>
                        <a:t>「珊瑚大三角」的北緣</a:t>
                      </a:r>
                      <a:r>
                        <a:rPr lang="zh-TW" altLang="en-US" sz="2000" b="0" i="0" u="none" strike="noStrike" cap="none" dirty="0">
                          <a:solidFill>
                            <a:schemeClr val="tx1"/>
                          </a:solidFill>
                          <a:latin typeface="標楷體" pitchFamily="65" charset="-120"/>
                          <a:ea typeface="標楷體" pitchFamily="65" charset="-120"/>
                          <a:cs typeface="Arial"/>
                          <a:sym typeface="Arial"/>
                        </a:rPr>
                        <a:t>，物種繁多而繽紛的</a:t>
                      </a:r>
                      <a:r>
                        <a:rPr lang="zh-TW" altLang="en-US" sz="2000" b="0" i="0" u="none" strike="noStrike" cap="none" dirty="0">
                          <a:solidFill>
                            <a:srgbClr val="FF0000"/>
                          </a:solidFill>
                          <a:latin typeface="標楷體" pitchFamily="65" charset="-120"/>
                          <a:ea typeface="標楷體" pitchFamily="65" charset="-120"/>
                          <a:cs typeface="Arial"/>
                          <a:sym typeface="Arial"/>
                        </a:rPr>
                        <a:t>珊瑚礁區宛如海中的熱帶雨林</a:t>
                      </a:r>
                      <a:endParaRPr lang="en-US" altLang="zh-TW" sz="20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0811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rgbClr val="FF0000"/>
                          </a:solidFill>
                          <a:latin typeface="標楷體" pitchFamily="65" charset="-120"/>
                          <a:ea typeface="標楷體" pitchFamily="65" charset="-120"/>
                          <a:cs typeface="Arial"/>
                          <a:sym typeface="Arial"/>
                        </a:rPr>
                        <a:t>海岸棲地</a:t>
                      </a:r>
                      <a:br>
                        <a:rPr lang="en-US" altLang="zh-TW" sz="2000" b="0" i="0" u="none" strike="noStrike" cap="none" dirty="0">
                          <a:solidFill>
                            <a:srgbClr val="FF0000"/>
                          </a:solidFill>
                          <a:latin typeface="標楷體" pitchFamily="65" charset="-120"/>
                          <a:ea typeface="標楷體" pitchFamily="65" charset="-120"/>
                          <a:cs typeface="Arial"/>
                          <a:sym typeface="Arial"/>
                        </a:rPr>
                      </a:br>
                      <a:r>
                        <a:rPr lang="zh-TW" altLang="en-US" sz="2000" b="0" i="0" u="none" strike="noStrike" cap="none" dirty="0">
                          <a:solidFill>
                            <a:srgbClr val="FF0000"/>
                          </a:solidFill>
                          <a:latin typeface="標楷體" pitchFamily="65" charset="-120"/>
                          <a:ea typeface="標楷體" pitchFamily="65" charset="-120"/>
                          <a:cs typeface="Arial"/>
                          <a:sym typeface="Arial"/>
                        </a:rPr>
                        <a:t>豐富</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2000" b="0" i="0" u="none" strike="noStrike" cap="none" dirty="0">
                          <a:solidFill>
                            <a:schemeClr val="tx1"/>
                          </a:solidFill>
                          <a:latin typeface="標楷體" pitchFamily="65" charset="-120"/>
                          <a:ea typeface="標楷體" pitchFamily="65" charset="-120"/>
                          <a:cs typeface="Arial"/>
                          <a:sym typeface="Arial"/>
                        </a:rPr>
                        <a:t>臺灣島四面環海，各地海岸因地形、海流、水溫、水深、底質等多變的因素，產生包含</a:t>
                      </a:r>
                      <a:r>
                        <a:rPr lang="zh-TW" altLang="en-US" sz="2000" b="0" i="0" u="none" strike="noStrike" cap="none" dirty="0">
                          <a:solidFill>
                            <a:srgbClr val="FF0000"/>
                          </a:solidFill>
                          <a:latin typeface="標楷體" pitchFamily="65" charset="-120"/>
                          <a:ea typeface="標楷體" pitchFamily="65" charset="-120"/>
                          <a:cs typeface="Arial"/>
                          <a:sym typeface="Arial"/>
                        </a:rPr>
                        <a:t>珊瑚礁、紅樹林、岩岸、沙岸、泥岸</a:t>
                      </a:r>
                      <a:r>
                        <a:rPr lang="zh-TW" altLang="en-US" sz="2000" b="0" i="0" u="none" strike="noStrike" cap="none" dirty="0">
                          <a:solidFill>
                            <a:schemeClr val="tx1"/>
                          </a:solidFill>
                          <a:latin typeface="標楷體" pitchFamily="65" charset="-120"/>
                          <a:ea typeface="標楷體" pitchFamily="65" charset="-120"/>
                          <a:cs typeface="Arial"/>
                          <a:sym typeface="Arial"/>
                        </a:rPr>
                        <a:t>等豐富</a:t>
                      </a:r>
                      <a:r>
                        <a:rPr lang="zh-TW" altLang="en-US" sz="2000" b="0" i="0" u="none" strike="noStrike" cap="none" dirty="0">
                          <a:solidFill>
                            <a:srgbClr val="FF0000"/>
                          </a:solidFill>
                          <a:latin typeface="標楷體" pitchFamily="65" charset="-120"/>
                          <a:ea typeface="標楷體" pitchFamily="65" charset="-120"/>
                          <a:cs typeface="Arial"/>
                          <a:sym typeface="Arial"/>
                        </a:rPr>
                        <a:t>多樣</a:t>
                      </a:r>
                      <a:r>
                        <a:rPr lang="zh-TW" altLang="en-US" sz="2000" b="0" i="0" u="none" strike="noStrike" cap="none" dirty="0">
                          <a:solidFill>
                            <a:schemeClr val="tx1"/>
                          </a:solidFill>
                          <a:latin typeface="標楷體" pitchFamily="65" charset="-120"/>
                          <a:ea typeface="標楷體" pitchFamily="65" charset="-120"/>
                          <a:cs typeface="Arial"/>
                          <a:sym typeface="Arial"/>
                        </a:rPr>
                        <a:t>的海洋生物</a:t>
                      </a:r>
                      <a:r>
                        <a:rPr lang="zh-TW" altLang="en-US" sz="2000" b="0" i="0" u="none" strike="noStrike" cap="none" dirty="0">
                          <a:solidFill>
                            <a:srgbClr val="FF0000"/>
                          </a:solidFill>
                          <a:latin typeface="標楷體" pitchFamily="65" charset="-120"/>
                          <a:ea typeface="標楷體" pitchFamily="65" charset="-120"/>
                          <a:cs typeface="Arial"/>
                          <a:sym typeface="Arial"/>
                        </a:rPr>
                        <a:t>棲地</a:t>
                      </a:r>
                      <a:r>
                        <a:rPr lang="zh-TW" altLang="en-US" sz="2000" b="0" i="0" u="none" strike="noStrike" cap="none" dirty="0">
                          <a:solidFill>
                            <a:schemeClr val="tx1"/>
                          </a:solidFill>
                          <a:latin typeface="標楷體" pitchFamily="65" charset="-120"/>
                          <a:ea typeface="標楷體" pitchFamily="65" charset="-120"/>
                          <a:cs typeface="Arial"/>
                          <a:sym typeface="Arial"/>
                        </a:rPr>
                        <a:t>，如東部海岸呈現多樣的海岸地形</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 name="標題 1"/>
          <p:cNvSpPr>
            <a:spLocks/>
          </p:cNvSpPr>
          <p:nvPr/>
        </p:nvSpPr>
        <p:spPr bwMode="auto">
          <a:xfrm>
            <a:off x="1257998" y="-28647"/>
            <a:ext cx="43370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TW" altLang="en-US" sz="3600" dirty="0">
                <a:latin typeface="標楷體" pitchFamily="65" charset="-120"/>
                <a:ea typeface="標楷體" pitchFamily="65" charset="-120"/>
              </a:rPr>
              <a:t>三、</a:t>
            </a:r>
            <a:r>
              <a:rPr lang="zh-TW" altLang="en-US" sz="3600" dirty="0">
                <a:solidFill>
                  <a:srgbClr val="FF0000"/>
                </a:solidFill>
                <a:latin typeface="標楷體" pitchFamily="65" charset="-120"/>
                <a:ea typeface="標楷體" pitchFamily="65" charset="-120"/>
              </a:rPr>
              <a:t>生物多樣性</a:t>
            </a:r>
            <a:r>
              <a:rPr lang="zh-TW" altLang="en-US" sz="3600" dirty="0">
                <a:latin typeface="標楷體" pitchFamily="65" charset="-120"/>
                <a:ea typeface="標楷體" pitchFamily="65" charset="-120"/>
              </a:rPr>
              <a:t>高</a:t>
            </a:r>
            <a:endParaRPr lang="en-US" altLang="zh-TW" sz="3600" dirty="0">
              <a:latin typeface="標楷體" pitchFamily="65" charset="-120"/>
              <a:ea typeface="標楷體" pitchFamily="65" charset="-120"/>
            </a:endParaRPr>
          </a:p>
        </p:txBody>
      </p:sp>
      <p:sp>
        <p:nvSpPr>
          <p:cNvPr id="10" name="矩形 9"/>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p.172</a:t>
            </a:r>
            <a:endParaRPr lang="zh-TW" altLang="en-US" sz="3600" b="0" dirty="0"/>
          </a:p>
        </p:txBody>
      </p:sp>
      <p:pic>
        <p:nvPicPr>
          <p:cNvPr id="5" name="圖片 4"/>
          <p:cNvPicPr>
            <a:picLocks noChangeAspect="1"/>
          </p:cNvPicPr>
          <p:nvPr/>
        </p:nvPicPr>
        <p:blipFill>
          <a:blip r:embed="rId4"/>
          <a:stretch>
            <a:fillRect/>
          </a:stretch>
        </p:blipFill>
        <p:spPr>
          <a:xfrm>
            <a:off x="2699792" y="4325341"/>
            <a:ext cx="3816424" cy="2398159"/>
          </a:xfrm>
          <a:prstGeom prst="rect">
            <a:avLst/>
          </a:prstGeom>
        </p:spPr>
      </p:pic>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33</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1989731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hape 659"/>
          <p:cNvSpPr/>
          <p:nvPr/>
        </p:nvSpPr>
        <p:spPr>
          <a:xfrm rot="21324055">
            <a:off x="-6581" y="639223"/>
            <a:ext cx="2062435" cy="580546"/>
          </a:xfrm>
          <a:prstGeom prst="rect">
            <a:avLst/>
          </a:prstGeom>
          <a:noFill/>
          <a:ln>
            <a:noFill/>
          </a:ln>
        </p:spPr>
        <p:txBody>
          <a:bodyPr wrap="square" lIns="91425" tIns="45700" rIns="91425" bIns="45700" anchor="ctr" anchorCtr="0">
            <a:noAutofit/>
          </a:bodyPr>
          <a:lstStyle/>
          <a:p>
            <a:pPr marL="0" marR="0" lvl="0" indent="0" algn="ctr" rtl="0">
              <a:spcBef>
                <a:spcPts val="0"/>
              </a:spcBef>
              <a:spcAft>
                <a:spcPts val="0"/>
              </a:spcAft>
              <a:buSzPct val="25000"/>
              <a:buNone/>
            </a:pPr>
            <a:r>
              <a:rPr lang="zh-TW" sz="3600" b="1" i="0" u="none" strike="noStrike" cap="none" dirty="0">
                <a:solidFill>
                  <a:schemeClr val="dk1"/>
                </a:solidFill>
                <a:latin typeface="Arial"/>
                <a:ea typeface="Arial"/>
                <a:cs typeface="Arial"/>
                <a:sym typeface="Arial"/>
              </a:rPr>
              <a:t>第</a:t>
            </a:r>
            <a:r>
              <a:rPr lang="zh-TW" altLang="en-US" sz="3600" b="1" i="0" u="none" strike="noStrike" cap="none" dirty="0">
                <a:solidFill>
                  <a:schemeClr val="dk1"/>
                </a:solidFill>
                <a:latin typeface="Arial"/>
                <a:ea typeface="Arial"/>
                <a:cs typeface="Arial"/>
                <a:sym typeface="Arial"/>
              </a:rPr>
              <a:t>二</a:t>
            </a:r>
            <a:r>
              <a:rPr lang="zh-TW" sz="3600" b="1" i="0" u="none" strike="noStrike" cap="none" dirty="0">
                <a:solidFill>
                  <a:schemeClr val="dk1"/>
                </a:solidFill>
                <a:latin typeface="Arial"/>
                <a:ea typeface="Arial"/>
                <a:cs typeface="Arial"/>
                <a:sym typeface="Arial"/>
              </a:rPr>
              <a:t>節</a:t>
            </a:r>
          </a:p>
        </p:txBody>
      </p:sp>
      <p:sp>
        <p:nvSpPr>
          <p:cNvPr id="5" name="Shape 660"/>
          <p:cNvSpPr/>
          <p:nvPr/>
        </p:nvSpPr>
        <p:spPr>
          <a:xfrm>
            <a:off x="2051468" y="516019"/>
            <a:ext cx="5832648" cy="719708"/>
          </a:xfrm>
          <a:prstGeom prst="rect">
            <a:avLst/>
          </a:prstGeom>
          <a:noFill/>
          <a:ln>
            <a:noFill/>
          </a:ln>
        </p:spPr>
        <p:txBody>
          <a:bodyPr wrap="square" lIns="91425" tIns="45700" rIns="91425" bIns="45700" anchor="ctr" anchorCtr="0">
            <a:noAutofit/>
          </a:bodyPr>
          <a:lstStyle/>
          <a:p>
            <a:pPr lvl="0" algn="ctr">
              <a:buSzPct val="25000"/>
            </a:pPr>
            <a:r>
              <a:rPr lang="zh-TW" altLang="en-US" sz="4000" b="1" dirty="0">
                <a:solidFill>
                  <a:schemeClr val="dk1"/>
                </a:solidFill>
              </a:rPr>
              <a:t>多元文化社會</a:t>
            </a:r>
            <a:endParaRPr lang="zh-TW" sz="4000" b="1" i="0" u="none" strike="noStrike" cap="none" dirty="0">
              <a:solidFill>
                <a:schemeClr val="dk1"/>
              </a:solidFill>
              <a:latin typeface="Arial"/>
              <a:ea typeface="Arial"/>
              <a:cs typeface="Arial"/>
              <a:sym typeface="Arial"/>
            </a:endParaRPr>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0922" y="1124744"/>
            <a:ext cx="7097542" cy="55967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a:spLocks noChangeArrowheads="1"/>
          </p:cNvSpPr>
          <p:nvPr/>
        </p:nvSpPr>
        <p:spPr bwMode="auto">
          <a:xfrm>
            <a:off x="298604" y="1772816"/>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p.166</a:t>
            </a:r>
            <a:endParaRPr lang="zh-TW" altLang="en-US" sz="3600" b="0" dirty="0"/>
          </a:p>
        </p:txBody>
      </p:sp>
      <p:sp>
        <p:nvSpPr>
          <p:cNvPr id="2" name="投影片編號版面配置區 1"/>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b="0" i="0" u="none" strike="noStrike" cap="none" smtClean="0">
                <a:solidFill>
                  <a:schemeClr val="dk1"/>
                </a:solidFill>
                <a:latin typeface="Arial"/>
                <a:ea typeface="Arial"/>
                <a:cs typeface="Arial"/>
                <a:sym typeface="Arial"/>
              </a:rPr>
              <a:t>34</a:t>
            </a:fld>
            <a:endParaRPr lang="zh-TW" sz="14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632118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a:xfrm>
            <a:off x="612578" y="2363865"/>
            <a:ext cx="7772400" cy="1500187"/>
          </a:xfrm>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429817" y="332657"/>
            <a:ext cx="8064896" cy="4176464"/>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r>
              <a:rPr lang="zh-TW" altLang="en-US" sz="2400" dirty="0">
                <a:latin typeface="標楷體" pitchFamily="65" charset="-120"/>
                <a:ea typeface="標楷體" pitchFamily="65" charset="-120"/>
              </a:rPr>
              <a:t> 臺灣族群多元，不同地區的移民來到臺灣，和最早居住在此地的原住民族交織互動，形成一個豐富多元的移民社會。</a:t>
            </a:r>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r>
              <a:rPr lang="zh-TW" altLang="en-US" sz="2400" dirty="0">
                <a:solidFill>
                  <a:srgbClr val="FF0000"/>
                </a:solidFill>
                <a:latin typeface="標楷體" pitchFamily="65" charset="-120"/>
                <a:ea typeface="標楷體" pitchFamily="65" charset="-120"/>
              </a:rPr>
              <a:t>一、南島語族</a:t>
            </a:r>
            <a:endParaRPr lang="en-US" altLang="zh-TW" sz="2400" dirty="0">
              <a:solidFill>
                <a:srgbClr val="FF0000"/>
              </a:solidFill>
              <a:latin typeface="標楷體" pitchFamily="65" charset="-120"/>
              <a:ea typeface="標楷體" pitchFamily="65" charset="-120"/>
            </a:endParaRPr>
          </a:p>
          <a:p>
            <a:r>
              <a:rPr lang="en-US" altLang="zh-TW" sz="2400" dirty="0">
                <a:latin typeface="標楷體" pitchFamily="65" charset="-120"/>
                <a:ea typeface="標楷體" pitchFamily="65" charset="-120"/>
              </a:rPr>
              <a:t>1.</a:t>
            </a:r>
            <a:r>
              <a:rPr lang="zh-TW" altLang="en-US" sz="2400" dirty="0">
                <a:latin typeface="標楷體" pitchFamily="65" charset="-120"/>
                <a:ea typeface="標楷體" pitchFamily="65" charset="-120"/>
              </a:rPr>
              <a:t>遷徙及分布：</a:t>
            </a:r>
          </a:p>
          <a:p>
            <a:r>
              <a:rPr lang="en-US" altLang="zh-TW" sz="2400" dirty="0">
                <a:latin typeface="標楷體" pitchFamily="65" charset="-120"/>
                <a:ea typeface="標楷體" pitchFamily="65" charset="-120"/>
              </a:rPr>
              <a:t>(1)</a:t>
            </a:r>
            <a:r>
              <a:rPr lang="zh-TW" altLang="en-US" sz="2400" dirty="0">
                <a:latin typeface="標楷體" pitchFamily="65" charset="-120"/>
                <a:ea typeface="標楷體" pitchFamily="65" charset="-120"/>
              </a:rPr>
              <a:t>據語言學者研究，南島語系共有 </a:t>
            </a:r>
            <a:r>
              <a:rPr lang="en-US" altLang="zh-TW" sz="2400" dirty="0">
                <a:latin typeface="標楷體" pitchFamily="65" charset="-120"/>
                <a:ea typeface="標楷體" pitchFamily="65" charset="-120"/>
              </a:rPr>
              <a:t>1,200 </a:t>
            </a:r>
            <a:r>
              <a:rPr lang="zh-TW" altLang="en-US" sz="2400" dirty="0">
                <a:latin typeface="標楷體" pitchFamily="65" charset="-120"/>
                <a:ea typeface="標楷體" pitchFamily="65" charset="-120"/>
              </a:rPr>
              <a:t>多種不同的語言，現今遍布於整個太平洋及印度洋中各地島嶼。範圍最</a:t>
            </a:r>
            <a:r>
              <a:rPr lang="zh-TW" altLang="en-US" sz="2400" dirty="0">
                <a:solidFill>
                  <a:srgbClr val="FF0000"/>
                </a:solidFill>
                <a:latin typeface="標楷體" pitchFamily="65" charset="-120"/>
                <a:ea typeface="標楷體" pitchFamily="65" charset="-120"/>
              </a:rPr>
              <a:t>北</a:t>
            </a:r>
            <a:r>
              <a:rPr lang="zh-TW" altLang="en-US" sz="2400" dirty="0">
                <a:latin typeface="標楷體" pitchFamily="65" charset="-120"/>
                <a:ea typeface="標楷體" pitchFamily="65" charset="-120"/>
              </a:rPr>
              <a:t>從</a:t>
            </a:r>
            <a:r>
              <a:rPr lang="zh-TW" altLang="en-US" sz="2400" u="sng"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a:t>
            </a:r>
            <a:r>
              <a:rPr lang="zh-TW" altLang="en-US" sz="2400" dirty="0">
                <a:solidFill>
                  <a:srgbClr val="FF0000"/>
                </a:solidFill>
                <a:latin typeface="標楷體" pitchFamily="65" charset="-120"/>
                <a:ea typeface="標楷體" pitchFamily="65" charset="-120"/>
              </a:rPr>
              <a:t>東</a:t>
            </a:r>
            <a:r>
              <a:rPr lang="zh-TW" altLang="en-US" sz="2400" dirty="0">
                <a:latin typeface="標楷體" pitchFamily="65" charset="-120"/>
                <a:ea typeface="標楷體" pitchFamily="65" charset="-120"/>
              </a:rPr>
              <a:t>至南美洲西岸的</a:t>
            </a:r>
            <a:r>
              <a:rPr lang="zh-TW" altLang="en-US" sz="2400" u="sng"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a:t>
            </a:r>
            <a:r>
              <a:rPr lang="zh-TW" altLang="en-US" sz="2400" dirty="0">
                <a:solidFill>
                  <a:srgbClr val="FF0000"/>
                </a:solidFill>
                <a:latin typeface="標楷體" pitchFamily="65" charset="-120"/>
                <a:ea typeface="標楷體" pitchFamily="65" charset="-120"/>
              </a:rPr>
              <a:t>西</a:t>
            </a:r>
            <a:r>
              <a:rPr lang="zh-TW" altLang="en-US" sz="2400" dirty="0">
                <a:latin typeface="標楷體" pitchFamily="65" charset="-120"/>
                <a:ea typeface="標楷體" pitchFamily="65" charset="-120"/>
              </a:rPr>
              <a:t>到非洲的</a:t>
            </a:r>
            <a:r>
              <a:rPr lang="zh-TW" altLang="en-US" sz="2400" u="sng"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 、</a:t>
            </a:r>
            <a:r>
              <a:rPr lang="zh-TW" altLang="en-US" sz="2400" dirty="0">
                <a:solidFill>
                  <a:srgbClr val="FF0000"/>
                </a:solidFill>
                <a:latin typeface="標楷體" pitchFamily="65" charset="-120"/>
                <a:ea typeface="標楷體" pitchFamily="65" charset="-120"/>
              </a:rPr>
              <a:t>南</a:t>
            </a:r>
            <a:r>
              <a:rPr lang="zh-TW" altLang="en-US" sz="2400" dirty="0">
                <a:latin typeface="標楷體" pitchFamily="65" charset="-120"/>
                <a:ea typeface="標楷體" pitchFamily="65" charset="-120"/>
              </a:rPr>
              <a:t>至</a:t>
            </a:r>
            <a:r>
              <a:rPr lang="zh-TW" altLang="en-US" sz="2400" u="sng"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a:t>
            </a:r>
            <a:r>
              <a:rPr lang="zh-TW" altLang="en-US" sz="2400" dirty="0">
                <a:solidFill>
                  <a:srgbClr val="FF00FF"/>
                </a:solidFill>
                <a:latin typeface="標楷體" pitchFamily="65" charset="-120"/>
                <a:ea typeface="標楷體" pitchFamily="65" charset="-120"/>
              </a:rPr>
              <a:t>散布於地球表面約 </a:t>
            </a:r>
            <a:r>
              <a:rPr lang="en-US" altLang="zh-TW" sz="2400" dirty="0">
                <a:solidFill>
                  <a:srgbClr val="FF00FF"/>
                </a:solidFill>
                <a:latin typeface="標楷體" pitchFamily="65" charset="-120"/>
                <a:ea typeface="標楷體" pitchFamily="65" charset="-120"/>
              </a:rPr>
              <a:t>2╱3 </a:t>
            </a:r>
            <a:r>
              <a:rPr lang="zh-TW" altLang="en-US" sz="2400" dirty="0">
                <a:solidFill>
                  <a:srgbClr val="FF00FF"/>
                </a:solidFill>
                <a:latin typeface="標楷體" pitchFamily="65" charset="-120"/>
                <a:ea typeface="標楷體" pitchFamily="65" charset="-120"/>
              </a:rPr>
              <a:t>的地區</a:t>
            </a:r>
            <a:r>
              <a:rPr lang="zh-TW" altLang="en-US" sz="2400" dirty="0">
                <a:latin typeface="標楷體" pitchFamily="65" charset="-120"/>
                <a:ea typeface="標楷體" pitchFamily="65" charset="-120"/>
              </a:rPr>
              <a:t>。預估</a:t>
            </a:r>
            <a:r>
              <a:rPr lang="zh-TW" altLang="en-US" sz="2400" dirty="0">
                <a:solidFill>
                  <a:srgbClr val="FF00FF"/>
                </a:solidFill>
                <a:latin typeface="標楷體" pitchFamily="65" charset="-120"/>
                <a:ea typeface="標楷體" pitchFamily="65" charset="-120"/>
              </a:rPr>
              <a:t>人口</a:t>
            </a:r>
            <a:r>
              <a:rPr lang="zh-TW" altLang="en-US" sz="2400" dirty="0">
                <a:latin typeface="標楷體" pitchFamily="65" charset="-120"/>
                <a:ea typeface="標楷體" pitchFamily="65" charset="-120"/>
              </a:rPr>
              <a:t>約有 </a:t>
            </a:r>
            <a:r>
              <a:rPr lang="en-US" altLang="zh-TW" sz="2400" dirty="0">
                <a:latin typeface="標楷體" pitchFamily="65" charset="-120"/>
                <a:ea typeface="標楷體" pitchFamily="65" charset="-120"/>
              </a:rPr>
              <a:t>2 </a:t>
            </a:r>
            <a:r>
              <a:rPr lang="zh-TW" altLang="en-US" sz="2400" dirty="0">
                <a:latin typeface="標楷體" pitchFamily="65" charset="-120"/>
                <a:ea typeface="標楷體" pitchFamily="65" charset="-120"/>
              </a:rPr>
              <a:t>億 </a:t>
            </a:r>
            <a:r>
              <a:rPr lang="en-US" altLang="zh-TW" sz="2400" dirty="0">
                <a:latin typeface="標楷體" pitchFamily="65" charset="-120"/>
                <a:ea typeface="標楷體" pitchFamily="65" charset="-120"/>
              </a:rPr>
              <a:t>8 </a:t>
            </a:r>
            <a:r>
              <a:rPr lang="zh-TW" altLang="en-US" sz="2400" dirty="0">
                <a:latin typeface="標楷體" pitchFamily="65" charset="-120"/>
                <a:ea typeface="標楷體" pitchFamily="65" charset="-120"/>
              </a:rPr>
              <a:t>千萬人</a:t>
            </a:r>
          </a:p>
        </p:txBody>
      </p:sp>
      <p:sp>
        <p:nvSpPr>
          <p:cNvPr id="11" name="標題 1"/>
          <p:cNvSpPr>
            <a:spLocks/>
          </p:cNvSpPr>
          <p:nvPr/>
        </p:nvSpPr>
        <p:spPr bwMode="auto">
          <a:xfrm>
            <a:off x="722618" y="-28647"/>
            <a:ext cx="43370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3600" b="1" dirty="0">
                <a:solidFill>
                  <a:srgbClr val="FF0000"/>
                </a:solidFill>
                <a:latin typeface="微軟正黑體" pitchFamily="34" charset="-120"/>
              </a:rPr>
              <a:t>多元文化社會</a:t>
            </a:r>
            <a:endParaRPr lang="en-US" altLang="zh-TW" sz="3600" b="1" dirty="0">
              <a:solidFill>
                <a:srgbClr val="FF0000"/>
              </a:solidFill>
              <a:latin typeface="微軟正黑體" pitchFamily="34" charset="-120"/>
            </a:endParaRPr>
          </a:p>
        </p:txBody>
      </p:sp>
      <p:sp>
        <p:nvSpPr>
          <p:cNvPr id="10" name="矩形 9"/>
          <p:cNvSpPr>
            <a:spLocks noChangeArrowheads="1"/>
          </p:cNvSpPr>
          <p:nvPr/>
        </p:nvSpPr>
        <p:spPr bwMode="auto">
          <a:xfrm>
            <a:off x="1365921" y="3224691"/>
            <a:ext cx="800219" cy="381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臺灣</a:t>
            </a:r>
          </a:p>
        </p:txBody>
      </p:sp>
      <p:sp>
        <p:nvSpPr>
          <p:cNvPr id="9" name="矩形 8"/>
          <p:cNvSpPr>
            <a:spLocks noChangeArrowheads="1"/>
          </p:cNvSpPr>
          <p:nvPr/>
        </p:nvSpPr>
        <p:spPr bwMode="auto">
          <a:xfrm>
            <a:off x="5398369" y="3246192"/>
            <a:ext cx="1656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復活節島</a:t>
            </a:r>
          </a:p>
        </p:txBody>
      </p:sp>
      <p:sp>
        <p:nvSpPr>
          <p:cNvPr id="12" name="矩形 11"/>
          <p:cNvSpPr>
            <a:spLocks noChangeArrowheads="1"/>
          </p:cNvSpPr>
          <p:nvPr/>
        </p:nvSpPr>
        <p:spPr bwMode="auto">
          <a:xfrm>
            <a:off x="1509937" y="3606232"/>
            <a:ext cx="17281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馬達加斯加</a:t>
            </a:r>
          </a:p>
        </p:txBody>
      </p:sp>
      <p:sp>
        <p:nvSpPr>
          <p:cNvPr id="13" name="矩形 12"/>
          <p:cNvSpPr>
            <a:spLocks noChangeArrowheads="1"/>
          </p:cNvSpPr>
          <p:nvPr/>
        </p:nvSpPr>
        <p:spPr bwMode="auto">
          <a:xfrm>
            <a:off x="4798805" y="3606232"/>
            <a:ext cx="17516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紐西蘭</a:t>
            </a:r>
          </a:p>
        </p:txBody>
      </p:sp>
      <p:sp>
        <p:nvSpPr>
          <p:cNvPr id="14" name="矩形 13"/>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p.173</a:t>
            </a:r>
            <a:endParaRPr lang="zh-TW" altLang="en-US" sz="3600" b="0" dirty="0"/>
          </a:p>
        </p:txBody>
      </p:sp>
      <p:pic>
        <p:nvPicPr>
          <p:cNvPr id="1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24" y="4427937"/>
            <a:ext cx="9045334" cy="23740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35</a:t>
            </a:fld>
            <a:endParaRPr lang="zh-TW" sz="1400">
              <a:solidFill>
                <a:schemeClr val="dk1"/>
              </a:solidFill>
              <a:latin typeface="Arial"/>
              <a:ea typeface="Arial"/>
              <a:cs typeface="Arial"/>
              <a:sym typeface="Arial"/>
            </a:endParaRPr>
          </a:p>
        </p:txBody>
      </p:sp>
      <p:sp>
        <p:nvSpPr>
          <p:cNvPr id="16" name="矩形 15">
            <a:extLst>
              <a:ext uri="{FF2B5EF4-FFF2-40B4-BE49-F238E27FC236}">
                <a16:creationId xmlns:a16="http://schemas.microsoft.com/office/drawing/2014/main" id="{65E55C00-B844-4493-A8BF-44BCFECDAFA5}"/>
              </a:ext>
            </a:extLst>
          </p:cNvPr>
          <p:cNvSpPr>
            <a:spLocks noChangeArrowheads="1"/>
          </p:cNvSpPr>
          <p:nvPr/>
        </p:nvSpPr>
        <p:spPr bwMode="auto">
          <a:xfrm>
            <a:off x="28624" y="1241284"/>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p.174</a:t>
            </a:r>
            <a:endParaRPr lang="zh-TW" altLang="en-US" sz="3600" b="0" dirty="0"/>
          </a:p>
        </p:txBody>
      </p:sp>
    </p:spTree>
    <p:extLst>
      <p:ext uri="{BB962C8B-B14F-4D97-AF65-F5344CB8AC3E}">
        <p14:creationId xmlns:p14="http://schemas.microsoft.com/office/powerpoint/2010/main" val="240549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P spid="12" grpId="0"/>
      <p:bldP spid="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2" y="-1063"/>
            <a:ext cx="9144000" cy="6858000"/>
          </a:xfrm>
          <a:prstGeom prst="rect">
            <a:avLst/>
          </a:prstGeom>
        </p:spPr>
      </p:pic>
      <p:sp>
        <p:nvSpPr>
          <p:cNvPr id="7" name="Rectangle 3"/>
          <p:cNvSpPr txBox="1">
            <a:spLocks noChangeArrowheads="1"/>
          </p:cNvSpPr>
          <p:nvPr/>
        </p:nvSpPr>
        <p:spPr>
          <a:xfrm>
            <a:off x="-5792" y="-22807"/>
            <a:ext cx="9149792" cy="2443695"/>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en-US" sz="2400" dirty="0">
                <a:latin typeface="標楷體" pitchFamily="65" charset="-120"/>
                <a:ea typeface="標楷體" pitchFamily="65" charset="-120"/>
              </a:rPr>
              <a:t>         一、南島語族</a:t>
            </a:r>
            <a:endParaRPr lang="en-US" altLang="zh-TW" sz="2400" dirty="0">
              <a:latin typeface="標楷體" pitchFamily="65" charset="-120"/>
              <a:ea typeface="標楷體" pitchFamily="65" charset="-120"/>
            </a:endParaRPr>
          </a:p>
          <a:p>
            <a:r>
              <a:rPr lang="en-US" altLang="zh-TW" sz="2400" dirty="0">
                <a:latin typeface="標楷體" pitchFamily="65" charset="-120"/>
                <a:ea typeface="標楷體" pitchFamily="65" charset="-120"/>
              </a:rPr>
              <a:t>1.</a:t>
            </a:r>
            <a:r>
              <a:rPr lang="zh-TW" altLang="en-US" sz="2400" dirty="0">
                <a:solidFill>
                  <a:srgbClr val="FF0000"/>
                </a:solidFill>
                <a:latin typeface="標楷體" pitchFamily="65" charset="-120"/>
                <a:ea typeface="標楷體" pitchFamily="65" charset="-120"/>
              </a:rPr>
              <a:t>遷徙</a:t>
            </a:r>
            <a:r>
              <a:rPr lang="zh-TW" altLang="en-US" sz="2400" dirty="0">
                <a:latin typeface="標楷體" pitchFamily="65" charset="-120"/>
                <a:ea typeface="標楷體" pitchFamily="65" charset="-120"/>
              </a:rPr>
              <a:t>及</a:t>
            </a:r>
            <a:r>
              <a:rPr lang="zh-TW" altLang="en-US" sz="2400" dirty="0">
                <a:solidFill>
                  <a:srgbClr val="FF0000"/>
                </a:solidFill>
                <a:latin typeface="標楷體" pitchFamily="65" charset="-120"/>
                <a:ea typeface="標楷體" pitchFamily="65" charset="-120"/>
              </a:rPr>
              <a:t>分布</a:t>
            </a:r>
            <a:r>
              <a:rPr lang="zh-TW" altLang="en-US" sz="2400" dirty="0">
                <a:latin typeface="標楷體" pitchFamily="65" charset="-120"/>
                <a:ea typeface="標楷體" pitchFamily="65" charset="-120"/>
              </a:rPr>
              <a:t>：</a:t>
            </a:r>
          </a:p>
          <a:p>
            <a:r>
              <a:rPr lang="en-US" altLang="zh-TW" sz="2400" dirty="0">
                <a:latin typeface="標楷體" pitchFamily="65" charset="-120"/>
                <a:ea typeface="標楷體" pitchFamily="65" charset="-120"/>
              </a:rPr>
              <a:t>(2)</a:t>
            </a:r>
            <a:r>
              <a:rPr lang="zh-TW" altLang="en-US" sz="2400" dirty="0">
                <a:solidFill>
                  <a:srgbClr val="FF0000"/>
                </a:solidFill>
                <a:latin typeface="標楷體" pitchFamily="65" charset="-120"/>
                <a:ea typeface="標楷體" pitchFamily="65" charset="-120"/>
              </a:rPr>
              <a:t>臺灣</a:t>
            </a:r>
            <a:r>
              <a:rPr lang="zh-TW" altLang="en-US" sz="2400" dirty="0">
                <a:latin typeface="標楷體" pitchFamily="65" charset="-120"/>
                <a:ea typeface="標楷體" pitchFamily="65" charset="-120"/>
              </a:rPr>
              <a:t>的平埔族、高山族及海島</a:t>
            </a:r>
            <a:r>
              <a:rPr lang="zh-TW" altLang="en-US" sz="2400" dirty="0">
                <a:solidFill>
                  <a:srgbClr val="FF0000"/>
                </a:solidFill>
                <a:latin typeface="標楷體" pitchFamily="65" charset="-120"/>
                <a:ea typeface="標楷體" pitchFamily="65" charset="-120"/>
              </a:rPr>
              <a:t>原住民</a:t>
            </a:r>
            <a:r>
              <a:rPr lang="zh-TW" altLang="en-US" sz="2400" dirty="0">
                <a:latin typeface="標楷體" pitchFamily="65" charset="-120"/>
                <a:ea typeface="標楷體" pitchFamily="65" charset="-120"/>
              </a:rPr>
              <a:t>所使用的</a:t>
            </a:r>
            <a:r>
              <a:rPr lang="zh-TW" altLang="en-US" sz="2400" dirty="0">
                <a:solidFill>
                  <a:srgbClr val="FF0000"/>
                </a:solidFill>
                <a:latin typeface="標楷體" pitchFamily="65" charset="-120"/>
                <a:ea typeface="標楷體" pitchFamily="65" charset="-120"/>
              </a:rPr>
              <a:t>語言</a:t>
            </a:r>
            <a:r>
              <a:rPr lang="zh-TW" altLang="en-US" sz="2400" dirty="0">
                <a:latin typeface="標楷體" pitchFamily="65" charset="-120"/>
                <a:ea typeface="標楷體" pitchFamily="65" charset="-120"/>
              </a:rPr>
              <a:t>，</a:t>
            </a:r>
            <a:r>
              <a:rPr lang="zh-TW" altLang="en-US" sz="2400" dirty="0">
                <a:solidFill>
                  <a:srgbClr val="FF0000"/>
                </a:solidFill>
                <a:latin typeface="標楷體" pitchFamily="65" charset="-120"/>
                <a:ea typeface="標楷體" pitchFamily="65" charset="-120"/>
              </a:rPr>
              <a:t>皆</a:t>
            </a:r>
            <a:r>
              <a:rPr lang="zh-TW" altLang="en-US" sz="2400" dirty="0">
                <a:latin typeface="標楷體" pitchFamily="65" charset="-120"/>
                <a:ea typeface="標楷體" pitchFamily="65" charset="-120"/>
              </a:rPr>
              <a:t>屬於</a:t>
            </a:r>
            <a:r>
              <a:rPr lang="zh-TW" altLang="en-US" sz="2400" dirty="0">
                <a:solidFill>
                  <a:srgbClr val="FF0000"/>
                </a:solidFill>
                <a:latin typeface="標楷體" pitchFamily="65" charset="-120"/>
                <a:ea typeface="標楷體" pitchFamily="65" charset="-120"/>
              </a:rPr>
              <a:t>南島語</a:t>
            </a:r>
            <a:r>
              <a:rPr lang="zh-TW" altLang="en-US" sz="2400" dirty="0">
                <a:latin typeface="標楷體" pitchFamily="65" charset="-120"/>
                <a:ea typeface="標楷體" pitchFamily="65" charset="-120"/>
              </a:rPr>
              <a:t>，學者</a:t>
            </a:r>
            <a:r>
              <a:rPr lang="zh-TW" altLang="en-US" sz="2400" dirty="0">
                <a:solidFill>
                  <a:srgbClr val="FF0000"/>
                </a:solidFill>
                <a:latin typeface="標楷體" pitchFamily="65" charset="-120"/>
                <a:ea typeface="標楷體" pitchFamily="65" charset="-120"/>
              </a:rPr>
              <a:t>推論</a:t>
            </a:r>
            <a:r>
              <a:rPr lang="zh-TW" altLang="en-US" sz="2400" dirty="0">
                <a:latin typeface="標楷體" pitchFamily="65" charset="-120"/>
                <a:ea typeface="標楷體" pitchFamily="65" charset="-120"/>
              </a:rPr>
              <a:t>南島語族的</a:t>
            </a:r>
            <a:r>
              <a:rPr lang="zh-TW" altLang="en-US" sz="2400" dirty="0">
                <a:solidFill>
                  <a:srgbClr val="FF0000"/>
                </a:solidFill>
                <a:latin typeface="標楷體" pitchFamily="65" charset="-120"/>
                <a:ea typeface="標楷體" pitchFamily="65" charset="-120"/>
              </a:rPr>
              <a:t>祖先最早來自亞洲大陸的東南</a:t>
            </a:r>
            <a:r>
              <a:rPr lang="zh-TW" altLang="en-US" sz="2400" dirty="0">
                <a:latin typeface="標楷體" pitchFamily="65" charset="-120"/>
                <a:ea typeface="標楷體" pitchFamily="65" charset="-120"/>
              </a:rPr>
              <a:t>一帶，約在 </a:t>
            </a:r>
            <a:r>
              <a:rPr lang="en-US" altLang="zh-TW" sz="2400" dirty="0">
                <a:latin typeface="標楷體" pitchFamily="65" charset="-120"/>
                <a:ea typeface="標楷體" pitchFamily="65" charset="-120"/>
              </a:rPr>
              <a:t>5,000 </a:t>
            </a:r>
            <a:r>
              <a:rPr lang="zh-TW" altLang="en-US" sz="2400" dirty="0">
                <a:latin typeface="標楷體" pitchFamily="65" charset="-120"/>
                <a:ea typeface="標楷體" pitchFamily="65" charset="-120"/>
              </a:rPr>
              <a:t>至 </a:t>
            </a:r>
            <a:r>
              <a:rPr lang="en-US" altLang="zh-TW" sz="2400" dirty="0">
                <a:latin typeface="標楷體" pitchFamily="65" charset="-120"/>
                <a:ea typeface="標楷體" pitchFamily="65" charset="-120"/>
              </a:rPr>
              <a:t>7,000 </a:t>
            </a:r>
            <a:r>
              <a:rPr lang="zh-TW" altLang="en-US" sz="2400" dirty="0">
                <a:latin typeface="標楷體" pitchFamily="65" charset="-120"/>
                <a:ea typeface="標楷體" pitchFamily="65" charset="-120"/>
              </a:rPr>
              <a:t>年前部分民族擴散</a:t>
            </a:r>
            <a:r>
              <a:rPr lang="zh-TW" altLang="en-US" sz="2400" dirty="0">
                <a:solidFill>
                  <a:srgbClr val="FF0000"/>
                </a:solidFill>
                <a:latin typeface="標楷體" pitchFamily="65" charset="-120"/>
                <a:ea typeface="標楷體" pitchFamily="65" charset="-120"/>
              </a:rPr>
              <a:t>遷徙至臺灣島</a:t>
            </a:r>
            <a:r>
              <a:rPr lang="zh-TW" altLang="en-US" sz="2400" dirty="0">
                <a:latin typeface="標楷體" pitchFamily="65" charset="-120"/>
                <a:ea typeface="標楷體" pitchFamily="65" charset="-120"/>
              </a:rPr>
              <a:t>各地，</a:t>
            </a:r>
            <a:r>
              <a:rPr lang="zh-TW" altLang="en-US" sz="2400" dirty="0">
                <a:solidFill>
                  <a:srgbClr val="FF0000"/>
                </a:solidFill>
                <a:latin typeface="標楷體" pitchFamily="65" charset="-120"/>
                <a:ea typeface="標楷體" pitchFamily="65" charset="-120"/>
              </a:rPr>
              <a:t>再</a:t>
            </a:r>
            <a:r>
              <a:rPr lang="zh-TW" altLang="en-US" sz="2400" dirty="0">
                <a:latin typeface="標楷體" pitchFamily="65" charset="-120"/>
                <a:ea typeface="標楷體" pitchFamily="65" charset="-120"/>
              </a:rPr>
              <a:t>從臺灣島</a:t>
            </a:r>
            <a:r>
              <a:rPr lang="zh-TW" altLang="en-US" sz="2400" dirty="0">
                <a:solidFill>
                  <a:srgbClr val="FF0000"/>
                </a:solidFill>
                <a:latin typeface="標楷體" pitchFamily="65" charset="-120"/>
                <a:ea typeface="標楷體" pitchFamily="65" charset="-120"/>
              </a:rPr>
              <a:t>向外擴散</a:t>
            </a:r>
            <a:r>
              <a:rPr lang="zh-TW" altLang="en-US" sz="2400" dirty="0">
                <a:latin typeface="標楷體" pitchFamily="65" charset="-120"/>
                <a:ea typeface="標楷體" pitchFamily="65" charset="-120"/>
              </a:rPr>
              <a:t>，臺灣島在其遷移路徑中扮演重要地位。</a:t>
            </a:r>
          </a:p>
        </p:txBody>
      </p:sp>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528" y="2348880"/>
            <a:ext cx="9318736" cy="45080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36</a:t>
            </a:fld>
            <a:endParaRPr lang="zh-TW" sz="1400">
              <a:solidFill>
                <a:schemeClr val="dk1"/>
              </a:solidFill>
              <a:latin typeface="Arial"/>
              <a:ea typeface="Arial"/>
              <a:cs typeface="Arial"/>
              <a:sym typeface="Arial"/>
            </a:endParaRPr>
          </a:p>
        </p:txBody>
      </p:sp>
      <p:sp>
        <p:nvSpPr>
          <p:cNvPr id="8" name="矩形 7">
            <a:extLst>
              <a:ext uri="{FF2B5EF4-FFF2-40B4-BE49-F238E27FC236}">
                <a16:creationId xmlns:a16="http://schemas.microsoft.com/office/drawing/2014/main" id="{42302FCD-4AF9-4FB4-8E37-F240EE5DD7A1}"/>
              </a:ext>
            </a:extLst>
          </p:cNvPr>
          <p:cNvSpPr>
            <a:spLocks noChangeArrowheads="1"/>
          </p:cNvSpPr>
          <p:nvPr/>
        </p:nvSpPr>
        <p:spPr bwMode="auto">
          <a:xfrm>
            <a:off x="18728" y="-171400"/>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p.174</a:t>
            </a:r>
            <a:endParaRPr lang="zh-TW" altLang="en-US" sz="3600" b="0" dirty="0"/>
          </a:p>
        </p:txBody>
      </p:sp>
    </p:spTree>
    <p:extLst>
      <p:ext uri="{BB962C8B-B14F-4D97-AF65-F5344CB8AC3E}">
        <p14:creationId xmlns:p14="http://schemas.microsoft.com/office/powerpoint/2010/main" val="12020712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189513"/>
            <a:ext cx="3096344" cy="6256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2"/>
          <p:cNvSpPr txBox="1">
            <a:spLocks noChangeArrowheads="1"/>
          </p:cNvSpPr>
          <p:nvPr/>
        </p:nvSpPr>
        <p:spPr bwMode="auto">
          <a:xfrm>
            <a:off x="539553" y="1054224"/>
            <a:ext cx="8136903"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7.</a:t>
            </a:r>
            <a:r>
              <a:rPr lang="zh-TW" altLang="en-US" sz="2400" dirty="0"/>
              <a:t>臺灣原住民的語言屬於南島語系。從人類學的觀點而言，臺灣是南島文化傳播過程中的重要據點和跳板。就空間位置而言，臺灣位於整個南島文化分布的哪一端？</a:t>
            </a:r>
            <a:endParaRPr lang="en-US" altLang="zh-TW" sz="2400" dirty="0"/>
          </a:p>
          <a:p>
            <a:r>
              <a:rPr lang="zh-TW" altLang="en-US" sz="2400" dirty="0">
                <a:latin typeface="標楷體" pitchFamily="65" charset="-120"/>
              </a:rPr>
              <a:t>  </a:t>
            </a:r>
            <a:r>
              <a:rPr lang="en-US" altLang="zh-TW" sz="2400" dirty="0">
                <a:latin typeface="標楷體" pitchFamily="65" charset="-120"/>
              </a:rPr>
              <a:t>(A)</a:t>
            </a:r>
            <a:r>
              <a:rPr lang="zh-TW" altLang="en-US" sz="2400" dirty="0">
                <a:latin typeface="標楷體" pitchFamily="65" charset="-120"/>
              </a:rPr>
              <a:t>東</a:t>
            </a:r>
            <a:r>
              <a:rPr lang="en-US" altLang="zh-TW" sz="2400" dirty="0">
                <a:latin typeface="標楷體" pitchFamily="65" charset="-120"/>
              </a:rPr>
              <a:t>  </a:t>
            </a:r>
            <a:r>
              <a:rPr lang="zh-TW" altLang="en-US" sz="2400" dirty="0">
                <a:latin typeface="標楷體" pitchFamily="65" charset="-120"/>
              </a:rPr>
              <a:t>    </a:t>
            </a:r>
            <a:r>
              <a:rPr lang="en-US" altLang="zh-TW" sz="2400" dirty="0">
                <a:latin typeface="標楷體" pitchFamily="65" charset="-120"/>
              </a:rPr>
              <a:t>(B)</a:t>
            </a:r>
            <a:r>
              <a:rPr lang="zh-TW" altLang="en-US" sz="2400" dirty="0">
                <a:latin typeface="標楷體" pitchFamily="65" charset="-120"/>
              </a:rPr>
              <a:t>西</a:t>
            </a:r>
            <a:r>
              <a:rPr lang="zh-TW" altLang="en-US" sz="2400" dirty="0"/>
              <a:t>          </a:t>
            </a:r>
            <a:r>
              <a:rPr lang="en-US" altLang="zh-TW" sz="2400" dirty="0">
                <a:latin typeface="標楷體" pitchFamily="65" charset="-120"/>
              </a:rPr>
              <a:t>(C)</a:t>
            </a:r>
            <a:r>
              <a:rPr lang="zh-TW" altLang="en-US" sz="2400" dirty="0">
                <a:latin typeface="標楷體" pitchFamily="65" charset="-120"/>
              </a:rPr>
              <a:t>南              端</a:t>
            </a:r>
            <a:endParaRPr lang="zh-TW" altLang="en-US" sz="2400" dirty="0">
              <a:ea typeface="新細明體" pitchFamily="18" charset="-120"/>
            </a:endParaRPr>
          </a:p>
        </p:txBody>
      </p:sp>
      <p:sp>
        <p:nvSpPr>
          <p:cNvPr id="11" name="Text Box 3"/>
          <p:cNvSpPr txBox="1">
            <a:spLocks noChangeArrowheads="1"/>
          </p:cNvSpPr>
          <p:nvPr/>
        </p:nvSpPr>
        <p:spPr bwMode="auto">
          <a:xfrm>
            <a:off x="5796136" y="2175247"/>
            <a:ext cx="2520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pPr eaLnBrk="1" hangingPunct="1"/>
            <a:r>
              <a:rPr lang="en-US" altLang="zh-TW" sz="2400" dirty="0">
                <a:latin typeface="標楷體" pitchFamily="65" charset="-120"/>
              </a:rPr>
              <a:t>(D)</a:t>
            </a:r>
            <a:r>
              <a:rPr lang="zh-TW" altLang="en-US" sz="2400" dirty="0">
                <a:latin typeface="標楷體" pitchFamily="65" charset="-120"/>
              </a:rPr>
              <a:t>北</a:t>
            </a:r>
          </a:p>
        </p:txBody>
      </p:sp>
      <p:sp>
        <p:nvSpPr>
          <p:cNvPr id="12" name="Rectangle 8"/>
          <p:cNvSpPr>
            <a:spLocks noChangeArrowheads="1"/>
          </p:cNvSpPr>
          <p:nvPr/>
        </p:nvSpPr>
        <p:spPr bwMode="auto">
          <a:xfrm>
            <a:off x="1000168" y="3782634"/>
            <a:ext cx="558805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kern="1200" dirty="0">
                <a:solidFill>
                  <a:srgbClr val="FF0000"/>
                </a:solidFill>
                <a:latin typeface="Arial" charset="0"/>
                <a:ea typeface="標楷體" pitchFamily="65" charset="-120"/>
                <a:cs typeface="+mn-cs"/>
              </a:rPr>
              <a:t>南島文化分布的範圍最東到復活節島、最南到紐西蘭、最西到馬達加斯加島，而臺灣位於整個南島文化分布的</a:t>
            </a:r>
            <a:r>
              <a:rPr kumimoji="1" lang="en-US" altLang="zh-TW" sz="2400" kern="1200" dirty="0">
                <a:solidFill>
                  <a:srgbClr val="FF0000"/>
                </a:solidFill>
                <a:latin typeface="標楷體" panose="03000509000000000000" pitchFamily="65" charset="-120"/>
                <a:ea typeface="標楷體" panose="03000509000000000000" pitchFamily="65" charset="-120"/>
                <a:cs typeface="+mn-cs"/>
              </a:rPr>
              <a:t>(D)</a:t>
            </a:r>
            <a:r>
              <a:rPr kumimoji="1" lang="zh-TW" altLang="en-US" sz="2400" kern="1200" dirty="0">
                <a:solidFill>
                  <a:srgbClr val="FF0000"/>
                </a:solidFill>
                <a:latin typeface="Arial" charset="0"/>
                <a:ea typeface="標楷體" pitchFamily="65" charset="-120"/>
                <a:cs typeface="+mn-cs"/>
              </a:rPr>
              <a:t>北端。</a:t>
            </a:r>
          </a:p>
        </p:txBody>
      </p:sp>
      <p:sp>
        <p:nvSpPr>
          <p:cNvPr id="14" name="矩形 13"/>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p.175</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37</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160449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1">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1">
                                            <p:txEl>
                                              <p:pRg st="0" end="0"/>
                                            </p:txEl>
                                          </p:spTgt>
                                        </p:tgtEl>
                                        <p:attrNameLst>
                                          <p:attrName>style.fontStyle</p:attrName>
                                        </p:attrNameLst>
                                      </p:cBhvr>
                                      <p:to>
                                        <p:strVal val="normal"/>
                                      </p:to>
                                    </p:set>
                                    <p:set>
                                      <p:cBhvr override="childStyle">
                                        <p:cTn id="9" dur="indefinite"/>
                                        <p:tgtEl>
                                          <p:spTgt spid="11">
                                            <p:txEl>
                                              <p:pRg st="0" end="0"/>
                                            </p:txEl>
                                          </p:spTgt>
                                        </p:tgtEl>
                                        <p:attrNameLst>
                                          <p:attrName>style.fontWeight</p:attrName>
                                        </p:attrNameLst>
                                      </p:cBhvr>
                                      <p:to>
                                        <p:strVal val="bold"/>
                                      </p:to>
                                    </p:set>
                                    <p:set>
                                      <p:cBhvr override="childStyle">
                                        <p:cTn id="10" dur="indefinite"/>
                                        <p:tgtEl>
                                          <p:spTgt spid="11">
                                            <p:txEl>
                                              <p:pRg st="0" end="0"/>
                                            </p:txEl>
                                          </p:spTgt>
                                        </p:tgtEl>
                                        <p:attrNameLst>
                                          <p:attrName>style.textDecorationUnderline</p:attrName>
                                        </p:attrNameLst>
                                      </p:cBhvr>
                                      <p:to>
                                        <p:strVal val="false"/>
                                      </p:to>
                                    </p:set>
                                  </p:childTnLst>
                                </p:cTn>
                              </p:par>
                            </p:childTnLst>
                          </p:cTn>
                        </p:par>
                        <p:par>
                          <p:cTn id="11" fill="hold">
                            <p:stCondLst>
                              <p:cond delay="0"/>
                            </p:stCondLst>
                            <p:childTnLst>
                              <p:par>
                                <p:cTn id="12" presetID="22" presetClass="entr" presetSubtype="8"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wipe(left)">
                                      <p:cBhvr>
                                        <p:cTn id="1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83786" y="489416"/>
            <a:ext cx="5334446" cy="6211669"/>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sz="2200" dirty="0">
              <a:latin typeface="標楷體" pitchFamily="65" charset="-120"/>
              <a:ea typeface="標楷體" pitchFamily="65" charset="-120"/>
            </a:endParaRPr>
          </a:p>
          <a:p>
            <a:endParaRPr lang="en-US" altLang="zh-TW" sz="2200" dirty="0">
              <a:latin typeface="標楷體" pitchFamily="65" charset="-120"/>
              <a:ea typeface="標楷體" pitchFamily="65" charset="-120"/>
            </a:endParaRPr>
          </a:p>
          <a:p>
            <a:r>
              <a:rPr lang="zh-TW" altLang="en-US" sz="2200" dirty="0">
                <a:latin typeface="標楷體" pitchFamily="65" charset="-120"/>
                <a:ea typeface="標楷體" pitchFamily="65" charset="-120"/>
              </a:rPr>
              <a:t>一、南島語族</a:t>
            </a:r>
            <a:endParaRPr lang="en-US" altLang="zh-TW" sz="2200" dirty="0">
              <a:latin typeface="標楷體" pitchFamily="65" charset="-120"/>
              <a:ea typeface="標楷體" pitchFamily="65" charset="-120"/>
            </a:endParaRPr>
          </a:p>
          <a:p>
            <a:r>
              <a:rPr lang="en-US" altLang="zh-TW" sz="2200" dirty="0">
                <a:latin typeface="標楷體" pitchFamily="65" charset="-120"/>
                <a:ea typeface="標楷體" pitchFamily="65" charset="-120"/>
              </a:rPr>
              <a:t>2.</a:t>
            </a:r>
            <a:r>
              <a:rPr lang="zh-TW" altLang="en-US" sz="2200" dirty="0">
                <a:latin typeface="標楷體" pitchFamily="65" charset="-120"/>
                <a:ea typeface="標楷體" pitchFamily="65" charset="-120"/>
              </a:rPr>
              <a:t>各原住民族及文化：大量漢人移入之前，原住民族即生活在臺灣，原有眾多大小不一的族群。</a:t>
            </a:r>
            <a:endParaRPr lang="en-US" altLang="zh-TW" sz="2200" dirty="0">
              <a:latin typeface="標楷體" pitchFamily="65" charset="-120"/>
              <a:ea typeface="標楷體" pitchFamily="65" charset="-120"/>
            </a:endParaRPr>
          </a:p>
          <a:p>
            <a:r>
              <a:rPr lang="en-US" altLang="zh-TW" sz="2200" dirty="0">
                <a:latin typeface="標楷體" pitchFamily="65" charset="-120"/>
                <a:ea typeface="標楷體" pitchFamily="65" charset="-120"/>
              </a:rPr>
              <a:t>(1)</a:t>
            </a:r>
            <a:r>
              <a:rPr lang="zh-TW" altLang="en-US" sz="2200" dirty="0">
                <a:solidFill>
                  <a:srgbClr val="FF0000"/>
                </a:solidFill>
                <a:latin typeface="標楷體" pitchFamily="65" charset="-120"/>
                <a:ea typeface="標楷體" pitchFamily="65" charset="-120"/>
              </a:rPr>
              <a:t>漢人透過開墾及貿易挾帶強勢文化進入，使原住民族迫遷或同化</a:t>
            </a:r>
            <a:r>
              <a:rPr lang="zh-TW" altLang="en-US" sz="2200" dirty="0">
                <a:latin typeface="標楷體" pitchFamily="65" charset="-120"/>
                <a:ea typeface="標楷體" pitchFamily="65" charset="-120"/>
              </a:rPr>
              <a:t>，目前中央政府的法定原住民族共有 </a:t>
            </a:r>
            <a:r>
              <a:rPr lang="en-US" altLang="zh-TW" sz="2200" dirty="0">
                <a:latin typeface="標楷體" pitchFamily="65" charset="-120"/>
                <a:ea typeface="標楷體" pitchFamily="65" charset="-120"/>
              </a:rPr>
              <a:t>16 </a:t>
            </a:r>
            <a:r>
              <a:rPr lang="zh-TW" altLang="en-US" sz="2200" dirty="0">
                <a:latin typeface="標楷體" pitchFamily="65" charset="-120"/>
                <a:ea typeface="標楷體" pitchFamily="65" charset="-120"/>
              </a:rPr>
              <a:t>族，登記人口約 </a:t>
            </a:r>
            <a:r>
              <a:rPr lang="en-US" altLang="zh-TW" sz="2200" dirty="0">
                <a:latin typeface="標楷體" pitchFamily="65" charset="-120"/>
                <a:ea typeface="標楷體" pitchFamily="65" charset="-120"/>
              </a:rPr>
              <a:t>55 </a:t>
            </a:r>
            <a:r>
              <a:rPr lang="zh-TW" altLang="en-US" sz="2200" dirty="0">
                <a:latin typeface="標楷體" pitchFamily="65" charset="-120"/>
                <a:ea typeface="標楷體" pitchFamily="65" charset="-120"/>
              </a:rPr>
              <a:t>萬，占全臺人口 </a:t>
            </a:r>
            <a:r>
              <a:rPr lang="en-US" altLang="zh-TW" sz="2200" dirty="0">
                <a:latin typeface="標楷體" pitchFamily="65" charset="-120"/>
                <a:ea typeface="標楷體" pitchFamily="65" charset="-120"/>
              </a:rPr>
              <a:t>2.3 </a:t>
            </a:r>
            <a:r>
              <a:rPr lang="zh-TW" altLang="en-US" sz="2200" dirty="0">
                <a:latin typeface="標楷體" pitchFamily="65" charset="-120"/>
                <a:ea typeface="標楷體" pitchFamily="65" charset="-120"/>
              </a:rPr>
              <a:t>％。</a:t>
            </a:r>
            <a:endParaRPr lang="en-US" altLang="zh-TW" sz="2200" dirty="0">
              <a:latin typeface="標楷體" pitchFamily="65" charset="-120"/>
              <a:ea typeface="標楷體" pitchFamily="65" charset="-120"/>
            </a:endParaRPr>
          </a:p>
          <a:p>
            <a:r>
              <a:rPr lang="en-US" altLang="zh-TW" sz="2200" dirty="0">
                <a:latin typeface="標楷體" pitchFamily="65" charset="-120"/>
                <a:ea typeface="標楷體" pitchFamily="65" charset="-120"/>
              </a:rPr>
              <a:t>(2)</a:t>
            </a:r>
            <a:r>
              <a:rPr lang="zh-TW" altLang="en-US" sz="2200" dirty="0">
                <a:latin typeface="標楷體" pitchFamily="65" charset="-120"/>
                <a:ea typeface="標楷體" pitchFamily="65" charset="-120"/>
              </a:rPr>
              <a:t>原住民族</a:t>
            </a:r>
            <a:r>
              <a:rPr lang="zh-TW" altLang="en-US" sz="2200" u="sng" dirty="0">
                <a:solidFill>
                  <a:srgbClr val="FF0000"/>
                </a:solidFill>
                <a:latin typeface="標楷體" pitchFamily="65" charset="-120"/>
                <a:ea typeface="標楷體" pitchFamily="65" charset="-120"/>
              </a:rPr>
              <a:t>           </a:t>
            </a:r>
            <a:r>
              <a:rPr lang="zh-TW" altLang="en-US" sz="2200" dirty="0">
                <a:latin typeface="標楷體" pitchFamily="65" charset="-120"/>
                <a:ea typeface="標楷體" pitchFamily="65" charset="-120"/>
              </a:rPr>
              <a:t>：認為</a:t>
            </a:r>
            <a:r>
              <a:rPr lang="zh-TW" altLang="en-US" sz="2200" dirty="0">
                <a:solidFill>
                  <a:srgbClr val="FF0000"/>
                </a:solidFill>
                <a:latin typeface="標楷體" pitchFamily="65" charset="-120"/>
                <a:ea typeface="標楷體" pitchFamily="65" charset="-120"/>
              </a:rPr>
              <a:t>天地萬物皆有靈</a:t>
            </a:r>
            <a:r>
              <a:rPr lang="zh-TW" altLang="en-US" sz="2200" dirty="0">
                <a:latin typeface="標楷體" pitchFamily="65" charset="-120"/>
                <a:ea typeface="標楷體" pitchFamily="65" charset="-120"/>
              </a:rPr>
              <a:t>，崇拜山神、太陽神、神蛇等，其狩獵活動、歲時祭儀及各種傳說常隱含自然保育的生態哲學，如</a:t>
            </a:r>
            <a:r>
              <a:rPr lang="zh-TW" altLang="en-US" sz="2200" dirty="0">
                <a:solidFill>
                  <a:srgbClr val="FF0000"/>
                </a:solidFill>
                <a:latin typeface="標楷體" pitchFamily="65" charset="-120"/>
                <a:ea typeface="標楷體" pitchFamily="65" charset="-120"/>
              </a:rPr>
              <a:t>達悟族</a:t>
            </a:r>
            <a:r>
              <a:rPr lang="zh-TW" altLang="en-US" sz="2200" dirty="0">
                <a:latin typeface="標楷體" pitchFamily="65" charset="-120"/>
                <a:ea typeface="標楷體" pitchFamily="65" charset="-120"/>
              </a:rPr>
              <a:t>的</a:t>
            </a:r>
            <a:r>
              <a:rPr lang="zh-TW" altLang="en-US" sz="2200" dirty="0">
                <a:solidFill>
                  <a:srgbClr val="FF0000"/>
                </a:solidFill>
                <a:latin typeface="標楷體" pitchFamily="65" charset="-120"/>
                <a:ea typeface="標楷體" pitchFamily="65" charset="-120"/>
              </a:rPr>
              <a:t>飛魚季</a:t>
            </a:r>
            <a:r>
              <a:rPr lang="zh-TW" altLang="en-US" sz="2200" dirty="0">
                <a:latin typeface="標楷體" pitchFamily="65" charset="-120"/>
                <a:ea typeface="標楷體" pitchFamily="65" charset="-120"/>
              </a:rPr>
              <a:t>。</a:t>
            </a:r>
            <a:endParaRPr lang="en-US" altLang="zh-TW" sz="2200" dirty="0">
              <a:latin typeface="標楷體" pitchFamily="65" charset="-120"/>
              <a:ea typeface="標楷體" pitchFamily="65" charset="-120"/>
            </a:endParaRPr>
          </a:p>
          <a:p>
            <a:r>
              <a:rPr lang="en-US" altLang="zh-TW" sz="2200" dirty="0">
                <a:latin typeface="標楷體" pitchFamily="65" charset="-120"/>
                <a:ea typeface="標楷體" pitchFamily="65" charset="-120"/>
              </a:rPr>
              <a:t>(3)</a:t>
            </a:r>
            <a:r>
              <a:rPr lang="zh-TW" altLang="en-US" sz="2200" dirty="0">
                <a:solidFill>
                  <a:srgbClr val="FF0000"/>
                </a:solidFill>
                <a:latin typeface="標楷體" pitchFamily="65" charset="-120"/>
                <a:ea typeface="標楷體" pitchFamily="65" charset="-120"/>
              </a:rPr>
              <a:t>多以信仰天主教和基督教為主</a:t>
            </a:r>
            <a:r>
              <a:rPr lang="zh-TW" altLang="en-US" sz="2200" dirty="0">
                <a:latin typeface="標楷體" pitchFamily="65" charset="-120"/>
                <a:ea typeface="標楷體" pitchFamily="65" charset="-120"/>
              </a:rPr>
              <a:t>：近 </a:t>
            </a:r>
            <a:r>
              <a:rPr lang="en-US" altLang="zh-TW" sz="2200" dirty="0">
                <a:latin typeface="標楷體" pitchFamily="65" charset="-120"/>
                <a:ea typeface="標楷體" pitchFamily="65" charset="-120"/>
              </a:rPr>
              <a:t>400 </a:t>
            </a:r>
            <a:r>
              <a:rPr lang="zh-TW" altLang="en-US" sz="2200" dirty="0">
                <a:latin typeface="標楷體" pitchFamily="65" charset="-120"/>
                <a:ea typeface="標楷體" pitchFamily="65" charset="-120"/>
              </a:rPr>
              <a:t>年來，西方基督、天主等教派深入原住民族部落，以物資、現代醫學及教育為媒介進行傳教，</a:t>
            </a:r>
            <a:r>
              <a:rPr lang="zh-TW" altLang="en-US" sz="2200" dirty="0">
                <a:solidFill>
                  <a:srgbClr val="FF0000"/>
                </a:solidFill>
                <a:latin typeface="標楷體" pitchFamily="65" charset="-120"/>
                <a:ea typeface="標楷體" pitchFamily="65" charset="-120"/>
              </a:rPr>
              <a:t>教會成為部落的信仰及重要集會中心</a:t>
            </a:r>
            <a:r>
              <a:rPr lang="zh-TW" altLang="en-US" sz="2200" dirty="0">
                <a:latin typeface="標楷體" pitchFamily="65" charset="-120"/>
                <a:ea typeface="標楷體" pitchFamily="65" charset="-120"/>
              </a:rPr>
              <a:t>。</a:t>
            </a:r>
          </a:p>
        </p:txBody>
      </p:sp>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6096" y="188641"/>
            <a:ext cx="3679280" cy="65328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a:spLocks noChangeArrowheads="1"/>
          </p:cNvSpPr>
          <p:nvPr/>
        </p:nvSpPr>
        <p:spPr bwMode="auto">
          <a:xfrm>
            <a:off x="1835696" y="3499763"/>
            <a:ext cx="1368152"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200" kern="1200" dirty="0">
                <a:solidFill>
                  <a:srgbClr val="FF0000"/>
                </a:solidFill>
                <a:latin typeface="標楷體" pitchFamily="65" charset="-120"/>
                <a:ea typeface="標楷體" pitchFamily="65" charset="-120"/>
                <a:cs typeface="Times New Roman" pitchFamily="18" charset="0"/>
              </a:rPr>
              <a:t>泛靈信仰</a:t>
            </a:r>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38</a:t>
            </a:fld>
            <a:endParaRPr lang="zh-TW" sz="1400">
              <a:solidFill>
                <a:schemeClr val="dk1"/>
              </a:solidFill>
              <a:latin typeface="Arial"/>
              <a:ea typeface="Arial"/>
              <a:cs typeface="Arial"/>
              <a:sym typeface="Arial"/>
            </a:endParaRPr>
          </a:p>
        </p:txBody>
      </p:sp>
      <p:sp>
        <p:nvSpPr>
          <p:cNvPr id="10" name="矩形 9">
            <a:extLst>
              <a:ext uri="{FF2B5EF4-FFF2-40B4-BE49-F238E27FC236}">
                <a16:creationId xmlns:a16="http://schemas.microsoft.com/office/drawing/2014/main" id="{AE8B814C-9113-476C-8FA6-60C36416035F}"/>
              </a:ext>
            </a:extLst>
          </p:cNvPr>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p.174</a:t>
            </a:r>
            <a:endParaRPr lang="zh-TW" altLang="en-US" sz="3600" b="0" dirty="0"/>
          </a:p>
        </p:txBody>
      </p:sp>
    </p:spTree>
    <p:extLst>
      <p:ext uri="{BB962C8B-B14F-4D97-AF65-F5344CB8AC3E}">
        <p14:creationId xmlns:p14="http://schemas.microsoft.com/office/powerpoint/2010/main" val="2867897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43754" y="525497"/>
            <a:ext cx="5549353" cy="6023029"/>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r>
              <a:rPr lang="zh-TW" altLang="en-US" sz="2400" dirty="0">
                <a:solidFill>
                  <a:srgbClr val="FF0000"/>
                </a:solidFill>
                <a:latin typeface="標楷體" pitchFamily="65" charset="-120"/>
                <a:ea typeface="標楷體" pitchFamily="65" charset="-120"/>
              </a:rPr>
              <a:t>二、近代移民及文化</a:t>
            </a:r>
            <a:endParaRPr lang="en-US" altLang="zh-TW" sz="2400" dirty="0">
              <a:solidFill>
                <a:srgbClr val="FF0000"/>
              </a:solidFill>
              <a:latin typeface="標楷體" pitchFamily="65" charset="-120"/>
              <a:ea typeface="標楷體" pitchFamily="65" charset="-120"/>
            </a:endParaRPr>
          </a:p>
          <a:p>
            <a:r>
              <a:rPr lang="zh-TW" altLang="en-US" sz="2400" dirty="0">
                <a:latin typeface="標楷體" pitchFamily="65" charset="-120"/>
                <a:ea typeface="標楷體" pitchFamily="65" charset="-120"/>
              </a:rPr>
              <a:t>    臺灣近 </a:t>
            </a:r>
            <a:r>
              <a:rPr lang="en-US" altLang="zh-TW" sz="2400" dirty="0">
                <a:solidFill>
                  <a:srgbClr val="FF00FF"/>
                </a:solidFill>
                <a:latin typeface="標楷體" pitchFamily="65" charset="-120"/>
                <a:ea typeface="標楷體" pitchFamily="65" charset="-120"/>
              </a:rPr>
              <a:t>400 </a:t>
            </a:r>
            <a:r>
              <a:rPr lang="zh-TW" altLang="en-US" sz="2400" dirty="0">
                <a:solidFill>
                  <a:srgbClr val="FF00FF"/>
                </a:solidFill>
                <a:latin typeface="標楷體" pitchFamily="65" charset="-120"/>
                <a:ea typeface="標楷體" pitchFamily="65" charset="-120"/>
              </a:rPr>
              <a:t>年的移民潮</a:t>
            </a:r>
            <a:r>
              <a:rPr lang="zh-TW" altLang="en-US" sz="2400" dirty="0">
                <a:latin typeface="標楷體" pitchFamily="65" charset="-120"/>
                <a:ea typeface="標楷體" pitchFamily="65" charset="-120"/>
              </a:rPr>
              <a:t>通常和政權轉移或社會變遷有關，</a:t>
            </a:r>
            <a:r>
              <a:rPr lang="zh-TW" altLang="en-US" sz="2400" dirty="0">
                <a:solidFill>
                  <a:srgbClr val="FF00FF"/>
                </a:solidFill>
                <a:latin typeface="標楷體" pitchFamily="65" charset="-120"/>
                <a:ea typeface="標楷體" pitchFamily="65" charset="-120"/>
              </a:rPr>
              <a:t>不同階段移民</a:t>
            </a:r>
            <a:r>
              <a:rPr lang="zh-TW" altLang="en-US" sz="2400" dirty="0">
                <a:latin typeface="標楷體" pitchFamily="65" charset="-120"/>
                <a:ea typeface="標楷體" pitchFamily="65" charset="-120"/>
              </a:rPr>
              <a:t>所</a:t>
            </a:r>
            <a:r>
              <a:rPr lang="zh-TW" altLang="en-US" sz="2400" dirty="0">
                <a:solidFill>
                  <a:srgbClr val="FF00FF"/>
                </a:solidFill>
                <a:latin typeface="標楷體" pitchFamily="65" charset="-120"/>
                <a:ea typeface="標楷體" pitchFamily="65" charset="-120"/>
              </a:rPr>
              <a:t>帶來</a:t>
            </a:r>
            <a:r>
              <a:rPr lang="zh-TW" altLang="en-US" sz="2400" dirty="0">
                <a:latin typeface="標楷體" pitchFamily="65" charset="-120"/>
                <a:ea typeface="標楷體" pitchFamily="65" charset="-120"/>
              </a:rPr>
              <a:t>的</a:t>
            </a:r>
            <a:r>
              <a:rPr lang="zh-TW" altLang="en-US" sz="2400" dirty="0">
                <a:solidFill>
                  <a:srgbClr val="FF00FF"/>
                </a:solidFill>
                <a:latin typeface="標楷體" pitchFamily="65" charset="-120"/>
                <a:ea typeface="標楷體" pitchFamily="65" charset="-120"/>
              </a:rPr>
              <a:t>多元文化</a:t>
            </a:r>
            <a:r>
              <a:rPr lang="zh-TW" altLang="en-US" sz="2400" dirty="0">
                <a:latin typeface="標楷體" pitchFamily="65" charset="-120"/>
                <a:ea typeface="標楷體" pitchFamily="65" charset="-120"/>
              </a:rPr>
              <a:t>，建構了豐富又美麗的臺灣人文風景。</a:t>
            </a:r>
            <a:r>
              <a:rPr lang="zh-TW" altLang="en-US" sz="2400" dirty="0">
                <a:solidFill>
                  <a:srgbClr val="FF0000"/>
                </a:solidFill>
                <a:latin typeface="標楷體" pitchFamily="65" charset="-120"/>
                <a:ea typeface="標楷體" pitchFamily="65" charset="-120"/>
              </a:rPr>
              <a:t>透過地名</a:t>
            </a:r>
            <a:r>
              <a:rPr lang="zh-TW" altLang="en-US" sz="2400" dirty="0">
                <a:latin typeface="標楷體" pitchFamily="65" charset="-120"/>
                <a:ea typeface="標楷體" pitchFamily="65" charset="-120"/>
              </a:rPr>
              <a:t>可以</a:t>
            </a:r>
            <a:r>
              <a:rPr lang="zh-TW" altLang="en-US" sz="2400" dirty="0">
                <a:solidFill>
                  <a:srgbClr val="FF0000"/>
                </a:solidFill>
                <a:latin typeface="標楷體" pitchFamily="65" charset="-120"/>
                <a:ea typeface="標楷體" pitchFamily="65" charset="-120"/>
              </a:rPr>
              <a:t>觀察</a:t>
            </a:r>
            <a:r>
              <a:rPr lang="zh-TW" altLang="en-US" sz="2400" dirty="0">
                <a:latin typeface="標楷體" pitchFamily="65" charset="-120"/>
                <a:ea typeface="標楷體" pitchFamily="65" charset="-120"/>
              </a:rPr>
              <a:t>臺灣</a:t>
            </a:r>
            <a:r>
              <a:rPr lang="zh-TW" altLang="en-US" sz="2400" dirty="0">
                <a:solidFill>
                  <a:srgbClr val="FF0000"/>
                </a:solidFill>
                <a:latin typeface="標楷體" pitchFamily="65" charset="-120"/>
                <a:ea typeface="標楷體" pitchFamily="65" charset="-120"/>
              </a:rPr>
              <a:t>歷史變遷、族群互動</a:t>
            </a:r>
            <a:r>
              <a:rPr lang="zh-TW" altLang="en-US" sz="2400" dirty="0">
                <a:latin typeface="標楷體" pitchFamily="65" charset="-120"/>
                <a:ea typeface="標楷體" pitchFamily="65" charset="-120"/>
              </a:rPr>
              <a:t>的</a:t>
            </a:r>
            <a:r>
              <a:rPr lang="zh-TW" altLang="en-US" sz="2400" dirty="0">
                <a:solidFill>
                  <a:srgbClr val="FF0000"/>
                </a:solidFill>
                <a:latin typeface="標楷體" pitchFamily="65" charset="-120"/>
                <a:ea typeface="標楷體" pitchFamily="65" charset="-120"/>
              </a:rPr>
              <a:t>歷程</a:t>
            </a:r>
            <a:r>
              <a:rPr lang="zh-TW" altLang="en-US" sz="2400" dirty="0">
                <a:latin typeface="標楷體" pitchFamily="65" charset="-120"/>
                <a:ea typeface="標楷體" pitchFamily="65" charset="-120"/>
              </a:rPr>
              <a:t>。</a:t>
            </a:r>
            <a:endParaRPr lang="en-US" altLang="zh-TW" sz="2400" dirty="0">
              <a:latin typeface="標楷體" pitchFamily="65" charset="-120"/>
              <a:ea typeface="標楷體" pitchFamily="65" charset="-120"/>
            </a:endParaRPr>
          </a:p>
          <a:p>
            <a:r>
              <a:rPr lang="en-US" altLang="zh-TW" sz="2400" dirty="0">
                <a:solidFill>
                  <a:srgbClr val="FF0000"/>
                </a:solidFill>
                <a:latin typeface="標楷體" pitchFamily="65" charset="-120"/>
                <a:ea typeface="標楷體" pitchFamily="65" charset="-120"/>
              </a:rPr>
              <a:t>1.</a:t>
            </a:r>
            <a:r>
              <a:rPr lang="zh-TW" altLang="en-US" sz="2400" dirty="0">
                <a:solidFill>
                  <a:srgbClr val="FF0000"/>
                </a:solidFill>
                <a:latin typeface="標楷體" pitchFamily="65" charset="-120"/>
                <a:ea typeface="標楷體" pitchFamily="65" charset="-120"/>
              </a:rPr>
              <a:t>原住民時期</a:t>
            </a:r>
            <a:r>
              <a:rPr lang="zh-TW" altLang="en-US" sz="2400" dirty="0">
                <a:latin typeface="標楷體" pitchFamily="65" charset="-120"/>
                <a:ea typeface="標楷體" pitchFamily="65" charset="-120"/>
              </a:rPr>
              <a:t>：</a:t>
            </a:r>
          </a:p>
          <a:p>
            <a:pPr marL="457200" indent="-266700"/>
            <a:r>
              <a:rPr lang="en-US" altLang="zh-TW" sz="2400" kern="100" dirty="0">
                <a:effectLst/>
                <a:latin typeface="Times New Roman" panose="02020603050405020304" pitchFamily="18" charset="0"/>
                <a:ea typeface="標楷體" panose="03000509000000000000" pitchFamily="65" charset="-120"/>
              </a:rPr>
              <a:t>(1)</a:t>
            </a:r>
            <a:r>
              <a:rPr lang="zh-TW" altLang="zh-TW" sz="2400" kern="100" dirty="0">
                <a:effectLst/>
                <a:latin typeface="Times New Roman" panose="02020603050405020304" pitchFamily="18" charset="0"/>
                <a:ea typeface="新細明體" panose="02020500000000000000" pitchFamily="18" charset="-120"/>
              </a:rPr>
              <a:t>馬卡道族語</a:t>
            </a:r>
            <a:r>
              <a:rPr lang="en-US" altLang="zh-TW" sz="2400" kern="100" dirty="0">
                <a:effectLst/>
                <a:latin typeface="Times New Roman" panose="02020603050405020304" pitchFamily="18" charset="0"/>
                <a:ea typeface="新細明體" panose="02020500000000000000" pitchFamily="18" charset="-120"/>
              </a:rPr>
              <a:t> </a:t>
            </a:r>
            <a:r>
              <a:rPr lang="en-US" altLang="zh-TW" sz="2400" kern="100" dirty="0" err="1">
                <a:effectLst/>
                <a:latin typeface="Times New Roman" panose="02020603050405020304" pitchFamily="18" charset="0"/>
                <a:ea typeface="新細明體" panose="02020500000000000000" pitchFamily="18" charset="-120"/>
              </a:rPr>
              <a:t>Takau</a:t>
            </a:r>
            <a:r>
              <a:rPr lang="zh-TW" altLang="zh-TW" sz="2400" kern="100" dirty="0">
                <a:effectLst/>
                <a:latin typeface="Times New Roman" panose="02020603050405020304" pitchFamily="18" charset="0"/>
                <a:ea typeface="新細明體" panose="02020500000000000000" pitchFamily="18" charset="-120"/>
              </a:rPr>
              <a:t>（竹林）</a:t>
            </a:r>
            <a:br>
              <a:rPr lang="en-US" altLang="zh-TW" sz="2400" kern="100" dirty="0">
                <a:effectLst/>
                <a:latin typeface="Times New Roman" panose="02020603050405020304" pitchFamily="18" charset="0"/>
                <a:ea typeface="新細明體" panose="02020500000000000000" pitchFamily="18" charset="-120"/>
              </a:rPr>
            </a:br>
            <a:r>
              <a:rPr lang="en-US" altLang="zh-TW" sz="2400" kern="100" dirty="0">
                <a:effectLst/>
                <a:latin typeface="Times New Roman" panose="02020603050405020304" pitchFamily="18" charset="0"/>
                <a:ea typeface="新細明體" panose="02020500000000000000" pitchFamily="18" charset="-120"/>
              </a:rPr>
              <a:t>            </a:t>
            </a:r>
            <a:r>
              <a:rPr lang="zh-TW" altLang="zh-TW" sz="2400" kern="100" dirty="0">
                <a:effectLst/>
                <a:latin typeface="Times New Roman" panose="02020603050405020304" pitchFamily="18" charset="0"/>
                <a:ea typeface="新細明體" panose="02020500000000000000" pitchFamily="18" charset="-120"/>
              </a:rPr>
              <a:t>→「打狗」（高雄）</a:t>
            </a:r>
          </a:p>
          <a:p>
            <a:pPr marL="457200" indent="-266700"/>
            <a:r>
              <a:rPr lang="en-US" altLang="zh-TW" sz="2400" kern="100" dirty="0">
                <a:effectLst/>
                <a:latin typeface="Times New Roman" panose="02020603050405020304" pitchFamily="18" charset="0"/>
                <a:ea typeface="標楷體" panose="03000509000000000000" pitchFamily="65" charset="-120"/>
              </a:rPr>
              <a:t>(2)</a:t>
            </a:r>
            <a:r>
              <a:rPr lang="zh-TW" altLang="zh-TW" sz="2400" kern="100" dirty="0">
                <a:effectLst/>
                <a:latin typeface="Times New Roman" panose="02020603050405020304" pitchFamily="18" charset="0"/>
                <a:ea typeface="新細明體" panose="02020500000000000000" pitchFamily="18" charset="-120"/>
              </a:rPr>
              <a:t>洪雅族</a:t>
            </a:r>
            <a:r>
              <a:rPr lang="en-US" altLang="zh-TW" sz="2400" kern="100" dirty="0">
                <a:effectLst/>
                <a:latin typeface="Times New Roman" panose="02020603050405020304" pitchFamily="18" charset="0"/>
                <a:ea typeface="新細明體" panose="02020500000000000000" pitchFamily="18" charset="-120"/>
              </a:rPr>
              <a:t> </a:t>
            </a:r>
            <a:r>
              <a:rPr lang="en-US" altLang="zh-TW" sz="2400" kern="100" dirty="0" err="1">
                <a:effectLst/>
                <a:latin typeface="Times New Roman" panose="02020603050405020304" pitchFamily="18" charset="0"/>
                <a:ea typeface="新細明體" panose="02020500000000000000" pitchFamily="18" charset="-120"/>
              </a:rPr>
              <a:t>Taneaw</a:t>
            </a:r>
            <a:r>
              <a:rPr lang="en-US" altLang="zh-TW" sz="2400" kern="100" dirty="0">
                <a:effectLst/>
                <a:latin typeface="Times New Roman" panose="02020603050405020304" pitchFamily="18" charset="0"/>
                <a:ea typeface="新細明體" panose="02020500000000000000" pitchFamily="18" charset="-120"/>
              </a:rPr>
              <a:t> </a:t>
            </a:r>
            <a:r>
              <a:rPr lang="zh-TW" altLang="zh-TW" sz="2400" kern="100" dirty="0">
                <a:effectLst/>
                <a:latin typeface="Times New Roman" panose="02020603050405020304" pitchFamily="18" charset="0"/>
                <a:ea typeface="新細明體" panose="02020500000000000000" pitchFamily="18" charset="-120"/>
              </a:rPr>
              <a:t>社→「打貓」（民雄）</a:t>
            </a:r>
          </a:p>
          <a:p>
            <a:pPr marL="457200" indent="-266700"/>
            <a:r>
              <a:rPr lang="en-US" altLang="zh-TW" sz="2400" kern="100" dirty="0">
                <a:effectLst/>
                <a:latin typeface="Times New Roman" panose="02020603050405020304" pitchFamily="18" charset="0"/>
                <a:ea typeface="標楷體" panose="03000509000000000000" pitchFamily="65" charset="-120"/>
              </a:rPr>
              <a:t>(3)</a:t>
            </a:r>
            <a:r>
              <a:rPr lang="zh-TW" altLang="zh-TW" sz="2400" kern="100" dirty="0">
                <a:effectLst/>
                <a:latin typeface="Times New Roman" panose="02020603050405020304" pitchFamily="18" charset="0"/>
                <a:ea typeface="新細明體" panose="02020500000000000000" pitchFamily="18" charset="-120"/>
              </a:rPr>
              <a:t>洪雅族</a:t>
            </a:r>
            <a:r>
              <a:rPr lang="en-US" altLang="zh-TW" sz="2400" kern="100" dirty="0">
                <a:effectLst/>
                <a:latin typeface="Times New Roman" panose="02020603050405020304" pitchFamily="18" charset="0"/>
                <a:ea typeface="新細明體" panose="02020500000000000000" pitchFamily="18" charset="-120"/>
              </a:rPr>
              <a:t> </a:t>
            </a:r>
            <a:r>
              <a:rPr lang="en-US" altLang="zh-TW" sz="2400" kern="100" dirty="0" err="1">
                <a:effectLst/>
                <a:latin typeface="Times New Roman" panose="02020603050405020304" pitchFamily="18" charset="0"/>
                <a:ea typeface="新細明體" panose="02020500000000000000" pitchFamily="18" charset="-120"/>
              </a:rPr>
              <a:t>Tirosen</a:t>
            </a:r>
            <a:r>
              <a:rPr lang="en-US" altLang="zh-TW" sz="2400" kern="100" dirty="0">
                <a:effectLst/>
                <a:latin typeface="Times New Roman" panose="02020603050405020304" pitchFamily="18" charset="0"/>
                <a:ea typeface="新細明體" panose="02020500000000000000" pitchFamily="18" charset="-120"/>
              </a:rPr>
              <a:t> </a:t>
            </a:r>
            <a:r>
              <a:rPr lang="zh-TW" altLang="zh-TW" sz="2400" kern="100" dirty="0">
                <a:effectLst/>
                <a:latin typeface="Times New Roman" panose="02020603050405020304" pitchFamily="18" charset="0"/>
                <a:ea typeface="新細明體" panose="02020500000000000000" pitchFamily="18" charset="-120"/>
              </a:rPr>
              <a:t>社→「諸羅」（嘉義）</a:t>
            </a:r>
          </a:p>
          <a:p>
            <a:pPr marL="457200" indent="-266700"/>
            <a:r>
              <a:rPr lang="en-US" altLang="zh-TW" sz="2400" kern="100" dirty="0">
                <a:effectLst/>
                <a:latin typeface="Times New Roman" panose="02020603050405020304" pitchFamily="18" charset="0"/>
                <a:ea typeface="標楷體" panose="03000509000000000000" pitchFamily="65" charset="-120"/>
              </a:rPr>
              <a:t>(4)</a:t>
            </a:r>
            <a:r>
              <a:rPr lang="zh-TW" altLang="zh-TW" sz="2400" kern="100" dirty="0">
                <a:effectLst/>
                <a:latin typeface="Times New Roman" panose="02020603050405020304" pitchFamily="18" charset="0"/>
                <a:ea typeface="新細明體" panose="02020500000000000000" pitchFamily="18" charset="-120"/>
              </a:rPr>
              <a:t>馬卡道族</a:t>
            </a:r>
            <a:r>
              <a:rPr lang="en-US" altLang="zh-TW" sz="2400" kern="100" dirty="0">
                <a:effectLst/>
                <a:latin typeface="Times New Roman" panose="02020603050405020304" pitchFamily="18" charset="0"/>
                <a:ea typeface="新細明體" panose="02020500000000000000" pitchFamily="18" charset="-120"/>
              </a:rPr>
              <a:t> </a:t>
            </a:r>
            <a:r>
              <a:rPr lang="en-US" altLang="zh-TW" sz="2400" kern="100" dirty="0" err="1">
                <a:effectLst/>
                <a:latin typeface="Times New Roman" panose="02020603050405020304" pitchFamily="18" charset="0"/>
                <a:ea typeface="新細明體" panose="02020500000000000000" pitchFamily="18" charset="-120"/>
              </a:rPr>
              <a:t>Akauw</a:t>
            </a:r>
            <a:r>
              <a:rPr lang="en-US" altLang="zh-TW" sz="2400" kern="100" dirty="0">
                <a:effectLst/>
                <a:latin typeface="Times New Roman" panose="02020603050405020304" pitchFamily="18" charset="0"/>
                <a:ea typeface="新細明體" panose="02020500000000000000" pitchFamily="18" charset="-120"/>
              </a:rPr>
              <a:t> </a:t>
            </a:r>
            <a:r>
              <a:rPr lang="zh-TW" altLang="zh-TW" sz="2400" kern="100" dirty="0">
                <a:effectLst/>
                <a:latin typeface="Times New Roman" panose="02020603050405020304" pitchFamily="18" charset="0"/>
                <a:ea typeface="新細明體" panose="02020500000000000000" pitchFamily="18" charset="-120"/>
              </a:rPr>
              <a:t>社</a:t>
            </a:r>
            <a:br>
              <a:rPr lang="en-US" altLang="zh-TW" sz="2400" kern="100" dirty="0">
                <a:effectLst/>
                <a:latin typeface="Times New Roman" panose="02020603050405020304" pitchFamily="18" charset="0"/>
                <a:ea typeface="新細明體" panose="02020500000000000000" pitchFamily="18" charset="-120"/>
              </a:rPr>
            </a:br>
            <a:r>
              <a:rPr lang="en-US" altLang="zh-TW" sz="2400" kern="100" dirty="0">
                <a:effectLst/>
                <a:latin typeface="Times New Roman" panose="02020603050405020304" pitchFamily="18" charset="0"/>
                <a:ea typeface="新細明體" panose="02020500000000000000" pitchFamily="18" charset="-120"/>
              </a:rPr>
              <a:t>  </a:t>
            </a:r>
            <a:r>
              <a:rPr lang="zh-TW" altLang="zh-TW" sz="2400" kern="100" dirty="0">
                <a:effectLst/>
                <a:latin typeface="Times New Roman" panose="02020603050405020304" pitchFamily="18" charset="0"/>
                <a:ea typeface="新細明體" panose="02020500000000000000" pitchFamily="18" charset="-120"/>
              </a:rPr>
              <a:t>→「阿猴」（屏東）</a:t>
            </a:r>
          </a:p>
          <a:p>
            <a:pPr marL="457200" indent="-266700"/>
            <a:r>
              <a:rPr lang="en-US" altLang="zh-TW" sz="2400" kern="100" dirty="0">
                <a:effectLst/>
                <a:latin typeface="Times New Roman" panose="02020603050405020304" pitchFamily="18" charset="0"/>
                <a:ea typeface="標楷體" panose="03000509000000000000" pitchFamily="65" charset="-120"/>
              </a:rPr>
              <a:t>(5)</a:t>
            </a:r>
            <a:r>
              <a:rPr lang="zh-TW" altLang="zh-TW" sz="2400" kern="100" dirty="0">
                <a:effectLst/>
                <a:latin typeface="Times New Roman" panose="02020603050405020304" pitchFamily="18" charset="0"/>
                <a:ea typeface="新細明體" panose="02020500000000000000" pitchFamily="18" charset="-120"/>
              </a:rPr>
              <a:t>巴宰海族</a:t>
            </a:r>
            <a:r>
              <a:rPr lang="en-US" altLang="zh-TW" sz="2400" kern="100" dirty="0">
                <a:effectLst/>
                <a:latin typeface="Times New Roman" panose="02020603050405020304" pitchFamily="18" charset="0"/>
                <a:ea typeface="新細明體" panose="02020500000000000000" pitchFamily="18" charset="-120"/>
              </a:rPr>
              <a:t> </a:t>
            </a:r>
            <a:r>
              <a:rPr lang="en-US" altLang="zh-TW" sz="2400" kern="100" dirty="0" err="1">
                <a:effectLst/>
                <a:latin typeface="Times New Roman" panose="02020603050405020304" pitchFamily="18" charset="0"/>
                <a:ea typeface="新細明體" panose="02020500000000000000" pitchFamily="18" charset="-120"/>
              </a:rPr>
              <a:t>Haluton</a:t>
            </a:r>
            <a:r>
              <a:rPr lang="en-US" altLang="zh-TW" sz="2400" kern="100" dirty="0">
                <a:effectLst/>
                <a:latin typeface="Times New Roman" panose="02020603050405020304" pitchFamily="18" charset="0"/>
                <a:ea typeface="新細明體" panose="02020500000000000000" pitchFamily="18" charset="-120"/>
              </a:rPr>
              <a:t> </a:t>
            </a:r>
            <a:r>
              <a:rPr lang="zh-TW" altLang="zh-TW" sz="2400" kern="100" dirty="0">
                <a:effectLst/>
                <a:latin typeface="Times New Roman" panose="02020603050405020304" pitchFamily="18" charset="0"/>
                <a:ea typeface="新細明體" panose="02020500000000000000" pitchFamily="18" charset="-120"/>
              </a:rPr>
              <a:t>社</a:t>
            </a:r>
            <a:br>
              <a:rPr lang="en-US" altLang="zh-TW" sz="2400" kern="100" dirty="0">
                <a:effectLst/>
                <a:latin typeface="Times New Roman" panose="02020603050405020304" pitchFamily="18" charset="0"/>
                <a:ea typeface="新細明體" panose="02020500000000000000" pitchFamily="18" charset="-120"/>
              </a:rPr>
            </a:br>
            <a:r>
              <a:rPr lang="en-US" altLang="zh-TW" sz="2400" kern="100" dirty="0">
                <a:effectLst/>
                <a:latin typeface="Times New Roman" panose="02020603050405020304" pitchFamily="18" charset="0"/>
                <a:ea typeface="新細明體" panose="02020500000000000000" pitchFamily="18" charset="-120"/>
              </a:rPr>
              <a:t>  </a:t>
            </a:r>
            <a:r>
              <a:rPr lang="zh-TW" altLang="zh-TW" sz="2400" kern="100" dirty="0">
                <a:effectLst/>
                <a:latin typeface="Times New Roman" panose="02020603050405020304" pitchFamily="18" charset="0"/>
                <a:ea typeface="新細明體" panose="02020500000000000000" pitchFamily="18" charset="-120"/>
              </a:rPr>
              <a:t>→「葫蘆墩」（豐原）</a:t>
            </a:r>
          </a:p>
        </p:txBody>
      </p:sp>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6860" y="404664"/>
            <a:ext cx="3352967" cy="6264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p.175</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39</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2209953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619672" y="391062"/>
            <a:ext cx="4896544" cy="607191"/>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sz="2800" dirty="0">
              <a:latin typeface="標楷體" pitchFamily="65" charset="-120"/>
              <a:ea typeface="標楷體" pitchFamily="65" charset="-120"/>
            </a:endParaRPr>
          </a:p>
          <a:p>
            <a:endParaRPr lang="en-US" altLang="zh-TW" sz="2800" dirty="0">
              <a:latin typeface="標楷體" pitchFamily="65" charset="-120"/>
              <a:ea typeface="標楷體" pitchFamily="65" charset="-120"/>
            </a:endParaRPr>
          </a:p>
          <a:p>
            <a:r>
              <a:rPr lang="zh-TW" altLang="en-US" sz="2800" dirty="0">
                <a:latin typeface="標楷體" pitchFamily="65" charset="-120"/>
                <a:ea typeface="標楷體" pitchFamily="65" charset="-120"/>
              </a:rPr>
              <a:t>二、近代移民及文化</a:t>
            </a:r>
            <a:endParaRPr lang="en-US" altLang="zh-TW" sz="2800" dirty="0">
              <a:latin typeface="標楷體" pitchFamily="65" charset="-120"/>
              <a:ea typeface="標楷體" pitchFamily="65" charset="-120"/>
            </a:endParaRPr>
          </a:p>
          <a:p>
            <a:r>
              <a:rPr lang="en-US" altLang="zh-TW" sz="2800" dirty="0">
                <a:solidFill>
                  <a:srgbClr val="FF0000"/>
                </a:solidFill>
                <a:latin typeface="標楷體" pitchFamily="65" charset="-120"/>
                <a:ea typeface="標楷體" pitchFamily="65" charset="-120"/>
              </a:rPr>
              <a:t>2.</a:t>
            </a:r>
            <a:r>
              <a:rPr lang="zh-TW" altLang="en-US" sz="2800" dirty="0">
                <a:solidFill>
                  <a:srgbClr val="FF0000"/>
                </a:solidFill>
                <a:latin typeface="標楷體" pitchFamily="65" charset="-120"/>
                <a:ea typeface="標楷體" pitchFamily="65" charset="-120"/>
              </a:rPr>
              <a:t>近代移民時期</a:t>
            </a:r>
            <a:r>
              <a:rPr lang="zh-TW" altLang="en-US" sz="2800" dirty="0">
                <a:latin typeface="標楷體" pitchFamily="65" charset="-120"/>
                <a:ea typeface="標楷體" pitchFamily="65" charset="-120"/>
              </a:rPr>
              <a:t>：</a:t>
            </a:r>
            <a:endParaRPr lang="en-US" altLang="zh-TW" sz="2800" dirty="0">
              <a:latin typeface="標楷體" pitchFamily="65" charset="-120"/>
              <a:ea typeface="標楷體" pitchFamily="65" charset="-120"/>
            </a:endParaRPr>
          </a:p>
        </p:txBody>
      </p:sp>
      <p:graphicFrame>
        <p:nvGraphicFramePr>
          <p:cNvPr id="10" name="Group 47"/>
          <p:cNvGraphicFramePr>
            <a:graphicFrameLocks noGrp="1"/>
          </p:cNvGraphicFramePr>
          <p:nvPr>
            <p:extLst>
              <p:ext uri="{D42A27DB-BD31-4B8C-83A1-F6EECF244321}">
                <p14:modId xmlns:p14="http://schemas.microsoft.com/office/powerpoint/2010/main" val="1280610661"/>
              </p:ext>
            </p:extLst>
          </p:nvPr>
        </p:nvGraphicFramePr>
        <p:xfrm>
          <a:off x="73025" y="1191723"/>
          <a:ext cx="8769349" cy="4821168"/>
        </p:xfrm>
        <a:graphic>
          <a:graphicData uri="http://schemas.openxmlformats.org/drawingml/2006/table">
            <a:tbl>
              <a:tblPr/>
              <a:tblGrid>
                <a:gridCol w="769241">
                  <a:extLst>
                    <a:ext uri="{9D8B030D-6E8A-4147-A177-3AD203B41FA5}">
                      <a16:colId xmlns:a16="http://schemas.microsoft.com/office/drawing/2014/main" val="20000"/>
                    </a:ext>
                  </a:extLst>
                </a:gridCol>
                <a:gridCol w="3585718">
                  <a:extLst>
                    <a:ext uri="{9D8B030D-6E8A-4147-A177-3AD203B41FA5}">
                      <a16:colId xmlns:a16="http://schemas.microsoft.com/office/drawing/2014/main" val="20001"/>
                    </a:ext>
                  </a:extLst>
                </a:gridCol>
                <a:gridCol w="4414390">
                  <a:extLst>
                    <a:ext uri="{9D8B030D-6E8A-4147-A177-3AD203B41FA5}">
                      <a16:colId xmlns:a16="http://schemas.microsoft.com/office/drawing/2014/main" val="20002"/>
                    </a:ext>
                  </a:extLst>
                </a:gridCol>
              </a:tblGrid>
              <a:tr h="43204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chemeClr val="tx1"/>
                          </a:solidFill>
                          <a:latin typeface="標楷體" pitchFamily="65" charset="-120"/>
                          <a:ea typeface="標楷體" pitchFamily="65" charset="-120"/>
                          <a:cs typeface="Arial"/>
                          <a:sym typeface="Arial"/>
                        </a:rPr>
                        <a:t>階段</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chemeClr val="tx1"/>
                          </a:solidFill>
                          <a:latin typeface="標楷體" pitchFamily="65" charset="-120"/>
                          <a:ea typeface="標楷體" pitchFamily="65" charset="-120"/>
                          <a:cs typeface="Arial"/>
                          <a:sym typeface="Arial"/>
                        </a:rPr>
                        <a:t>多元文化</a:t>
                      </a:r>
                      <a:endParaRPr lang="en-US" altLang="zh-TW" sz="24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rgbClr val="FF0000"/>
                          </a:solidFill>
                          <a:latin typeface="標楷體" pitchFamily="65" charset="-120"/>
                          <a:ea typeface="標楷體" pitchFamily="65" charset="-120"/>
                          <a:cs typeface="Arial"/>
                          <a:sym typeface="Arial"/>
                        </a:rPr>
                        <a:t>地名</a:t>
                      </a:r>
                      <a:endParaRPr lang="en-US" altLang="zh-TW" sz="24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36815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rgbClr val="FF0000"/>
                          </a:solidFill>
                          <a:latin typeface="標楷體" pitchFamily="65" charset="-120"/>
                          <a:ea typeface="標楷體" pitchFamily="65" charset="-120"/>
                          <a:cs typeface="Arial"/>
                          <a:sym typeface="Arial"/>
                        </a:rPr>
                        <a:t>明清</a:t>
                      </a:r>
                      <a:endParaRPr lang="en-US" altLang="zh-TW" sz="2400" b="0" i="0" u="none" strike="noStrike" cap="none" dirty="0">
                        <a:solidFill>
                          <a:srgbClr val="FF0000"/>
                        </a:solidFill>
                        <a:latin typeface="標楷體" pitchFamily="65" charset="-120"/>
                        <a:ea typeface="標楷體" pitchFamily="65" charset="-120"/>
                        <a:cs typeface="Arial"/>
                        <a:sym typeface="Arial"/>
                      </a:endParaRPr>
                    </a:p>
                    <a:p>
                      <a:pPr marL="0" marR="0" lvl="0" indent="0" algn="l"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chemeClr val="tx1"/>
                          </a:solidFill>
                          <a:latin typeface="標楷體" pitchFamily="65" charset="-120"/>
                          <a:ea typeface="標楷體" pitchFamily="65" charset="-120"/>
                          <a:cs typeface="Arial"/>
                          <a:sym typeface="Arial"/>
                        </a:rPr>
                        <a:t>移墾期</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400" b="0" i="0" u="none" strike="noStrike" cap="none" dirty="0">
                          <a:solidFill>
                            <a:schemeClr val="tx1"/>
                          </a:solidFill>
                          <a:latin typeface="標楷體" pitchFamily="65" charset="-120"/>
                          <a:ea typeface="標楷體" pitchFamily="65" charset="-120"/>
                          <a:cs typeface="Arial"/>
                          <a:sym typeface="Arial"/>
                        </a:rPr>
                        <a:t>(1)</a:t>
                      </a:r>
                      <a:r>
                        <a:rPr lang="zh-TW" altLang="en-US" sz="2400" b="0" i="0" u="none" strike="noStrike" cap="none" dirty="0">
                          <a:solidFill>
                            <a:schemeClr val="tx1"/>
                          </a:solidFill>
                          <a:latin typeface="標楷體" pitchFamily="65" charset="-120"/>
                          <a:ea typeface="標楷體" pitchFamily="65" charset="-120"/>
                          <a:cs typeface="Arial"/>
                          <a:sym typeface="Arial"/>
                        </a:rPr>
                        <a:t>沿海</a:t>
                      </a:r>
                      <a:r>
                        <a:rPr lang="zh-TW" altLang="en-US" sz="2400" b="0" i="0" u="none" strike="noStrike" cap="none" dirty="0">
                          <a:solidFill>
                            <a:srgbClr val="FF0000"/>
                          </a:solidFill>
                          <a:latin typeface="標楷體" pitchFamily="65" charset="-120"/>
                          <a:ea typeface="標楷體" pitchFamily="65" charset="-120"/>
                          <a:cs typeface="Arial"/>
                          <a:sym typeface="Arial"/>
                        </a:rPr>
                        <a:t>閩粵</a:t>
                      </a:r>
                      <a:r>
                        <a:rPr lang="zh-TW" altLang="en-US" sz="2400" b="0" i="0" u="none" strike="noStrike" cap="none" dirty="0">
                          <a:solidFill>
                            <a:schemeClr val="tx1"/>
                          </a:solidFill>
                          <a:latin typeface="標楷體" pitchFamily="65" charset="-120"/>
                          <a:ea typeface="標楷體" pitchFamily="65" charset="-120"/>
                          <a:cs typeface="Arial"/>
                          <a:sym typeface="Arial"/>
                        </a:rPr>
                        <a:t>地區居民</a:t>
                      </a:r>
                      <a:r>
                        <a:rPr lang="zh-TW" altLang="en-US" sz="2400" b="0" i="0" u="none" strike="noStrike" cap="none" dirty="0">
                          <a:solidFill>
                            <a:srgbClr val="FF0000"/>
                          </a:solidFill>
                          <a:latin typeface="標楷體" pitchFamily="65" charset="-120"/>
                          <a:ea typeface="標楷體" pitchFamily="65" charset="-120"/>
                          <a:cs typeface="Arial"/>
                          <a:sym typeface="Arial"/>
                        </a:rPr>
                        <a:t>因原鄉的生活壓力</a:t>
                      </a:r>
                      <a:r>
                        <a:rPr lang="zh-TW" altLang="en-US" sz="2400" b="0" i="0" u="none" strike="noStrike" cap="none" dirty="0">
                          <a:solidFill>
                            <a:schemeClr val="tx1"/>
                          </a:solidFill>
                          <a:latin typeface="標楷體" pitchFamily="65" charset="-120"/>
                          <a:ea typeface="標楷體" pitchFamily="65" charset="-120"/>
                          <a:cs typeface="Arial"/>
                          <a:sym typeface="Arial"/>
                        </a:rPr>
                        <a:t>，開始大量移墾開發臺灣，形成臺灣的</a:t>
                      </a:r>
                      <a:r>
                        <a:rPr lang="zh-TW" altLang="en-US" sz="2400" b="0" i="0" u="sng" strike="noStrike" cap="none" dirty="0">
                          <a:solidFill>
                            <a:srgbClr val="FF0000"/>
                          </a:solidFill>
                          <a:latin typeface="標楷體" pitchFamily="65" charset="-120"/>
                          <a:ea typeface="標楷體" pitchFamily="65" charset="-120"/>
                          <a:cs typeface="Arial"/>
                          <a:sym typeface="Arial"/>
                        </a:rPr>
                        <a:t>       </a:t>
                      </a:r>
                      <a:r>
                        <a:rPr lang="zh-TW" altLang="en-US" sz="2400" b="0" i="0" u="none" strike="noStrike" cap="none" dirty="0">
                          <a:solidFill>
                            <a:schemeClr val="tx1"/>
                          </a:solidFill>
                          <a:latin typeface="標楷體" pitchFamily="65" charset="-120"/>
                          <a:ea typeface="標楷體" pitchFamily="65" charset="-120"/>
                          <a:cs typeface="Arial"/>
                          <a:sym typeface="Arial"/>
                        </a:rPr>
                        <a:t>和</a:t>
                      </a:r>
                      <a:r>
                        <a:rPr lang="en-US" altLang="zh-TW" sz="2400" b="0" i="0" u="sng" strike="noStrike" cap="none" dirty="0">
                          <a:solidFill>
                            <a:srgbClr val="FF0000"/>
                          </a:solidFill>
                          <a:latin typeface="標楷體" pitchFamily="65" charset="-120"/>
                          <a:ea typeface="標楷體" pitchFamily="65" charset="-120"/>
                          <a:cs typeface="Arial"/>
                          <a:sym typeface="Arial"/>
                        </a:rPr>
                        <a:t>      </a:t>
                      </a:r>
                      <a:r>
                        <a:rPr lang="zh-TW" altLang="en-US" sz="2400" b="0" i="0" u="none" strike="noStrike" cap="none" dirty="0">
                          <a:solidFill>
                            <a:schemeClr val="tx1"/>
                          </a:solidFill>
                          <a:latin typeface="標楷體" pitchFamily="65" charset="-120"/>
                          <a:ea typeface="標楷體" pitchFamily="65" charset="-120"/>
                          <a:cs typeface="Arial"/>
                          <a:sym typeface="Arial"/>
                        </a:rPr>
                        <a:t>兩大族群</a:t>
                      </a:r>
                    </a:p>
                    <a:p>
                      <a:r>
                        <a:rPr lang="en-US" altLang="zh-TW" sz="2400" b="0" i="0" u="none" strike="noStrike" cap="none" dirty="0">
                          <a:solidFill>
                            <a:schemeClr val="tx1"/>
                          </a:solidFill>
                          <a:latin typeface="標楷體" pitchFamily="65" charset="-120"/>
                          <a:ea typeface="標楷體" pitchFamily="65" charset="-120"/>
                          <a:cs typeface="Arial"/>
                          <a:sym typeface="Arial"/>
                        </a:rPr>
                        <a:t>(2)</a:t>
                      </a:r>
                      <a:r>
                        <a:rPr lang="zh-TW" altLang="en-US" sz="2400" b="0" i="0" u="none" strike="noStrike" cap="none" dirty="0">
                          <a:solidFill>
                            <a:schemeClr val="tx1"/>
                          </a:solidFill>
                          <a:latin typeface="標楷體" pitchFamily="65" charset="-120"/>
                          <a:ea typeface="標楷體" pitchFamily="65" charset="-120"/>
                          <a:cs typeface="Arial"/>
                          <a:sym typeface="Arial"/>
                        </a:rPr>
                        <a:t>生活型態雖有差異，但也有著</a:t>
                      </a:r>
                      <a:r>
                        <a:rPr lang="zh-TW" altLang="en-US" sz="2400" b="0" i="0" u="none" strike="noStrike" cap="none" dirty="0">
                          <a:solidFill>
                            <a:srgbClr val="FF0000"/>
                          </a:solidFill>
                          <a:latin typeface="標楷體" pitchFamily="65" charset="-120"/>
                          <a:ea typeface="標楷體" pitchFamily="65" charset="-120"/>
                          <a:cs typeface="Arial"/>
                          <a:sym typeface="Arial"/>
                        </a:rPr>
                        <a:t>共通的漢人儒道文化與傳統民俗</a:t>
                      </a:r>
                      <a:r>
                        <a:rPr lang="zh-TW" altLang="en-US" sz="2400" b="0" i="0" u="none" strike="noStrike" cap="none" dirty="0">
                          <a:solidFill>
                            <a:schemeClr val="tx1"/>
                          </a:solidFill>
                          <a:latin typeface="標楷體" pitchFamily="65" charset="-120"/>
                          <a:ea typeface="標楷體" pitchFamily="65" charset="-120"/>
                          <a:cs typeface="Arial"/>
                          <a:sym typeface="Arial"/>
                        </a:rPr>
                        <a:t>。隨著明鄭和清朝的政權統治，加深漢文化對臺灣的影響</a:t>
                      </a:r>
                      <a:endParaRPr lang="en-US" altLang="zh-TW" sz="24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en-US" altLang="zh-TW" sz="2400" b="0" i="0" u="none" strike="noStrike" cap="none" dirty="0">
                          <a:solidFill>
                            <a:schemeClr val="tx1"/>
                          </a:solidFill>
                          <a:latin typeface="標楷體" pitchFamily="65" charset="-120"/>
                          <a:ea typeface="標楷體" pitchFamily="65" charset="-120"/>
                          <a:cs typeface="Arial"/>
                          <a:sym typeface="Arial"/>
                        </a:rPr>
                        <a:t>(1)</a:t>
                      </a:r>
                      <a:r>
                        <a:rPr lang="zh-TW" altLang="en-US" sz="2400" b="0" i="0" u="none" strike="noStrike" cap="none" dirty="0">
                          <a:solidFill>
                            <a:schemeClr val="tx1"/>
                          </a:solidFill>
                          <a:latin typeface="標楷體" pitchFamily="65" charset="-120"/>
                          <a:ea typeface="標楷體" pitchFamily="65" charset="-120"/>
                          <a:cs typeface="Arial"/>
                          <a:sym typeface="Arial"/>
                        </a:rPr>
                        <a:t>對</a:t>
                      </a:r>
                      <a:r>
                        <a:rPr lang="zh-TW" altLang="en-US" sz="2400" b="0" i="0" u="none" strike="noStrike" cap="none" dirty="0">
                          <a:solidFill>
                            <a:srgbClr val="FF0000"/>
                          </a:solidFill>
                          <a:latin typeface="標楷體" pitchFamily="65" charset="-120"/>
                          <a:ea typeface="標楷體" pitchFamily="65" charset="-120"/>
                          <a:cs typeface="Arial"/>
                          <a:sym typeface="Arial"/>
                        </a:rPr>
                        <a:t>原鄉懷念</a:t>
                      </a:r>
                      <a:br>
                        <a:rPr lang="en-US" altLang="zh-TW" sz="2400" b="0" i="0" u="none" strike="noStrike" cap="none" dirty="0">
                          <a:solidFill>
                            <a:schemeClr val="tx1"/>
                          </a:solidFill>
                          <a:latin typeface="標楷體" pitchFamily="65" charset="-120"/>
                          <a:ea typeface="標楷體" pitchFamily="65" charset="-120"/>
                          <a:cs typeface="Arial"/>
                          <a:sym typeface="Arial"/>
                        </a:rPr>
                      </a:br>
                      <a:r>
                        <a:rPr lang="zh-TW" altLang="en-US" sz="2400" b="0" i="0" u="none" strike="noStrike" cap="none" dirty="0">
                          <a:solidFill>
                            <a:schemeClr val="tx1"/>
                          </a:solidFill>
                          <a:latin typeface="標楷體" pitchFamily="65" charset="-120"/>
                          <a:ea typeface="標楷體" pitchFamily="65" charset="-120"/>
                          <a:cs typeface="Arial"/>
                          <a:sym typeface="Arial"/>
                        </a:rPr>
                        <a:t>→屏東「潮州</a:t>
                      </a:r>
                      <a:r>
                        <a:rPr lang="en-US" altLang="zh-TW"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dirty="0">
                          <a:effectLst/>
                          <a:latin typeface="Arial" panose="020B0604020202020204" pitchFamily="34" charset="0"/>
                          <a:hlinkClick r:id="rId4" tooltip="福建省"/>
                        </a:rPr>
                        <a:t>廣東</a:t>
                      </a:r>
                      <a:r>
                        <a:rPr lang="en-US" altLang="zh-TW"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cap="none" dirty="0">
                          <a:solidFill>
                            <a:schemeClr val="tx1"/>
                          </a:solidFill>
                          <a:latin typeface="標楷體" pitchFamily="65" charset="-120"/>
                          <a:ea typeface="標楷體" pitchFamily="65" charset="-120"/>
                          <a:cs typeface="Arial"/>
                          <a:sym typeface="Arial"/>
                        </a:rPr>
                        <a:t>」、</a:t>
                      </a:r>
                      <a:br>
                        <a:rPr lang="en-US" altLang="zh-TW" sz="2400" b="0" i="0" u="none" strike="noStrike" cap="none" dirty="0">
                          <a:solidFill>
                            <a:schemeClr val="tx1"/>
                          </a:solidFill>
                          <a:latin typeface="標楷體" pitchFamily="65" charset="-120"/>
                          <a:ea typeface="標楷體" pitchFamily="65" charset="-120"/>
                          <a:cs typeface="Arial"/>
                          <a:sym typeface="Arial"/>
                        </a:rPr>
                      </a:br>
                      <a:r>
                        <a:rPr lang="zh-TW" altLang="en-US" sz="2400" b="0" i="0" u="none" strike="noStrike" cap="none" dirty="0">
                          <a:solidFill>
                            <a:schemeClr val="tx1"/>
                          </a:solidFill>
                          <a:latin typeface="標楷體" pitchFamily="65" charset="-120"/>
                          <a:ea typeface="標楷體" pitchFamily="65" charset="-120"/>
                          <a:cs typeface="Arial"/>
                          <a:sym typeface="Arial"/>
                        </a:rPr>
                        <a:t>  嘉義「東石</a:t>
                      </a:r>
                      <a:r>
                        <a:rPr lang="en-US" altLang="zh-TW"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dirty="0">
                          <a:effectLst/>
                          <a:latin typeface="Arial" panose="020B0604020202020204" pitchFamily="34" charset="0"/>
                          <a:hlinkClick r:id="rId4" tooltip="福建省"/>
                        </a:rPr>
                        <a:t>福建</a:t>
                      </a:r>
                      <a:r>
                        <a:rPr lang="en-US" altLang="zh-TW"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cap="none" dirty="0">
                          <a:solidFill>
                            <a:schemeClr val="tx1"/>
                          </a:solidFill>
                          <a:latin typeface="標楷體" pitchFamily="65" charset="-120"/>
                          <a:ea typeface="標楷體" pitchFamily="65" charset="-120"/>
                          <a:cs typeface="Arial"/>
                          <a:sym typeface="Arial"/>
                        </a:rPr>
                        <a:t>」</a:t>
                      </a:r>
                    </a:p>
                    <a:p>
                      <a:r>
                        <a:rPr lang="en-US" altLang="zh-TW" sz="2400" b="0" i="0" u="none" strike="noStrike" cap="none" dirty="0">
                          <a:solidFill>
                            <a:schemeClr val="tx1"/>
                          </a:solidFill>
                          <a:latin typeface="標楷體" pitchFamily="65" charset="-120"/>
                          <a:ea typeface="標楷體" pitchFamily="65" charset="-120"/>
                          <a:cs typeface="Arial"/>
                          <a:sym typeface="Arial"/>
                        </a:rPr>
                        <a:t>(2)</a:t>
                      </a:r>
                      <a:r>
                        <a:rPr lang="zh-TW" altLang="en-US" sz="2400" b="0" i="0" u="none" strike="noStrike" cap="none" dirty="0">
                          <a:solidFill>
                            <a:schemeClr val="tx1"/>
                          </a:solidFill>
                          <a:latin typeface="標楷體" pitchFamily="65" charset="-120"/>
                          <a:ea typeface="標楷體" pitchFamily="65" charset="-120"/>
                          <a:cs typeface="Arial"/>
                          <a:sym typeface="Arial"/>
                        </a:rPr>
                        <a:t>集團</a:t>
                      </a:r>
                      <a:r>
                        <a:rPr lang="zh-TW" altLang="en-US" sz="2400" b="0" i="0" u="none" strike="noStrike" cap="none" dirty="0">
                          <a:solidFill>
                            <a:srgbClr val="FF0000"/>
                          </a:solidFill>
                          <a:latin typeface="標楷體" pitchFamily="65" charset="-120"/>
                          <a:ea typeface="標楷體" pitchFamily="65" charset="-120"/>
                          <a:cs typeface="Arial"/>
                          <a:sym typeface="Arial"/>
                        </a:rPr>
                        <a:t>開墾</a:t>
                      </a:r>
                      <a:r>
                        <a:rPr lang="zh-TW" altLang="en-US" sz="2400" b="0" i="0" u="none" strike="noStrike" cap="none" dirty="0">
                          <a:solidFill>
                            <a:schemeClr val="tx1"/>
                          </a:solidFill>
                          <a:latin typeface="標楷體" pitchFamily="65" charset="-120"/>
                          <a:ea typeface="標楷體" pitchFamily="65" charset="-120"/>
                          <a:cs typeface="Arial"/>
                          <a:sym typeface="Arial"/>
                        </a:rPr>
                        <a:t>先後</a:t>
                      </a:r>
                      <a:r>
                        <a:rPr lang="zh-TW" altLang="en-US" sz="2400" b="0" i="0" u="none" strike="noStrike" cap="none" dirty="0">
                          <a:solidFill>
                            <a:srgbClr val="FF0000"/>
                          </a:solidFill>
                          <a:latin typeface="標楷體" pitchFamily="65" charset="-120"/>
                          <a:ea typeface="標楷體" pitchFamily="65" charset="-120"/>
                          <a:cs typeface="Arial"/>
                          <a:sym typeface="Arial"/>
                        </a:rPr>
                        <a:t>順序</a:t>
                      </a:r>
                      <a:br>
                        <a:rPr lang="en-US" altLang="zh-TW" sz="2400" b="0" i="0" u="none" strike="noStrike" cap="none" dirty="0">
                          <a:solidFill>
                            <a:schemeClr val="tx1"/>
                          </a:solidFill>
                          <a:latin typeface="標楷體" pitchFamily="65" charset="-120"/>
                          <a:ea typeface="標楷體" pitchFamily="65" charset="-120"/>
                          <a:cs typeface="Arial"/>
                          <a:sym typeface="Arial"/>
                        </a:rPr>
                      </a:br>
                      <a:r>
                        <a:rPr lang="zh-TW" altLang="en-US" sz="2400" b="0" i="0" u="none" strike="noStrike" cap="none" dirty="0">
                          <a:solidFill>
                            <a:schemeClr val="tx1"/>
                          </a:solidFill>
                          <a:latin typeface="標楷體" pitchFamily="65" charset="-120"/>
                          <a:ea typeface="標楷體" pitchFamily="65" charset="-120"/>
                          <a:cs typeface="Arial"/>
                          <a:sym typeface="Arial"/>
                        </a:rPr>
                        <a:t>→ 宜蘭「五結」、</a:t>
                      </a:r>
                      <a:br>
                        <a:rPr lang="en-US" altLang="zh-TW" sz="2400" b="0" i="0" u="none" strike="noStrike" cap="none" dirty="0">
                          <a:solidFill>
                            <a:schemeClr val="tx1"/>
                          </a:solidFill>
                          <a:latin typeface="標楷體" pitchFamily="65" charset="-120"/>
                          <a:ea typeface="標楷體" pitchFamily="65" charset="-120"/>
                          <a:cs typeface="Arial"/>
                          <a:sym typeface="Arial"/>
                        </a:rPr>
                      </a:br>
                      <a:r>
                        <a:rPr lang="en-US" altLang="zh-TW" sz="2400" b="0" i="0" u="none" strike="noStrike" cap="none" dirty="0">
                          <a:solidFill>
                            <a:schemeClr val="tx1"/>
                          </a:solidFill>
                          <a:latin typeface="標楷體" pitchFamily="65" charset="-120"/>
                          <a:ea typeface="標楷體" pitchFamily="65" charset="-120"/>
                          <a:cs typeface="Arial"/>
                          <a:sym typeface="Arial"/>
                        </a:rPr>
                        <a:t>   </a:t>
                      </a:r>
                      <a:r>
                        <a:rPr lang="zh-TW" altLang="en-US" sz="2400" b="0" i="0" u="none" strike="noStrike" cap="none" dirty="0">
                          <a:solidFill>
                            <a:schemeClr val="tx1"/>
                          </a:solidFill>
                          <a:latin typeface="標楷體" pitchFamily="65" charset="-120"/>
                          <a:ea typeface="標楷體" pitchFamily="65" charset="-120"/>
                          <a:cs typeface="Arial"/>
                          <a:sym typeface="Arial"/>
                        </a:rPr>
                        <a:t>新北市「三重」</a:t>
                      </a:r>
                    </a:p>
                    <a:p>
                      <a:r>
                        <a:rPr lang="en-US" altLang="zh-TW" sz="2400" b="0" i="0" u="none" strike="noStrike" cap="none" dirty="0">
                          <a:solidFill>
                            <a:schemeClr val="tx1"/>
                          </a:solidFill>
                          <a:latin typeface="標楷體" pitchFamily="65" charset="-120"/>
                          <a:ea typeface="標楷體" pitchFamily="65" charset="-120"/>
                          <a:cs typeface="Arial"/>
                          <a:sym typeface="Arial"/>
                        </a:rPr>
                        <a:t>(3)</a:t>
                      </a:r>
                      <a:r>
                        <a:rPr lang="zh-TW" altLang="en-US" sz="2400" b="0" i="0" u="none" strike="noStrike" cap="none" dirty="0">
                          <a:solidFill>
                            <a:schemeClr val="tx1"/>
                          </a:solidFill>
                          <a:latin typeface="標楷體" pitchFamily="65" charset="-120"/>
                          <a:ea typeface="標楷體" pitchFamily="65" charset="-120"/>
                          <a:cs typeface="Arial"/>
                          <a:sym typeface="Arial"/>
                        </a:rPr>
                        <a:t>明鄭的</a:t>
                      </a:r>
                      <a:r>
                        <a:rPr lang="zh-TW" altLang="en-US" sz="2400" b="0" i="0" u="none" strike="noStrike" cap="none" dirty="0">
                          <a:solidFill>
                            <a:srgbClr val="FF0000"/>
                          </a:solidFill>
                          <a:latin typeface="標楷體" pitchFamily="65" charset="-120"/>
                          <a:ea typeface="標楷體" pitchFamily="65" charset="-120"/>
                          <a:cs typeface="Arial"/>
                          <a:sym typeface="Arial"/>
                        </a:rPr>
                        <a:t>軍隊屯墾</a:t>
                      </a:r>
                      <a:br>
                        <a:rPr lang="en-US" altLang="zh-TW" sz="2400" b="0" i="0" u="none" strike="noStrike" cap="none" dirty="0">
                          <a:solidFill>
                            <a:schemeClr val="tx1"/>
                          </a:solidFill>
                          <a:latin typeface="標楷體" pitchFamily="65" charset="-120"/>
                          <a:ea typeface="標楷體" pitchFamily="65" charset="-120"/>
                          <a:cs typeface="Arial"/>
                          <a:sym typeface="Arial"/>
                        </a:rPr>
                      </a:br>
                      <a:r>
                        <a:rPr lang="zh-TW" altLang="en-US" sz="2400" b="0" i="0" u="none" strike="noStrike" cap="none" dirty="0">
                          <a:solidFill>
                            <a:schemeClr val="tx1"/>
                          </a:solidFill>
                          <a:latin typeface="標楷體" pitchFamily="65" charset="-120"/>
                          <a:ea typeface="標楷體" pitchFamily="65" charset="-120"/>
                          <a:cs typeface="Arial"/>
                          <a:sym typeface="Arial"/>
                        </a:rPr>
                        <a:t>→臺南「新營」、「左鎮」、「官田」</a:t>
                      </a:r>
                    </a:p>
                    <a:p>
                      <a:r>
                        <a:rPr lang="en-US" altLang="zh-TW" sz="2400" b="0" i="0" u="none" strike="noStrike" cap="none" dirty="0">
                          <a:solidFill>
                            <a:schemeClr val="tx1"/>
                          </a:solidFill>
                          <a:latin typeface="標楷體" pitchFamily="65" charset="-120"/>
                          <a:ea typeface="標楷體" pitchFamily="65" charset="-120"/>
                          <a:cs typeface="Arial"/>
                          <a:sym typeface="Arial"/>
                        </a:rPr>
                        <a:t>(4)</a:t>
                      </a:r>
                      <a:r>
                        <a:rPr lang="zh-TW" altLang="en-US" sz="2400" b="0" i="0" u="none" strike="noStrike" cap="none" dirty="0">
                          <a:solidFill>
                            <a:srgbClr val="FF0000"/>
                          </a:solidFill>
                          <a:latin typeface="標楷體" pitchFamily="65" charset="-120"/>
                          <a:ea typeface="標楷體" pitchFamily="65" charset="-120"/>
                          <a:cs typeface="Arial"/>
                          <a:sym typeface="Arial"/>
                        </a:rPr>
                        <a:t>族群</a:t>
                      </a:r>
                      <a:r>
                        <a:rPr lang="zh-TW" altLang="en-US" sz="2400" b="0" i="0" u="none" strike="noStrike" cap="none" dirty="0">
                          <a:solidFill>
                            <a:schemeClr val="tx1"/>
                          </a:solidFill>
                          <a:latin typeface="標楷體" pitchFamily="65" charset="-120"/>
                          <a:ea typeface="標楷體" pitchFamily="65" charset="-120"/>
                          <a:cs typeface="Arial"/>
                          <a:sym typeface="Arial"/>
                        </a:rPr>
                        <a:t>競爭</a:t>
                      </a:r>
                      <a:r>
                        <a:rPr lang="zh-TW" altLang="en-US" sz="2400" b="0" i="0" u="none" strike="noStrike" cap="none" dirty="0">
                          <a:solidFill>
                            <a:srgbClr val="FF0000"/>
                          </a:solidFill>
                          <a:latin typeface="標楷體" pitchFamily="65" charset="-120"/>
                          <a:ea typeface="標楷體" pitchFamily="65" charset="-120"/>
                          <a:cs typeface="Arial"/>
                          <a:sym typeface="Arial"/>
                        </a:rPr>
                        <a:t>械鬥</a:t>
                      </a:r>
                      <a:r>
                        <a:rPr lang="zh-TW" altLang="en-US" sz="2400" b="0" i="0" u="none" strike="noStrike" cap="none" dirty="0">
                          <a:solidFill>
                            <a:schemeClr val="tx1"/>
                          </a:solidFill>
                          <a:latin typeface="標楷體" pitchFamily="65" charset="-120"/>
                          <a:ea typeface="標楷體" pitchFamily="65" charset="-120"/>
                          <a:cs typeface="Arial"/>
                          <a:sym typeface="Arial"/>
                        </a:rPr>
                        <a:t>及</a:t>
                      </a:r>
                      <a:r>
                        <a:rPr lang="zh-TW" altLang="en-US" sz="2400" b="0" i="0" u="none" strike="noStrike" cap="none" dirty="0">
                          <a:solidFill>
                            <a:srgbClr val="FF0000"/>
                          </a:solidFill>
                          <a:latin typeface="標楷體" pitchFamily="65" charset="-120"/>
                          <a:ea typeface="標楷體" pitchFamily="65" charset="-120"/>
                          <a:cs typeface="Arial"/>
                          <a:sym typeface="Arial"/>
                        </a:rPr>
                        <a:t>防禦</a:t>
                      </a:r>
                      <a:br>
                        <a:rPr lang="en-US" altLang="zh-TW" sz="2400" b="0" i="0" u="none" strike="noStrike" cap="none" dirty="0">
                          <a:solidFill>
                            <a:schemeClr val="tx1"/>
                          </a:solidFill>
                          <a:latin typeface="標楷體" pitchFamily="65" charset="-120"/>
                          <a:ea typeface="標楷體" pitchFamily="65" charset="-120"/>
                          <a:cs typeface="Arial"/>
                          <a:sym typeface="Arial"/>
                        </a:rPr>
                      </a:br>
                      <a:r>
                        <a:rPr lang="zh-TW" altLang="en-US" sz="2400" b="0" i="0" u="none" strike="noStrike" cap="none" dirty="0">
                          <a:solidFill>
                            <a:schemeClr val="tx1"/>
                          </a:solidFill>
                          <a:latin typeface="標楷體" pitchFamily="65" charset="-120"/>
                          <a:ea typeface="標楷體" pitchFamily="65" charset="-120"/>
                          <a:cs typeface="Arial"/>
                          <a:sym typeface="Arial"/>
                        </a:rPr>
                        <a:t>→臺中「土牛」、屏東「隘寮」、臺北「</a:t>
                      </a:r>
                      <a:r>
                        <a:rPr lang="zh-TW" altLang="en-US" sz="2400" b="0" i="0" u="none" strike="noStrike" cap="none" dirty="0">
                          <a:solidFill>
                            <a:srgbClr val="FF0000"/>
                          </a:solidFill>
                          <a:latin typeface="標楷體" pitchFamily="65" charset="-120"/>
                          <a:ea typeface="標楷體" pitchFamily="65" charset="-120"/>
                          <a:cs typeface="Arial"/>
                          <a:sym typeface="Arial"/>
                        </a:rPr>
                        <a:t>木柵</a:t>
                      </a:r>
                      <a:r>
                        <a:rPr lang="zh-TW" altLang="en-US" sz="2400" b="0" i="0" u="none" strike="noStrike" cap="none" dirty="0">
                          <a:solidFill>
                            <a:schemeClr val="tx1"/>
                          </a:solidFill>
                          <a:latin typeface="標楷體" pitchFamily="65" charset="-120"/>
                          <a:ea typeface="標楷體" pitchFamily="65" charset="-120"/>
                          <a:cs typeface="Arial"/>
                          <a:sym typeface="Arial"/>
                        </a:rPr>
                        <a:t>」</a:t>
                      </a:r>
                      <a:endParaRPr lang="en-US" altLang="zh-TW" sz="24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 name="矩形 11"/>
          <p:cNvSpPr>
            <a:spLocks noChangeArrowheads="1"/>
          </p:cNvSpPr>
          <p:nvPr/>
        </p:nvSpPr>
        <p:spPr bwMode="auto">
          <a:xfrm>
            <a:off x="1598101" y="3047516"/>
            <a:ext cx="9361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閩南</a:t>
            </a:r>
          </a:p>
        </p:txBody>
      </p:sp>
      <p:sp>
        <p:nvSpPr>
          <p:cNvPr id="13" name="矩形 12"/>
          <p:cNvSpPr>
            <a:spLocks noChangeArrowheads="1"/>
          </p:cNvSpPr>
          <p:nvPr/>
        </p:nvSpPr>
        <p:spPr bwMode="auto">
          <a:xfrm>
            <a:off x="2949222" y="3022938"/>
            <a:ext cx="8110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客家</a:t>
            </a:r>
          </a:p>
        </p:txBody>
      </p:sp>
      <p:sp>
        <p:nvSpPr>
          <p:cNvPr id="14" name="矩形 13"/>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p.175</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40</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1627463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328204" y="449784"/>
            <a:ext cx="4896544" cy="607191"/>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sz="2800" dirty="0">
              <a:latin typeface="標楷體" pitchFamily="65" charset="-120"/>
              <a:ea typeface="標楷體" pitchFamily="65" charset="-120"/>
            </a:endParaRPr>
          </a:p>
          <a:p>
            <a:endParaRPr lang="en-US" altLang="zh-TW" sz="2800" dirty="0">
              <a:latin typeface="標楷體" pitchFamily="65" charset="-120"/>
              <a:ea typeface="標楷體" pitchFamily="65" charset="-120"/>
            </a:endParaRPr>
          </a:p>
          <a:p>
            <a:r>
              <a:rPr lang="zh-TW" altLang="en-US" sz="2800" dirty="0">
                <a:latin typeface="標楷體" pitchFamily="65" charset="-120"/>
                <a:ea typeface="標楷體" pitchFamily="65" charset="-120"/>
              </a:rPr>
              <a:t>二、近代移民及文化</a:t>
            </a:r>
            <a:endParaRPr lang="en-US" altLang="zh-TW" sz="2800" dirty="0">
              <a:latin typeface="標楷體" pitchFamily="65" charset="-120"/>
              <a:ea typeface="標楷體" pitchFamily="65" charset="-120"/>
            </a:endParaRPr>
          </a:p>
          <a:p>
            <a:r>
              <a:rPr lang="en-US" altLang="zh-TW" sz="2800" dirty="0">
                <a:latin typeface="標楷體" pitchFamily="65" charset="-120"/>
                <a:ea typeface="標楷體" pitchFamily="65" charset="-120"/>
              </a:rPr>
              <a:t>2.</a:t>
            </a:r>
            <a:r>
              <a:rPr lang="zh-TW" altLang="en-US" sz="2800" dirty="0">
                <a:latin typeface="標楷體" pitchFamily="65" charset="-120"/>
                <a:ea typeface="標楷體" pitchFamily="65" charset="-120"/>
              </a:rPr>
              <a:t>近代移民時期：</a:t>
            </a:r>
            <a:endParaRPr lang="en-US" altLang="zh-TW" sz="2800" dirty="0">
              <a:latin typeface="標楷體" pitchFamily="65" charset="-120"/>
              <a:ea typeface="標楷體" pitchFamily="65" charset="-120"/>
            </a:endParaRPr>
          </a:p>
        </p:txBody>
      </p:sp>
      <p:graphicFrame>
        <p:nvGraphicFramePr>
          <p:cNvPr id="10" name="Group 47"/>
          <p:cNvGraphicFramePr>
            <a:graphicFrameLocks noGrp="1"/>
          </p:cNvGraphicFramePr>
          <p:nvPr>
            <p:extLst>
              <p:ext uri="{D42A27DB-BD31-4B8C-83A1-F6EECF244321}">
                <p14:modId xmlns:p14="http://schemas.microsoft.com/office/powerpoint/2010/main" val="2979810331"/>
              </p:ext>
            </p:extLst>
          </p:nvPr>
        </p:nvGraphicFramePr>
        <p:xfrm>
          <a:off x="91270" y="1111881"/>
          <a:ext cx="8751105" cy="4455408"/>
        </p:xfrm>
        <a:graphic>
          <a:graphicData uri="http://schemas.openxmlformats.org/drawingml/2006/table">
            <a:tbl>
              <a:tblPr/>
              <a:tblGrid>
                <a:gridCol w="880331">
                  <a:extLst>
                    <a:ext uri="{9D8B030D-6E8A-4147-A177-3AD203B41FA5}">
                      <a16:colId xmlns:a16="http://schemas.microsoft.com/office/drawing/2014/main" val="20000"/>
                    </a:ext>
                  </a:extLst>
                </a:gridCol>
                <a:gridCol w="3744415">
                  <a:extLst>
                    <a:ext uri="{9D8B030D-6E8A-4147-A177-3AD203B41FA5}">
                      <a16:colId xmlns:a16="http://schemas.microsoft.com/office/drawing/2014/main" val="20001"/>
                    </a:ext>
                  </a:extLst>
                </a:gridCol>
                <a:gridCol w="4126359">
                  <a:extLst>
                    <a:ext uri="{9D8B030D-6E8A-4147-A177-3AD203B41FA5}">
                      <a16:colId xmlns:a16="http://schemas.microsoft.com/office/drawing/2014/main" val="20002"/>
                    </a:ext>
                  </a:extLst>
                </a:gridCol>
              </a:tblGrid>
              <a:tr h="43204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chemeClr val="tx1"/>
                          </a:solidFill>
                          <a:latin typeface="標楷體" pitchFamily="65" charset="-120"/>
                          <a:ea typeface="標楷體" pitchFamily="65" charset="-120"/>
                          <a:cs typeface="Arial"/>
                          <a:sym typeface="Arial"/>
                        </a:rPr>
                        <a:t>階段</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chemeClr val="tx1"/>
                          </a:solidFill>
                          <a:latin typeface="標楷體" pitchFamily="65" charset="-120"/>
                          <a:ea typeface="標楷體" pitchFamily="65" charset="-120"/>
                          <a:cs typeface="Arial"/>
                          <a:sym typeface="Arial"/>
                        </a:rPr>
                        <a:t>多元文化</a:t>
                      </a:r>
                      <a:endParaRPr lang="en-US" altLang="zh-TW" sz="24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chemeClr val="tx1"/>
                          </a:solidFill>
                          <a:latin typeface="標楷體" pitchFamily="65" charset="-120"/>
                          <a:ea typeface="標楷體" pitchFamily="65" charset="-120"/>
                          <a:cs typeface="Arial"/>
                          <a:sym typeface="Arial"/>
                        </a:rPr>
                        <a:t>地名</a:t>
                      </a:r>
                      <a:endParaRPr lang="en-US" altLang="zh-TW" sz="24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136815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rgbClr val="FF0000"/>
                          </a:solidFill>
                          <a:latin typeface="標楷體" pitchFamily="65" charset="-120"/>
                          <a:ea typeface="標楷體" pitchFamily="65" charset="-120"/>
                          <a:cs typeface="Arial"/>
                          <a:sym typeface="Arial"/>
                        </a:rPr>
                        <a:t>日治</a:t>
                      </a:r>
                    </a:p>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chemeClr val="tx1"/>
                          </a:solidFill>
                          <a:latin typeface="標楷體" pitchFamily="65" charset="-120"/>
                          <a:ea typeface="標楷體" pitchFamily="65" charset="-120"/>
                          <a:cs typeface="Arial"/>
                          <a:sym typeface="Arial"/>
                        </a:rPr>
                        <a:t>時期</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400" b="0" i="0" u="none" strike="noStrike" cap="none" dirty="0">
                          <a:solidFill>
                            <a:schemeClr val="tx1"/>
                          </a:solidFill>
                          <a:latin typeface="標楷體" pitchFamily="65" charset="-120"/>
                          <a:ea typeface="標楷體" pitchFamily="65" charset="-120"/>
                          <a:cs typeface="Arial"/>
                          <a:sym typeface="Arial"/>
                        </a:rPr>
                        <a:t>(1)</a:t>
                      </a:r>
                      <a:r>
                        <a:rPr lang="zh-TW" altLang="en-US" sz="2400" b="0" i="0" u="none" strike="noStrike" cap="none" dirty="0">
                          <a:solidFill>
                            <a:schemeClr val="tx1"/>
                          </a:solidFill>
                          <a:latin typeface="標楷體" pitchFamily="65" charset="-120"/>
                          <a:ea typeface="標楷體" pitchFamily="65" charset="-120"/>
                          <a:cs typeface="Arial"/>
                          <a:sym typeface="Arial"/>
                        </a:rPr>
                        <a:t>臺灣經歷日本長達 </a:t>
                      </a:r>
                      <a:r>
                        <a:rPr lang="en-US" altLang="zh-TW" sz="2400" b="0" i="0" u="none" strike="noStrike" cap="none" dirty="0">
                          <a:solidFill>
                            <a:schemeClr val="tx1"/>
                          </a:solidFill>
                          <a:latin typeface="標楷體" pitchFamily="65" charset="-120"/>
                          <a:ea typeface="標楷體" pitchFamily="65" charset="-120"/>
                          <a:cs typeface="Arial"/>
                          <a:sym typeface="Arial"/>
                        </a:rPr>
                        <a:t>50 </a:t>
                      </a:r>
                      <a:r>
                        <a:rPr lang="zh-TW" altLang="en-US" sz="2400" b="0" i="0" u="none" strike="noStrike" cap="none" dirty="0">
                          <a:solidFill>
                            <a:schemeClr val="tx1"/>
                          </a:solidFill>
                          <a:latin typeface="標楷體" pitchFamily="65" charset="-120"/>
                          <a:ea typeface="標楷體" pitchFamily="65" charset="-120"/>
                          <a:cs typeface="Arial"/>
                          <a:sym typeface="Arial"/>
                        </a:rPr>
                        <a:t>年的殖民統治，在</a:t>
                      </a:r>
                      <a:r>
                        <a:rPr lang="zh-TW" altLang="en-US" sz="2400" b="0" i="0" u="none" strike="noStrike" cap="none" dirty="0">
                          <a:solidFill>
                            <a:srgbClr val="FF0000"/>
                          </a:solidFill>
                          <a:latin typeface="標楷體" pitchFamily="65" charset="-120"/>
                          <a:ea typeface="標楷體" pitchFamily="65" charset="-120"/>
                          <a:cs typeface="Arial"/>
                          <a:sym typeface="Arial"/>
                        </a:rPr>
                        <a:t>各地實施</a:t>
                      </a:r>
                      <a:r>
                        <a:rPr lang="zh-TW" altLang="en-US" sz="2400" b="0" i="0" u="none" strike="noStrike" cap="none" dirty="0">
                          <a:solidFill>
                            <a:schemeClr val="tx1"/>
                          </a:solidFill>
                          <a:latin typeface="標楷體" pitchFamily="65" charset="-120"/>
                          <a:ea typeface="標楷體" pitchFamily="65" charset="-120"/>
                          <a:cs typeface="Arial"/>
                          <a:sym typeface="Arial"/>
                        </a:rPr>
                        <a:t>的</a:t>
                      </a:r>
                      <a:r>
                        <a:rPr lang="zh-TW" altLang="en-US" sz="2400" b="0" i="0" u="none" strike="noStrike" cap="none" dirty="0">
                          <a:solidFill>
                            <a:srgbClr val="FF0000"/>
                          </a:solidFill>
                          <a:latin typeface="標楷體" pitchFamily="65" charset="-120"/>
                          <a:ea typeface="標楷體" pitchFamily="65" charset="-120"/>
                          <a:cs typeface="Arial"/>
                          <a:sym typeface="Arial"/>
                        </a:rPr>
                        <a:t>都市計畫，戰後仍持續沿用</a:t>
                      </a:r>
                      <a:r>
                        <a:rPr lang="zh-TW" altLang="en-US" sz="2400" b="0" i="0" u="none" strike="noStrike" cap="none" dirty="0">
                          <a:solidFill>
                            <a:schemeClr val="tx1"/>
                          </a:solidFill>
                          <a:latin typeface="標楷體" pitchFamily="65" charset="-120"/>
                          <a:ea typeface="標楷體" pitchFamily="65" charset="-120"/>
                          <a:cs typeface="Arial"/>
                          <a:sym typeface="Arial"/>
                        </a:rPr>
                        <a:t>，現今臺灣許多地方，仍保留當時的建築物及街道型態</a:t>
                      </a:r>
                      <a:endParaRPr lang="en-US" altLang="zh-TW" sz="2400" b="0" i="0" u="none" strike="noStrike" cap="none" dirty="0">
                        <a:solidFill>
                          <a:schemeClr val="tx1"/>
                        </a:solidFill>
                        <a:latin typeface="標楷體" pitchFamily="65" charset="-120"/>
                        <a:ea typeface="標楷體" pitchFamily="65" charset="-120"/>
                        <a:cs typeface="Arial"/>
                        <a:sym typeface="Arial"/>
                      </a:endParaRPr>
                    </a:p>
                    <a:p>
                      <a:r>
                        <a:rPr lang="en-US" altLang="zh-TW" sz="2400" b="0" i="0" u="none" strike="noStrike" cap="none" dirty="0">
                          <a:solidFill>
                            <a:schemeClr val="tx1"/>
                          </a:solidFill>
                          <a:latin typeface="標楷體" pitchFamily="65" charset="-120"/>
                          <a:ea typeface="標楷體" pitchFamily="65" charset="-120"/>
                          <a:cs typeface="Arial"/>
                          <a:sym typeface="Arial"/>
                        </a:rPr>
                        <a:t>(2)1936 </a:t>
                      </a:r>
                      <a:r>
                        <a:rPr lang="zh-TW" altLang="en-US" sz="2400" b="0" i="0" u="none" strike="noStrike" cap="none" dirty="0">
                          <a:solidFill>
                            <a:schemeClr val="tx1"/>
                          </a:solidFill>
                          <a:latin typeface="標楷體" pitchFamily="65" charset="-120"/>
                          <a:ea typeface="標楷體" pitchFamily="65" charset="-120"/>
                          <a:cs typeface="Arial"/>
                          <a:sym typeface="Arial"/>
                        </a:rPr>
                        <a:t>年的</a:t>
                      </a:r>
                      <a:r>
                        <a:rPr lang="zh-TW" altLang="en-US" sz="2400" b="0" i="0" u="none" strike="noStrike" cap="none" dirty="0">
                          <a:solidFill>
                            <a:srgbClr val="FF0000"/>
                          </a:solidFill>
                          <a:latin typeface="標楷體" pitchFamily="65" charset="-120"/>
                          <a:ea typeface="標楷體" pitchFamily="65" charset="-120"/>
                          <a:cs typeface="Arial"/>
                          <a:sym typeface="Arial"/>
                        </a:rPr>
                        <a:t>皇民化運動</a:t>
                      </a:r>
                      <a:r>
                        <a:rPr lang="zh-TW" altLang="en-US" sz="2400" b="0" i="0" u="none" strike="noStrike" cap="none" dirty="0">
                          <a:solidFill>
                            <a:schemeClr val="tx1"/>
                          </a:solidFill>
                          <a:latin typeface="標楷體" pitchFamily="65" charset="-120"/>
                          <a:ea typeface="標楷體" pitchFamily="65" charset="-120"/>
                          <a:cs typeface="Arial"/>
                          <a:sym typeface="Arial"/>
                        </a:rPr>
                        <a:t>：臺灣人從語言、宗教、服飾等諸多層面全面日化</a:t>
                      </a:r>
                      <a:endParaRPr lang="en-US" altLang="zh-TW" sz="24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en-US" altLang="zh-TW" sz="2400" b="0" i="0" u="none" strike="noStrike" cap="none" dirty="0">
                          <a:solidFill>
                            <a:schemeClr val="tx1"/>
                          </a:solidFill>
                          <a:latin typeface="標楷體" pitchFamily="65" charset="-120"/>
                          <a:ea typeface="標楷體" pitchFamily="65" charset="-120"/>
                          <a:cs typeface="Arial"/>
                          <a:sym typeface="Arial"/>
                        </a:rPr>
                        <a:t>(1)</a:t>
                      </a:r>
                      <a:r>
                        <a:rPr lang="zh-TW" altLang="en-US" sz="2400" b="0" i="0" u="none" strike="noStrike" cap="none" dirty="0">
                          <a:solidFill>
                            <a:schemeClr val="tx1"/>
                          </a:solidFill>
                          <a:latin typeface="標楷體" pitchFamily="65" charset="-120"/>
                          <a:ea typeface="標楷體" pitchFamily="65" charset="-120"/>
                          <a:cs typeface="Arial"/>
                          <a:sym typeface="Arial"/>
                        </a:rPr>
                        <a:t>土地精確測量後，劃定行政區</a:t>
                      </a:r>
                      <a:r>
                        <a:rPr lang="zh-TW" altLang="en-US" sz="2400" b="0" i="0" u="none" strike="noStrike" cap="none" dirty="0">
                          <a:solidFill>
                            <a:srgbClr val="FF0000"/>
                          </a:solidFill>
                          <a:latin typeface="標楷體" pitchFamily="65" charset="-120"/>
                          <a:ea typeface="標楷體" pitchFamily="65" charset="-120"/>
                          <a:cs typeface="Arial"/>
                          <a:sym typeface="Arial"/>
                        </a:rPr>
                        <a:t>改日名</a:t>
                      </a:r>
                    </a:p>
                    <a:p>
                      <a:r>
                        <a:rPr lang="zh-TW" altLang="en-US" sz="2400" b="0" i="0" u="none" strike="noStrike" cap="none" dirty="0">
                          <a:solidFill>
                            <a:schemeClr val="tx1"/>
                          </a:solidFill>
                          <a:latin typeface="標楷體" pitchFamily="65" charset="-120"/>
                          <a:ea typeface="標楷體" pitchFamily="65" charset="-120"/>
                          <a:cs typeface="Arial"/>
                          <a:sym typeface="Arial"/>
                        </a:rPr>
                        <a:t>→「打狗」更名為「</a:t>
                      </a:r>
                      <a:r>
                        <a:rPr lang="zh-TW" altLang="en-US" sz="2400" b="0" i="0" u="none" strike="noStrike" cap="none" dirty="0">
                          <a:solidFill>
                            <a:srgbClr val="FF00FF"/>
                          </a:solidFill>
                          <a:latin typeface="標楷體" pitchFamily="65" charset="-120"/>
                          <a:ea typeface="標楷體" pitchFamily="65" charset="-120"/>
                          <a:cs typeface="Arial"/>
                          <a:sym typeface="Arial"/>
                        </a:rPr>
                        <a:t>高雄</a:t>
                      </a:r>
                      <a:r>
                        <a:rPr lang="zh-TW" altLang="en-US" sz="2400" b="0" i="0" u="none" strike="noStrike" cap="none" dirty="0">
                          <a:solidFill>
                            <a:schemeClr val="tx1"/>
                          </a:solidFill>
                          <a:latin typeface="標楷體" pitchFamily="65" charset="-120"/>
                          <a:ea typeface="標楷體" pitchFamily="65" charset="-120"/>
                          <a:cs typeface="Arial"/>
                          <a:sym typeface="Arial"/>
                        </a:rPr>
                        <a:t>」；臺中「葫蘆墩」改為「</a:t>
                      </a:r>
                      <a:r>
                        <a:rPr lang="zh-TW" altLang="en-US" sz="2400" b="0" i="0" u="none" strike="noStrike" cap="none" dirty="0">
                          <a:solidFill>
                            <a:srgbClr val="FF00FF"/>
                          </a:solidFill>
                          <a:latin typeface="標楷體" pitchFamily="65" charset="-120"/>
                          <a:ea typeface="標楷體" pitchFamily="65" charset="-120"/>
                          <a:cs typeface="Arial"/>
                          <a:sym typeface="Arial"/>
                        </a:rPr>
                        <a:t>豐原</a:t>
                      </a:r>
                      <a:r>
                        <a:rPr lang="zh-TW" altLang="en-US" sz="2400" b="0" i="0" u="none" strike="noStrike" cap="none" dirty="0">
                          <a:solidFill>
                            <a:schemeClr val="tx1"/>
                          </a:solidFill>
                          <a:latin typeface="標楷體" pitchFamily="65" charset="-120"/>
                          <a:ea typeface="標楷體" pitchFamily="65" charset="-120"/>
                          <a:cs typeface="Arial"/>
                          <a:sym typeface="Arial"/>
                        </a:rPr>
                        <a:t>」</a:t>
                      </a:r>
                      <a:endParaRPr lang="en-US" altLang="zh-TW" sz="2400" b="0" i="0" u="none" strike="noStrike" cap="none" dirty="0">
                        <a:solidFill>
                          <a:schemeClr val="tx1"/>
                        </a:solidFill>
                        <a:latin typeface="標楷體" pitchFamily="65" charset="-120"/>
                        <a:ea typeface="標楷體" pitchFamily="65" charset="-120"/>
                        <a:cs typeface="Arial"/>
                        <a:sym typeface="Arial"/>
                      </a:endParaRPr>
                    </a:p>
                    <a:p>
                      <a:r>
                        <a:rPr lang="en-US" altLang="zh-TW" sz="2400" b="0" i="0" u="none" strike="noStrike" cap="none" dirty="0">
                          <a:solidFill>
                            <a:schemeClr val="tx1"/>
                          </a:solidFill>
                          <a:latin typeface="標楷體" pitchFamily="65" charset="-120"/>
                          <a:ea typeface="標楷體" pitchFamily="65" charset="-120"/>
                          <a:cs typeface="Arial"/>
                          <a:sym typeface="Arial"/>
                        </a:rPr>
                        <a:t>(2)</a:t>
                      </a:r>
                      <a:r>
                        <a:rPr lang="zh-TW" altLang="en-US" sz="2400" b="0" i="0" u="none" strike="noStrike" cap="none" dirty="0">
                          <a:solidFill>
                            <a:schemeClr val="tx1"/>
                          </a:solidFill>
                          <a:latin typeface="標楷體" pitchFamily="65" charset="-120"/>
                          <a:ea typeface="標楷體" pitchFamily="65" charset="-120"/>
                          <a:cs typeface="Arial"/>
                          <a:sym typeface="Arial"/>
                        </a:rPr>
                        <a:t>當時人口稀少的</a:t>
                      </a:r>
                      <a:r>
                        <a:rPr lang="zh-TW" altLang="en-US" sz="2400" b="0" i="0" u="none" strike="noStrike" cap="none" dirty="0">
                          <a:solidFill>
                            <a:srgbClr val="FF0000"/>
                          </a:solidFill>
                          <a:latin typeface="標楷體" pitchFamily="65" charset="-120"/>
                          <a:ea typeface="標楷體" pitchFamily="65" charset="-120"/>
                          <a:cs typeface="Arial"/>
                          <a:sym typeface="Arial"/>
                        </a:rPr>
                        <a:t>東部</a:t>
                      </a:r>
                      <a:r>
                        <a:rPr lang="zh-TW" altLang="en-US" sz="2400" b="0" i="0" u="none" strike="noStrike" cap="none" dirty="0">
                          <a:solidFill>
                            <a:schemeClr val="tx1"/>
                          </a:solidFill>
                          <a:latin typeface="標楷體" pitchFamily="65" charset="-120"/>
                          <a:ea typeface="標楷體" pitchFamily="65" charset="-120"/>
                          <a:cs typeface="Arial"/>
                          <a:sym typeface="Arial"/>
                        </a:rPr>
                        <a:t>設立</a:t>
                      </a:r>
                      <a:r>
                        <a:rPr lang="zh-TW" altLang="en-US" sz="2400" b="0" i="0" u="none" strike="noStrike" cap="none" dirty="0">
                          <a:solidFill>
                            <a:srgbClr val="FF0000"/>
                          </a:solidFill>
                          <a:latin typeface="標楷體" pitchFamily="65" charset="-120"/>
                          <a:ea typeface="標楷體" pitchFamily="65" charset="-120"/>
                          <a:cs typeface="Arial"/>
                          <a:sym typeface="Arial"/>
                        </a:rPr>
                        <a:t>移民村</a:t>
                      </a:r>
                      <a:r>
                        <a:rPr lang="zh-TW" altLang="en-US"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cap="none" dirty="0">
                          <a:solidFill>
                            <a:srgbClr val="FF0000"/>
                          </a:solidFill>
                          <a:latin typeface="標楷體" pitchFamily="65" charset="-120"/>
                          <a:ea typeface="標楷體" pitchFamily="65" charset="-120"/>
                          <a:cs typeface="Arial"/>
                          <a:sym typeface="Arial"/>
                        </a:rPr>
                        <a:t>花蓮</a:t>
                      </a:r>
                      <a:r>
                        <a:rPr lang="zh-TW" altLang="en-US"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cap="none" dirty="0">
                          <a:solidFill>
                            <a:srgbClr val="FF00FF"/>
                          </a:solidFill>
                          <a:latin typeface="標楷體" pitchFamily="65" charset="-120"/>
                          <a:ea typeface="標楷體" pitchFamily="65" charset="-120"/>
                          <a:cs typeface="Arial"/>
                          <a:sym typeface="Arial"/>
                        </a:rPr>
                        <a:t>瑞穗</a:t>
                      </a:r>
                      <a:r>
                        <a:rPr lang="zh-TW" altLang="en-US" sz="2400" b="0" i="0" u="none" strike="noStrike" cap="none" dirty="0">
                          <a:solidFill>
                            <a:schemeClr val="tx1"/>
                          </a:solidFill>
                          <a:latin typeface="標楷體" pitchFamily="65" charset="-120"/>
                          <a:ea typeface="標楷體" pitchFamily="65" charset="-120"/>
                          <a:cs typeface="Arial"/>
                          <a:sym typeface="Arial"/>
                        </a:rPr>
                        <a:t>」、</a:t>
                      </a:r>
                      <a:br>
                        <a:rPr lang="en-US" altLang="zh-TW" sz="2400" b="0" i="0" u="none" strike="noStrike" cap="none" dirty="0">
                          <a:solidFill>
                            <a:schemeClr val="tx1"/>
                          </a:solidFill>
                          <a:latin typeface="標楷體" pitchFamily="65" charset="-120"/>
                          <a:ea typeface="標楷體" pitchFamily="65" charset="-120"/>
                          <a:cs typeface="Arial"/>
                          <a:sym typeface="Arial"/>
                        </a:rPr>
                      </a:br>
                      <a:r>
                        <a:rPr lang="zh-TW" altLang="en-US"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cap="none" dirty="0">
                          <a:solidFill>
                            <a:srgbClr val="FF00FF"/>
                          </a:solidFill>
                          <a:latin typeface="標楷體" pitchFamily="65" charset="-120"/>
                          <a:ea typeface="標楷體" pitchFamily="65" charset="-120"/>
                          <a:cs typeface="Arial"/>
                          <a:sym typeface="Arial"/>
                        </a:rPr>
                        <a:t>壽豐</a:t>
                      </a:r>
                      <a:r>
                        <a:rPr lang="zh-TW" altLang="en-US"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cap="none" dirty="0">
                          <a:solidFill>
                            <a:srgbClr val="FF00FF"/>
                          </a:solidFill>
                          <a:latin typeface="標楷體" pitchFamily="65" charset="-120"/>
                          <a:ea typeface="標楷體" pitchFamily="65" charset="-120"/>
                          <a:cs typeface="Arial"/>
                          <a:sym typeface="Arial"/>
                        </a:rPr>
                        <a:t>富里</a:t>
                      </a:r>
                      <a:r>
                        <a:rPr lang="zh-TW" altLang="en-US" sz="2400" b="0" i="0" u="none" strike="noStrike" cap="none" dirty="0">
                          <a:solidFill>
                            <a:schemeClr val="tx1"/>
                          </a:solidFill>
                          <a:latin typeface="標楷體" pitchFamily="65" charset="-120"/>
                          <a:ea typeface="標楷體" pitchFamily="65" charset="-120"/>
                          <a:cs typeface="Arial"/>
                          <a:sym typeface="Arial"/>
                        </a:rPr>
                        <a:t>」、</a:t>
                      </a:r>
                      <a:br>
                        <a:rPr lang="en-US" altLang="zh-TW" sz="2400" b="0" i="0" u="none" strike="noStrike" cap="none" dirty="0">
                          <a:solidFill>
                            <a:schemeClr val="tx1"/>
                          </a:solidFill>
                          <a:latin typeface="標楷體" pitchFamily="65" charset="-120"/>
                          <a:ea typeface="標楷體" pitchFamily="65" charset="-120"/>
                          <a:cs typeface="Arial"/>
                          <a:sym typeface="Arial"/>
                        </a:rPr>
                      </a:br>
                      <a:r>
                        <a:rPr lang="zh-TW" altLang="en-US" sz="2400" b="0" i="0" u="none" strike="noStrike" cap="none" dirty="0">
                          <a:solidFill>
                            <a:srgbClr val="FF0000"/>
                          </a:solidFill>
                          <a:latin typeface="標楷體" pitchFamily="65" charset="-120"/>
                          <a:ea typeface="標楷體" pitchFamily="65" charset="-120"/>
                          <a:cs typeface="Arial"/>
                          <a:sym typeface="Arial"/>
                        </a:rPr>
                        <a:t>臺東</a:t>
                      </a:r>
                      <a:r>
                        <a:rPr lang="zh-TW" altLang="en-US"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cap="none" dirty="0">
                          <a:solidFill>
                            <a:srgbClr val="FF00FF"/>
                          </a:solidFill>
                          <a:latin typeface="標楷體" pitchFamily="65" charset="-120"/>
                          <a:ea typeface="標楷體" pitchFamily="65" charset="-120"/>
                          <a:cs typeface="Arial"/>
                          <a:sym typeface="Arial"/>
                        </a:rPr>
                        <a:t>池上</a:t>
                      </a:r>
                      <a:r>
                        <a:rPr lang="zh-TW" altLang="en-US" sz="2400" b="0" i="0" u="none" strike="noStrike" cap="none" dirty="0">
                          <a:solidFill>
                            <a:schemeClr val="tx1"/>
                          </a:solidFill>
                          <a:latin typeface="標楷體" pitchFamily="65" charset="-120"/>
                          <a:ea typeface="標楷體" pitchFamily="65" charset="-120"/>
                          <a:cs typeface="Arial"/>
                          <a:sym typeface="Arial"/>
                        </a:rPr>
                        <a:t>」、「</a:t>
                      </a:r>
                      <a:r>
                        <a:rPr lang="zh-TW" altLang="en-US" sz="2400" b="0" i="0" u="none" strike="noStrike" cap="none" dirty="0">
                          <a:solidFill>
                            <a:srgbClr val="FF00FF"/>
                          </a:solidFill>
                          <a:latin typeface="標楷體" pitchFamily="65" charset="-120"/>
                          <a:ea typeface="標楷體" pitchFamily="65" charset="-120"/>
                          <a:cs typeface="Arial"/>
                          <a:sym typeface="Arial"/>
                        </a:rPr>
                        <a:t>鹿野</a:t>
                      </a:r>
                      <a:r>
                        <a:rPr lang="zh-TW" altLang="en-US" sz="2400" b="0" i="0" u="none" strike="noStrike" cap="none" dirty="0">
                          <a:solidFill>
                            <a:schemeClr val="tx1"/>
                          </a:solidFill>
                          <a:latin typeface="標楷體" pitchFamily="65" charset="-120"/>
                          <a:ea typeface="標楷體" pitchFamily="65" charset="-120"/>
                          <a:cs typeface="Arial"/>
                          <a:sym typeface="Arial"/>
                        </a:rPr>
                        <a:t>」</a:t>
                      </a:r>
                    </a:p>
                    <a:p>
                      <a:r>
                        <a:rPr lang="en-US" altLang="zh-TW" sz="2400" b="0" i="0" u="none" strike="noStrike" cap="none" dirty="0">
                          <a:solidFill>
                            <a:schemeClr val="tx1"/>
                          </a:solidFill>
                          <a:latin typeface="標楷體" pitchFamily="65" charset="-120"/>
                          <a:ea typeface="標楷體" pitchFamily="65" charset="-120"/>
                          <a:cs typeface="Arial"/>
                          <a:sym typeface="Arial"/>
                        </a:rPr>
                        <a:t>(3)</a:t>
                      </a:r>
                      <a:r>
                        <a:rPr lang="zh-TW" altLang="en-US" sz="2400" b="0" i="0" u="none" strike="noStrike" cap="none" dirty="0">
                          <a:solidFill>
                            <a:schemeClr val="tx1"/>
                          </a:solidFill>
                          <a:latin typeface="標楷體" pitchFamily="65" charset="-120"/>
                          <a:ea typeface="標楷體" pitchFamily="65" charset="-120"/>
                          <a:cs typeface="Arial"/>
                          <a:sym typeface="Arial"/>
                        </a:rPr>
                        <a:t>都市從中式</a:t>
                      </a:r>
                      <a:r>
                        <a:rPr lang="zh-TW" altLang="en-US" sz="2400" b="0" i="0" u="none" strike="noStrike" cap="none" dirty="0">
                          <a:solidFill>
                            <a:srgbClr val="FF0000"/>
                          </a:solidFill>
                          <a:latin typeface="標楷體" pitchFamily="65" charset="-120"/>
                          <a:ea typeface="標楷體" pitchFamily="65" charset="-120"/>
                          <a:cs typeface="Arial"/>
                          <a:sym typeface="Arial"/>
                        </a:rPr>
                        <a:t>道路思維</a:t>
                      </a:r>
                      <a:r>
                        <a:rPr lang="zh-TW" altLang="en-US" sz="2400" b="0" i="0" u="none" strike="noStrike" cap="none" dirty="0">
                          <a:solidFill>
                            <a:schemeClr val="tx1"/>
                          </a:solidFill>
                          <a:latin typeface="標楷體" pitchFamily="65" charset="-120"/>
                          <a:ea typeface="標楷體" pitchFamily="65" charset="-120"/>
                          <a:cs typeface="Arial"/>
                          <a:sym typeface="Arial"/>
                        </a:rPr>
                        <a:t>系統</a:t>
                      </a:r>
                      <a:r>
                        <a:rPr lang="zh-TW" altLang="en-US" sz="2400" b="0" i="0" u="none" strike="noStrike" cap="none" dirty="0">
                          <a:solidFill>
                            <a:srgbClr val="FF0000"/>
                          </a:solidFill>
                          <a:latin typeface="標楷體" pitchFamily="65" charset="-120"/>
                          <a:ea typeface="標楷體" pitchFamily="65" charset="-120"/>
                          <a:cs typeface="Arial"/>
                          <a:sym typeface="Arial"/>
                        </a:rPr>
                        <a:t>轉</a:t>
                      </a:r>
                      <a:r>
                        <a:rPr lang="zh-TW" altLang="en-US" sz="2400" b="0" i="0" u="none" strike="noStrike" cap="none" dirty="0">
                          <a:solidFill>
                            <a:schemeClr val="tx1"/>
                          </a:solidFill>
                          <a:latin typeface="標楷體" pitchFamily="65" charset="-120"/>
                          <a:ea typeface="標楷體" pitchFamily="65" charset="-120"/>
                          <a:cs typeface="Arial"/>
                          <a:sym typeface="Arial"/>
                        </a:rPr>
                        <a:t>換</a:t>
                      </a:r>
                      <a:r>
                        <a:rPr lang="zh-TW" altLang="en-US" sz="2400" b="0" i="0" u="none" strike="noStrike" cap="none" dirty="0">
                          <a:solidFill>
                            <a:srgbClr val="FF0000"/>
                          </a:solidFill>
                          <a:latin typeface="標楷體" pitchFamily="65" charset="-120"/>
                          <a:ea typeface="標楷體" pitchFamily="65" charset="-120"/>
                          <a:cs typeface="Arial"/>
                          <a:sym typeface="Arial"/>
                        </a:rPr>
                        <a:t>為 日式</a:t>
                      </a:r>
                      <a:r>
                        <a:rPr lang="zh-TW" altLang="en-US" sz="2400" b="0" i="0" u="none" strike="noStrike" cap="none" dirty="0">
                          <a:solidFill>
                            <a:schemeClr val="tx1"/>
                          </a:solidFill>
                          <a:latin typeface="標楷體" pitchFamily="65" charset="-120"/>
                          <a:ea typeface="標楷體" pitchFamily="65" charset="-120"/>
                          <a:cs typeface="Arial"/>
                          <a:sym typeface="Arial"/>
                        </a:rPr>
                        <a:t>丁目的</a:t>
                      </a:r>
                      <a:r>
                        <a:rPr lang="zh-TW" altLang="en-US" sz="2400" b="0" i="0" u="none" strike="noStrike" cap="none" dirty="0">
                          <a:solidFill>
                            <a:srgbClr val="FF0000"/>
                          </a:solidFill>
                          <a:latin typeface="標楷體" pitchFamily="65" charset="-120"/>
                          <a:ea typeface="標楷體" pitchFamily="65" charset="-120"/>
                          <a:cs typeface="Arial"/>
                          <a:sym typeface="Arial"/>
                        </a:rPr>
                        <a:t>街區</a:t>
                      </a:r>
                      <a:r>
                        <a:rPr lang="zh-TW" altLang="en-US" sz="2400" b="0" i="0" u="none" strike="noStrike" cap="none" dirty="0">
                          <a:solidFill>
                            <a:schemeClr val="tx1"/>
                          </a:solidFill>
                          <a:latin typeface="標楷體" pitchFamily="65" charset="-120"/>
                          <a:ea typeface="標楷體" pitchFamily="65" charset="-120"/>
                          <a:cs typeface="Arial"/>
                          <a:sym typeface="Arial"/>
                        </a:rPr>
                        <a:t>治理→臺北「</a:t>
                      </a:r>
                      <a:r>
                        <a:rPr lang="zh-TW" altLang="en-US" sz="2400" b="0" i="0" u="none" strike="noStrike" cap="none" dirty="0">
                          <a:solidFill>
                            <a:srgbClr val="FF0000"/>
                          </a:solidFill>
                          <a:latin typeface="標楷體" pitchFamily="65" charset="-120"/>
                          <a:ea typeface="標楷體" pitchFamily="65" charset="-120"/>
                          <a:cs typeface="Arial"/>
                          <a:sym typeface="Arial"/>
                        </a:rPr>
                        <a:t>西門町</a:t>
                      </a:r>
                      <a:r>
                        <a:rPr lang="zh-TW" altLang="en-US" sz="2400" b="0" i="0" u="none" strike="noStrike" cap="none" dirty="0">
                          <a:solidFill>
                            <a:schemeClr val="tx1"/>
                          </a:solidFill>
                          <a:latin typeface="標楷體" pitchFamily="65" charset="-120"/>
                          <a:ea typeface="標楷體" pitchFamily="65" charset="-120"/>
                          <a:cs typeface="Arial"/>
                          <a:sym typeface="Arial"/>
                        </a:rPr>
                        <a:t>」</a:t>
                      </a:r>
                      <a:endParaRPr lang="en-US" altLang="zh-TW" sz="24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41</a:t>
            </a:fld>
            <a:endParaRPr lang="zh-TW" sz="1400">
              <a:solidFill>
                <a:schemeClr val="dk1"/>
              </a:solidFill>
              <a:latin typeface="Arial"/>
              <a:ea typeface="Arial"/>
              <a:cs typeface="Arial"/>
              <a:sym typeface="Arial"/>
            </a:endParaRPr>
          </a:p>
        </p:txBody>
      </p:sp>
      <p:sp>
        <p:nvSpPr>
          <p:cNvPr id="9" name="矩形 8">
            <a:extLst>
              <a:ext uri="{FF2B5EF4-FFF2-40B4-BE49-F238E27FC236}">
                <a16:creationId xmlns:a16="http://schemas.microsoft.com/office/drawing/2014/main" id="{C0A00FCF-C648-4AA3-8B0D-D5FE231552D9}"/>
              </a:ext>
            </a:extLst>
          </p:cNvPr>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p.175</a:t>
            </a:r>
            <a:endParaRPr lang="zh-TW" altLang="en-US" sz="3600" b="0" dirty="0"/>
          </a:p>
        </p:txBody>
      </p:sp>
    </p:spTree>
    <p:extLst>
      <p:ext uri="{BB962C8B-B14F-4D97-AF65-F5344CB8AC3E}">
        <p14:creationId xmlns:p14="http://schemas.microsoft.com/office/powerpoint/2010/main" val="31705734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403648" y="427841"/>
            <a:ext cx="4896544" cy="607191"/>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sz="2800" dirty="0">
              <a:latin typeface="標楷體" pitchFamily="65" charset="-120"/>
              <a:ea typeface="標楷體" pitchFamily="65" charset="-120"/>
            </a:endParaRPr>
          </a:p>
          <a:p>
            <a:endParaRPr lang="en-US" altLang="zh-TW" sz="2800" dirty="0">
              <a:latin typeface="標楷體" pitchFamily="65" charset="-120"/>
              <a:ea typeface="標楷體" pitchFamily="65" charset="-120"/>
            </a:endParaRPr>
          </a:p>
          <a:p>
            <a:r>
              <a:rPr lang="zh-TW" altLang="en-US" sz="2800" dirty="0">
                <a:latin typeface="標楷體" pitchFamily="65" charset="-120"/>
                <a:ea typeface="標楷體" pitchFamily="65" charset="-120"/>
              </a:rPr>
              <a:t>二、近代移民及文化</a:t>
            </a:r>
            <a:endParaRPr lang="en-US" altLang="zh-TW" sz="2800" dirty="0">
              <a:latin typeface="標楷體" pitchFamily="65" charset="-120"/>
              <a:ea typeface="標楷體" pitchFamily="65" charset="-120"/>
            </a:endParaRPr>
          </a:p>
          <a:p>
            <a:r>
              <a:rPr lang="en-US" altLang="zh-TW" sz="2800" dirty="0">
                <a:latin typeface="標楷體" pitchFamily="65" charset="-120"/>
                <a:ea typeface="標楷體" pitchFamily="65" charset="-120"/>
              </a:rPr>
              <a:t>2.</a:t>
            </a:r>
            <a:r>
              <a:rPr lang="zh-TW" altLang="en-US" sz="2800" dirty="0">
                <a:latin typeface="標楷體" pitchFamily="65" charset="-120"/>
                <a:ea typeface="標楷體" pitchFamily="65" charset="-120"/>
              </a:rPr>
              <a:t>近代移民時期：</a:t>
            </a:r>
            <a:endParaRPr lang="en-US" altLang="zh-TW" sz="2800" dirty="0">
              <a:latin typeface="標楷體" pitchFamily="65" charset="-120"/>
              <a:ea typeface="標楷體" pitchFamily="65" charset="-120"/>
            </a:endParaRPr>
          </a:p>
        </p:txBody>
      </p:sp>
      <p:graphicFrame>
        <p:nvGraphicFramePr>
          <p:cNvPr id="10" name="Group 47"/>
          <p:cNvGraphicFramePr>
            <a:graphicFrameLocks noGrp="1"/>
          </p:cNvGraphicFramePr>
          <p:nvPr>
            <p:extLst>
              <p:ext uri="{D42A27DB-BD31-4B8C-83A1-F6EECF244321}">
                <p14:modId xmlns:p14="http://schemas.microsoft.com/office/powerpoint/2010/main" val="3080394826"/>
              </p:ext>
            </p:extLst>
          </p:nvPr>
        </p:nvGraphicFramePr>
        <p:xfrm>
          <a:off x="45856" y="1033955"/>
          <a:ext cx="8990639" cy="5260895"/>
        </p:xfrm>
        <a:graphic>
          <a:graphicData uri="http://schemas.openxmlformats.org/drawingml/2006/table">
            <a:tbl>
              <a:tblPr/>
              <a:tblGrid>
                <a:gridCol w="786005">
                  <a:extLst>
                    <a:ext uri="{9D8B030D-6E8A-4147-A177-3AD203B41FA5}">
                      <a16:colId xmlns:a16="http://schemas.microsoft.com/office/drawing/2014/main" val="20000"/>
                    </a:ext>
                  </a:extLst>
                </a:gridCol>
                <a:gridCol w="2732027">
                  <a:extLst>
                    <a:ext uri="{9D8B030D-6E8A-4147-A177-3AD203B41FA5}">
                      <a16:colId xmlns:a16="http://schemas.microsoft.com/office/drawing/2014/main" val="20001"/>
                    </a:ext>
                  </a:extLst>
                </a:gridCol>
                <a:gridCol w="5472607">
                  <a:extLst>
                    <a:ext uri="{9D8B030D-6E8A-4147-A177-3AD203B41FA5}">
                      <a16:colId xmlns:a16="http://schemas.microsoft.com/office/drawing/2014/main" val="20002"/>
                    </a:ext>
                  </a:extLst>
                </a:gridCol>
              </a:tblGrid>
              <a:tr h="50601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chemeClr val="tx1"/>
                          </a:solidFill>
                          <a:latin typeface="標楷體" pitchFamily="65" charset="-120"/>
                          <a:ea typeface="標楷體" pitchFamily="65" charset="-120"/>
                          <a:cs typeface="Arial"/>
                          <a:sym typeface="Arial"/>
                        </a:rPr>
                        <a:t>階段</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chemeClr val="tx1"/>
                          </a:solidFill>
                          <a:latin typeface="標楷體" pitchFamily="65" charset="-120"/>
                          <a:ea typeface="標楷體" pitchFamily="65" charset="-120"/>
                          <a:cs typeface="Arial"/>
                          <a:sym typeface="Arial"/>
                        </a:rPr>
                        <a:t>多元文化</a:t>
                      </a:r>
                      <a:endParaRPr lang="en-US" altLang="zh-TW" sz="24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chemeClr val="tx1"/>
                          </a:solidFill>
                          <a:latin typeface="標楷體" pitchFamily="65" charset="-120"/>
                          <a:ea typeface="標楷體" pitchFamily="65" charset="-120"/>
                          <a:cs typeface="Arial"/>
                          <a:sym typeface="Arial"/>
                        </a:rPr>
                        <a:t>地名</a:t>
                      </a:r>
                      <a:endParaRPr lang="en-US" altLang="zh-TW" sz="24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460201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rgbClr val="FF0000"/>
                          </a:solidFill>
                          <a:latin typeface="標楷體" pitchFamily="65" charset="-120"/>
                          <a:ea typeface="標楷體" pitchFamily="65" charset="-120"/>
                          <a:cs typeface="Arial"/>
                          <a:sym typeface="Arial"/>
                        </a:rPr>
                        <a:t>二次</a:t>
                      </a:r>
                      <a:endParaRPr lang="en-US" altLang="zh-TW" sz="2400" b="0" i="0" u="none" strike="noStrike" cap="none" dirty="0">
                        <a:solidFill>
                          <a:srgbClr val="FF0000"/>
                        </a:solidFill>
                        <a:latin typeface="標楷體" pitchFamily="65" charset="-120"/>
                        <a:ea typeface="標楷體" pitchFamily="65" charset="-120"/>
                        <a:cs typeface="Arial"/>
                        <a:sym typeface="Arial"/>
                      </a:endParaRPr>
                    </a:p>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rgbClr val="FF0000"/>
                          </a:solidFill>
                          <a:latin typeface="標楷體" pitchFamily="65" charset="-120"/>
                          <a:ea typeface="標楷體" pitchFamily="65" charset="-120"/>
                          <a:cs typeface="Arial"/>
                          <a:sym typeface="Arial"/>
                        </a:rPr>
                        <a:t>大戰</a:t>
                      </a:r>
                      <a:endParaRPr lang="en-US" altLang="zh-TW" sz="2400" b="0" i="0" u="none" strike="noStrike" cap="none" dirty="0">
                        <a:solidFill>
                          <a:srgbClr val="FF0000"/>
                        </a:solidFill>
                        <a:latin typeface="標楷體" pitchFamily="65" charset="-120"/>
                        <a:ea typeface="標楷體" pitchFamily="65" charset="-120"/>
                        <a:cs typeface="Arial"/>
                        <a:sym typeface="Arial"/>
                      </a:endParaRPr>
                    </a:p>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400" b="0" i="0" u="none" strike="noStrike" cap="none" dirty="0">
                          <a:solidFill>
                            <a:srgbClr val="FF0000"/>
                          </a:solidFill>
                          <a:latin typeface="標楷體" pitchFamily="65" charset="-120"/>
                          <a:ea typeface="標楷體" pitchFamily="65" charset="-120"/>
                          <a:cs typeface="Arial"/>
                          <a:sym typeface="Arial"/>
                        </a:rPr>
                        <a:t>後</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400" b="0" i="0" u="none" strike="noStrike" cap="none" dirty="0">
                          <a:solidFill>
                            <a:schemeClr val="tx1"/>
                          </a:solidFill>
                          <a:latin typeface="標楷體" pitchFamily="65" charset="-120"/>
                          <a:ea typeface="標楷體" pitchFamily="65" charset="-120"/>
                          <a:cs typeface="Arial"/>
                          <a:sym typeface="Arial"/>
                        </a:rPr>
                        <a:t>(1)</a:t>
                      </a:r>
                      <a:r>
                        <a:rPr lang="zh-TW" altLang="en-US" sz="2400" b="0" i="0" u="none" strike="noStrike" cap="none" dirty="0">
                          <a:solidFill>
                            <a:srgbClr val="FF0000"/>
                          </a:solidFill>
                          <a:latin typeface="標楷體" pitchFamily="65" charset="-120"/>
                          <a:ea typeface="標楷體" pitchFamily="65" charset="-120"/>
                          <a:cs typeface="Arial"/>
                          <a:sym typeface="Arial"/>
                        </a:rPr>
                        <a:t>國民政府撤退來臺</a:t>
                      </a:r>
                      <a:r>
                        <a:rPr lang="zh-TW" altLang="en-US" sz="2400" b="0" i="0" u="none" strike="noStrike" cap="none" dirty="0">
                          <a:solidFill>
                            <a:schemeClr val="tx1"/>
                          </a:solidFill>
                          <a:latin typeface="標楷體" pitchFamily="65" charset="-120"/>
                          <a:ea typeface="標楷體" pitchFamily="65" charset="-120"/>
                          <a:cs typeface="Arial"/>
                          <a:sym typeface="Arial"/>
                        </a:rPr>
                        <a:t>，陸續有近 </a:t>
                      </a:r>
                      <a:r>
                        <a:rPr lang="en-US" altLang="zh-TW" sz="2400" b="0" i="0" u="none" strike="noStrike" cap="none" dirty="0">
                          <a:solidFill>
                            <a:schemeClr val="tx1"/>
                          </a:solidFill>
                          <a:latin typeface="標楷體" pitchFamily="65" charset="-120"/>
                          <a:ea typeface="標楷體" pitchFamily="65" charset="-120"/>
                          <a:cs typeface="Arial"/>
                          <a:sym typeface="Arial"/>
                        </a:rPr>
                        <a:t>120 </a:t>
                      </a:r>
                      <a:r>
                        <a:rPr lang="zh-TW" altLang="en-US" sz="2400" b="0" i="0" u="none" strike="noStrike" cap="none" dirty="0">
                          <a:solidFill>
                            <a:schemeClr val="tx1"/>
                          </a:solidFill>
                          <a:latin typeface="標楷體" pitchFamily="65" charset="-120"/>
                          <a:ea typeface="標楷體" pitchFamily="65" charset="-120"/>
                          <a:cs typeface="Arial"/>
                          <a:sym typeface="Arial"/>
                        </a:rPr>
                        <a:t>萬的中國軍民跟隨移入，</a:t>
                      </a:r>
                      <a:r>
                        <a:rPr lang="zh-TW" altLang="en-US" sz="2400" b="0" i="0" u="none" strike="noStrike" cap="none" dirty="0">
                          <a:solidFill>
                            <a:srgbClr val="FF0000"/>
                          </a:solidFill>
                          <a:latin typeface="標楷體" pitchFamily="65" charset="-120"/>
                          <a:ea typeface="標楷體" pitchFamily="65" charset="-120"/>
                          <a:cs typeface="Arial"/>
                          <a:sym typeface="Arial"/>
                        </a:rPr>
                        <a:t>軍公教眷屬</a:t>
                      </a:r>
                      <a:r>
                        <a:rPr lang="zh-TW" altLang="en-US" sz="2400" b="0" i="0" u="none" strike="noStrike" cap="none" dirty="0">
                          <a:solidFill>
                            <a:schemeClr val="tx1"/>
                          </a:solidFill>
                          <a:latin typeface="標楷體" pitchFamily="65" charset="-120"/>
                          <a:ea typeface="標楷體" pitchFamily="65" charset="-120"/>
                          <a:cs typeface="Arial"/>
                          <a:sym typeface="Arial"/>
                        </a:rPr>
                        <a:t>被安住在臺灣各地「</a:t>
                      </a:r>
                      <a:r>
                        <a:rPr lang="zh-TW" altLang="en-US" sz="2400" b="0" i="0" u="none" strike="noStrike" cap="none" dirty="0">
                          <a:solidFill>
                            <a:srgbClr val="FF0000"/>
                          </a:solidFill>
                          <a:latin typeface="標楷體" pitchFamily="65" charset="-120"/>
                          <a:ea typeface="標楷體" pitchFamily="65" charset="-120"/>
                          <a:cs typeface="Arial"/>
                          <a:sym typeface="Arial"/>
                        </a:rPr>
                        <a:t>眷村</a:t>
                      </a:r>
                      <a:r>
                        <a:rPr lang="zh-TW" altLang="en-US" sz="2400" b="0" i="0" u="none" strike="noStrike" cap="none" dirty="0">
                          <a:solidFill>
                            <a:schemeClr val="tx1"/>
                          </a:solidFill>
                          <a:latin typeface="標楷體" pitchFamily="65" charset="-120"/>
                          <a:ea typeface="標楷體" pitchFamily="65" charset="-120"/>
                          <a:cs typeface="Arial"/>
                          <a:sym typeface="Arial"/>
                        </a:rPr>
                        <a:t>」，形成特有的</a:t>
                      </a:r>
                      <a:r>
                        <a:rPr lang="zh-TW" altLang="en-US" sz="2400" b="0" i="0" u="none" strike="noStrike" cap="none" dirty="0">
                          <a:solidFill>
                            <a:srgbClr val="FF0000"/>
                          </a:solidFill>
                          <a:latin typeface="標楷體" pitchFamily="65" charset="-120"/>
                          <a:ea typeface="標楷體" pitchFamily="65" charset="-120"/>
                          <a:cs typeface="Arial"/>
                          <a:sym typeface="Arial"/>
                        </a:rPr>
                        <a:t>文化</a:t>
                      </a:r>
                    </a:p>
                    <a:p>
                      <a:r>
                        <a:rPr lang="en-US" altLang="zh-TW" sz="2400" b="0" i="0" u="none" strike="noStrike" cap="none" dirty="0">
                          <a:solidFill>
                            <a:schemeClr val="tx1"/>
                          </a:solidFill>
                          <a:latin typeface="標楷體" pitchFamily="65" charset="-120"/>
                          <a:ea typeface="標楷體" pitchFamily="65" charset="-120"/>
                          <a:cs typeface="Arial"/>
                          <a:sym typeface="Arial"/>
                        </a:rPr>
                        <a:t>(2)</a:t>
                      </a:r>
                      <a:r>
                        <a:rPr lang="zh-TW" altLang="en-US" sz="2400" b="0" i="0" u="none" strike="noStrike" cap="none" dirty="0">
                          <a:solidFill>
                            <a:schemeClr val="tx1"/>
                          </a:solidFill>
                          <a:latin typeface="標楷體" pitchFamily="65" charset="-120"/>
                          <a:ea typeface="標楷體" pitchFamily="65" charset="-120"/>
                          <a:cs typeface="Arial"/>
                          <a:sym typeface="Arial"/>
                        </a:rPr>
                        <a:t>相較於當時臺灣省原有本省人」，</a:t>
                      </a:r>
                      <a:r>
                        <a:rPr lang="zh-TW" altLang="en-US" sz="2400" b="0" i="0" u="none" strike="noStrike" cap="none" dirty="0">
                          <a:solidFill>
                            <a:srgbClr val="FF0000"/>
                          </a:solidFill>
                          <a:latin typeface="標楷體" pitchFamily="65" charset="-120"/>
                          <a:ea typeface="標楷體" pitchFamily="65" charset="-120"/>
                          <a:cs typeface="Arial"/>
                          <a:sym typeface="Arial"/>
                        </a:rPr>
                        <a:t>這波移民有「外省人」的俗稱</a:t>
                      </a:r>
                      <a:r>
                        <a:rPr lang="zh-TW" altLang="en-US" sz="2400" b="0" i="0" u="none" strike="noStrike" cap="none" dirty="0">
                          <a:solidFill>
                            <a:schemeClr val="tx1"/>
                          </a:solidFill>
                          <a:latin typeface="標楷體" pitchFamily="65" charset="-120"/>
                          <a:ea typeface="標楷體" pitchFamily="65" charset="-120"/>
                          <a:cs typeface="Arial"/>
                          <a:sym typeface="Arial"/>
                        </a:rPr>
                        <a:t>，但隨著</a:t>
                      </a:r>
                      <a:r>
                        <a:rPr lang="zh-TW" altLang="en-US" sz="2400" b="0" i="0" u="none" strike="noStrike" cap="none" dirty="0">
                          <a:solidFill>
                            <a:srgbClr val="FF0000"/>
                          </a:solidFill>
                          <a:latin typeface="標楷體" pitchFamily="65" charset="-120"/>
                          <a:ea typeface="標楷體" pitchFamily="65" charset="-120"/>
                          <a:cs typeface="Arial"/>
                          <a:sym typeface="Arial"/>
                        </a:rPr>
                        <a:t>通婚和文化融合，彼此區隔逐漸消弭</a:t>
                      </a:r>
                      <a:endParaRPr lang="en-US" altLang="zh-TW" sz="24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en-US" altLang="zh-TW" sz="2400" b="0" i="0" u="none" strike="noStrike" cap="none" dirty="0">
                          <a:solidFill>
                            <a:schemeClr val="tx1"/>
                          </a:solidFill>
                          <a:latin typeface="標楷體" pitchFamily="65" charset="-120"/>
                          <a:ea typeface="標楷體" pitchFamily="65" charset="-120"/>
                          <a:cs typeface="Arial"/>
                          <a:sym typeface="Arial"/>
                        </a:rPr>
                        <a:t>(1)</a:t>
                      </a:r>
                      <a:r>
                        <a:rPr lang="zh-TW" altLang="en-US" sz="2400" b="0" i="0" u="none" strike="noStrike" cap="none" dirty="0">
                          <a:solidFill>
                            <a:schemeClr val="tx1"/>
                          </a:solidFill>
                          <a:latin typeface="標楷體" pitchFamily="65" charset="-120"/>
                          <a:ea typeface="標楷體" pitchFamily="65" charset="-120"/>
                          <a:cs typeface="Arial"/>
                          <a:sym typeface="Arial"/>
                        </a:rPr>
                        <a:t>延續日治時期的方格狀道路都市規劃，且進行路名修正，</a:t>
                      </a:r>
                      <a:r>
                        <a:rPr lang="zh-TW" altLang="en-US" sz="2400" b="0" i="0" u="none" strike="noStrike" cap="none" dirty="0">
                          <a:solidFill>
                            <a:srgbClr val="FF0000"/>
                          </a:solidFill>
                          <a:latin typeface="標楷體" pitchFamily="65" charset="-120"/>
                          <a:ea typeface="標楷體" pitchFamily="65" charset="-120"/>
                          <a:cs typeface="Arial"/>
                          <a:sym typeface="Arial"/>
                        </a:rPr>
                        <a:t>弘揚 三民主義 及 </a:t>
                      </a:r>
                      <a:br>
                        <a:rPr lang="en-US" altLang="zh-TW" sz="2400" b="0" i="0" u="none" strike="noStrike" cap="none" dirty="0">
                          <a:solidFill>
                            <a:srgbClr val="FF0000"/>
                          </a:solidFill>
                          <a:latin typeface="標楷體" pitchFamily="65" charset="-120"/>
                          <a:ea typeface="標楷體" pitchFamily="65" charset="-120"/>
                          <a:cs typeface="Arial"/>
                          <a:sym typeface="Arial"/>
                        </a:rPr>
                      </a:br>
                      <a:r>
                        <a:rPr lang="zh-TW" altLang="en-US" sz="2400" b="0" i="0" u="none" strike="noStrike" cap="none" dirty="0">
                          <a:solidFill>
                            <a:srgbClr val="FF0000"/>
                          </a:solidFill>
                          <a:latin typeface="標楷體" pitchFamily="65" charset="-120"/>
                          <a:ea typeface="標楷體" pitchFamily="65" charset="-120"/>
                          <a:cs typeface="Arial"/>
                          <a:sym typeface="Arial"/>
                        </a:rPr>
                        <a:t>儒家文化</a:t>
                      </a:r>
                      <a:r>
                        <a:rPr lang="zh-TW" altLang="en-US" sz="2400" b="0" i="0" u="none" strike="noStrike" cap="none" dirty="0">
                          <a:solidFill>
                            <a:schemeClr val="tx1"/>
                          </a:solidFill>
                          <a:latin typeface="標楷體" pitchFamily="65" charset="-120"/>
                          <a:ea typeface="標楷體" pitchFamily="65" charset="-120"/>
                          <a:cs typeface="Arial"/>
                          <a:sym typeface="Arial"/>
                        </a:rPr>
                        <a:t>，</a:t>
                      </a:r>
                      <a:br>
                        <a:rPr lang="en-US" altLang="zh-TW" sz="2400" b="0" i="0" u="none" strike="noStrike" cap="none" dirty="0">
                          <a:solidFill>
                            <a:schemeClr val="tx1"/>
                          </a:solidFill>
                          <a:latin typeface="標楷體" pitchFamily="65" charset="-120"/>
                          <a:ea typeface="標楷體" pitchFamily="65" charset="-120"/>
                          <a:cs typeface="Arial"/>
                          <a:sym typeface="Arial"/>
                        </a:rPr>
                      </a:br>
                      <a:r>
                        <a:rPr lang="zh-TW" altLang="en-US" sz="2400" b="0" i="0" u="none" strike="noStrike" cap="none" dirty="0">
                          <a:solidFill>
                            <a:schemeClr val="tx1"/>
                          </a:solidFill>
                          <a:latin typeface="標楷體" pitchFamily="65" charset="-120"/>
                          <a:ea typeface="標楷體" pitchFamily="65" charset="-120"/>
                          <a:cs typeface="Arial"/>
                          <a:sym typeface="Arial"/>
                        </a:rPr>
                        <a:t>以高雄市區為例→</a:t>
                      </a:r>
                      <a:br>
                        <a:rPr lang="en-US" altLang="zh-TW" sz="2400" b="0" i="0" u="none" strike="noStrike" cap="none" dirty="0">
                          <a:solidFill>
                            <a:schemeClr val="tx1"/>
                          </a:solidFill>
                          <a:latin typeface="標楷體" pitchFamily="65" charset="-120"/>
                          <a:ea typeface="標楷體" pitchFamily="65" charset="-120"/>
                          <a:cs typeface="Arial"/>
                          <a:sym typeface="Arial"/>
                        </a:rPr>
                      </a:br>
                      <a:r>
                        <a:rPr lang="zh-TW" altLang="en-US" sz="2400" b="0" i="0" u="none" strike="noStrike" cap="none" dirty="0">
                          <a:solidFill>
                            <a:schemeClr val="tx1"/>
                          </a:solidFill>
                          <a:latin typeface="標楷體" pitchFamily="65" charset="-120"/>
                          <a:ea typeface="標楷體" pitchFamily="65" charset="-120"/>
                          <a:cs typeface="Arial"/>
                          <a:sym typeface="Arial"/>
                        </a:rPr>
                        <a:t>橫向：四維路、中正路、八德路</a:t>
                      </a:r>
                    </a:p>
                    <a:p>
                      <a:r>
                        <a:rPr lang="zh-TW" altLang="en-US" sz="2400" b="0" i="0" u="none" strike="noStrike" cap="none" dirty="0">
                          <a:solidFill>
                            <a:schemeClr val="tx1"/>
                          </a:solidFill>
                          <a:latin typeface="標楷體" pitchFamily="65" charset="-120"/>
                          <a:ea typeface="標楷體" pitchFamily="65" charset="-120"/>
                          <a:cs typeface="Arial"/>
                          <a:sym typeface="Arial"/>
                        </a:rPr>
                        <a:t>直向：博愛路、中山路、民族路</a:t>
                      </a:r>
                    </a:p>
                    <a:p>
                      <a:r>
                        <a:rPr lang="en-US" altLang="zh-TW" sz="2400" b="0" i="0" u="none" strike="noStrike" cap="none" dirty="0">
                          <a:solidFill>
                            <a:schemeClr val="tx1"/>
                          </a:solidFill>
                          <a:latin typeface="標楷體" pitchFamily="65" charset="-120"/>
                          <a:ea typeface="標楷體" pitchFamily="65" charset="-120"/>
                          <a:cs typeface="Arial"/>
                          <a:sym typeface="Arial"/>
                        </a:rPr>
                        <a:t>(2)</a:t>
                      </a:r>
                      <a:r>
                        <a:rPr lang="zh-TW" altLang="en-US" sz="2400" b="0" i="0" u="none" strike="noStrike" cap="none" dirty="0">
                          <a:solidFill>
                            <a:schemeClr val="tx1"/>
                          </a:solidFill>
                          <a:latin typeface="標楷體" pitchFamily="65" charset="-120"/>
                          <a:ea typeface="標楷體" pitchFamily="65" charset="-120"/>
                          <a:cs typeface="Arial"/>
                          <a:sym typeface="Arial"/>
                        </a:rPr>
                        <a:t>弘揚儒家文化、三民主義，以復興中國的理想→ 「忠孝」、「仁愛」、「民權」、「民生」、「復興」、「建國」等路名</a:t>
                      </a:r>
                    </a:p>
                    <a:p>
                      <a:r>
                        <a:rPr lang="en-US" altLang="zh-TW" sz="2400" b="0" i="0" u="none" strike="noStrike" cap="none" dirty="0">
                          <a:solidFill>
                            <a:schemeClr val="tx1"/>
                          </a:solidFill>
                          <a:latin typeface="標楷體" pitchFamily="65" charset="-120"/>
                          <a:ea typeface="標楷體" pitchFamily="65" charset="-120"/>
                          <a:cs typeface="Arial"/>
                          <a:sym typeface="Arial"/>
                        </a:rPr>
                        <a:t>(3)</a:t>
                      </a:r>
                      <a:r>
                        <a:rPr lang="zh-TW" altLang="en-US" sz="2400" b="0" i="0" u="none" strike="noStrike" cap="none" dirty="0">
                          <a:solidFill>
                            <a:srgbClr val="FF0000"/>
                          </a:solidFill>
                          <a:latin typeface="標楷體" pitchFamily="65" charset="-120"/>
                          <a:ea typeface="標楷體" pitchFamily="65" charset="-120"/>
                          <a:cs typeface="Arial"/>
                          <a:sym typeface="Arial"/>
                        </a:rPr>
                        <a:t>近代 多元文化及本土意識抬頭</a:t>
                      </a:r>
                    </a:p>
                    <a:p>
                      <a:r>
                        <a:rPr lang="zh-TW" altLang="en-US" sz="2400" b="0" i="0" u="none" strike="noStrike" cap="none" dirty="0">
                          <a:solidFill>
                            <a:schemeClr val="tx1"/>
                          </a:solidFill>
                          <a:latin typeface="標楷體" pitchFamily="65" charset="-120"/>
                          <a:ea typeface="標楷體" pitchFamily="65" charset="-120"/>
                          <a:cs typeface="Arial"/>
                          <a:sym typeface="Arial"/>
                        </a:rPr>
                        <a:t>→臺北「介壽路」更名「凱達格蘭大道」；高雄「三民鄉」改為「那瑪夏區」</a:t>
                      </a:r>
                      <a:endParaRPr lang="en-US" altLang="zh-TW" sz="24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矩形 7"/>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p.176</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42</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6360596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1248140" y="521283"/>
            <a:ext cx="7848872" cy="607191"/>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sz="2200" dirty="0">
              <a:latin typeface="標楷體" pitchFamily="65" charset="-120"/>
              <a:ea typeface="標楷體" pitchFamily="65" charset="-120"/>
            </a:endParaRPr>
          </a:p>
          <a:p>
            <a:endParaRPr lang="en-US" altLang="zh-TW" sz="2200" dirty="0">
              <a:latin typeface="標楷體" pitchFamily="65" charset="-120"/>
              <a:ea typeface="標楷體" pitchFamily="65" charset="-120"/>
            </a:endParaRPr>
          </a:p>
          <a:p>
            <a:r>
              <a:rPr lang="zh-TW" altLang="en-US" sz="2200" dirty="0">
                <a:latin typeface="標楷體" pitchFamily="65" charset="-120"/>
                <a:ea typeface="標楷體" pitchFamily="65" charset="-120"/>
              </a:rPr>
              <a:t>三、</a:t>
            </a:r>
            <a:r>
              <a:rPr lang="zh-TW" altLang="en-US" sz="2200" dirty="0">
                <a:solidFill>
                  <a:srgbClr val="FF0000"/>
                </a:solidFill>
                <a:latin typeface="標楷體" pitchFamily="65" charset="-120"/>
                <a:ea typeface="標楷體" pitchFamily="65" charset="-120"/>
              </a:rPr>
              <a:t>臺灣與東南亞的連結</a:t>
            </a:r>
            <a:endParaRPr lang="en-US" altLang="zh-TW" sz="2200" dirty="0">
              <a:solidFill>
                <a:srgbClr val="FF0000"/>
              </a:solidFill>
              <a:latin typeface="標楷體" pitchFamily="65" charset="-120"/>
              <a:ea typeface="標楷體" pitchFamily="65" charset="-120"/>
            </a:endParaRPr>
          </a:p>
          <a:p>
            <a:r>
              <a:rPr lang="zh-TW" altLang="en-US" sz="2200" dirty="0">
                <a:latin typeface="標楷體" pitchFamily="65" charset="-120"/>
                <a:ea typeface="標楷體" pitchFamily="65" charset="-120"/>
              </a:rPr>
              <a:t>    近代隨著交通革新及經濟成長，人口的國際移動日益普遍。與臺灣相鄰的東南亞地區更是互動頻繁。</a:t>
            </a:r>
            <a:endParaRPr lang="en-US" altLang="zh-TW" sz="2200" dirty="0">
              <a:latin typeface="標楷體" pitchFamily="65" charset="-120"/>
              <a:ea typeface="標楷體" pitchFamily="65" charset="-120"/>
            </a:endParaRPr>
          </a:p>
        </p:txBody>
      </p:sp>
      <p:graphicFrame>
        <p:nvGraphicFramePr>
          <p:cNvPr id="10" name="Group 47"/>
          <p:cNvGraphicFramePr>
            <a:graphicFrameLocks noGrp="1"/>
          </p:cNvGraphicFramePr>
          <p:nvPr>
            <p:extLst>
              <p:ext uri="{D42A27DB-BD31-4B8C-83A1-F6EECF244321}">
                <p14:modId xmlns:p14="http://schemas.microsoft.com/office/powerpoint/2010/main" val="3042955937"/>
              </p:ext>
            </p:extLst>
          </p:nvPr>
        </p:nvGraphicFramePr>
        <p:xfrm>
          <a:off x="73026" y="1157121"/>
          <a:ext cx="9023986" cy="3175248"/>
        </p:xfrm>
        <a:graphic>
          <a:graphicData uri="http://schemas.openxmlformats.org/drawingml/2006/table">
            <a:tbl>
              <a:tblPr/>
              <a:tblGrid>
                <a:gridCol w="1114598">
                  <a:extLst>
                    <a:ext uri="{9D8B030D-6E8A-4147-A177-3AD203B41FA5}">
                      <a16:colId xmlns:a16="http://schemas.microsoft.com/office/drawing/2014/main" val="20000"/>
                    </a:ext>
                  </a:extLst>
                </a:gridCol>
                <a:gridCol w="4608512">
                  <a:extLst>
                    <a:ext uri="{9D8B030D-6E8A-4147-A177-3AD203B41FA5}">
                      <a16:colId xmlns:a16="http://schemas.microsoft.com/office/drawing/2014/main" val="20001"/>
                    </a:ext>
                  </a:extLst>
                </a:gridCol>
                <a:gridCol w="3300876">
                  <a:extLst>
                    <a:ext uri="{9D8B030D-6E8A-4147-A177-3AD203B41FA5}">
                      <a16:colId xmlns:a16="http://schemas.microsoft.com/office/drawing/2014/main" val="20002"/>
                    </a:ext>
                  </a:extLst>
                </a:gridCol>
              </a:tblGrid>
              <a:tr h="43204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rgbClr val="FF0000"/>
                          </a:solidFill>
                          <a:latin typeface="標楷體" pitchFamily="65" charset="-120"/>
                          <a:ea typeface="標楷體" pitchFamily="65" charset="-120"/>
                          <a:cs typeface="Arial"/>
                          <a:sym typeface="Arial"/>
                        </a:rPr>
                        <a:t>新住民</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rgbClr val="FF0000"/>
                          </a:solidFill>
                          <a:latin typeface="標楷體" pitchFamily="65" charset="-120"/>
                          <a:ea typeface="標楷體" pitchFamily="65" charset="-120"/>
                          <a:cs typeface="Arial"/>
                          <a:sym typeface="Arial"/>
                        </a:rPr>
                        <a:t>東南亞移工</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4729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遷移類型</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2000" b="0" i="0" u="none" strike="noStrike" cap="none" dirty="0">
                          <a:solidFill>
                            <a:srgbClr val="FF0000"/>
                          </a:solidFill>
                          <a:latin typeface="標楷體" pitchFamily="65" charset="-120"/>
                          <a:ea typeface="標楷體" pitchFamily="65" charset="-120"/>
                          <a:cs typeface="Arial"/>
                          <a:sym typeface="Arial"/>
                        </a:rPr>
                        <a:t>永久</a:t>
                      </a:r>
                      <a:r>
                        <a:rPr lang="zh-TW" altLang="en-US" sz="2000" b="0" i="0" u="none" strike="noStrike" cap="none" dirty="0">
                          <a:solidFill>
                            <a:schemeClr val="tx1"/>
                          </a:solidFill>
                          <a:latin typeface="標楷體" pitchFamily="65" charset="-120"/>
                          <a:ea typeface="標楷體" pitchFamily="65" charset="-120"/>
                          <a:cs typeface="Arial"/>
                          <a:sym typeface="Arial"/>
                        </a:rPr>
                        <a:t>性移民</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2000" b="0" i="0" u="none" strike="noStrike" cap="none" dirty="0">
                          <a:solidFill>
                            <a:srgbClr val="FF0000"/>
                          </a:solidFill>
                          <a:latin typeface="標楷體" pitchFamily="65" charset="-120"/>
                          <a:ea typeface="標楷體" pitchFamily="65" charset="-120"/>
                          <a:cs typeface="Arial"/>
                          <a:sym typeface="Arial"/>
                        </a:rPr>
                        <a:t>短期</a:t>
                      </a:r>
                      <a:r>
                        <a:rPr lang="zh-TW" altLang="en-US" sz="2000" b="0" i="0" u="none" strike="noStrike" cap="none" dirty="0">
                          <a:solidFill>
                            <a:schemeClr val="tx1"/>
                          </a:solidFill>
                          <a:latin typeface="標楷體" pitchFamily="65" charset="-120"/>
                          <a:ea typeface="標楷體" pitchFamily="65" charset="-120"/>
                          <a:cs typeface="Arial"/>
                          <a:sym typeface="Arial"/>
                        </a:rPr>
                        <a:t>性移民</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29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背景</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000" b="0" i="0" u="none" strike="noStrike" cap="none" dirty="0">
                          <a:solidFill>
                            <a:schemeClr val="tx1"/>
                          </a:solidFill>
                          <a:latin typeface="標楷體" pitchFamily="65" charset="-120"/>
                          <a:ea typeface="標楷體" pitchFamily="65" charset="-120"/>
                          <a:cs typeface="Arial"/>
                          <a:sym typeface="Arial"/>
                        </a:rPr>
                        <a:t>1980 </a:t>
                      </a:r>
                      <a:r>
                        <a:rPr lang="zh-TW" altLang="en-US" sz="2000" b="0" i="0" u="none" strike="noStrike" cap="none" dirty="0">
                          <a:solidFill>
                            <a:schemeClr val="tx1"/>
                          </a:solidFill>
                          <a:latin typeface="標楷體" pitchFamily="65" charset="-120"/>
                          <a:ea typeface="標楷體" pitchFamily="65" charset="-120"/>
                          <a:cs typeface="Arial"/>
                          <a:sym typeface="Arial"/>
                        </a:rPr>
                        <a:t>年代臺灣經濟快速成長，成為新興工業化國家，產業轉型連帶影響傳統農村人口外移。由於</a:t>
                      </a:r>
                      <a:r>
                        <a:rPr lang="zh-TW" altLang="en-US" sz="2000" b="0" i="0" u="none" strike="noStrike" cap="none" dirty="0">
                          <a:solidFill>
                            <a:srgbClr val="FF0000"/>
                          </a:solidFill>
                          <a:latin typeface="標楷體" pitchFamily="65" charset="-120"/>
                          <a:ea typeface="標楷體" pitchFamily="65" charset="-120"/>
                          <a:cs typeface="Arial"/>
                          <a:sym typeface="Arial"/>
                        </a:rPr>
                        <a:t>家庭照護</a:t>
                      </a:r>
                      <a:r>
                        <a:rPr lang="zh-TW" altLang="en-US" sz="2000" b="0" i="0" u="none" strike="noStrike" cap="none" dirty="0">
                          <a:solidFill>
                            <a:schemeClr val="tx1"/>
                          </a:solidFill>
                          <a:latin typeface="標楷體" pitchFamily="65" charset="-120"/>
                          <a:ea typeface="標楷體" pitchFamily="65" charset="-120"/>
                          <a:cs typeface="Arial"/>
                          <a:sym typeface="Arial"/>
                        </a:rPr>
                        <a:t>及</a:t>
                      </a:r>
                      <a:r>
                        <a:rPr lang="zh-TW" altLang="en-US" sz="2000" b="0" i="0" u="none" strike="noStrike" cap="none" dirty="0">
                          <a:solidFill>
                            <a:srgbClr val="FF0000"/>
                          </a:solidFill>
                          <a:latin typeface="標楷體" pitchFamily="65" charset="-120"/>
                          <a:ea typeface="標楷體" pitchFamily="65" charset="-120"/>
                          <a:cs typeface="Arial"/>
                          <a:sym typeface="Arial"/>
                        </a:rPr>
                        <a:t>世代傳承的需求</a:t>
                      </a:r>
                      <a:r>
                        <a:rPr lang="zh-TW" altLang="en-US" sz="2000" b="0" i="0" u="none" strike="noStrike" cap="none" dirty="0">
                          <a:solidFill>
                            <a:schemeClr val="tx1"/>
                          </a:solidFill>
                          <a:latin typeface="標楷體" pitchFamily="65" charset="-120"/>
                          <a:ea typeface="標楷體" pitchFamily="65" charset="-120"/>
                          <a:cs typeface="Arial"/>
                          <a:sym typeface="Arial"/>
                        </a:rPr>
                        <a:t>，開啟了近代女性透過婚姻進行的移民</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2000" b="0" i="0" u="none" strike="noStrike" cap="none" dirty="0">
                          <a:solidFill>
                            <a:schemeClr val="tx1"/>
                          </a:solidFill>
                          <a:latin typeface="標楷體" pitchFamily="65" charset="-120"/>
                          <a:ea typeface="標楷體" pitchFamily="65" charset="-120"/>
                          <a:cs typeface="Arial"/>
                          <a:sym typeface="Arial"/>
                        </a:rPr>
                        <a:t>為了</a:t>
                      </a:r>
                      <a:r>
                        <a:rPr lang="zh-TW" altLang="en-US" sz="2000" b="0" i="0" u="none" strike="noStrike" cap="none" dirty="0">
                          <a:solidFill>
                            <a:srgbClr val="FF0000"/>
                          </a:solidFill>
                          <a:latin typeface="標楷體" pitchFamily="65" charset="-120"/>
                          <a:ea typeface="標楷體" pitchFamily="65" charset="-120"/>
                          <a:cs typeface="Arial"/>
                          <a:sym typeface="Arial"/>
                        </a:rPr>
                        <a:t>因應基層勞力短缺</a:t>
                      </a:r>
                      <a:r>
                        <a:rPr lang="zh-TW" altLang="en-US" sz="2000" b="0" i="0" u="none" strike="noStrike" cap="none" dirty="0">
                          <a:solidFill>
                            <a:schemeClr val="tx1"/>
                          </a:solidFill>
                          <a:latin typeface="標楷體" pitchFamily="65" charset="-120"/>
                          <a:ea typeface="標楷體" pitchFamily="65" charset="-120"/>
                          <a:cs typeface="Arial"/>
                          <a:sym typeface="Arial"/>
                        </a:rPr>
                        <a:t>，政府在 </a:t>
                      </a:r>
                      <a:r>
                        <a:rPr lang="en-US" altLang="zh-TW" sz="2000" b="0" i="0" u="none" strike="noStrike" cap="none" dirty="0">
                          <a:solidFill>
                            <a:schemeClr val="tx1"/>
                          </a:solidFill>
                          <a:latin typeface="標楷體" pitchFamily="65" charset="-120"/>
                          <a:ea typeface="標楷體" pitchFamily="65" charset="-120"/>
                          <a:cs typeface="Arial"/>
                          <a:sym typeface="Arial"/>
                        </a:rPr>
                        <a:t>1989 </a:t>
                      </a:r>
                      <a:r>
                        <a:rPr lang="zh-TW" altLang="en-US" sz="2000" b="0" i="0" u="none" strike="noStrike" cap="none" dirty="0">
                          <a:solidFill>
                            <a:schemeClr val="tx1"/>
                          </a:solidFill>
                          <a:latin typeface="標楷體" pitchFamily="65" charset="-120"/>
                          <a:ea typeface="標楷體" pitchFamily="65" charset="-120"/>
                          <a:cs typeface="Arial"/>
                          <a:sym typeface="Arial"/>
                        </a:rPr>
                        <a:t>年開放引進外籍</a:t>
                      </a:r>
                      <a:r>
                        <a:rPr lang="zh-TW" altLang="en-US" sz="2000" b="0" i="0" u="none" strike="noStrike" cap="none" dirty="0">
                          <a:solidFill>
                            <a:srgbClr val="FF0000"/>
                          </a:solidFill>
                          <a:latin typeface="標楷體" pitchFamily="65" charset="-120"/>
                          <a:ea typeface="標楷體" pitchFamily="65" charset="-120"/>
                          <a:cs typeface="Arial"/>
                          <a:sym typeface="Arial"/>
                        </a:rPr>
                        <a:t>藍領</a:t>
                      </a:r>
                      <a:r>
                        <a:rPr lang="zh-TW" altLang="en-US" sz="2000" b="0" i="0" u="none" strike="noStrike" cap="none" dirty="0">
                          <a:solidFill>
                            <a:schemeClr val="tx1"/>
                          </a:solidFill>
                          <a:latin typeface="標楷體" pitchFamily="65" charset="-120"/>
                          <a:ea typeface="標楷體" pitchFamily="65" charset="-120"/>
                          <a:cs typeface="Arial"/>
                          <a:sym typeface="Arial"/>
                        </a:rPr>
                        <a:t>勞工，至 </a:t>
                      </a:r>
                      <a:r>
                        <a:rPr lang="en-US" altLang="zh-TW" sz="2000" b="0" i="0" u="none" strike="noStrike" cap="none" dirty="0">
                          <a:solidFill>
                            <a:schemeClr val="tx1"/>
                          </a:solidFill>
                          <a:latin typeface="標楷體" pitchFamily="65" charset="-120"/>
                          <a:ea typeface="標楷體" pitchFamily="65" charset="-120"/>
                          <a:cs typeface="Arial"/>
                          <a:sym typeface="Arial"/>
                        </a:rPr>
                        <a:t>2019 </a:t>
                      </a:r>
                      <a:r>
                        <a:rPr lang="zh-TW" altLang="en-US" sz="2000" b="0" i="0" u="none" strike="noStrike" cap="none" dirty="0">
                          <a:solidFill>
                            <a:schemeClr val="tx1"/>
                          </a:solidFill>
                          <a:latin typeface="標楷體" pitchFamily="65" charset="-120"/>
                          <a:ea typeface="標楷體" pitchFamily="65" charset="-120"/>
                          <a:cs typeface="Arial"/>
                          <a:sym typeface="Arial"/>
                        </a:rPr>
                        <a:t>年，移工已達</a:t>
                      </a:r>
                      <a:r>
                        <a:rPr lang="en-US" altLang="zh-TW" sz="2000" b="0" i="0" u="none" strike="noStrike" cap="none" dirty="0">
                          <a:solidFill>
                            <a:schemeClr val="tx1"/>
                          </a:solidFill>
                          <a:latin typeface="標楷體" pitchFamily="65" charset="-120"/>
                          <a:ea typeface="標楷體" pitchFamily="65" charset="-120"/>
                          <a:cs typeface="Arial"/>
                          <a:sym typeface="Arial"/>
                        </a:rPr>
                        <a:t>70 </a:t>
                      </a:r>
                      <a:r>
                        <a:rPr lang="zh-TW" altLang="en-US" sz="2000" b="0" i="0" u="none" strike="noStrike" cap="none" dirty="0">
                          <a:solidFill>
                            <a:schemeClr val="tx1"/>
                          </a:solidFill>
                          <a:latin typeface="標楷體" pitchFamily="65" charset="-120"/>
                          <a:ea typeface="標楷體" pitchFamily="65" charset="-120"/>
                          <a:cs typeface="Arial"/>
                          <a:sym typeface="Arial"/>
                        </a:rPr>
                        <a:t>萬人</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29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來源國</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2000" b="0" i="0" u="none" strike="noStrike" cap="none" dirty="0">
                          <a:solidFill>
                            <a:schemeClr val="tx1"/>
                          </a:solidFill>
                          <a:latin typeface="標楷體" pitchFamily="65" charset="-120"/>
                          <a:ea typeface="標楷體" pitchFamily="65" charset="-120"/>
                          <a:cs typeface="Arial"/>
                          <a:sym typeface="Arial"/>
                        </a:rPr>
                        <a:t>以</a:t>
                      </a:r>
                      <a:r>
                        <a:rPr lang="zh-TW" altLang="en-US" sz="2000" b="0" i="0" u="none" strike="noStrike" cap="none" dirty="0">
                          <a:solidFill>
                            <a:srgbClr val="FF0000"/>
                          </a:solidFill>
                          <a:latin typeface="標楷體" pitchFamily="65" charset="-120"/>
                          <a:ea typeface="標楷體" pitchFamily="65" charset="-120"/>
                          <a:cs typeface="Arial"/>
                          <a:sym typeface="Arial"/>
                        </a:rPr>
                        <a:t>中國籍居多</a:t>
                      </a:r>
                      <a:r>
                        <a:rPr lang="zh-TW" altLang="en-US" sz="2000" b="0" i="0" u="none" strike="noStrike" cap="none" dirty="0">
                          <a:solidFill>
                            <a:schemeClr val="tx1"/>
                          </a:solidFill>
                          <a:latin typeface="標楷體" pitchFamily="65" charset="-120"/>
                          <a:ea typeface="標楷體" pitchFamily="65" charset="-120"/>
                          <a:cs typeface="Arial"/>
                          <a:sym typeface="Arial"/>
                        </a:rPr>
                        <a:t>，占總數超過 </a:t>
                      </a:r>
                      <a:r>
                        <a:rPr lang="en-US" altLang="zh-TW" sz="2000" b="0" i="0" u="none" strike="noStrike" cap="none" dirty="0">
                          <a:solidFill>
                            <a:schemeClr val="tx1"/>
                          </a:solidFill>
                          <a:latin typeface="標楷體" pitchFamily="65" charset="-120"/>
                          <a:ea typeface="標楷體" pitchFamily="65" charset="-120"/>
                          <a:cs typeface="Arial"/>
                          <a:sym typeface="Arial"/>
                        </a:rPr>
                        <a:t>6 </a:t>
                      </a:r>
                      <a:r>
                        <a:rPr lang="zh-TW" altLang="en-US" sz="2000" b="0" i="0" u="none" strike="noStrike" cap="none" dirty="0">
                          <a:solidFill>
                            <a:schemeClr val="tx1"/>
                          </a:solidFill>
                          <a:latin typeface="標楷體" pitchFamily="65" charset="-120"/>
                          <a:ea typeface="標楷體" pitchFamily="65" charset="-120"/>
                          <a:cs typeface="Arial"/>
                          <a:sym typeface="Arial"/>
                        </a:rPr>
                        <a:t>成，</a:t>
                      </a:r>
                      <a:br>
                        <a:rPr lang="en-US" altLang="zh-TW" sz="2000" b="0" i="0" u="none" strike="noStrike" cap="none" dirty="0">
                          <a:solidFill>
                            <a:schemeClr val="tx1"/>
                          </a:solidFill>
                          <a:latin typeface="標楷體" pitchFamily="65" charset="-120"/>
                          <a:ea typeface="標楷體" pitchFamily="65" charset="-120"/>
                          <a:cs typeface="Arial"/>
                          <a:sym typeface="Arial"/>
                        </a:rPr>
                      </a:br>
                      <a:r>
                        <a:rPr lang="zh-TW" altLang="en-US" sz="2000" b="0" i="0" u="none" strike="noStrike" cap="none" dirty="0">
                          <a:solidFill>
                            <a:srgbClr val="FF0000"/>
                          </a:solidFill>
                          <a:latin typeface="標楷體" pitchFamily="65" charset="-120"/>
                          <a:ea typeface="標楷體" pitchFamily="65" charset="-120"/>
                          <a:cs typeface="Arial"/>
                          <a:sym typeface="Arial"/>
                        </a:rPr>
                        <a:t>其次</a:t>
                      </a:r>
                      <a:r>
                        <a:rPr lang="zh-TW" altLang="en-US" sz="2000" b="0" i="0" u="none" strike="noStrike" cap="none" dirty="0">
                          <a:solidFill>
                            <a:schemeClr val="tx1"/>
                          </a:solidFill>
                          <a:latin typeface="標楷體" pitchFamily="65" charset="-120"/>
                          <a:ea typeface="標楷體" pitchFamily="65" charset="-120"/>
                          <a:cs typeface="Arial"/>
                          <a:sym typeface="Arial"/>
                        </a:rPr>
                        <a:t>為</a:t>
                      </a:r>
                      <a:r>
                        <a:rPr lang="zh-TW" altLang="en-US" sz="2000" b="0" i="0" u="none" strike="noStrike" cap="none" dirty="0">
                          <a:solidFill>
                            <a:srgbClr val="FF0000"/>
                          </a:solidFill>
                          <a:latin typeface="標楷體" pitchFamily="65" charset="-120"/>
                          <a:ea typeface="標楷體" pitchFamily="65" charset="-120"/>
                          <a:cs typeface="Arial"/>
                          <a:sym typeface="Arial"/>
                        </a:rPr>
                        <a:t>越南</a:t>
                      </a:r>
                      <a:r>
                        <a:rPr lang="zh-TW" altLang="en-US" sz="2000" b="0" i="0" u="none" strike="noStrike" cap="none" dirty="0">
                          <a:solidFill>
                            <a:schemeClr val="tx1"/>
                          </a:solidFill>
                          <a:latin typeface="標楷體" pitchFamily="65" charset="-120"/>
                          <a:ea typeface="標楷體" pitchFamily="65" charset="-120"/>
                          <a:cs typeface="Arial"/>
                          <a:sym typeface="Arial"/>
                        </a:rPr>
                        <a:t>、印尼等</a:t>
                      </a:r>
                      <a:r>
                        <a:rPr lang="zh-TW" altLang="en-US" sz="2000" b="0" i="0" u="none" strike="noStrike" cap="none" dirty="0">
                          <a:solidFill>
                            <a:srgbClr val="FF0000"/>
                          </a:solidFill>
                          <a:latin typeface="標楷體" pitchFamily="65" charset="-120"/>
                          <a:ea typeface="標楷體" pitchFamily="65" charset="-120"/>
                          <a:cs typeface="Arial"/>
                          <a:sym typeface="Arial"/>
                        </a:rPr>
                        <a:t>東南亞</a:t>
                      </a:r>
                      <a:r>
                        <a:rPr lang="zh-TW" altLang="en-US" sz="2000" b="0" i="0" u="none" strike="noStrike" cap="none" dirty="0">
                          <a:solidFill>
                            <a:schemeClr val="tx1"/>
                          </a:solidFill>
                          <a:latin typeface="標楷體" pitchFamily="65" charset="-120"/>
                          <a:ea typeface="標楷體" pitchFamily="65" charset="-120"/>
                          <a:cs typeface="Arial"/>
                          <a:sym typeface="Arial"/>
                        </a:rPr>
                        <a:t>國家</a:t>
                      </a:r>
                      <a:endParaRPr lang="en-US" altLang="zh-TW" sz="20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2000" b="0" i="0" u="none" strike="noStrike" cap="none" dirty="0">
                          <a:solidFill>
                            <a:srgbClr val="FF0000"/>
                          </a:solidFill>
                          <a:latin typeface="標楷體" pitchFamily="65" charset="-120"/>
                          <a:ea typeface="標楷體" pitchFamily="65" charset="-120"/>
                          <a:cs typeface="Arial"/>
                          <a:sym typeface="Arial"/>
                        </a:rPr>
                        <a:t>勞工以印尼</a:t>
                      </a:r>
                      <a:r>
                        <a:rPr lang="zh-TW" altLang="en-US" sz="2000" b="0" i="0" u="none" strike="noStrike" cap="none" dirty="0">
                          <a:solidFill>
                            <a:schemeClr val="tx1"/>
                          </a:solidFill>
                          <a:latin typeface="標楷體" pitchFamily="65" charset="-120"/>
                          <a:ea typeface="標楷體" pitchFamily="65" charset="-120"/>
                          <a:cs typeface="Arial"/>
                          <a:sym typeface="Arial"/>
                        </a:rPr>
                        <a:t>、菲律賓、泰國、越南等東南亞鄰近國家</a:t>
                      </a:r>
                      <a:r>
                        <a:rPr lang="zh-TW" altLang="en-US" sz="2000" b="0" i="0" u="none" strike="noStrike" cap="none" dirty="0">
                          <a:solidFill>
                            <a:srgbClr val="FF0000"/>
                          </a:solidFill>
                          <a:latin typeface="標楷體" pitchFamily="65" charset="-120"/>
                          <a:ea typeface="標楷體" pitchFamily="65" charset="-120"/>
                          <a:cs typeface="Arial"/>
                          <a:sym typeface="Arial"/>
                        </a:rPr>
                        <a:t>居多</a:t>
                      </a:r>
                      <a:endParaRPr lang="en-US" altLang="zh-TW" sz="20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 name="矩形 7"/>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p.176</a:t>
            </a:r>
            <a:endParaRPr lang="zh-TW" altLang="en-US" sz="3600" b="0" dirty="0"/>
          </a:p>
        </p:txBody>
      </p:sp>
      <p:graphicFrame>
        <p:nvGraphicFramePr>
          <p:cNvPr id="9" name="Group 47"/>
          <p:cNvGraphicFramePr>
            <a:graphicFrameLocks noGrp="1"/>
          </p:cNvGraphicFramePr>
          <p:nvPr>
            <p:extLst>
              <p:ext uri="{D42A27DB-BD31-4B8C-83A1-F6EECF244321}">
                <p14:modId xmlns:p14="http://schemas.microsoft.com/office/powerpoint/2010/main" val="1150799108"/>
              </p:ext>
            </p:extLst>
          </p:nvPr>
        </p:nvGraphicFramePr>
        <p:xfrm>
          <a:off x="73026" y="4332369"/>
          <a:ext cx="9064977" cy="2133600"/>
        </p:xfrm>
        <a:graphic>
          <a:graphicData uri="http://schemas.openxmlformats.org/drawingml/2006/table">
            <a:tbl>
              <a:tblPr/>
              <a:tblGrid>
                <a:gridCol w="1109167">
                  <a:extLst>
                    <a:ext uri="{9D8B030D-6E8A-4147-A177-3AD203B41FA5}">
                      <a16:colId xmlns:a16="http://schemas.microsoft.com/office/drawing/2014/main" val="20000"/>
                    </a:ext>
                  </a:extLst>
                </a:gridCol>
                <a:gridCol w="4608512">
                  <a:extLst>
                    <a:ext uri="{9D8B030D-6E8A-4147-A177-3AD203B41FA5}">
                      <a16:colId xmlns:a16="http://schemas.microsoft.com/office/drawing/2014/main" val="20001"/>
                    </a:ext>
                  </a:extLst>
                </a:gridCol>
                <a:gridCol w="3347298">
                  <a:extLst>
                    <a:ext uri="{9D8B030D-6E8A-4147-A177-3AD203B41FA5}">
                      <a16:colId xmlns:a16="http://schemas.microsoft.com/office/drawing/2014/main" val="20002"/>
                    </a:ext>
                  </a:extLst>
                </a:gridCol>
              </a:tblGrid>
              <a:tr h="4729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面臨</a:t>
                      </a:r>
                      <a:endParaRPr lang="en-US" altLang="zh-TW" sz="2000" b="0" i="0" u="none" strike="noStrike" cap="none" dirty="0">
                        <a:solidFill>
                          <a:schemeClr val="tx1"/>
                        </a:solidFill>
                        <a:latin typeface="標楷體" pitchFamily="65" charset="-120"/>
                        <a:ea typeface="標楷體" pitchFamily="65" charset="-120"/>
                        <a:cs typeface="Arial"/>
                        <a:sym typeface="Arial"/>
                      </a:endParaRPr>
                    </a:p>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000" b="0" i="0" u="none" strike="noStrike" cap="none" dirty="0">
                          <a:solidFill>
                            <a:schemeClr val="tx1"/>
                          </a:solidFill>
                          <a:latin typeface="標楷體" pitchFamily="65" charset="-120"/>
                          <a:ea typeface="標楷體" pitchFamily="65" charset="-120"/>
                          <a:cs typeface="Arial"/>
                          <a:sym typeface="Arial"/>
                        </a:rPr>
                        <a:t>課題</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en-US" altLang="zh-TW" sz="2000" b="0" i="0" u="none" strike="noStrike" cap="none" dirty="0">
                          <a:solidFill>
                            <a:schemeClr val="tx1"/>
                          </a:solidFill>
                          <a:latin typeface="標楷體" pitchFamily="65" charset="-120"/>
                          <a:ea typeface="標楷體" pitchFamily="65" charset="-120"/>
                          <a:cs typeface="Arial"/>
                          <a:sym typeface="Arial"/>
                        </a:rPr>
                        <a:t>1.</a:t>
                      </a:r>
                      <a:r>
                        <a:rPr lang="zh-TW" altLang="en-US" sz="2000" b="0" i="0" u="none" strike="noStrike" cap="none" dirty="0">
                          <a:solidFill>
                            <a:schemeClr val="tx1"/>
                          </a:solidFill>
                          <a:latin typeface="標楷體" pitchFamily="65" charset="-120"/>
                          <a:ea typeface="標楷體" pitchFamily="65" charset="-120"/>
                          <a:cs typeface="Arial"/>
                          <a:sym typeface="Arial"/>
                        </a:rPr>
                        <a:t>近代</a:t>
                      </a:r>
                      <a:r>
                        <a:rPr lang="zh-TW" altLang="en-US" sz="2000" b="0" i="0" u="none" strike="noStrike" cap="none" dirty="0">
                          <a:solidFill>
                            <a:srgbClr val="FF0000"/>
                          </a:solidFill>
                          <a:latin typeface="標楷體" pitchFamily="65" charset="-120"/>
                          <a:ea typeface="標楷體" pitchFamily="65" charset="-120"/>
                          <a:cs typeface="Arial"/>
                          <a:sym typeface="Arial"/>
                        </a:rPr>
                        <a:t>東南亞各國經濟快速成長</a:t>
                      </a:r>
                      <a:r>
                        <a:rPr lang="zh-TW" altLang="en-US" sz="2000" b="0" i="0" u="none" strike="noStrike" cap="none" dirty="0">
                          <a:solidFill>
                            <a:schemeClr val="tx1"/>
                          </a:solidFill>
                          <a:latin typeface="標楷體" pitchFamily="65" charset="-120"/>
                          <a:ea typeface="標楷體" pitchFamily="65" charset="-120"/>
                          <a:cs typeface="Arial"/>
                          <a:sym typeface="Arial"/>
                        </a:rPr>
                        <a:t>，成為臺灣極力爭取合作的對象，新住民及其子女的語言及文化背景即是臺灣連結東南亞的媒介</a:t>
                      </a:r>
                    </a:p>
                    <a:p>
                      <a:r>
                        <a:rPr lang="en-US" altLang="zh-TW" sz="2000" b="0" i="0" u="none" strike="noStrike" cap="none" dirty="0">
                          <a:solidFill>
                            <a:schemeClr val="tx1"/>
                          </a:solidFill>
                          <a:latin typeface="標楷體" pitchFamily="65" charset="-120"/>
                          <a:ea typeface="標楷體" pitchFamily="65" charset="-120"/>
                          <a:cs typeface="Arial"/>
                          <a:sym typeface="Arial"/>
                        </a:rPr>
                        <a:t>2.</a:t>
                      </a:r>
                      <a:r>
                        <a:rPr lang="zh-TW" altLang="en-US" sz="2000" b="0" i="0" u="none" strike="noStrike" cap="none" dirty="0">
                          <a:solidFill>
                            <a:schemeClr val="tx1"/>
                          </a:solidFill>
                          <a:latin typeface="標楷體" pitchFamily="65" charset="-120"/>
                          <a:ea typeface="標楷體" pitchFamily="65" charset="-120"/>
                          <a:cs typeface="Arial"/>
                          <a:sym typeface="Arial"/>
                        </a:rPr>
                        <a:t>「</a:t>
                      </a:r>
                      <a:r>
                        <a:rPr lang="zh-TW" altLang="en-US" sz="2000" b="0" i="0" u="none" strike="noStrike" cap="none" dirty="0">
                          <a:solidFill>
                            <a:srgbClr val="FF0000"/>
                          </a:solidFill>
                          <a:latin typeface="標楷體" pitchFamily="65" charset="-120"/>
                          <a:ea typeface="標楷體" pitchFamily="65" charset="-120"/>
                          <a:cs typeface="Arial"/>
                          <a:sym typeface="Arial"/>
                        </a:rPr>
                        <a:t>新南向政策</a:t>
                      </a:r>
                      <a:r>
                        <a:rPr lang="zh-TW" altLang="en-US" sz="2000" b="0" i="0" u="none" strike="noStrike" cap="none" dirty="0">
                          <a:solidFill>
                            <a:schemeClr val="tx1"/>
                          </a:solidFill>
                          <a:latin typeface="標楷體" pitchFamily="65" charset="-120"/>
                          <a:ea typeface="標楷體" pitchFamily="65" charset="-120"/>
                          <a:cs typeface="Arial"/>
                          <a:sym typeface="Arial"/>
                        </a:rPr>
                        <a:t>」即</a:t>
                      </a:r>
                      <a:r>
                        <a:rPr lang="zh-TW" altLang="en-US" sz="2000" b="0" i="0" u="none" strike="noStrike" cap="none" dirty="0">
                          <a:solidFill>
                            <a:srgbClr val="FF0000"/>
                          </a:solidFill>
                          <a:latin typeface="標楷體" pitchFamily="65" charset="-120"/>
                          <a:ea typeface="標楷體" pitchFamily="65" charset="-120"/>
                          <a:cs typeface="Arial"/>
                          <a:sym typeface="Arial"/>
                        </a:rPr>
                        <a:t>鼓勵新住民取得觀光、語言教學等執照，以促進臺灣與東協的發展</a:t>
                      </a:r>
                      <a:endParaRPr lang="en-US" altLang="zh-TW" sz="20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2000" b="0" i="0" u="none" strike="noStrike" cap="none" dirty="0">
                          <a:solidFill>
                            <a:schemeClr val="tx1"/>
                          </a:solidFill>
                          <a:latin typeface="標楷體" pitchFamily="65" charset="-120"/>
                          <a:ea typeface="標楷體" pitchFamily="65" charset="-120"/>
                          <a:cs typeface="Arial"/>
                          <a:sym typeface="Arial"/>
                        </a:rPr>
                        <a:t>外籍勞工在臺多從事勞苦且臺人不願從事的工作，加上文化語言阻隔，因此常</a:t>
                      </a:r>
                      <a:r>
                        <a:rPr lang="zh-TW" altLang="en-US" sz="2000" b="0" i="0" u="none" strike="noStrike" cap="none" dirty="0">
                          <a:solidFill>
                            <a:srgbClr val="FF0000"/>
                          </a:solidFill>
                          <a:latin typeface="標楷體" pitchFamily="65" charset="-120"/>
                          <a:ea typeface="標楷體" pitchFamily="65" charset="-120"/>
                          <a:cs typeface="Arial"/>
                          <a:sym typeface="Arial"/>
                        </a:rPr>
                        <a:t>受到臺灣社會區隔對待</a:t>
                      </a:r>
                      <a:endParaRPr lang="en-US" altLang="zh-TW" sz="20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43</a:t>
            </a:fld>
            <a:endParaRPr lang="zh-TW" sz="1400">
              <a:solidFill>
                <a:schemeClr val="dk1"/>
              </a:solidFill>
              <a:latin typeface="Arial"/>
              <a:ea typeface="Arial"/>
              <a:cs typeface="Arial"/>
              <a:sym typeface="Arial"/>
            </a:endParaRPr>
          </a:p>
        </p:txBody>
      </p:sp>
      <p:pic>
        <p:nvPicPr>
          <p:cNvPr id="2050" name="Picture 2">
            <a:extLst>
              <a:ext uri="{FF2B5EF4-FFF2-40B4-BE49-F238E27FC236}">
                <a16:creationId xmlns:a16="http://schemas.microsoft.com/office/drawing/2014/main" id="{6C81A012-D415-4C3C-990E-EA3955F98D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4446"/>
          <a:stretch>
            <a:fillRect/>
          </a:stretch>
        </p:blipFill>
        <p:spPr bwMode="auto">
          <a:xfrm>
            <a:off x="4932040" y="2204864"/>
            <a:ext cx="4217957" cy="4618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0680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nodeType="clickEffect">
                                  <p:stCondLst>
                                    <p:cond delay="0"/>
                                  </p:stCondLst>
                                  <p:childTnLst>
                                    <p:animEffect transition="out" filter="wipe(left)">
                                      <p:cBhvr>
                                        <p:cTn id="6" dur="500"/>
                                        <p:tgtEl>
                                          <p:spTgt spid="2050"/>
                                        </p:tgtEl>
                                      </p:cBhvr>
                                    </p:animEffect>
                                    <p:set>
                                      <p:cBhvr>
                                        <p:cTn id="7" dur="1" fill="hold">
                                          <p:stCondLst>
                                            <p:cond delay="499"/>
                                          </p:stCondLst>
                                        </p:cTn>
                                        <p:tgtEl>
                                          <p:spTgt spid="20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649287" y="1089025"/>
            <a:ext cx="7522095" cy="5127750"/>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sz="3200" dirty="0">
              <a:latin typeface="標楷體" pitchFamily="65" charset="-120"/>
              <a:ea typeface="標楷體" pitchFamily="65" charset="-120"/>
            </a:endParaRPr>
          </a:p>
          <a:p>
            <a:endParaRPr lang="en-US" altLang="zh-TW" sz="3200" dirty="0">
              <a:latin typeface="標楷體" pitchFamily="65" charset="-120"/>
              <a:ea typeface="標楷體" pitchFamily="65" charset="-120"/>
            </a:endParaRPr>
          </a:p>
          <a:p>
            <a:r>
              <a:rPr lang="zh-TW" altLang="en-US" sz="3200" dirty="0">
                <a:latin typeface="標楷體" pitchFamily="65" charset="-120"/>
                <a:ea typeface="標楷體" pitchFamily="65" charset="-120"/>
              </a:rPr>
              <a:t>四、多元文化與</a:t>
            </a:r>
            <a:r>
              <a:rPr lang="zh-TW" altLang="en-US" sz="3200" dirty="0">
                <a:solidFill>
                  <a:srgbClr val="FF0000"/>
                </a:solidFill>
                <a:latin typeface="標楷體" pitchFamily="65" charset="-120"/>
                <a:ea typeface="標楷體" pitchFamily="65" charset="-120"/>
              </a:rPr>
              <a:t>文化合成</a:t>
            </a:r>
            <a:endParaRPr lang="en-US" altLang="zh-TW" sz="3200" dirty="0">
              <a:solidFill>
                <a:srgbClr val="FF0000"/>
              </a:solidFill>
              <a:latin typeface="標楷體" pitchFamily="65" charset="-120"/>
              <a:ea typeface="標楷體" pitchFamily="65" charset="-120"/>
            </a:endParaRPr>
          </a:p>
          <a:p>
            <a:r>
              <a:rPr lang="en-US" altLang="zh-TW" sz="3200" dirty="0">
                <a:latin typeface="標楷體" pitchFamily="65" charset="-120"/>
                <a:ea typeface="標楷體" pitchFamily="65" charset="-120"/>
              </a:rPr>
              <a:t>1.</a:t>
            </a:r>
            <a:r>
              <a:rPr lang="zh-TW" altLang="en-US" sz="3200" dirty="0">
                <a:latin typeface="標楷體" pitchFamily="65" charset="-120"/>
                <a:ea typeface="標楷體" pitchFamily="65" charset="-120"/>
              </a:rPr>
              <a:t>多元文化的價值逐漸受到世界各國的重視，強調各文化的差異與獨特性，以及對不同文化之間的尊重與寬容。</a:t>
            </a:r>
          </a:p>
          <a:p>
            <a:r>
              <a:rPr lang="en-US" altLang="zh-TW" sz="3200" dirty="0">
                <a:latin typeface="標楷體" pitchFamily="65" charset="-120"/>
                <a:ea typeface="標楷體" pitchFamily="65" charset="-120"/>
              </a:rPr>
              <a:t>2.</a:t>
            </a:r>
            <a:r>
              <a:rPr lang="zh-TW" altLang="en-US" sz="3200" dirty="0">
                <a:latin typeface="標楷體" pitchFamily="65" charset="-120"/>
                <a:ea typeface="標楷體" pitchFamily="65" charset="-120"/>
              </a:rPr>
              <a:t>臺灣從 </a:t>
            </a:r>
            <a:r>
              <a:rPr lang="en-US" altLang="zh-TW" sz="3200" dirty="0">
                <a:latin typeface="標楷體" pitchFamily="65" charset="-120"/>
                <a:ea typeface="標楷體" pitchFamily="65" charset="-120"/>
              </a:rPr>
              <a:t>1990 </a:t>
            </a:r>
            <a:r>
              <a:rPr lang="zh-TW" altLang="en-US" sz="3200" dirty="0">
                <a:latin typeface="標楷體" pitchFamily="65" charset="-120"/>
                <a:ea typeface="標楷體" pitchFamily="65" charset="-120"/>
              </a:rPr>
              <a:t>年代起逐漸化解原有</a:t>
            </a:r>
            <a:r>
              <a:rPr lang="zh-TW" altLang="en-US" sz="3200" dirty="0">
                <a:solidFill>
                  <a:srgbClr val="FF0000"/>
                </a:solidFill>
                <a:latin typeface="標楷體" pitchFamily="65" charset="-120"/>
                <a:ea typeface="標楷體" pitchFamily="65" charset="-120"/>
              </a:rPr>
              <a:t>閩、客、</a:t>
            </a:r>
            <a:r>
              <a:rPr lang="zh-TW" altLang="en-US" sz="3200" dirty="0">
                <a:latin typeface="標楷體" pitchFamily="65" charset="-120"/>
                <a:ea typeface="標楷體" pitchFamily="65" charset="-120"/>
              </a:rPr>
              <a:t>漢、</a:t>
            </a:r>
            <a:r>
              <a:rPr lang="zh-TW" altLang="en-US" sz="3200" dirty="0">
                <a:solidFill>
                  <a:srgbClr val="FF0000"/>
                </a:solidFill>
                <a:latin typeface="標楷體" pitchFamily="65" charset="-120"/>
                <a:ea typeface="標楷體" pitchFamily="65" charset="-120"/>
              </a:rPr>
              <a:t>原</a:t>
            </a:r>
            <a:r>
              <a:rPr lang="zh-TW" altLang="en-US" sz="3200" dirty="0">
                <a:latin typeface="標楷體" pitchFamily="65" charset="-120"/>
                <a:ea typeface="標楷體" pitchFamily="65" charset="-120"/>
              </a:rPr>
              <a:t>、本省及</a:t>
            </a:r>
            <a:r>
              <a:rPr lang="zh-TW" altLang="en-US" sz="3200" dirty="0">
                <a:solidFill>
                  <a:srgbClr val="FF0000"/>
                </a:solidFill>
                <a:latin typeface="標楷體" pitchFamily="65" charset="-120"/>
                <a:ea typeface="標楷體" pitchFamily="65" charset="-120"/>
              </a:rPr>
              <a:t>外省</a:t>
            </a:r>
            <a:r>
              <a:rPr lang="zh-TW" altLang="en-US" sz="3200" dirty="0">
                <a:latin typeface="標楷體" pitchFamily="65" charset="-120"/>
                <a:ea typeface="標楷體" pitchFamily="65" charset="-120"/>
              </a:rPr>
              <a:t>之間的對立和劃分，再加上近期大量的</a:t>
            </a:r>
            <a:r>
              <a:rPr lang="zh-TW" altLang="en-US" sz="3200" dirty="0">
                <a:solidFill>
                  <a:srgbClr val="FF0000"/>
                </a:solidFill>
                <a:latin typeface="標楷體" pitchFamily="65" charset="-120"/>
                <a:ea typeface="標楷體" pitchFamily="65" charset="-120"/>
              </a:rPr>
              <a:t>新住民</a:t>
            </a:r>
            <a:r>
              <a:rPr lang="zh-TW" altLang="en-US" sz="3200" dirty="0">
                <a:latin typeface="標楷體" pitchFamily="65" charset="-120"/>
                <a:ea typeface="標楷體" pitchFamily="65" charset="-120"/>
              </a:rPr>
              <a:t>融入，各族群共同生活、互動，不同文化間也產生</a:t>
            </a:r>
            <a:r>
              <a:rPr lang="zh-TW" altLang="en-US" sz="3200" dirty="0">
                <a:solidFill>
                  <a:srgbClr val="FF00FF"/>
                </a:solidFill>
                <a:latin typeface="標楷體" pitchFamily="65" charset="-120"/>
                <a:ea typeface="標楷體" pitchFamily="65" charset="-120"/>
              </a:rPr>
              <a:t>相互</a:t>
            </a:r>
            <a:r>
              <a:rPr lang="zh-TW" altLang="en-US" sz="3200" dirty="0">
                <a:solidFill>
                  <a:schemeClr val="tx1"/>
                </a:solidFill>
                <a:latin typeface="標楷體" pitchFamily="65" charset="-120"/>
                <a:ea typeface="標楷體" pitchFamily="65" charset="-120"/>
              </a:rPr>
              <a:t>學習、</a:t>
            </a:r>
            <a:r>
              <a:rPr lang="zh-TW" altLang="en-US" sz="3200" dirty="0">
                <a:solidFill>
                  <a:srgbClr val="FF00FF"/>
                </a:solidFill>
                <a:latin typeface="標楷體" pitchFamily="65" charset="-120"/>
                <a:ea typeface="標楷體" pitchFamily="65" charset="-120"/>
              </a:rPr>
              <a:t>融合</a:t>
            </a:r>
            <a:r>
              <a:rPr lang="zh-TW" altLang="en-US" sz="3200" dirty="0">
                <a:latin typeface="標楷體" pitchFamily="65" charset="-120"/>
                <a:ea typeface="標楷體" pitchFamily="65" charset="-120"/>
              </a:rPr>
              <a:t>的現象，</a:t>
            </a:r>
            <a:r>
              <a:rPr lang="zh-TW" altLang="en-US" sz="3200" dirty="0">
                <a:solidFill>
                  <a:srgbClr val="FF00FF"/>
                </a:solidFill>
                <a:latin typeface="標楷體" pitchFamily="65" charset="-120"/>
                <a:ea typeface="標楷體" pitchFamily="65" charset="-120"/>
              </a:rPr>
              <a:t>在多元文化的基礎下建構彼此尊重的社會</a:t>
            </a:r>
            <a:r>
              <a:rPr lang="zh-TW" altLang="en-US" sz="3200" dirty="0">
                <a:latin typeface="標楷體" pitchFamily="65" charset="-120"/>
                <a:ea typeface="標楷體" pitchFamily="65" charset="-120"/>
              </a:rPr>
              <a:t>。</a:t>
            </a:r>
            <a:endParaRPr lang="en-US" altLang="zh-TW" sz="3200" dirty="0">
              <a:latin typeface="標楷體" pitchFamily="65" charset="-120"/>
              <a:ea typeface="標楷體" pitchFamily="65" charset="-120"/>
            </a:endParaRPr>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44</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6584256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0" y="648072"/>
            <a:ext cx="9144000" cy="1782391"/>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en-US" altLang="zh-TW" sz="2400" dirty="0">
                <a:latin typeface="標楷體" pitchFamily="65" charset="-120"/>
                <a:ea typeface="標楷體" pitchFamily="65" charset="-120"/>
              </a:rPr>
              <a:t>3.</a:t>
            </a:r>
            <a:r>
              <a:rPr lang="zh-TW" altLang="en-US" sz="2400" dirty="0">
                <a:latin typeface="標楷體" pitchFamily="65" charset="-120"/>
                <a:ea typeface="標楷體" pitchFamily="65" charset="-120"/>
              </a:rPr>
              <a:t>舉例：</a:t>
            </a:r>
          </a:p>
          <a:p>
            <a:r>
              <a:rPr lang="en-US" altLang="zh-TW" sz="2400" dirty="0">
                <a:latin typeface="標楷體" pitchFamily="65" charset="-120"/>
                <a:ea typeface="標楷體" pitchFamily="65" charset="-120"/>
              </a:rPr>
              <a:t>(1)</a:t>
            </a:r>
            <a:r>
              <a:rPr lang="zh-TW" altLang="en-US" sz="2400" dirty="0">
                <a:latin typeface="標楷體" pitchFamily="65" charset="-120"/>
                <a:ea typeface="標楷體" pitchFamily="65" charset="-120"/>
              </a:rPr>
              <a:t>臺南市鹽水區天主堂：外觀形似漢人廟宇的紅瓦、石獅。牆上壁畫繪製「最後的晚餐」，人物形象、衣著為儒士漢服。</a:t>
            </a:r>
            <a:endParaRPr lang="en-US" altLang="zh-TW" sz="2400" dirty="0">
              <a:latin typeface="標楷體" pitchFamily="65" charset="-120"/>
              <a:ea typeface="標楷體" pitchFamily="65" charset="-120"/>
            </a:endParaRPr>
          </a:p>
          <a:p>
            <a:r>
              <a:rPr lang="en-US" altLang="zh-TW" sz="2400" dirty="0">
                <a:latin typeface="標楷體" pitchFamily="65" charset="-120"/>
                <a:ea typeface="標楷體" pitchFamily="65" charset="-120"/>
              </a:rPr>
              <a:t>(2)</a:t>
            </a:r>
            <a:r>
              <a:rPr lang="zh-TW" altLang="en-US" sz="2400" dirty="0">
                <a:solidFill>
                  <a:srgbClr val="FF00FF"/>
                </a:solidFill>
                <a:latin typeface="標楷體" pitchFamily="65" charset="-120"/>
                <a:ea typeface="標楷體" pitchFamily="65" charset="-120"/>
              </a:rPr>
              <a:t>臺南</a:t>
            </a:r>
            <a:r>
              <a:rPr lang="zh-TW" altLang="en-US" sz="2400" dirty="0">
                <a:latin typeface="標楷體" pitchFamily="65" charset="-120"/>
                <a:ea typeface="標楷體" pitchFamily="65" charset="-120"/>
              </a:rPr>
              <a:t>市麻豆區的三元宮</a:t>
            </a:r>
            <a:r>
              <a:rPr lang="en-US" altLang="zh-TW" sz="2400" dirty="0">
                <a:latin typeface="標楷體" pitchFamily="65" charset="-120"/>
                <a:ea typeface="標楷體" pitchFamily="65" charset="-120"/>
              </a:rPr>
              <a:t>—</a:t>
            </a:r>
            <a:r>
              <a:rPr lang="zh-TW" altLang="en-US" sz="2400" dirty="0">
                <a:latin typeface="標楷體" pitchFamily="65" charset="-120"/>
                <a:ea typeface="標楷體" pitchFamily="65" charset="-120"/>
              </a:rPr>
              <a:t>尫祖廟：三元宮為漢人信仰宮廟，因當地曾為</a:t>
            </a:r>
            <a:r>
              <a:rPr lang="zh-TW" altLang="en-US" sz="2400" dirty="0">
                <a:solidFill>
                  <a:srgbClr val="FF00FF"/>
                </a:solidFill>
                <a:latin typeface="標楷體" pitchFamily="65" charset="-120"/>
                <a:ea typeface="標楷體" pitchFamily="65" charset="-120"/>
              </a:rPr>
              <a:t>西拉雅族</a:t>
            </a:r>
            <a:r>
              <a:rPr lang="zh-TW" altLang="en-US" sz="2400" dirty="0">
                <a:latin typeface="標楷體" pitchFamily="65" charset="-120"/>
                <a:ea typeface="標楷體" pitchFamily="65" charset="-120"/>
              </a:rPr>
              <a:t>蔴荳社區域，因此三元宮後蓋有</a:t>
            </a:r>
            <a:r>
              <a:rPr lang="zh-TW" altLang="en-US" sz="2400" dirty="0">
                <a:solidFill>
                  <a:srgbClr val="FF00FF"/>
                </a:solidFill>
                <a:latin typeface="標楷體" pitchFamily="65" charset="-120"/>
                <a:ea typeface="標楷體" pitchFamily="65" charset="-120"/>
              </a:rPr>
              <a:t>尫祖祠，供奉</a:t>
            </a:r>
            <a:r>
              <a:rPr lang="zh-TW" altLang="en-US" sz="2400" dirty="0">
                <a:latin typeface="標楷體" pitchFamily="65" charset="-120"/>
                <a:ea typeface="標楷體" pitchFamily="65" charset="-120"/>
              </a:rPr>
              <a:t>平埔族的祖靈信仰「</a:t>
            </a:r>
            <a:r>
              <a:rPr lang="zh-TW" altLang="en-US" sz="2400" dirty="0">
                <a:solidFill>
                  <a:srgbClr val="FF00FF"/>
                </a:solidFill>
                <a:latin typeface="標楷體" pitchFamily="65" charset="-120"/>
                <a:ea typeface="標楷體" pitchFamily="65" charset="-120"/>
              </a:rPr>
              <a:t>阿立祖</a:t>
            </a:r>
            <a:r>
              <a:rPr lang="zh-TW" altLang="en-US" sz="2400" dirty="0">
                <a:latin typeface="標楷體" pitchFamily="65" charset="-120"/>
                <a:ea typeface="標楷體" pitchFamily="65" charset="-120"/>
              </a:rPr>
              <a:t>」，</a:t>
            </a:r>
            <a:r>
              <a:rPr lang="zh-TW" altLang="en-US" sz="2400" dirty="0">
                <a:solidFill>
                  <a:srgbClr val="FF00FF"/>
                </a:solidFill>
                <a:latin typeface="標楷體" pitchFamily="65" charset="-120"/>
                <a:ea typeface="標楷體" pitchFamily="65" charset="-120"/>
              </a:rPr>
              <a:t>祭以檳榔</a:t>
            </a:r>
            <a:r>
              <a:rPr lang="zh-TW" altLang="en-US" sz="2400" dirty="0">
                <a:latin typeface="標楷體" pitchFamily="65" charset="-120"/>
                <a:ea typeface="標楷體" pitchFamily="65" charset="-120"/>
              </a:rPr>
              <a:t>，並</a:t>
            </a:r>
            <a:r>
              <a:rPr lang="zh-TW" altLang="en-US" sz="2400" dirty="0">
                <a:solidFill>
                  <a:srgbClr val="FF00FF"/>
                </a:solidFill>
                <a:latin typeface="標楷體" pitchFamily="65" charset="-120"/>
                <a:ea typeface="標楷體" pitchFamily="65" charset="-120"/>
              </a:rPr>
              <a:t>以牌位取代傳統的「壺」</a:t>
            </a:r>
            <a:endParaRPr lang="en-US" altLang="zh-TW" sz="2400" dirty="0">
              <a:solidFill>
                <a:srgbClr val="FF00FF"/>
              </a:solidFill>
              <a:latin typeface="標楷體" pitchFamily="65" charset="-120"/>
              <a:ea typeface="標楷體" pitchFamily="65" charset="-120"/>
            </a:endParaRPr>
          </a:p>
        </p:txBody>
      </p:sp>
      <p:pic>
        <p:nvPicPr>
          <p:cNvPr id="1843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2" y="2492896"/>
            <a:ext cx="4765942" cy="44425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92727" y="2492896"/>
            <a:ext cx="4221235" cy="43461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45</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14868284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hape 659"/>
          <p:cNvSpPr/>
          <p:nvPr/>
        </p:nvSpPr>
        <p:spPr>
          <a:xfrm rot="21324055">
            <a:off x="-6581" y="639223"/>
            <a:ext cx="2062435" cy="580546"/>
          </a:xfrm>
          <a:prstGeom prst="rect">
            <a:avLst/>
          </a:prstGeom>
          <a:noFill/>
          <a:ln>
            <a:noFill/>
          </a:ln>
        </p:spPr>
        <p:txBody>
          <a:bodyPr wrap="square" lIns="91425" tIns="45700" rIns="91425" bIns="45700" anchor="ctr" anchorCtr="0">
            <a:noAutofit/>
          </a:bodyPr>
          <a:lstStyle/>
          <a:p>
            <a:pPr marL="0" marR="0" lvl="0" indent="0" algn="ctr" rtl="0">
              <a:spcBef>
                <a:spcPts val="0"/>
              </a:spcBef>
              <a:spcAft>
                <a:spcPts val="0"/>
              </a:spcAft>
              <a:buSzPct val="25000"/>
              <a:buNone/>
            </a:pPr>
            <a:r>
              <a:rPr lang="zh-TW" sz="3600" b="1" i="0" u="none" strike="noStrike" cap="none" dirty="0">
                <a:solidFill>
                  <a:schemeClr val="dk1"/>
                </a:solidFill>
                <a:latin typeface="Arial"/>
                <a:ea typeface="Arial"/>
                <a:cs typeface="Arial"/>
                <a:sym typeface="Arial"/>
              </a:rPr>
              <a:t>第</a:t>
            </a:r>
            <a:r>
              <a:rPr lang="zh-TW" altLang="en-US" sz="3600" b="1" dirty="0">
                <a:solidFill>
                  <a:schemeClr val="dk1"/>
                </a:solidFill>
              </a:rPr>
              <a:t>三</a:t>
            </a:r>
            <a:r>
              <a:rPr lang="zh-TW" sz="3600" b="1" i="0" u="none" strike="noStrike" cap="none" dirty="0">
                <a:solidFill>
                  <a:schemeClr val="dk1"/>
                </a:solidFill>
                <a:latin typeface="Arial"/>
                <a:ea typeface="Arial"/>
                <a:cs typeface="Arial"/>
                <a:sym typeface="Arial"/>
              </a:rPr>
              <a:t>節</a:t>
            </a:r>
          </a:p>
        </p:txBody>
      </p:sp>
      <p:sp>
        <p:nvSpPr>
          <p:cNvPr id="5" name="Shape 660"/>
          <p:cNvSpPr/>
          <p:nvPr/>
        </p:nvSpPr>
        <p:spPr>
          <a:xfrm>
            <a:off x="2051468" y="516019"/>
            <a:ext cx="5832648" cy="719708"/>
          </a:xfrm>
          <a:prstGeom prst="rect">
            <a:avLst/>
          </a:prstGeom>
          <a:noFill/>
          <a:ln>
            <a:noFill/>
          </a:ln>
        </p:spPr>
        <p:txBody>
          <a:bodyPr wrap="square" lIns="91425" tIns="45700" rIns="91425" bIns="45700" anchor="ctr" anchorCtr="0">
            <a:noAutofit/>
          </a:bodyPr>
          <a:lstStyle/>
          <a:p>
            <a:pPr lvl="0" algn="ctr">
              <a:buSzPct val="25000"/>
            </a:pPr>
            <a:r>
              <a:rPr lang="zh-TW" altLang="en-US" sz="4000" b="1" dirty="0">
                <a:solidFill>
                  <a:schemeClr val="dk1"/>
                </a:solidFill>
              </a:rPr>
              <a:t>臺灣經濟發展歷程</a:t>
            </a:r>
            <a:endParaRPr lang="zh-TW" sz="4000" b="1" i="0" u="none" strike="noStrike" cap="none" dirty="0">
              <a:solidFill>
                <a:schemeClr val="dk1"/>
              </a:solidFill>
              <a:latin typeface="Arial"/>
              <a:ea typeface="Arial"/>
              <a:cs typeface="Arial"/>
              <a:sym typeface="Arial"/>
            </a:endParaRP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556792"/>
            <a:ext cx="8530509" cy="48965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a:spLocks noChangeArrowheads="1"/>
          </p:cNvSpPr>
          <p:nvPr/>
        </p:nvSpPr>
        <p:spPr bwMode="auto">
          <a:xfrm>
            <a:off x="400106" y="1988840"/>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p.166</a:t>
            </a:r>
            <a:endParaRPr lang="zh-TW" altLang="en-US" sz="3600" b="0" dirty="0"/>
          </a:p>
        </p:txBody>
      </p:sp>
      <p:sp>
        <p:nvSpPr>
          <p:cNvPr id="2" name="投影片編號版面配置區 1"/>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b="0" i="0" u="none" strike="noStrike" cap="none" smtClean="0">
                <a:solidFill>
                  <a:schemeClr val="dk1"/>
                </a:solidFill>
                <a:latin typeface="Arial"/>
                <a:ea typeface="Arial"/>
                <a:cs typeface="Arial"/>
                <a:sym typeface="Arial"/>
              </a:rPr>
              <a:t>46</a:t>
            </a:fld>
            <a:endParaRPr lang="zh-TW" sz="14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979715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a:xfrm>
            <a:off x="555440" y="3761964"/>
            <a:ext cx="7772400" cy="1500187"/>
          </a:xfrm>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301625" y="1777000"/>
            <a:ext cx="8352928" cy="4896544"/>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r>
              <a:rPr lang="zh-TW" altLang="en-US" sz="2400" dirty="0">
                <a:solidFill>
                  <a:srgbClr val="FF0000"/>
                </a:solidFill>
                <a:latin typeface="標楷體" pitchFamily="65" charset="-120"/>
                <a:ea typeface="標楷體" pitchFamily="65" charset="-120"/>
              </a:rPr>
              <a:t>一、工業化前</a:t>
            </a:r>
            <a:r>
              <a:rPr lang="zh-TW" altLang="en-US" sz="2400" dirty="0">
                <a:latin typeface="標楷體" pitchFamily="65" charset="-120"/>
                <a:ea typeface="標楷體" pitchFamily="65" charset="-120"/>
              </a:rPr>
              <a:t>：</a:t>
            </a:r>
            <a:r>
              <a:rPr lang="zh-TW" altLang="en-US" sz="2400" dirty="0">
                <a:solidFill>
                  <a:srgbClr val="FF0000"/>
                </a:solidFill>
                <a:latin typeface="標楷體" pitchFamily="65" charset="-120"/>
                <a:ea typeface="標楷體" pitchFamily="65" charset="-120"/>
              </a:rPr>
              <a:t>一級產業 </a:t>
            </a:r>
            <a:r>
              <a:rPr lang="zh-TW" altLang="en-US" sz="2400" dirty="0">
                <a:solidFill>
                  <a:schemeClr val="tx1"/>
                </a:solidFill>
                <a:latin typeface="標楷體" pitchFamily="65" charset="-120"/>
                <a:ea typeface="標楷體" pitchFamily="65" charset="-120"/>
              </a:rPr>
              <a:t>資源</a:t>
            </a:r>
            <a:r>
              <a:rPr lang="zh-TW" altLang="en-US" sz="2400" dirty="0">
                <a:solidFill>
                  <a:srgbClr val="FF0000"/>
                </a:solidFill>
                <a:latin typeface="標楷體" pitchFamily="65" charset="-120"/>
                <a:ea typeface="標楷體" pitchFamily="65" charset="-120"/>
              </a:rPr>
              <a:t>出口</a:t>
            </a:r>
            <a:r>
              <a:rPr lang="zh-TW" altLang="en-US" sz="2400" dirty="0">
                <a:solidFill>
                  <a:schemeClr val="tx1"/>
                </a:solidFill>
                <a:latin typeface="標楷體" pitchFamily="65" charset="-120"/>
                <a:ea typeface="標楷體" pitchFamily="65" charset="-120"/>
              </a:rPr>
              <a:t>貿易</a:t>
            </a:r>
            <a:endParaRPr lang="en-US" altLang="zh-TW" sz="2400" dirty="0">
              <a:solidFill>
                <a:schemeClr val="tx1"/>
              </a:solidFill>
              <a:latin typeface="標楷體" pitchFamily="65" charset="-120"/>
              <a:ea typeface="標楷體" pitchFamily="65" charset="-120"/>
            </a:endParaRPr>
          </a:p>
          <a:p>
            <a:r>
              <a:rPr lang="zh-TW" altLang="en-US" sz="2400" dirty="0">
                <a:latin typeface="標楷體" pitchFamily="65" charset="-120"/>
                <a:ea typeface="標楷體" pitchFamily="65" charset="-120"/>
              </a:rPr>
              <a:t>臺灣面積狹小，資源及內需市場都有限制，但憑藉著</a:t>
            </a:r>
            <a:r>
              <a:rPr lang="zh-TW" altLang="en-US" sz="2400" dirty="0">
                <a:solidFill>
                  <a:srgbClr val="FF0000"/>
                </a:solidFill>
                <a:latin typeface="標楷體" pitchFamily="65" charset="-120"/>
                <a:ea typeface="標楷體" pitchFamily="65" charset="-120"/>
              </a:rPr>
              <a:t>航運交通的樞紐位置</a:t>
            </a:r>
            <a:r>
              <a:rPr lang="zh-TW" altLang="en-US" sz="2400" dirty="0">
                <a:latin typeface="標楷體" pitchFamily="65" charset="-120"/>
                <a:ea typeface="標楷體" pitchFamily="65" charset="-120"/>
              </a:rPr>
              <a:t>，發展出強烈</a:t>
            </a:r>
            <a:r>
              <a:rPr lang="zh-TW" altLang="en-US" sz="2400" dirty="0">
                <a:solidFill>
                  <a:srgbClr val="FF0000"/>
                </a:solidFill>
                <a:latin typeface="標楷體" pitchFamily="65" charset="-120"/>
                <a:ea typeface="標楷體" pitchFamily="65" charset="-120"/>
              </a:rPr>
              <a:t>出口導向</a:t>
            </a:r>
            <a:r>
              <a:rPr lang="zh-TW" altLang="en-US" sz="2400" dirty="0">
                <a:latin typeface="標楷體" pitchFamily="65" charset="-120"/>
                <a:ea typeface="標楷體" pitchFamily="65" charset="-120"/>
              </a:rPr>
              <a:t>的產業型態。</a:t>
            </a:r>
            <a:r>
              <a:rPr lang="zh-TW" altLang="en-US" sz="2400" dirty="0">
                <a:solidFill>
                  <a:srgbClr val="FF0000"/>
                </a:solidFill>
                <a:latin typeface="標楷體" pitchFamily="65" charset="-120"/>
                <a:ea typeface="標楷體" pitchFamily="65" charset="-120"/>
              </a:rPr>
              <a:t>透過貿易與世界經濟接軌</a:t>
            </a:r>
            <a:r>
              <a:rPr lang="zh-TW" altLang="en-US" sz="2400" dirty="0">
                <a:latin typeface="標楷體" pitchFamily="65" charset="-120"/>
                <a:ea typeface="標楷體" pitchFamily="65" charset="-120"/>
              </a:rPr>
              <a:t>，成為世界經濟體系一員。</a:t>
            </a:r>
            <a:endParaRPr lang="en-US" altLang="zh-TW" sz="2400" dirty="0">
              <a:latin typeface="標楷體" pitchFamily="65" charset="-120"/>
              <a:ea typeface="標楷體" pitchFamily="65" charset="-120"/>
            </a:endParaRPr>
          </a:p>
          <a:p>
            <a:endParaRPr lang="zh-TW" altLang="en-US" sz="2400" dirty="0">
              <a:latin typeface="標楷體" pitchFamily="65" charset="-120"/>
              <a:ea typeface="標楷體" pitchFamily="65" charset="-120"/>
            </a:endParaRPr>
          </a:p>
          <a:p>
            <a:r>
              <a:rPr lang="en-US" altLang="zh-TW" sz="2400" dirty="0">
                <a:latin typeface="標楷體" pitchFamily="65" charset="-120"/>
                <a:ea typeface="標楷體" pitchFamily="65" charset="-120"/>
              </a:rPr>
              <a:t>1.</a:t>
            </a:r>
            <a:r>
              <a:rPr lang="zh-TW" altLang="en-US" sz="2400" dirty="0">
                <a:solidFill>
                  <a:srgbClr val="FF0000"/>
                </a:solidFill>
                <a:latin typeface="標楷體" pitchFamily="65" charset="-120"/>
                <a:ea typeface="標楷體" pitchFamily="65" charset="-120"/>
              </a:rPr>
              <a:t>荷治時期</a:t>
            </a:r>
            <a:r>
              <a:rPr lang="zh-TW" altLang="en-US" sz="2400" dirty="0">
                <a:latin typeface="標楷體" pitchFamily="65" charset="-120"/>
                <a:ea typeface="標楷體" pitchFamily="65" charset="-120"/>
              </a:rPr>
              <a:t>：出口主要為</a:t>
            </a:r>
            <a:r>
              <a:rPr lang="zh-TW" altLang="en-US" sz="2400" dirty="0">
                <a:solidFill>
                  <a:srgbClr val="FF0000"/>
                </a:solidFill>
                <a:latin typeface="標楷體" pitchFamily="65" charset="-120"/>
                <a:ea typeface="標楷體" pitchFamily="65" charset="-120"/>
              </a:rPr>
              <a:t>鹿皮、糖、稻米</a:t>
            </a:r>
            <a:r>
              <a:rPr lang="zh-TW" altLang="en-US" sz="2400" dirty="0">
                <a:latin typeface="標楷體" pitchFamily="65" charset="-120"/>
                <a:ea typeface="標楷體" pitchFamily="65" charset="-120"/>
              </a:rPr>
              <a:t>等副熱帶農產品。</a:t>
            </a:r>
          </a:p>
          <a:p>
            <a:endParaRPr lang="en-US" altLang="zh-TW" sz="2400" dirty="0">
              <a:latin typeface="標楷體" pitchFamily="65" charset="-120"/>
              <a:ea typeface="標楷體" pitchFamily="65" charset="-120"/>
            </a:endParaRPr>
          </a:p>
          <a:p>
            <a:r>
              <a:rPr lang="en-US" altLang="zh-TW" sz="2400" dirty="0">
                <a:latin typeface="標楷體" pitchFamily="65" charset="-120"/>
                <a:ea typeface="標楷體" pitchFamily="65" charset="-120"/>
              </a:rPr>
              <a:t>2.</a:t>
            </a:r>
            <a:r>
              <a:rPr lang="zh-TW" altLang="en-US" sz="2400" dirty="0">
                <a:solidFill>
                  <a:srgbClr val="FF0000"/>
                </a:solidFill>
                <a:latin typeface="標楷體" pitchFamily="65" charset="-120"/>
                <a:ea typeface="標楷體" pitchFamily="65" charset="-120"/>
              </a:rPr>
              <a:t>清代晚期至日治時期</a:t>
            </a:r>
            <a:r>
              <a:rPr lang="zh-TW" altLang="en-US" sz="2400" dirty="0">
                <a:latin typeface="標楷體" pitchFamily="65" charset="-120"/>
                <a:ea typeface="標楷體" pitchFamily="65" charset="-120"/>
              </a:rPr>
              <a:t>：</a:t>
            </a:r>
            <a:r>
              <a:rPr lang="zh-TW" altLang="en-US" sz="2400" dirty="0">
                <a:solidFill>
                  <a:srgbClr val="FF0000"/>
                </a:solidFill>
                <a:latin typeface="標楷體" pitchFamily="65" charset="-120"/>
                <a:ea typeface="標楷體" pitchFamily="65" charset="-120"/>
              </a:rPr>
              <a:t>三大出口品</a:t>
            </a:r>
            <a:r>
              <a:rPr lang="zh-TW" altLang="en-US" sz="2400" dirty="0">
                <a:latin typeface="標楷體" pitchFamily="65" charset="-120"/>
                <a:ea typeface="標楷體" pitchFamily="65" charset="-120"/>
              </a:rPr>
              <a:t>為</a:t>
            </a:r>
            <a:r>
              <a:rPr lang="zh-TW" altLang="en-US" sz="2400" u="sng"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a:t>
            </a:r>
            <a:r>
              <a:rPr lang="zh-TW" altLang="en-US" sz="2400" u="sng"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a:t>
            </a:r>
            <a:r>
              <a:rPr lang="zh-TW" altLang="en-US" sz="2400" u="sng" dirty="0">
                <a:solidFill>
                  <a:srgbClr val="FF0000"/>
                </a:solidFill>
                <a:latin typeface="標楷體" pitchFamily="65" charset="-120"/>
                <a:ea typeface="標楷體" pitchFamily="65" charset="-120"/>
              </a:rPr>
              <a:t>        </a:t>
            </a:r>
            <a:r>
              <a:rPr lang="zh-TW" altLang="en-US" sz="2400" dirty="0">
                <a:latin typeface="標楷體" pitchFamily="65" charset="-120"/>
                <a:ea typeface="標楷體" pitchFamily="65" charset="-120"/>
              </a:rPr>
              <a:t>。</a:t>
            </a:r>
          </a:p>
          <a:p>
            <a:r>
              <a:rPr lang="en-US" altLang="zh-TW" sz="2400" dirty="0">
                <a:latin typeface="標楷體" pitchFamily="65" charset="-120"/>
                <a:ea typeface="標楷體" pitchFamily="65" charset="-120"/>
              </a:rPr>
              <a:t>(1)</a:t>
            </a:r>
            <a:r>
              <a:rPr lang="zh-TW" altLang="en-US" sz="2400" dirty="0">
                <a:solidFill>
                  <a:srgbClr val="FF0000"/>
                </a:solidFill>
                <a:latin typeface="標楷體" pitchFamily="65" charset="-120"/>
                <a:ea typeface="標楷體" pitchFamily="65" charset="-120"/>
              </a:rPr>
              <a:t>樟腦</a:t>
            </a:r>
            <a:r>
              <a:rPr lang="zh-TW" altLang="en-US" sz="2400" dirty="0">
                <a:latin typeface="標楷體" pitchFamily="65" charset="-120"/>
                <a:ea typeface="標楷體" pitchFamily="65" charset="-120"/>
              </a:rPr>
              <a:t>：臺灣為重要產地，</a:t>
            </a:r>
            <a:r>
              <a:rPr lang="zh-TW" altLang="en-US" sz="2400" dirty="0">
                <a:solidFill>
                  <a:srgbClr val="FF0000"/>
                </a:solidFill>
                <a:latin typeface="標楷體" pitchFamily="65" charset="-120"/>
                <a:ea typeface="標楷體" pitchFamily="65" charset="-120"/>
              </a:rPr>
              <a:t>年產量曾占世界總產量的 </a:t>
            </a:r>
            <a:r>
              <a:rPr lang="en-US" altLang="zh-TW" sz="2400" dirty="0">
                <a:solidFill>
                  <a:srgbClr val="FF0000"/>
                </a:solidFill>
                <a:latin typeface="標楷體" pitchFamily="65" charset="-120"/>
                <a:ea typeface="標楷體" pitchFamily="65" charset="-120"/>
              </a:rPr>
              <a:t>70 </a:t>
            </a:r>
            <a:r>
              <a:rPr lang="zh-TW" altLang="en-US" sz="2400" dirty="0">
                <a:solidFill>
                  <a:srgbClr val="FF0000"/>
                </a:solidFill>
                <a:latin typeface="標楷體" pitchFamily="65" charset="-120"/>
                <a:ea typeface="標楷體" pitchFamily="65" charset="-120"/>
              </a:rPr>
              <a:t>％</a:t>
            </a:r>
            <a:r>
              <a:rPr lang="zh-TW" altLang="en-US" sz="2400" dirty="0">
                <a:latin typeface="標楷體" pitchFamily="65" charset="-120"/>
                <a:ea typeface="標楷體" pitchFamily="65" charset="-120"/>
              </a:rPr>
              <a:t>，為世界第一。銷售遍及歐亞美各地，直至</a:t>
            </a:r>
            <a:r>
              <a:rPr lang="zh-TW" altLang="en-US" sz="2400" dirty="0">
                <a:solidFill>
                  <a:srgbClr val="FF0000"/>
                </a:solidFill>
                <a:latin typeface="標楷體" pitchFamily="65" charset="-120"/>
                <a:ea typeface="標楷體" pitchFamily="65" charset="-120"/>
              </a:rPr>
              <a:t>二戰後才因合成樟腦出現取代</a:t>
            </a:r>
            <a:r>
              <a:rPr lang="zh-TW" altLang="en-US" sz="2400" dirty="0">
                <a:latin typeface="標楷體" pitchFamily="65" charset="-120"/>
                <a:ea typeface="標楷體" pitchFamily="65" charset="-120"/>
              </a:rPr>
              <a:t>市場。</a:t>
            </a:r>
          </a:p>
          <a:p>
            <a:r>
              <a:rPr lang="en-US" altLang="zh-TW" sz="2400" dirty="0">
                <a:latin typeface="標楷體" pitchFamily="65" charset="-120"/>
                <a:ea typeface="標楷體" pitchFamily="65" charset="-120"/>
              </a:rPr>
              <a:t>(2)</a:t>
            </a:r>
            <a:r>
              <a:rPr lang="zh-TW" altLang="en-US" sz="2400" dirty="0">
                <a:solidFill>
                  <a:srgbClr val="FF0000"/>
                </a:solidFill>
                <a:latin typeface="標楷體" pitchFamily="65" charset="-120"/>
                <a:ea typeface="標楷體" pitchFamily="65" charset="-120"/>
              </a:rPr>
              <a:t>茶</a:t>
            </a:r>
            <a:r>
              <a:rPr lang="zh-TW" altLang="en-US" sz="2400" dirty="0">
                <a:latin typeface="標楷體" pitchFamily="65" charset="-120"/>
                <a:ea typeface="標楷體" pitchFamily="65" charset="-120"/>
              </a:rPr>
              <a:t>：</a:t>
            </a:r>
            <a:r>
              <a:rPr lang="zh-TW" altLang="en-US" sz="2400" dirty="0">
                <a:solidFill>
                  <a:srgbClr val="FF0000"/>
                </a:solidFill>
                <a:latin typeface="標楷體" pitchFamily="65" charset="-120"/>
                <a:ea typeface="標楷體" pitchFamily="65" charset="-120"/>
              </a:rPr>
              <a:t>出口</a:t>
            </a:r>
            <a:r>
              <a:rPr lang="zh-TW" altLang="en-US" sz="2400" dirty="0">
                <a:latin typeface="標楷體" pitchFamily="65" charset="-120"/>
                <a:ea typeface="標楷體" pitchFamily="65" charset="-120"/>
              </a:rPr>
              <a:t>市場以</a:t>
            </a:r>
            <a:r>
              <a:rPr lang="zh-TW" altLang="en-US" sz="2400" dirty="0">
                <a:solidFill>
                  <a:srgbClr val="FF0000"/>
                </a:solidFill>
                <a:latin typeface="標楷體" pitchFamily="65" charset="-120"/>
                <a:ea typeface="標楷體" pitchFamily="65" charset="-120"/>
              </a:rPr>
              <a:t>美國</a:t>
            </a:r>
            <a:r>
              <a:rPr lang="zh-TW" altLang="en-US" sz="2400" dirty="0">
                <a:latin typeface="標楷體" pitchFamily="65" charset="-120"/>
                <a:ea typeface="標楷體" pitchFamily="65" charset="-120"/>
              </a:rPr>
              <a:t>為主，名為「</a:t>
            </a:r>
            <a:r>
              <a:rPr lang="en-US" altLang="zh-TW" sz="2400" dirty="0">
                <a:solidFill>
                  <a:srgbClr val="FF00FF"/>
                </a:solidFill>
                <a:latin typeface="標楷體" pitchFamily="65" charset="-120"/>
                <a:ea typeface="標楷體" pitchFamily="65" charset="-120"/>
              </a:rPr>
              <a:t>Formosa Tea</a:t>
            </a:r>
            <a:r>
              <a:rPr lang="zh-TW" altLang="en-US" sz="2400" dirty="0">
                <a:latin typeface="標楷體" pitchFamily="65" charset="-120"/>
                <a:ea typeface="標楷體" pitchFamily="65" charset="-120"/>
              </a:rPr>
              <a:t>」的臺灣茶葉在美國市場大受歡迎。</a:t>
            </a:r>
            <a:endParaRPr lang="en-US" altLang="zh-TW" sz="2400" dirty="0">
              <a:latin typeface="標楷體" pitchFamily="65" charset="-120"/>
              <a:ea typeface="標楷體" pitchFamily="65" charset="-120"/>
            </a:endParaRPr>
          </a:p>
        </p:txBody>
      </p:sp>
      <p:sp>
        <p:nvSpPr>
          <p:cNvPr id="11" name="標題 1"/>
          <p:cNvSpPr>
            <a:spLocks/>
          </p:cNvSpPr>
          <p:nvPr/>
        </p:nvSpPr>
        <p:spPr bwMode="auto">
          <a:xfrm>
            <a:off x="1608059" y="281197"/>
            <a:ext cx="43370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3600" b="1" dirty="0">
                <a:solidFill>
                  <a:srgbClr val="FF0000"/>
                </a:solidFill>
                <a:latin typeface="微軟正黑體" pitchFamily="34" charset="-120"/>
              </a:rPr>
              <a:t>臺灣 經濟發展 歷程</a:t>
            </a:r>
            <a:endParaRPr lang="en-US" altLang="zh-TW" sz="3600" b="1" dirty="0">
              <a:solidFill>
                <a:srgbClr val="FF0000"/>
              </a:solidFill>
              <a:latin typeface="微軟正黑體" pitchFamily="34" charset="-120"/>
            </a:endParaRPr>
          </a:p>
        </p:txBody>
      </p:sp>
      <p:sp>
        <p:nvSpPr>
          <p:cNvPr id="8" name="矩形 7"/>
          <p:cNvSpPr>
            <a:spLocks noChangeArrowheads="1"/>
          </p:cNvSpPr>
          <p:nvPr/>
        </p:nvSpPr>
        <p:spPr bwMode="auto">
          <a:xfrm>
            <a:off x="2339752" y="4208654"/>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茶</a:t>
            </a:r>
          </a:p>
        </p:txBody>
      </p:sp>
      <p:sp>
        <p:nvSpPr>
          <p:cNvPr id="9" name="矩形 8"/>
          <p:cNvSpPr>
            <a:spLocks noChangeArrowheads="1"/>
          </p:cNvSpPr>
          <p:nvPr/>
        </p:nvSpPr>
        <p:spPr bwMode="auto">
          <a:xfrm>
            <a:off x="845822" y="4222444"/>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糖</a:t>
            </a:r>
          </a:p>
        </p:txBody>
      </p:sp>
      <p:sp>
        <p:nvSpPr>
          <p:cNvPr id="10" name="矩形 9"/>
          <p:cNvSpPr>
            <a:spLocks noChangeArrowheads="1"/>
          </p:cNvSpPr>
          <p:nvPr/>
        </p:nvSpPr>
        <p:spPr bwMode="auto">
          <a:xfrm>
            <a:off x="3590704" y="4208654"/>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TW" altLang="en-US" sz="2400" kern="1200" dirty="0">
                <a:solidFill>
                  <a:srgbClr val="FF0000"/>
                </a:solidFill>
                <a:latin typeface="標楷體" pitchFamily="65" charset="-120"/>
                <a:ea typeface="標楷體" pitchFamily="65" charset="-120"/>
                <a:cs typeface="Times New Roman" pitchFamily="18" charset="0"/>
              </a:rPr>
              <a:t>樟腦</a:t>
            </a:r>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47</a:t>
            </a:fld>
            <a:endParaRPr lang="zh-TW" sz="1400">
              <a:solidFill>
                <a:schemeClr val="dk1"/>
              </a:solidFill>
              <a:latin typeface="Arial"/>
              <a:ea typeface="Arial"/>
              <a:cs typeface="Arial"/>
              <a:sym typeface="Arial"/>
            </a:endParaRPr>
          </a:p>
        </p:txBody>
      </p:sp>
      <p:sp>
        <p:nvSpPr>
          <p:cNvPr id="13" name="矩形 12">
            <a:extLst>
              <a:ext uri="{FF2B5EF4-FFF2-40B4-BE49-F238E27FC236}">
                <a16:creationId xmlns:a16="http://schemas.microsoft.com/office/drawing/2014/main" id="{D9491409-F196-4874-B884-0D3802671352}"/>
              </a:ext>
            </a:extLst>
          </p:cNvPr>
          <p:cNvSpPr>
            <a:spLocks noChangeArrowheads="1"/>
          </p:cNvSpPr>
          <p:nvPr/>
        </p:nvSpPr>
        <p:spPr bwMode="auto">
          <a:xfrm>
            <a:off x="97783" y="58958"/>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p.178</a:t>
            </a:r>
            <a:endParaRPr lang="zh-TW" altLang="en-US" sz="3600" b="0" dirty="0"/>
          </a:p>
        </p:txBody>
      </p:sp>
    </p:spTree>
    <p:extLst>
      <p:ext uri="{BB962C8B-B14F-4D97-AF65-F5344CB8AC3E}">
        <p14:creationId xmlns:p14="http://schemas.microsoft.com/office/powerpoint/2010/main" val="2037875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971600" y="1"/>
            <a:ext cx="8172400" cy="1700808"/>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dirty="0">
              <a:latin typeface="標楷體" pitchFamily="65" charset="-120"/>
              <a:ea typeface="標楷體" pitchFamily="65" charset="-120"/>
            </a:endParaRPr>
          </a:p>
          <a:p>
            <a:endParaRPr lang="en-US" altLang="zh-TW" dirty="0">
              <a:latin typeface="標楷體" pitchFamily="65" charset="-120"/>
              <a:ea typeface="標楷體" pitchFamily="65" charset="-120"/>
            </a:endParaRPr>
          </a:p>
          <a:p>
            <a:r>
              <a:rPr lang="zh-TW" altLang="en-US" dirty="0">
                <a:solidFill>
                  <a:srgbClr val="FF0000"/>
                </a:solidFill>
                <a:latin typeface="標楷體" pitchFamily="65" charset="-120"/>
                <a:ea typeface="標楷體" pitchFamily="65" charset="-120"/>
              </a:rPr>
              <a:t>二、工業化</a:t>
            </a:r>
            <a:r>
              <a:rPr lang="zh-TW" altLang="en-US" dirty="0">
                <a:latin typeface="標楷體" pitchFamily="65" charset="-120"/>
                <a:ea typeface="標楷體" pitchFamily="65" charset="-120"/>
              </a:rPr>
              <a:t>發展歷程</a:t>
            </a:r>
            <a:endParaRPr lang="en-US" altLang="zh-TW" dirty="0">
              <a:latin typeface="標楷體" pitchFamily="65" charset="-120"/>
              <a:ea typeface="標楷體" pitchFamily="65" charset="-120"/>
            </a:endParaRPr>
          </a:p>
          <a:p>
            <a:r>
              <a:rPr lang="zh-TW" altLang="en-US" dirty="0">
                <a:latin typeface="標楷體" pitchFamily="65" charset="-120"/>
                <a:ea typeface="標楷體" pitchFamily="65" charset="-120"/>
              </a:rPr>
              <a:t>第二次世界大戰後，中華民國政府積極重建日治時期的工業基礎，並延續過去的貿易出口，工業製品乃逐漸成為臺灣出口主力，因應國內外情勢形成不同階段的發展歷程。臺灣</a:t>
            </a:r>
            <a:r>
              <a:rPr lang="zh-TW" altLang="en-US" dirty="0">
                <a:solidFill>
                  <a:srgbClr val="FF0000"/>
                </a:solidFill>
                <a:latin typeface="標楷體" pitchFamily="65" charset="-120"/>
                <a:ea typeface="標楷體" pitchFamily="65" charset="-120"/>
              </a:rPr>
              <a:t>過去曾</a:t>
            </a:r>
            <a:r>
              <a:rPr lang="zh-TW" altLang="en-US" dirty="0">
                <a:latin typeface="標楷體" pitchFamily="65" charset="-120"/>
                <a:ea typeface="標楷體" pitchFamily="65" charset="-120"/>
              </a:rPr>
              <a:t>以</a:t>
            </a:r>
            <a:r>
              <a:rPr lang="zh-TW" altLang="en-US" dirty="0">
                <a:solidFill>
                  <a:srgbClr val="FF0000"/>
                </a:solidFill>
                <a:latin typeface="標楷體" pitchFamily="65" charset="-120"/>
                <a:ea typeface="標楷體" pitchFamily="65" charset="-120"/>
              </a:rPr>
              <a:t>廉價</a:t>
            </a:r>
            <a:r>
              <a:rPr lang="zh-TW" altLang="en-US" dirty="0">
                <a:latin typeface="標楷體" pitchFamily="65" charset="-120"/>
                <a:ea typeface="標楷體" pitchFamily="65" charset="-120"/>
              </a:rPr>
              <a:t>的</a:t>
            </a:r>
            <a:r>
              <a:rPr lang="zh-TW" altLang="en-US" dirty="0">
                <a:solidFill>
                  <a:srgbClr val="FF0000"/>
                </a:solidFill>
                <a:latin typeface="標楷體" pitchFamily="65" charset="-120"/>
                <a:ea typeface="標楷體" pitchFamily="65" charset="-120"/>
              </a:rPr>
              <a:t>勞力</a:t>
            </a:r>
            <a:r>
              <a:rPr lang="zh-TW" altLang="en-US" dirty="0">
                <a:latin typeface="標楷體" pitchFamily="65" charset="-120"/>
                <a:ea typeface="標楷體" pitchFamily="65" charset="-120"/>
              </a:rPr>
              <a:t>，製造大量工業產品外銷世界，透過</a:t>
            </a:r>
            <a:r>
              <a:rPr lang="zh-TW" altLang="en-US" dirty="0">
                <a:solidFill>
                  <a:srgbClr val="FF0000"/>
                </a:solidFill>
                <a:latin typeface="標楷體" pitchFamily="65" charset="-120"/>
                <a:ea typeface="標楷體" pitchFamily="65" charset="-120"/>
              </a:rPr>
              <a:t>產業升級</a:t>
            </a:r>
            <a:r>
              <a:rPr lang="zh-TW" altLang="en-US" dirty="0">
                <a:latin typeface="標楷體" pitchFamily="65" charset="-120"/>
                <a:ea typeface="標楷體" pitchFamily="65" charset="-120"/>
              </a:rPr>
              <a:t>，逐步轉變在全球分工鏈中所扮演的角色。</a:t>
            </a:r>
            <a:endParaRPr lang="en-US" altLang="zh-TW" dirty="0">
              <a:latin typeface="標楷體" pitchFamily="65" charset="-120"/>
              <a:ea typeface="標楷體" pitchFamily="65" charset="-120"/>
            </a:endParaRPr>
          </a:p>
        </p:txBody>
      </p:sp>
      <p:graphicFrame>
        <p:nvGraphicFramePr>
          <p:cNvPr id="12" name="Group 47"/>
          <p:cNvGraphicFramePr>
            <a:graphicFrameLocks noGrp="1"/>
          </p:cNvGraphicFramePr>
          <p:nvPr>
            <p:extLst>
              <p:ext uri="{D42A27DB-BD31-4B8C-83A1-F6EECF244321}">
                <p14:modId xmlns:p14="http://schemas.microsoft.com/office/powerpoint/2010/main" val="566164849"/>
              </p:ext>
            </p:extLst>
          </p:nvPr>
        </p:nvGraphicFramePr>
        <p:xfrm>
          <a:off x="4472" y="1693082"/>
          <a:ext cx="9139527" cy="2352288"/>
        </p:xfrm>
        <a:graphic>
          <a:graphicData uri="http://schemas.openxmlformats.org/drawingml/2006/table">
            <a:tbl>
              <a:tblPr/>
              <a:tblGrid>
                <a:gridCol w="895120">
                  <a:extLst>
                    <a:ext uri="{9D8B030D-6E8A-4147-A177-3AD203B41FA5}">
                      <a16:colId xmlns:a16="http://schemas.microsoft.com/office/drawing/2014/main" val="20000"/>
                    </a:ext>
                  </a:extLst>
                </a:gridCol>
                <a:gridCol w="1512168">
                  <a:extLst>
                    <a:ext uri="{9D8B030D-6E8A-4147-A177-3AD203B41FA5}">
                      <a16:colId xmlns:a16="http://schemas.microsoft.com/office/drawing/2014/main" val="20001"/>
                    </a:ext>
                  </a:extLst>
                </a:gridCol>
                <a:gridCol w="6732239">
                  <a:extLst>
                    <a:ext uri="{9D8B030D-6E8A-4147-A177-3AD203B41FA5}">
                      <a16:colId xmlns:a16="http://schemas.microsoft.com/office/drawing/2014/main" val="20002"/>
                    </a:ext>
                  </a:extLst>
                </a:gridCol>
              </a:tblGrid>
              <a:tr h="43204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時間</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產業發展階段</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1800" b="0" i="0" u="none" strike="noStrike" cap="none" dirty="0">
                          <a:solidFill>
                            <a:schemeClr val="tx1"/>
                          </a:solidFill>
                          <a:latin typeface="標楷體" pitchFamily="65" charset="-120"/>
                          <a:ea typeface="標楷體" pitchFamily="65" charset="-120"/>
                          <a:cs typeface="Arial"/>
                          <a:sym typeface="Arial"/>
                        </a:rPr>
                        <a:t>舉例</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4729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chemeClr val="tx1"/>
                          </a:solidFill>
                          <a:latin typeface="標楷體" pitchFamily="65" charset="-120"/>
                          <a:ea typeface="標楷體" pitchFamily="65" charset="-120"/>
                          <a:cs typeface="Arial"/>
                          <a:sym typeface="Arial"/>
                        </a:rPr>
                        <a:t>1900 ∼ 1930</a:t>
                      </a: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製糖</a:t>
                      </a:r>
                      <a:r>
                        <a:rPr lang="zh-TW" altLang="en-US" sz="1800" b="0" i="0" u="none" strike="noStrike" cap="none" dirty="0">
                          <a:solidFill>
                            <a:schemeClr val="tx1"/>
                          </a:solidFill>
                          <a:latin typeface="標楷體" pitchFamily="65" charset="-120"/>
                          <a:ea typeface="標楷體" pitchFamily="65" charset="-120"/>
                          <a:cs typeface="Arial"/>
                          <a:sym typeface="Arial"/>
                        </a:rPr>
                        <a:t>及</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後期軍需工業</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橋仔頭糖廠（後改稱橋頭）。</a:t>
                      </a:r>
                      <a:r>
                        <a:rPr lang="zh-TW" altLang="en-US" sz="1800" b="0" i="0" u="none" strike="noStrike" cap="none" dirty="0">
                          <a:solidFill>
                            <a:srgbClr val="FF0000"/>
                          </a:solidFill>
                          <a:latin typeface="標楷體" pitchFamily="65" charset="-120"/>
                          <a:ea typeface="標楷體" pitchFamily="65" charset="-120"/>
                          <a:cs typeface="Arial"/>
                          <a:sym typeface="Arial"/>
                        </a:rPr>
                        <a:t>臺灣第一座新式糖廠，象徵臺灣工業化的開端</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29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chemeClr val="tx1"/>
                          </a:solidFill>
                          <a:latin typeface="標楷體" pitchFamily="65" charset="-120"/>
                          <a:ea typeface="標楷體" pitchFamily="65" charset="-120"/>
                          <a:cs typeface="Arial"/>
                          <a:sym typeface="Arial"/>
                        </a:rPr>
                        <a:t>1950</a:t>
                      </a: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農產加工</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鳳梨罐頭工廠。工業化水準較低，以農產加工生產、初級工業製品為出口大宗，</a:t>
                      </a:r>
                      <a:r>
                        <a:rPr lang="zh-TW" altLang="en-US" sz="1800" b="0" i="0" u="none" strike="noStrike" cap="none" dirty="0">
                          <a:solidFill>
                            <a:srgbClr val="FF0000"/>
                          </a:solidFill>
                          <a:latin typeface="標楷體" pitchFamily="65" charset="-120"/>
                          <a:ea typeface="標楷體" pitchFamily="65" charset="-120"/>
                          <a:cs typeface="Arial"/>
                          <a:sym typeface="Arial"/>
                        </a:rPr>
                        <a:t>逐漸累積外匯</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729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chemeClr val="tx1"/>
                          </a:solidFill>
                          <a:latin typeface="標楷體" pitchFamily="65" charset="-120"/>
                          <a:ea typeface="標楷體" pitchFamily="65" charset="-120"/>
                          <a:cs typeface="Arial"/>
                          <a:sym typeface="Arial"/>
                        </a:rPr>
                        <a:t>1960</a:t>
                      </a: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國際加工</a:t>
                      </a:r>
                      <a:r>
                        <a:rPr lang="zh-TW" altLang="en-US" sz="1800" b="0" i="0" u="none" strike="noStrike" cap="none" dirty="0">
                          <a:solidFill>
                            <a:schemeClr val="tx1"/>
                          </a:solidFill>
                          <a:latin typeface="標楷體" pitchFamily="65" charset="-120"/>
                          <a:ea typeface="標楷體" pitchFamily="65" charset="-120"/>
                          <a:cs typeface="Arial"/>
                          <a:sym typeface="Arial"/>
                        </a:rPr>
                        <a:t>基地</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加工出口區的成衣廠。設立</a:t>
                      </a:r>
                      <a:r>
                        <a:rPr lang="zh-TW" altLang="en-US" sz="1800" b="0" i="0" u="none" strike="noStrike" cap="none" dirty="0">
                          <a:solidFill>
                            <a:srgbClr val="FF0000"/>
                          </a:solidFill>
                          <a:latin typeface="標楷體" pitchFamily="65" charset="-120"/>
                          <a:ea typeface="標楷體" pitchFamily="65" charset="-120"/>
                          <a:cs typeface="Arial"/>
                          <a:sym typeface="Arial"/>
                        </a:rPr>
                        <a:t>加工出口區</a:t>
                      </a:r>
                      <a:r>
                        <a:rPr lang="zh-TW" altLang="en-US" sz="1800" b="0" i="0" u="none" strike="noStrike" cap="none" dirty="0">
                          <a:solidFill>
                            <a:schemeClr val="tx1"/>
                          </a:solidFill>
                          <a:latin typeface="標楷體" pitchFamily="65" charset="-120"/>
                          <a:ea typeface="標楷體" pitchFamily="65" charset="-120"/>
                          <a:cs typeface="Arial"/>
                          <a:sym typeface="Arial"/>
                        </a:rPr>
                        <a:t>發展</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產業，大量出口成為世界工廠。雨傘、自行車、水龍頭、玻璃、螺絲等，多項產品出口占世界比重名列前茅</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3" name="矩形 12"/>
          <p:cNvSpPr>
            <a:spLocks noChangeArrowheads="1"/>
          </p:cNvSpPr>
          <p:nvPr/>
        </p:nvSpPr>
        <p:spPr bwMode="auto">
          <a:xfrm>
            <a:off x="6876256" y="3184631"/>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勞力密集</a:t>
            </a:r>
          </a:p>
        </p:txBody>
      </p:sp>
      <p:graphicFrame>
        <p:nvGraphicFramePr>
          <p:cNvPr id="5" name="表格 4"/>
          <p:cNvGraphicFramePr>
            <a:graphicFrameLocks noGrp="1"/>
          </p:cNvGraphicFramePr>
          <p:nvPr>
            <p:extLst>
              <p:ext uri="{D42A27DB-BD31-4B8C-83A1-F6EECF244321}">
                <p14:modId xmlns:p14="http://schemas.microsoft.com/office/powerpoint/2010/main" val="470499416"/>
              </p:ext>
            </p:extLst>
          </p:nvPr>
        </p:nvGraphicFramePr>
        <p:xfrm>
          <a:off x="0" y="4077072"/>
          <a:ext cx="9144000" cy="2592288"/>
        </p:xfrm>
        <a:graphic>
          <a:graphicData uri="http://schemas.openxmlformats.org/drawingml/2006/table">
            <a:tbl>
              <a:tblPr/>
              <a:tblGrid>
                <a:gridCol w="899592">
                  <a:extLst>
                    <a:ext uri="{9D8B030D-6E8A-4147-A177-3AD203B41FA5}">
                      <a16:colId xmlns:a16="http://schemas.microsoft.com/office/drawing/2014/main" val="20000"/>
                    </a:ext>
                  </a:extLst>
                </a:gridCol>
                <a:gridCol w="1512168">
                  <a:extLst>
                    <a:ext uri="{9D8B030D-6E8A-4147-A177-3AD203B41FA5}">
                      <a16:colId xmlns:a16="http://schemas.microsoft.com/office/drawing/2014/main" val="20001"/>
                    </a:ext>
                  </a:extLst>
                </a:gridCol>
                <a:gridCol w="6732240">
                  <a:extLst>
                    <a:ext uri="{9D8B030D-6E8A-4147-A177-3AD203B41FA5}">
                      <a16:colId xmlns:a16="http://schemas.microsoft.com/office/drawing/2014/main" val="20002"/>
                    </a:ext>
                  </a:extLst>
                </a:gridCol>
              </a:tblGrid>
              <a:tr h="6480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chemeClr val="tx1"/>
                          </a:solidFill>
                          <a:latin typeface="標楷體" pitchFamily="65" charset="-120"/>
                          <a:ea typeface="標楷體" pitchFamily="65" charset="-120"/>
                          <a:cs typeface="Arial"/>
                          <a:sym typeface="Arial"/>
                        </a:rPr>
                        <a:t>1970</a:t>
                      </a: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重化工業</a:t>
                      </a:r>
                      <a:endParaRPr lang="en-US" altLang="zh-TW" sz="1800" b="0" i="0" u="none" strike="noStrike" cap="none" dirty="0">
                        <a:solidFill>
                          <a:srgbClr val="FF0000"/>
                        </a:solidFill>
                        <a:latin typeface="標楷體" pitchFamily="65" charset="-120"/>
                        <a:ea typeface="標楷體" pitchFamily="65" charset="-120"/>
                        <a:cs typeface="Arial"/>
                        <a:sym typeface="Arial"/>
                      </a:endParaRPr>
                    </a:p>
                    <a:p>
                      <a:r>
                        <a:rPr lang="zh-TW" altLang="en-US" sz="1800" b="0" i="0" u="none" strike="noStrike" cap="none" dirty="0">
                          <a:solidFill>
                            <a:schemeClr val="tx1"/>
                          </a:solidFill>
                          <a:latin typeface="標楷體" pitchFamily="65" charset="-120"/>
                          <a:ea typeface="標楷體" pitchFamily="65" charset="-120"/>
                          <a:cs typeface="Arial"/>
                          <a:sym typeface="Arial"/>
                        </a:rPr>
                        <a:t>產業升級</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中油煉油廠。國際</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zh-TW" altLang="en-US" sz="1800" b="0" i="0" u="none" strike="noStrike" cap="none" dirty="0">
                          <a:solidFill>
                            <a:schemeClr val="tx1"/>
                          </a:solidFill>
                          <a:latin typeface="標楷體" pitchFamily="65" charset="-120"/>
                          <a:ea typeface="標楷體" pitchFamily="65" charset="-120"/>
                          <a:cs typeface="Arial"/>
                          <a:sym typeface="Arial"/>
                        </a:rPr>
                        <a:t>衝擊，政府推行</a:t>
                      </a:r>
                      <a:r>
                        <a:rPr lang="zh-TW" altLang="en-US" sz="1800" b="0" i="0" u="none" strike="noStrike" cap="none" dirty="0">
                          <a:solidFill>
                            <a:srgbClr val="FF0000"/>
                          </a:solidFill>
                          <a:latin typeface="標楷體" pitchFamily="65" charset="-120"/>
                          <a:ea typeface="標楷體" pitchFamily="65" charset="-120"/>
                          <a:cs typeface="Arial"/>
                          <a:sym typeface="Arial"/>
                        </a:rPr>
                        <a:t>十大建設</a:t>
                      </a:r>
                      <a:r>
                        <a:rPr lang="zh-TW" altLang="en-US" sz="1800" b="0" i="0" u="none" strike="noStrike" cap="none" dirty="0">
                          <a:solidFill>
                            <a:schemeClr val="tx1"/>
                          </a:solidFill>
                          <a:latin typeface="標楷體" pitchFamily="65" charset="-120"/>
                          <a:ea typeface="標楷體" pitchFamily="65" charset="-120"/>
                          <a:cs typeface="Arial"/>
                          <a:sym typeface="Arial"/>
                        </a:rPr>
                        <a:t>振興經濟，</a:t>
                      </a:r>
                      <a:r>
                        <a:rPr lang="zh-TW" altLang="en-US" sz="1800" b="0" i="0" u="none" strike="noStrike" cap="none" dirty="0">
                          <a:solidFill>
                            <a:srgbClr val="FF0000"/>
                          </a:solidFill>
                          <a:latin typeface="標楷體" pitchFamily="65" charset="-120"/>
                          <a:ea typeface="標楷體" pitchFamily="65" charset="-120"/>
                          <a:cs typeface="Arial"/>
                          <a:sym typeface="Arial"/>
                        </a:rPr>
                        <a:t>國內工業原料得以自給並出口</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807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chemeClr val="tx1"/>
                          </a:solidFill>
                          <a:latin typeface="標楷體" pitchFamily="65" charset="-120"/>
                          <a:ea typeface="標楷體" pitchFamily="65" charset="-120"/>
                          <a:cs typeface="Arial"/>
                          <a:sym typeface="Arial"/>
                        </a:rPr>
                        <a:t>1980</a:t>
                      </a: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高科技</a:t>
                      </a:r>
                      <a:r>
                        <a:rPr lang="zh-TW" altLang="en-US" sz="1800" b="0" i="0" u="none" strike="noStrike" cap="none" dirty="0">
                          <a:solidFill>
                            <a:schemeClr val="tx1"/>
                          </a:solidFill>
                          <a:latin typeface="標楷體" pitchFamily="65" charset="-120"/>
                          <a:ea typeface="標楷體" pitchFamily="65" charset="-120"/>
                          <a:cs typeface="Arial"/>
                          <a:sym typeface="Arial"/>
                        </a:rPr>
                        <a:t>工業</a:t>
                      </a:r>
                      <a:br>
                        <a:rPr lang="en-US" altLang="zh-TW" sz="1800" b="0" i="0" u="none" strike="noStrike" cap="none" dirty="0">
                          <a:solidFill>
                            <a:schemeClr val="tx1"/>
                          </a:solidFill>
                          <a:latin typeface="標楷體" pitchFamily="65" charset="-120"/>
                          <a:ea typeface="標楷體" pitchFamily="65" charset="-120"/>
                          <a:cs typeface="Arial"/>
                          <a:sym typeface="Arial"/>
                        </a:rPr>
                      </a:br>
                      <a:r>
                        <a:rPr lang="zh-TW" altLang="en-US" sz="1800" b="0" i="0" u="none" strike="noStrike" cap="none" dirty="0">
                          <a:solidFill>
                            <a:schemeClr val="tx1"/>
                          </a:solidFill>
                          <a:latin typeface="標楷體" pitchFamily="65" charset="-120"/>
                          <a:ea typeface="標楷體" pitchFamily="65" charset="-120"/>
                          <a:cs typeface="Arial"/>
                          <a:sym typeface="Arial"/>
                        </a:rPr>
                        <a:t>筆電生產王國</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r>
                        <a:rPr lang="zh-TW" altLang="en-US" sz="1800" b="0" i="0" u="none" strike="noStrike" cap="none" dirty="0">
                          <a:solidFill>
                            <a:schemeClr val="tx1"/>
                          </a:solidFill>
                          <a:latin typeface="標楷體" pitchFamily="65" charset="-120"/>
                          <a:ea typeface="標楷體" pitchFamily="65" charset="-120"/>
                          <a:cs typeface="Arial"/>
                          <a:sym typeface="Arial"/>
                        </a:rPr>
                        <a:t>筆電組裝工廠。</a:t>
                      </a:r>
                      <a:r>
                        <a:rPr lang="zh-TW" altLang="en-US" sz="1800" b="0" i="0" u="none" strike="noStrike" cap="none" dirty="0">
                          <a:solidFill>
                            <a:srgbClr val="FF0000"/>
                          </a:solidFill>
                          <a:latin typeface="標楷體" pitchFamily="65" charset="-120"/>
                          <a:ea typeface="標楷體" pitchFamily="65" charset="-120"/>
                          <a:cs typeface="Arial"/>
                          <a:sym typeface="Arial"/>
                        </a:rPr>
                        <a:t>工資上升</a:t>
                      </a:r>
                      <a:r>
                        <a:rPr lang="zh-TW" altLang="en-US" sz="1800" b="0" i="0" u="none" strike="noStrike" cap="none" dirty="0">
                          <a:solidFill>
                            <a:schemeClr val="tx1"/>
                          </a:solidFill>
                          <a:latin typeface="標楷體" pitchFamily="65" charset="-120"/>
                          <a:ea typeface="標楷體" pitchFamily="65" charset="-120"/>
                          <a:cs typeface="Arial"/>
                          <a:sym typeface="Arial"/>
                        </a:rPr>
                        <a:t>致使</a:t>
                      </a:r>
                      <a:r>
                        <a:rPr lang="zh-TW" altLang="en-US" sz="1800" b="0" i="0" u="sng" strike="noStrike" cap="none" dirty="0">
                          <a:solidFill>
                            <a:srgbClr val="FF0000"/>
                          </a:solidFill>
                          <a:latin typeface="標楷體" pitchFamily="65" charset="-120"/>
                          <a:ea typeface="標楷體" pitchFamily="65" charset="-120"/>
                          <a:cs typeface="Arial"/>
                          <a:sym typeface="Arial"/>
                        </a:rPr>
                        <a:t>           </a:t>
                      </a:r>
                      <a:r>
                        <a:rPr lang="en-US" altLang="zh-TW" sz="1800" b="0" i="0" u="none" strike="noStrike" cap="none" dirty="0">
                          <a:solidFill>
                            <a:schemeClr val="bg1"/>
                          </a:solidFill>
                          <a:latin typeface="標楷體" pitchFamily="65" charset="-120"/>
                          <a:ea typeface="標楷體" pitchFamily="65" charset="-120"/>
                          <a:cs typeface="Arial"/>
                          <a:sym typeface="Arial"/>
                        </a:rPr>
                        <a:t>.</a:t>
                      </a:r>
                      <a:r>
                        <a:rPr lang="zh-TW" altLang="en-US" sz="1800" b="0" i="0" u="none" strike="noStrike" cap="none" dirty="0">
                          <a:solidFill>
                            <a:srgbClr val="FF0000"/>
                          </a:solidFill>
                          <a:latin typeface="標楷體" pitchFamily="65" charset="-120"/>
                          <a:ea typeface="標楷體" pitchFamily="65" charset="-120"/>
                          <a:cs typeface="Arial"/>
                          <a:sym typeface="Arial"/>
                        </a:rPr>
                        <a:t>外移</a:t>
                      </a:r>
                      <a:r>
                        <a:rPr lang="zh-TW" altLang="en-US" sz="1800" b="0" i="0" u="none" strike="noStrike" cap="none" dirty="0">
                          <a:solidFill>
                            <a:schemeClr val="tx1"/>
                          </a:solidFill>
                          <a:latin typeface="標楷體" pitchFamily="65" charset="-120"/>
                          <a:ea typeface="標楷體" pitchFamily="65" charset="-120"/>
                          <a:cs typeface="Arial"/>
                          <a:sym typeface="Arial"/>
                        </a:rPr>
                        <a:t>，政府開始</a:t>
                      </a:r>
                      <a:r>
                        <a:rPr lang="zh-TW" altLang="en-US" sz="1800" b="0" i="0" u="none" strike="noStrike" cap="none" dirty="0">
                          <a:solidFill>
                            <a:srgbClr val="FF0000"/>
                          </a:solidFill>
                          <a:latin typeface="標楷體" pitchFamily="65" charset="-120"/>
                          <a:ea typeface="標楷體" pitchFamily="65" charset="-120"/>
                          <a:cs typeface="Arial"/>
                          <a:sym typeface="Arial"/>
                        </a:rPr>
                        <a:t>發展高科技產業</a:t>
                      </a:r>
                      <a:r>
                        <a:rPr lang="zh-TW" altLang="en-US" sz="1800" b="0" i="0" u="none" strike="noStrike" cap="none" dirty="0">
                          <a:solidFill>
                            <a:schemeClr val="tx1"/>
                          </a:solidFill>
                          <a:latin typeface="標楷體" pitchFamily="65" charset="-120"/>
                          <a:ea typeface="標楷體" pitchFamily="65" charset="-120"/>
                          <a:cs typeface="Arial"/>
                          <a:sym typeface="Arial"/>
                        </a:rPr>
                        <a:t>，形成</a:t>
                      </a:r>
                      <a:r>
                        <a:rPr lang="zh-TW" altLang="en-US" sz="1800" b="0" i="0" u="none" strike="noStrike" cap="none" dirty="0">
                          <a:solidFill>
                            <a:srgbClr val="FF0000"/>
                          </a:solidFill>
                          <a:latin typeface="標楷體" pitchFamily="65" charset="-120"/>
                          <a:ea typeface="標楷體" pitchFamily="65" charset="-120"/>
                          <a:cs typeface="Arial"/>
                          <a:sym typeface="Arial"/>
                        </a:rPr>
                        <a:t>資訊產品</a:t>
                      </a:r>
                      <a:r>
                        <a:rPr lang="zh-TW" altLang="en-US" sz="1800" b="0" i="0" u="none" strike="noStrike" cap="none" dirty="0">
                          <a:solidFill>
                            <a:schemeClr val="tx1"/>
                          </a:solidFill>
                          <a:latin typeface="標楷體" pitchFamily="65" charset="-120"/>
                          <a:ea typeface="標楷體" pitchFamily="65" charset="-120"/>
                          <a:cs typeface="Arial"/>
                          <a:sym typeface="Arial"/>
                        </a:rPr>
                        <a:t>製造王國</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29614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zh-TW" sz="1800" b="0" i="0" u="none" strike="noStrike" cap="none" dirty="0">
                          <a:solidFill>
                            <a:schemeClr val="tx1"/>
                          </a:solidFill>
                          <a:latin typeface="標楷體" pitchFamily="65" charset="-120"/>
                          <a:ea typeface="標楷體" pitchFamily="65" charset="-120"/>
                          <a:cs typeface="Arial"/>
                          <a:sym typeface="Arial"/>
                        </a:rPr>
                        <a:t>1990 ∼</a:t>
                      </a:r>
                      <a:endParaRPr lang="zh-TW" altLang="en-US"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tc>
                  <a:txBody>
                    <a:bodyPr/>
                    <a:lstStyle/>
                    <a:p>
                      <a:r>
                        <a:rPr lang="zh-TW" altLang="en-US" sz="1800" b="0" i="0" u="none" strike="noStrike" cap="none" dirty="0">
                          <a:solidFill>
                            <a:srgbClr val="FF0000"/>
                          </a:solidFill>
                          <a:latin typeface="標楷體" pitchFamily="65" charset="-120"/>
                          <a:ea typeface="標楷體" pitchFamily="65" charset="-120"/>
                          <a:cs typeface="Arial"/>
                          <a:sym typeface="Arial"/>
                        </a:rPr>
                        <a:t>全球化</a:t>
                      </a:r>
                      <a:r>
                        <a:rPr lang="zh-TW" altLang="en-US" sz="1800" b="0" i="0" u="none" strike="noStrike" cap="none" dirty="0">
                          <a:solidFill>
                            <a:schemeClr val="tx1"/>
                          </a:solidFill>
                          <a:latin typeface="標楷體" pitchFamily="65" charset="-120"/>
                          <a:ea typeface="標楷體" pitchFamily="65" charset="-120"/>
                          <a:cs typeface="Arial"/>
                          <a:sym typeface="Arial"/>
                        </a:rPr>
                        <a:t>時代</a:t>
                      </a:r>
                      <a:endParaRPr lang="en-US" altLang="zh-TW" sz="18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tc>
                  <a:txBody>
                    <a:bodyPr/>
                    <a:lstStyle/>
                    <a:p>
                      <a:pPr algn="l"/>
                      <a:r>
                        <a:rPr lang="zh-TW" altLang="en-US" sz="1800" b="0" i="0" u="none" strike="noStrike" cap="none" dirty="0">
                          <a:solidFill>
                            <a:srgbClr val="FF0000"/>
                          </a:solidFill>
                          <a:latin typeface="標楷體" pitchFamily="65" charset="-120"/>
                          <a:ea typeface="標楷體" pitchFamily="65" charset="-120"/>
                          <a:cs typeface="Arial"/>
                          <a:sym typeface="Arial"/>
                        </a:rPr>
                        <a:t>世界和區域貿易組織</a:t>
                      </a:r>
                      <a:r>
                        <a:rPr lang="zh-TW" altLang="en-US" sz="1800" b="0" i="0" u="none" strike="noStrike" cap="none" dirty="0">
                          <a:solidFill>
                            <a:schemeClr val="tx1"/>
                          </a:solidFill>
                          <a:latin typeface="標楷體" pitchFamily="65" charset="-120"/>
                          <a:ea typeface="標楷體" pitchFamily="65" charset="-120"/>
                          <a:cs typeface="Arial"/>
                          <a:sym typeface="Arial"/>
                        </a:rPr>
                        <a:t>相繼</a:t>
                      </a:r>
                      <a:r>
                        <a:rPr lang="zh-TW" altLang="en-US" sz="1800" b="0" i="0" u="none" strike="noStrike" cap="none" dirty="0">
                          <a:solidFill>
                            <a:srgbClr val="FF0000"/>
                          </a:solidFill>
                          <a:latin typeface="標楷體" pitchFamily="65" charset="-120"/>
                          <a:ea typeface="標楷體" pitchFamily="65" charset="-120"/>
                          <a:cs typeface="Arial"/>
                          <a:sym typeface="Arial"/>
                        </a:rPr>
                        <a:t>成立</a:t>
                      </a:r>
                      <a:r>
                        <a:rPr lang="zh-TW" altLang="en-US" sz="1800" b="0" i="0" u="none" strike="noStrike" cap="none" dirty="0">
                          <a:solidFill>
                            <a:schemeClr val="tx1"/>
                          </a:solidFill>
                          <a:latin typeface="標楷體" pitchFamily="65" charset="-120"/>
                          <a:ea typeface="標楷體" pitchFamily="65" charset="-120"/>
                          <a:cs typeface="Arial"/>
                          <a:sym typeface="Arial"/>
                        </a:rPr>
                        <a:t>，企業</a:t>
                      </a:r>
                      <a:r>
                        <a:rPr lang="zh-TW" altLang="en-US" sz="1800" b="0" i="0" u="none" strike="noStrike" cap="none" dirty="0">
                          <a:solidFill>
                            <a:srgbClr val="FF0000"/>
                          </a:solidFill>
                          <a:latin typeface="標楷體" pitchFamily="65" charset="-120"/>
                          <a:ea typeface="標楷體" pitchFamily="65" charset="-120"/>
                          <a:cs typeface="Arial"/>
                          <a:sym typeface="Arial"/>
                        </a:rPr>
                        <a:t>因應</a:t>
                      </a:r>
                      <a:r>
                        <a:rPr lang="zh-TW" altLang="en-US" sz="1800" b="0" i="0" u="none" strike="noStrike" cap="none" dirty="0">
                          <a:solidFill>
                            <a:schemeClr val="tx1"/>
                          </a:solidFill>
                          <a:latin typeface="標楷體" pitchFamily="65" charset="-120"/>
                          <a:ea typeface="標楷體" pitchFamily="65" charset="-120"/>
                          <a:cs typeface="Arial"/>
                          <a:sym typeface="Arial"/>
                        </a:rPr>
                        <a:t>各國貿易</a:t>
                      </a:r>
                      <a:r>
                        <a:rPr lang="zh-TW" altLang="en-US" sz="1800" b="0" i="0" u="none" strike="noStrike" cap="none" dirty="0">
                          <a:solidFill>
                            <a:srgbClr val="FF0000"/>
                          </a:solidFill>
                          <a:latin typeface="標楷體" pitchFamily="65" charset="-120"/>
                          <a:ea typeface="標楷體" pitchFamily="65" charset="-120"/>
                          <a:cs typeface="Arial"/>
                          <a:sym typeface="Arial"/>
                        </a:rPr>
                        <a:t>關稅限制及各地市場而走向全球布局</a:t>
                      </a:r>
                      <a:r>
                        <a:rPr lang="zh-TW" altLang="en-US" sz="1800" b="0" i="0" u="none" strike="noStrike" cap="none" dirty="0">
                          <a:solidFill>
                            <a:schemeClr val="tx1"/>
                          </a:solidFill>
                          <a:latin typeface="標楷體" pitchFamily="65" charset="-120"/>
                          <a:ea typeface="標楷體" pitchFamily="65" charset="-120"/>
                          <a:cs typeface="Arial"/>
                          <a:sym typeface="Arial"/>
                        </a:rPr>
                        <a:t>，但通常會</a:t>
                      </a:r>
                      <a:r>
                        <a:rPr lang="zh-TW" altLang="en-US" sz="1800" b="0" i="0" u="none" strike="noStrike" cap="none" dirty="0">
                          <a:solidFill>
                            <a:srgbClr val="FF0000"/>
                          </a:solidFill>
                          <a:latin typeface="標楷體" pitchFamily="65" charset="-120"/>
                          <a:ea typeface="標楷體" pitchFamily="65" charset="-120"/>
                          <a:cs typeface="Arial"/>
                          <a:sym typeface="Arial"/>
                        </a:rPr>
                        <a:t>在臺灣保留核心研發製程</a:t>
                      </a:r>
                      <a:br>
                        <a:rPr lang="en-US" altLang="zh-TW" sz="1800" b="0" i="0" u="none" strike="noStrike" cap="none" dirty="0">
                          <a:solidFill>
                            <a:srgbClr val="FF0000"/>
                          </a:solidFill>
                          <a:latin typeface="標楷體" pitchFamily="65" charset="-120"/>
                          <a:ea typeface="標楷體" pitchFamily="65" charset="-120"/>
                          <a:cs typeface="Arial"/>
                          <a:sym typeface="Arial"/>
                        </a:rPr>
                      </a:br>
                      <a:r>
                        <a:rPr lang="en-US" altLang="zh-TW" sz="1800" b="0" i="0" u="none" strike="noStrike" cap="none" dirty="0">
                          <a:solidFill>
                            <a:schemeClr val="tx1"/>
                          </a:solidFill>
                          <a:latin typeface="標楷體" pitchFamily="65" charset="-120"/>
                          <a:ea typeface="標楷體" pitchFamily="65" charset="-120"/>
                          <a:cs typeface="Arial"/>
                          <a:sym typeface="Arial"/>
                        </a:rPr>
                        <a:t>--ex</a:t>
                      </a:r>
                      <a:r>
                        <a:rPr lang="zh-TW" altLang="en-US" sz="1800" b="0" i="0" u="none" strike="noStrike" cap="none" dirty="0">
                          <a:solidFill>
                            <a:srgbClr val="FF0000"/>
                          </a:solidFill>
                          <a:latin typeface="標楷體" pitchFamily="65" charset="-120"/>
                          <a:ea typeface="標楷體" pitchFamily="65" charset="-120"/>
                          <a:cs typeface="Arial"/>
                          <a:sym typeface="Arial"/>
                        </a:rPr>
                        <a:t>台</a:t>
                      </a:r>
                      <a:r>
                        <a:rPr lang="zh-TW" altLang="en-US" sz="1800" b="0" i="0" u="none" strike="noStrike" cap="none" dirty="0">
                          <a:solidFill>
                            <a:schemeClr val="tx1"/>
                          </a:solidFill>
                          <a:latin typeface="標楷體" pitchFamily="65" charset="-120"/>
                          <a:ea typeface="標楷體" pitchFamily="65" charset="-120"/>
                          <a:cs typeface="Arial"/>
                          <a:sym typeface="Arial"/>
                        </a:rPr>
                        <a:t>灣</a:t>
                      </a:r>
                      <a:r>
                        <a:rPr lang="zh-TW" altLang="en-US" sz="1800" b="0" i="0" u="none" strike="noStrike" cap="none" dirty="0">
                          <a:solidFill>
                            <a:srgbClr val="FF0000"/>
                          </a:solidFill>
                          <a:latin typeface="標楷體" pitchFamily="65" charset="-120"/>
                          <a:ea typeface="標楷體" pitchFamily="65" charset="-120"/>
                          <a:cs typeface="Arial"/>
                          <a:sym typeface="Arial"/>
                        </a:rPr>
                        <a:t>積</a:t>
                      </a:r>
                      <a:r>
                        <a:rPr lang="zh-TW" altLang="en-US" sz="1800" b="0" i="0" u="none" strike="noStrike" cap="none" dirty="0">
                          <a:solidFill>
                            <a:schemeClr val="tx1"/>
                          </a:solidFill>
                          <a:latin typeface="標楷體" pitchFamily="65" charset="-120"/>
                          <a:ea typeface="標楷體" pitchFamily="65" charset="-120"/>
                          <a:cs typeface="Arial"/>
                          <a:sym typeface="Arial"/>
                        </a:rPr>
                        <a:t>體</a:t>
                      </a:r>
                      <a:r>
                        <a:rPr lang="zh-TW" altLang="en-US" sz="1800" b="0" i="0" u="none" strike="noStrike" cap="none" dirty="0">
                          <a:solidFill>
                            <a:srgbClr val="FF0000"/>
                          </a:solidFill>
                          <a:latin typeface="標楷體" pitchFamily="65" charset="-120"/>
                          <a:ea typeface="標楷體" pitchFamily="65" charset="-120"/>
                          <a:cs typeface="Arial"/>
                          <a:sym typeface="Arial"/>
                        </a:rPr>
                        <a:t>電</a:t>
                      </a:r>
                      <a:r>
                        <a:rPr lang="zh-TW" altLang="en-US" sz="1800" b="0" i="0" u="none" strike="noStrike" cap="none" dirty="0">
                          <a:solidFill>
                            <a:schemeClr val="tx1"/>
                          </a:solidFill>
                          <a:latin typeface="標楷體" pitchFamily="65" charset="-120"/>
                          <a:ea typeface="標楷體" pitchFamily="65" charset="-120"/>
                          <a:cs typeface="Arial"/>
                          <a:sym typeface="Arial"/>
                        </a:rPr>
                        <a:t>路製造（</a:t>
                      </a:r>
                      <a:r>
                        <a:rPr lang="en-US" altLang="zh-TW" sz="1800" b="0" i="0" u="none" strike="noStrike" cap="none" dirty="0" err="1">
                          <a:solidFill>
                            <a:schemeClr val="tx1"/>
                          </a:solidFill>
                          <a:latin typeface="標楷體" pitchFamily="65" charset="-120"/>
                          <a:ea typeface="標楷體" pitchFamily="65" charset="-120"/>
                          <a:cs typeface="Arial"/>
                          <a:sym typeface="Arial"/>
                        </a:rPr>
                        <a:t>TSMC</a:t>
                      </a:r>
                      <a:r>
                        <a:rPr lang="zh-TW" altLang="en-US" sz="1800" b="0" i="0" u="none" strike="noStrike" cap="none" dirty="0">
                          <a:solidFill>
                            <a:schemeClr val="tx1"/>
                          </a:solidFill>
                          <a:latin typeface="標楷體" pitchFamily="65" charset="-120"/>
                          <a:ea typeface="標楷體" pitchFamily="65" charset="-120"/>
                          <a:cs typeface="Arial"/>
                          <a:sym typeface="Arial"/>
                        </a:rPr>
                        <a:t>）。 </a:t>
                      </a:r>
                      <a:endParaRPr lang="en-US" altLang="zh-TW" sz="1800" b="0" i="0" u="none" strike="noStrike" cap="none" dirty="0">
                        <a:solidFill>
                          <a:srgbClr val="FF0000"/>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 name="矩形 9"/>
          <p:cNvSpPr>
            <a:spLocks noChangeArrowheads="1"/>
          </p:cNvSpPr>
          <p:nvPr/>
        </p:nvSpPr>
        <p:spPr bwMode="auto">
          <a:xfrm>
            <a:off x="4432151" y="4076383"/>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石油危機</a:t>
            </a:r>
          </a:p>
        </p:txBody>
      </p:sp>
      <p:sp>
        <p:nvSpPr>
          <p:cNvPr id="14" name="矩形 13"/>
          <p:cNvSpPr>
            <a:spLocks noChangeArrowheads="1"/>
          </p:cNvSpPr>
          <p:nvPr/>
        </p:nvSpPr>
        <p:spPr bwMode="auto">
          <a:xfrm>
            <a:off x="5535980" y="4710728"/>
            <a:ext cx="11079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傳統產業</a:t>
            </a:r>
          </a:p>
        </p:txBody>
      </p:sp>
      <p:sp>
        <p:nvSpPr>
          <p:cNvPr id="15" name="矩形 14"/>
          <p:cNvSpPr>
            <a:spLocks noChangeArrowheads="1"/>
          </p:cNvSpPr>
          <p:nvPr/>
        </p:nvSpPr>
        <p:spPr bwMode="auto">
          <a:xfrm>
            <a:off x="28624" y="-28647"/>
            <a:ext cx="10134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2800" dirty="0">
                <a:solidFill>
                  <a:srgbClr val="FF0000"/>
                </a:solidFill>
              </a:rPr>
              <a:t>p.179</a:t>
            </a:r>
            <a:endParaRPr lang="zh-TW" altLang="en-US" sz="2800" b="0" dirty="0"/>
          </a:p>
        </p:txBody>
      </p:sp>
      <p:sp>
        <p:nvSpPr>
          <p:cNvPr id="16" name="矩形 15"/>
          <p:cNvSpPr>
            <a:spLocks noChangeArrowheads="1"/>
          </p:cNvSpPr>
          <p:nvPr/>
        </p:nvSpPr>
        <p:spPr bwMode="auto">
          <a:xfrm>
            <a:off x="-50566" y="3749774"/>
            <a:ext cx="10134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2800" dirty="0">
                <a:solidFill>
                  <a:srgbClr val="FF0000"/>
                </a:solidFill>
              </a:rPr>
              <a:t>p.180</a:t>
            </a:r>
            <a:endParaRPr lang="zh-TW" altLang="en-US" sz="2800" b="0" dirty="0"/>
          </a:p>
        </p:txBody>
      </p:sp>
      <p:sp>
        <p:nvSpPr>
          <p:cNvPr id="6" name="投影片編號版面配置區 5"/>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48</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14435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0" grpId="0"/>
      <p:bldP spid="1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28624" y="646331"/>
            <a:ext cx="8890969" cy="3633263"/>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sz="2400" dirty="0">
              <a:latin typeface="標楷體" pitchFamily="65" charset="-120"/>
              <a:ea typeface="標楷體" pitchFamily="65" charset="-120"/>
            </a:endParaRPr>
          </a:p>
          <a:p>
            <a:endParaRPr lang="en-US" altLang="zh-TW" sz="2400" dirty="0">
              <a:latin typeface="標楷體" pitchFamily="65" charset="-120"/>
              <a:ea typeface="標楷體" pitchFamily="65" charset="-120"/>
            </a:endParaRPr>
          </a:p>
          <a:p>
            <a:r>
              <a:rPr lang="zh-TW" altLang="en-US" sz="2400" dirty="0">
                <a:latin typeface="標楷體" pitchFamily="65" charset="-120"/>
                <a:ea typeface="標楷體" pitchFamily="65" charset="-120"/>
              </a:rPr>
              <a:t>三、</a:t>
            </a:r>
            <a:r>
              <a:rPr lang="zh-TW" altLang="en-US" sz="2400" dirty="0">
                <a:solidFill>
                  <a:srgbClr val="FF0000"/>
                </a:solidFill>
                <a:latin typeface="標楷體" pitchFamily="65" charset="-120"/>
                <a:ea typeface="標楷體" pitchFamily="65" charset="-120"/>
              </a:rPr>
              <a:t>迎戰未來的「隱形冠軍」</a:t>
            </a:r>
            <a:endParaRPr lang="en-US" altLang="zh-TW" sz="2400" dirty="0">
              <a:solidFill>
                <a:srgbClr val="FF0000"/>
              </a:solidFill>
              <a:latin typeface="標楷體" pitchFamily="65" charset="-120"/>
              <a:ea typeface="標楷體" pitchFamily="65" charset="-120"/>
            </a:endParaRPr>
          </a:p>
          <a:p>
            <a:r>
              <a:rPr lang="en-US" altLang="zh-TW" sz="2400" dirty="0">
                <a:latin typeface="標楷體" pitchFamily="65" charset="-120"/>
                <a:ea typeface="標楷體" pitchFamily="65" charset="-120"/>
              </a:rPr>
              <a:t>1.</a:t>
            </a:r>
            <a:r>
              <a:rPr lang="zh-TW" altLang="en-US" sz="2400" dirty="0">
                <a:solidFill>
                  <a:srgbClr val="FF0000"/>
                </a:solidFill>
                <a:latin typeface="標楷體" pitchFamily="65" charset="-120"/>
                <a:ea typeface="標楷體" pitchFamily="65" charset="-120"/>
              </a:rPr>
              <a:t>早期</a:t>
            </a:r>
            <a:r>
              <a:rPr lang="zh-TW" altLang="en-US" sz="2400" dirty="0">
                <a:latin typeface="標楷體" pitchFamily="65" charset="-120"/>
                <a:ea typeface="標楷體" pitchFamily="65" charset="-120"/>
              </a:rPr>
              <a:t>：以</a:t>
            </a:r>
            <a:r>
              <a:rPr lang="zh-TW" altLang="en-US" sz="2400" dirty="0">
                <a:solidFill>
                  <a:srgbClr val="FF0000"/>
                </a:solidFill>
                <a:latin typeface="標楷體" pitchFamily="65" charset="-120"/>
                <a:ea typeface="標楷體" pitchFamily="65" charset="-120"/>
              </a:rPr>
              <a:t>低廉</a:t>
            </a:r>
            <a:r>
              <a:rPr lang="zh-TW" altLang="en-US" sz="2400" dirty="0">
                <a:latin typeface="標楷體" pitchFamily="65" charset="-120"/>
                <a:ea typeface="標楷體" pitchFamily="65" charset="-120"/>
              </a:rPr>
              <a:t>的</a:t>
            </a:r>
            <a:r>
              <a:rPr lang="zh-TW" altLang="en-US" sz="2400" dirty="0">
                <a:solidFill>
                  <a:srgbClr val="FF0000"/>
                </a:solidFill>
                <a:latin typeface="標楷體" pitchFamily="65" charset="-120"/>
                <a:ea typeface="標楷體" pitchFamily="65" charset="-120"/>
              </a:rPr>
              <a:t>環境土地成本、人力及政策補助</a:t>
            </a:r>
            <a:r>
              <a:rPr lang="zh-TW" altLang="en-US" sz="2400" dirty="0">
                <a:latin typeface="標楷體" pitchFamily="65" charset="-120"/>
                <a:ea typeface="標楷體" pitchFamily="65" charset="-120"/>
              </a:rPr>
              <a:t>的方式</a:t>
            </a:r>
            <a:r>
              <a:rPr lang="zh-TW" altLang="en-US" sz="2400" dirty="0">
                <a:solidFill>
                  <a:srgbClr val="FF0000"/>
                </a:solidFill>
                <a:latin typeface="標楷體" pitchFamily="65" charset="-120"/>
                <a:ea typeface="標楷體" pitchFamily="65" charset="-120"/>
              </a:rPr>
              <a:t>取得低價競爭優勢</a:t>
            </a:r>
            <a:r>
              <a:rPr lang="zh-TW" altLang="en-US" sz="2400" dirty="0">
                <a:latin typeface="標楷體" pitchFamily="65" charset="-120"/>
                <a:ea typeface="標楷體" pitchFamily="65" charset="-120"/>
              </a:rPr>
              <a:t>。</a:t>
            </a:r>
          </a:p>
          <a:p>
            <a:r>
              <a:rPr lang="en-US" altLang="zh-TW" sz="2400" dirty="0">
                <a:latin typeface="標楷體" pitchFamily="65" charset="-120"/>
                <a:ea typeface="標楷體" pitchFamily="65" charset="-120"/>
              </a:rPr>
              <a:t>2.</a:t>
            </a:r>
            <a:r>
              <a:rPr lang="zh-TW" altLang="en-US" sz="2400" dirty="0">
                <a:solidFill>
                  <a:srgbClr val="FF0000"/>
                </a:solidFill>
                <a:latin typeface="標楷體" pitchFamily="65" charset="-120"/>
                <a:ea typeface="標楷體" pitchFamily="65" charset="-120"/>
              </a:rPr>
              <a:t>轉變</a:t>
            </a:r>
            <a:r>
              <a:rPr lang="zh-TW" altLang="en-US" sz="2400" dirty="0">
                <a:latin typeface="標楷體" pitchFamily="65" charset="-120"/>
                <a:ea typeface="標楷體" pitchFamily="65" charset="-120"/>
              </a:rPr>
              <a:t>：隨著</a:t>
            </a:r>
            <a:r>
              <a:rPr lang="zh-TW" altLang="en-US" sz="2400" dirty="0">
                <a:solidFill>
                  <a:srgbClr val="FF0000"/>
                </a:solidFill>
                <a:latin typeface="標楷體" pitchFamily="65" charset="-120"/>
                <a:ea typeface="標楷體" pitchFamily="65" charset="-120"/>
              </a:rPr>
              <a:t>國內生產成本提升</a:t>
            </a:r>
            <a:r>
              <a:rPr lang="zh-TW" altLang="en-US" sz="2400" dirty="0">
                <a:latin typeface="標楷體" pitchFamily="65" charset="-120"/>
                <a:ea typeface="標楷體" pitchFamily="65" charset="-120"/>
              </a:rPr>
              <a:t>、國際低價競爭威脅，過去不少銷量世界第一的傳統產業喪失光芒黯然退出。</a:t>
            </a:r>
          </a:p>
          <a:p>
            <a:r>
              <a:rPr lang="en-US" altLang="zh-TW" sz="2400" dirty="0">
                <a:latin typeface="標楷體" pitchFamily="65" charset="-120"/>
                <a:ea typeface="標楷體" pitchFamily="65" charset="-120"/>
              </a:rPr>
              <a:t>3.</a:t>
            </a:r>
            <a:r>
              <a:rPr lang="zh-TW" altLang="en-US" sz="2400" dirty="0">
                <a:solidFill>
                  <a:srgbClr val="FF0000"/>
                </a:solidFill>
                <a:latin typeface="標楷體" pitchFamily="65" charset="-120"/>
                <a:ea typeface="標楷體" pitchFamily="65" charset="-120"/>
              </a:rPr>
              <a:t>未來</a:t>
            </a:r>
            <a:r>
              <a:rPr lang="zh-TW" altLang="en-US" sz="2400" dirty="0">
                <a:latin typeface="標楷體" pitchFamily="65" charset="-120"/>
                <a:ea typeface="標楷體" pitchFamily="65" charset="-120"/>
              </a:rPr>
              <a:t>：如何</a:t>
            </a:r>
            <a:r>
              <a:rPr lang="zh-TW" altLang="en-US" sz="2400" dirty="0">
                <a:solidFill>
                  <a:srgbClr val="FF0000"/>
                </a:solidFill>
                <a:latin typeface="標楷體" pitchFamily="65" charset="-120"/>
                <a:ea typeface="標楷體" pitchFamily="65" charset="-120"/>
              </a:rPr>
              <a:t>持續</a:t>
            </a:r>
            <a:r>
              <a:rPr lang="zh-TW" altLang="en-US" sz="2400" dirty="0">
                <a:latin typeface="標楷體" pitchFamily="65" charset="-120"/>
                <a:ea typeface="標楷體" pitchFamily="65" charset="-120"/>
              </a:rPr>
              <a:t>進行</a:t>
            </a:r>
            <a:r>
              <a:rPr lang="zh-TW" altLang="en-US" sz="2400" dirty="0">
                <a:solidFill>
                  <a:srgbClr val="FF0000"/>
                </a:solidFill>
                <a:latin typeface="標楷體" pitchFamily="65" charset="-120"/>
                <a:ea typeface="標楷體" pitchFamily="65" charset="-120"/>
              </a:rPr>
              <a:t>產業升級</a:t>
            </a:r>
            <a:r>
              <a:rPr lang="zh-TW" altLang="en-US" sz="2400" dirty="0">
                <a:latin typeface="標楷體" pitchFamily="65" charset="-120"/>
                <a:ea typeface="標楷體" pitchFamily="65" charset="-120"/>
              </a:rPr>
              <a:t>，甚至</a:t>
            </a:r>
            <a:r>
              <a:rPr lang="zh-TW" altLang="en-US" sz="2400" dirty="0">
                <a:solidFill>
                  <a:srgbClr val="FF00FF"/>
                </a:solidFill>
                <a:latin typeface="標楷體" pitchFamily="65" charset="-120"/>
                <a:ea typeface="標楷體" pitchFamily="65" charset="-120"/>
              </a:rPr>
              <a:t>運用工業 </a:t>
            </a:r>
            <a:r>
              <a:rPr lang="en-US" altLang="zh-TW" sz="2400" dirty="0">
                <a:solidFill>
                  <a:srgbClr val="FF00FF"/>
                </a:solidFill>
                <a:latin typeface="標楷體" pitchFamily="65" charset="-120"/>
                <a:ea typeface="標楷體" pitchFamily="65" charset="-120"/>
              </a:rPr>
              <a:t>4.0 </a:t>
            </a:r>
            <a:r>
              <a:rPr lang="zh-TW" altLang="en-US" sz="2400" dirty="0">
                <a:solidFill>
                  <a:srgbClr val="FF00FF"/>
                </a:solidFill>
                <a:latin typeface="標楷體" pitchFamily="65" charset="-120"/>
                <a:ea typeface="標楷體" pitchFamily="65" charset="-120"/>
              </a:rPr>
              <a:t>的未來趨勢</a:t>
            </a:r>
            <a:r>
              <a:rPr lang="zh-TW" altLang="en-US" sz="2400" dirty="0">
                <a:latin typeface="標楷體" pitchFamily="65" charset="-120"/>
                <a:ea typeface="標楷體" pitchFamily="65" charset="-120"/>
              </a:rPr>
              <a:t>，成為臺灣經濟發展的重要課題。</a:t>
            </a:r>
            <a:endParaRPr lang="en-US" altLang="zh-TW" sz="2400" dirty="0">
              <a:latin typeface="標楷體" pitchFamily="65" charset="-120"/>
              <a:ea typeface="標楷體" pitchFamily="65" charset="-120"/>
            </a:endParaRPr>
          </a:p>
          <a:p>
            <a:r>
              <a:rPr lang="en-US" altLang="zh-TW" sz="2400" dirty="0">
                <a:latin typeface="標楷體" pitchFamily="65" charset="-120"/>
                <a:ea typeface="標楷體" pitchFamily="65" charset="-120"/>
              </a:rPr>
              <a:t>4.</a:t>
            </a:r>
            <a:r>
              <a:rPr lang="zh-TW" altLang="en-US" sz="2400" dirty="0">
                <a:latin typeface="標楷體" pitchFamily="65" charset="-120"/>
                <a:ea typeface="標楷體" pitchFamily="65" charset="-120"/>
              </a:rPr>
              <a:t>「</a:t>
            </a:r>
            <a:r>
              <a:rPr lang="zh-TW" altLang="en-US" sz="2400" dirty="0">
                <a:solidFill>
                  <a:srgbClr val="FF0000"/>
                </a:solidFill>
                <a:latin typeface="標楷體" pitchFamily="65" charset="-120"/>
                <a:ea typeface="標楷體" pitchFamily="65" charset="-120"/>
              </a:rPr>
              <a:t>隱形冠軍</a:t>
            </a:r>
            <a:r>
              <a:rPr lang="zh-TW" altLang="en-US" sz="2400" dirty="0">
                <a:latin typeface="標楷體" pitchFamily="65" charset="-120"/>
                <a:ea typeface="標楷體" pitchFamily="65" charset="-120"/>
              </a:rPr>
              <a:t>」：</a:t>
            </a:r>
            <a:r>
              <a:rPr lang="zh-TW" altLang="en-US" sz="2400" dirty="0">
                <a:solidFill>
                  <a:srgbClr val="FF00FF"/>
                </a:solidFill>
                <a:latin typeface="標楷體" pitchFamily="65" charset="-120"/>
                <a:ea typeface="標楷體" pitchFamily="65" charset="-120"/>
              </a:rPr>
              <a:t>原指</a:t>
            </a:r>
            <a:r>
              <a:rPr lang="zh-TW" altLang="en-US" sz="2400" dirty="0">
                <a:solidFill>
                  <a:srgbClr val="FF0000"/>
                </a:solidFill>
                <a:latin typeface="標楷體" pitchFamily="65" charset="-120"/>
                <a:ea typeface="標楷體" pitchFamily="65" charset="-120"/>
              </a:rPr>
              <a:t>德國</a:t>
            </a:r>
            <a:r>
              <a:rPr lang="zh-TW" altLang="en-US" sz="2400" dirty="0">
                <a:latin typeface="標楷體" pitchFamily="65" charset="-120"/>
                <a:ea typeface="標楷體" pitchFamily="65" charset="-120"/>
              </a:rPr>
              <a:t>約 </a:t>
            </a:r>
            <a:r>
              <a:rPr lang="en-US" altLang="zh-TW" sz="2400" dirty="0">
                <a:latin typeface="標楷體" pitchFamily="65" charset="-120"/>
                <a:ea typeface="標楷體" pitchFamily="65" charset="-120"/>
              </a:rPr>
              <a:t>1,400 </a:t>
            </a:r>
            <a:r>
              <a:rPr lang="zh-TW" altLang="en-US" sz="2400" dirty="0">
                <a:latin typeface="標楷體" pitchFamily="65" charset="-120"/>
                <a:ea typeface="標楷體" pitchFamily="65" charset="-120"/>
              </a:rPr>
              <a:t>家</a:t>
            </a:r>
            <a:r>
              <a:rPr lang="zh-TW" altLang="en-US" sz="2400" dirty="0">
                <a:solidFill>
                  <a:srgbClr val="FF0000"/>
                </a:solidFill>
                <a:latin typeface="標楷體" pitchFamily="65" charset="-120"/>
                <a:ea typeface="標楷體" pitchFamily="65" charset="-120"/>
              </a:rPr>
              <a:t>具有關鍵技術，並貢獻超過 </a:t>
            </a:r>
            <a:r>
              <a:rPr lang="en-US" altLang="zh-TW" sz="2400" dirty="0">
                <a:solidFill>
                  <a:srgbClr val="FF0000"/>
                </a:solidFill>
                <a:latin typeface="標楷體" pitchFamily="65" charset="-120"/>
                <a:ea typeface="標楷體" pitchFamily="65" charset="-120"/>
              </a:rPr>
              <a:t>50 % GDP </a:t>
            </a:r>
            <a:r>
              <a:rPr lang="zh-TW" altLang="en-US" sz="2400" dirty="0">
                <a:solidFill>
                  <a:srgbClr val="FF0000"/>
                </a:solidFill>
                <a:latin typeface="標楷體" pitchFamily="65" charset="-120"/>
                <a:ea typeface="標楷體" pitchFamily="65" charset="-120"/>
              </a:rPr>
              <a:t>的中小企業</a:t>
            </a:r>
            <a:endParaRPr lang="zh-TW" altLang="en-US" sz="2400" dirty="0">
              <a:latin typeface="標楷體" pitchFamily="65" charset="-120"/>
              <a:ea typeface="標楷體" pitchFamily="65" charset="-120"/>
            </a:endParaRPr>
          </a:p>
        </p:txBody>
      </p:sp>
      <p:sp>
        <p:nvSpPr>
          <p:cNvPr id="9" name="矩形 8"/>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p.180</a:t>
            </a:r>
            <a:endParaRPr lang="zh-TW" altLang="en-US" sz="3600" b="0" dirty="0"/>
          </a:p>
        </p:txBody>
      </p:sp>
      <p:sp>
        <p:nvSpPr>
          <p:cNvPr id="10" name="Rectangle 3"/>
          <p:cNvSpPr txBox="1">
            <a:spLocks noChangeArrowheads="1"/>
          </p:cNvSpPr>
          <p:nvPr/>
        </p:nvSpPr>
        <p:spPr>
          <a:xfrm>
            <a:off x="28624" y="4862409"/>
            <a:ext cx="9115376" cy="1412776"/>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r>
              <a:rPr lang="zh-TW" altLang="zh-TW" sz="2400" kern="1200" dirty="0">
                <a:solidFill>
                  <a:schemeClr val="tx1"/>
                </a:solidFill>
                <a:latin typeface="標楷體" pitchFamily="65" charset="-120"/>
                <a:ea typeface="標楷體" pitchFamily="65" charset="-120"/>
                <a:cs typeface="+mj-cs"/>
              </a:rPr>
              <a:t>該詞源自德國，</a:t>
            </a:r>
            <a:r>
              <a:rPr lang="zh-TW" altLang="en-US" sz="2400" kern="1200" dirty="0">
                <a:solidFill>
                  <a:schemeClr val="tx1"/>
                </a:solidFill>
                <a:latin typeface="標楷體" pitchFamily="65" charset="-120"/>
                <a:ea typeface="標楷體" pitchFamily="65" charset="-120"/>
                <a:cs typeface="+mj-cs"/>
              </a:rPr>
              <a:t>專指在產品質量、種類和技術等方面</a:t>
            </a:r>
            <a:r>
              <a:rPr lang="zh-TW" altLang="en-US" sz="2400" kern="1200" dirty="0">
                <a:solidFill>
                  <a:srgbClr val="FF00FF"/>
                </a:solidFill>
                <a:latin typeface="標楷體" pitchFamily="65" charset="-120"/>
                <a:ea typeface="標楷體" pitchFamily="65" charset="-120"/>
                <a:cs typeface="+mj-cs"/>
              </a:rPr>
              <a:t>具有獨特競爭力</a:t>
            </a:r>
            <a:r>
              <a:rPr lang="zh-TW" altLang="en-US" sz="2400" kern="1200" dirty="0">
                <a:solidFill>
                  <a:schemeClr val="tx1"/>
                </a:solidFill>
                <a:latin typeface="標楷體" pitchFamily="65" charset="-120"/>
                <a:ea typeface="標楷體" pitchFamily="65" charset="-120"/>
                <a:cs typeface="+mj-cs"/>
              </a:rPr>
              <a:t>、一定</a:t>
            </a:r>
            <a:r>
              <a:rPr lang="zh-TW" altLang="en-US" sz="2400" kern="1200" dirty="0">
                <a:solidFill>
                  <a:srgbClr val="FF00FF"/>
                </a:solidFill>
                <a:latin typeface="標楷體" pitchFamily="65" charset="-120"/>
                <a:ea typeface="標楷體" pitchFamily="65" charset="-120"/>
                <a:cs typeface="+mj-cs"/>
              </a:rPr>
              <a:t>市場壟斷</a:t>
            </a:r>
            <a:r>
              <a:rPr lang="zh-TW" altLang="en-US" sz="2400" kern="1200" dirty="0">
                <a:solidFill>
                  <a:schemeClr val="tx1"/>
                </a:solidFill>
                <a:latin typeface="標楷體" pitchFamily="65" charset="-120"/>
                <a:ea typeface="標楷體" pitchFamily="65" charset="-120"/>
                <a:cs typeface="+mj-cs"/>
              </a:rPr>
              <a:t>性的中小型企業，</a:t>
            </a:r>
            <a:r>
              <a:rPr lang="zh-TW" altLang="en-US" sz="2400" kern="1200" dirty="0">
                <a:solidFill>
                  <a:srgbClr val="FF00FF"/>
                </a:solidFill>
                <a:latin typeface="標楷體" pitchFamily="65" charset="-120"/>
                <a:ea typeface="標楷體" pitchFamily="65" charset="-120"/>
                <a:cs typeface="+mj-cs"/>
              </a:rPr>
              <a:t>其產品通常為生產鏈中一環，非終端消費產品，在消費者中知名度低</a:t>
            </a:r>
            <a:r>
              <a:rPr lang="zh-TW" altLang="en-US" sz="2400" kern="1200" dirty="0">
                <a:solidFill>
                  <a:schemeClr val="tx1"/>
                </a:solidFill>
                <a:latin typeface="標楷體" pitchFamily="65" charset="-120"/>
                <a:ea typeface="標楷體" pitchFamily="65" charset="-120"/>
                <a:cs typeface="+mj-cs"/>
              </a:rPr>
              <a:t>，而稱為「隱形」。</a:t>
            </a:r>
          </a:p>
        </p:txBody>
      </p:sp>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0636" y="4320517"/>
            <a:ext cx="2464875" cy="605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矩形 12"/>
          <p:cNvSpPr>
            <a:spLocks noChangeArrowheads="1"/>
          </p:cNvSpPr>
          <p:nvPr/>
        </p:nvSpPr>
        <p:spPr bwMode="auto">
          <a:xfrm>
            <a:off x="91269" y="4295806"/>
            <a:ext cx="248016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p.181</a:t>
            </a:r>
            <a:r>
              <a:rPr lang="zh-TW" altLang="en-US" sz="3600" dirty="0">
                <a:solidFill>
                  <a:srgbClr val="FF0000"/>
                </a:solidFill>
              </a:rPr>
              <a:t>下</a:t>
            </a:r>
            <a:r>
              <a:rPr lang="en-US" altLang="zh-TW" sz="3600" dirty="0">
                <a:solidFill>
                  <a:srgbClr val="FF0000"/>
                </a:solidFill>
              </a:rPr>
              <a:t>Box</a:t>
            </a:r>
            <a:endParaRPr lang="zh-TW" altLang="en-US" sz="3600" b="0" dirty="0"/>
          </a:p>
        </p:txBody>
      </p:sp>
      <p:sp>
        <p:nvSpPr>
          <p:cNvPr id="14" name="Rectangle 3"/>
          <p:cNvSpPr txBox="1">
            <a:spLocks noChangeArrowheads="1"/>
          </p:cNvSpPr>
          <p:nvPr/>
        </p:nvSpPr>
        <p:spPr>
          <a:xfrm>
            <a:off x="2616733" y="4277853"/>
            <a:ext cx="1435684" cy="648072"/>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pPr fontAlgn="base">
              <a:spcBef>
                <a:spcPct val="0"/>
              </a:spcBef>
              <a:spcAft>
                <a:spcPct val="0"/>
              </a:spcAft>
              <a:buClrTx/>
              <a:buSzTx/>
            </a:pPr>
            <a:endParaRPr lang="en-US" altLang="zh-TW" sz="2400" dirty="0">
              <a:solidFill>
                <a:schemeClr val="bg2">
                  <a:lumMod val="75000"/>
                </a:schemeClr>
              </a:solidFill>
              <a:latin typeface="標楷體" pitchFamily="65" charset="-120"/>
              <a:ea typeface="標楷體" pitchFamily="65" charset="-120"/>
            </a:endParaRPr>
          </a:p>
          <a:p>
            <a:pPr fontAlgn="base">
              <a:spcBef>
                <a:spcPct val="0"/>
              </a:spcBef>
              <a:spcAft>
                <a:spcPct val="0"/>
              </a:spcAft>
              <a:buClrTx/>
              <a:buSzTx/>
            </a:pPr>
            <a:r>
              <a:rPr lang="zh-TW" altLang="en-US" sz="2400" dirty="0">
                <a:solidFill>
                  <a:schemeClr val="bg2">
                    <a:lumMod val="75000"/>
                  </a:schemeClr>
                </a:solidFill>
                <a:latin typeface="標楷體" pitchFamily="65" charset="-120"/>
                <a:ea typeface="標楷體" pitchFamily="65" charset="-120"/>
              </a:rPr>
              <a:t>隱形冠軍</a:t>
            </a:r>
            <a:endParaRPr lang="en-US" altLang="zh-TW" sz="2400" dirty="0">
              <a:solidFill>
                <a:schemeClr val="bg2">
                  <a:lumMod val="75000"/>
                </a:schemeClr>
              </a:solidFill>
              <a:latin typeface="標楷體" pitchFamily="65" charset="-120"/>
              <a:ea typeface="標楷體" pitchFamily="65" charset="-120"/>
            </a:endParaRPr>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49</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6040118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90156" y="4887482"/>
            <a:ext cx="7772400" cy="1362075"/>
          </a:xfrm>
        </p:spPr>
        <p:txBody>
          <a:bodyPr/>
          <a:lstStyle/>
          <a:p>
            <a:endParaRPr lang="zh-TW" altLang="en-US"/>
          </a:p>
        </p:txBody>
      </p:sp>
      <p:sp>
        <p:nvSpPr>
          <p:cNvPr id="3" name="文字版面配置區 2"/>
          <p:cNvSpPr>
            <a:spLocks noGrp="1"/>
          </p:cNvSpPr>
          <p:nvPr>
            <p:ph type="body" idx="1"/>
          </p:nvPr>
        </p:nvSpPr>
        <p:spPr>
          <a:xfrm>
            <a:off x="690156" y="3387295"/>
            <a:ext cx="7772400" cy="1500187"/>
          </a:xfrm>
        </p:spPr>
        <p:txBody>
          <a:bodyPr/>
          <a:lstStyle/>
          <a:p>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7" name="Rectangle 3"/>
          <p:cNvSpPr txBox="1">
            <a:spLocks noChangeArrowheads="1"/>
          </p:cNvSpPr>
          <p:nvPr/>
        </p:nvSpPr>
        <p:spPr>
          <a:xfrm>
            <a:off x="315324" y="725004"/>
            <a:ext cx="8649163" cy="1090327"/>
          </a:xfrm>
          <a:prstGeom prst="rect">
            <a:avLst/>
          </a:prstGeom>
          <a:noFill/>
          <a:ln>
            <a:noFill/>
          </a:ln>
        </p:spPr>
        <p:txBody>
          <a:bodyPr wrap="square"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400"/>
              </a:spcBef>
              <a:spcAft>
                <a:spcPts val="0"/>
              </a:spcAft>
              <a:buClr>
                <a:schemeClr val="folHlink"/>
              </a:buClr>
              <a:buSzPct val="85000"/>
              <a:buFont typeface="Noto Sans Symbols"/>
              <a:buNone/>
              <a:defRPr sz="2000" b="0" i="0" u="none" strike="noStrike" cap="none">
                <a:solidFill>
                  <a:schemeClr val="dk1"/>
                </a:solidFill>
                <a:latin typeface="Arial"/>
                <a:ea typeface="Arial"/>
                <a:cs typeface="Arial"/>
                <a:sym typeface="Arial"/>
              </a:defRPr>
            </a:lvl1pPr>
            <a:lvl2pPr marL="457200" marR="0" lvl="1" indent="0" algn="l" rtl="0">
              <a:lnSpc>
                <a:spcPct val="100000"/>
              </a:lnSpc>
              <a:spcBef>
                <a:spcPts val="360"/>
              </a:spcBef>
              <a:spcAft>
                <a:spcPts val="0"/>
              </a:spcAft>
              <a:buClr>
                <a:schemeClr val="hlink"/>
              </a:buClr>
              <a:buSzPct val="85000"/>
              <a:buFont typeface="Noto Sans Symbols"/>
              <a:buNone/>
              <a:defRPr sz="1800" b="0" i="0" u="none" strike="noStrike" cap="none">
                <a:solidFill>
                  <a:schemeClr val="dk1"/>
                </a:solidFill>
                <a:latin typeface="Arial"/>
                <a:ea typeface="Arial"/>
                <a:cs typeface="Arial"/>
                <a:sym typeface="Arial"/>
              </a:defRPr>
            </a:lvl2pPr>
            <a:lvl3pPr marL="914400" marR="0" lvl="2" indent="0" algn="l" rtl="0">
              <a:lnSpc>
                <a:spcPct val="100000"/>
              </a:lnSpc>
              <a:spcBef>
                <a:spcPts val="320"/>
              </a:spcBef>
              <a:spcAft>
                <a:spcPts val="0"/>
              </a:spcAft>
              <a:buClr>
                <a:schemeClr val="folHlink"/>
              </a:buClr>
              <a:buSzPct val="90000"/>
              <a:buFont typeface="Noto Sans Symbols"/>
              <a:buNone/>
              <a:defRPr sz="1600" b="0" i="0" u="none" strike="noStrike" cap="none">
                <a:solidFill>
                  <a:schemeClr val="dk1"/>
                </a:solidFill>
                <a:latin typeface="Arial"/>
                <a:ea typeface="Arial"/>
                <a:cs typeface="Arial"/>
                <a:sym typeface="Arial"/>
              </a:defRPr>
            </a:lvl3pPr>
            <a:lvl4pPr marL="1371600" marR="0" lvl="3" indent="0" algn="l" rtl="0">
              <a:lnSpc>
                <a:spcPct val="100000"/>
              </a:lnSpc>
              <a:spcBef>
                <a:spcPts val="280"/>
              </a:spcBef>
              <a:spcAft>
                <a:spcPts val="0"/>
              </a:spcAft>
              <a:buClr>
                <a:schemeClr val="hlink"/>
              </a:buClr>
              <a:buSzPct val="90000"/>
              <a:buFont typeface="Noto Sans Symbols"/>
              <a:buNone/>
              <a:defRPr sz="1400" b="0" i="0" u="none" strike="noStrike" cap="none">
                <a:solidFill>
                  <a:schemeClr val="dk1"/>
                </a:solidFill>
                <a:latin typeface="Arial"/>
                <a:ea typeface="Arial"/>
                <a:cs typeface="Arial"/>
                <a:sym typeface="Arial"/>
              </a:defRPr>
            </a:lvl4pPr>
            <a:lvl5pPr marL="1828800" marR="0" lvl="4"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5pPr>
            <a:lvl6pPr marL="2286000" marR="0" lvl="5"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6pPr>
            <a:lvl7pPr marL="2743200" marR="0" lvl="6"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7pPr>
            <a:lvl8pPr marL="3200400" marR="0" lvl="7"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8pPr>
            <a:lvl9pPr marL="3657600" marR="0" lvl="8" indent="0" algn="l" rtl="0">
              <a:lnSpc>
                <a:spcPct val="100000"/>
              </a:lnSpc>
              <a:spcBef>
                <a:spcPts val="280"/>
              </a:spcBef>
              <a:spcAft>
                <a:spcPts val="0"/>
              </a:spcAft>
              <a:buClr>
                <a:schemeClr val="folHlink"/>
              </a:buClr>
              <a:buSzPct val="90000"/>
              <a:buFont typeface="Noto Sans Symbols"/>
              <a:buNone/>
              <a:defRPr sz="1400" b="0" i="0" u="none" strike="noStrike" cap="none">
                <a:solidFill>
                  <a:schemeClr val="dk1"/>
                </a:solidFill>
                <a:latin typeface="Arial"/>
                <a:ea typeface="Arial"/>
                <a:cs typeface="Arial"/>
                <a:sym typeface="Arial"/>
              </a:defRPr>
            </a:lvl9pPr>
          </a:lstStyle>
          <a:p>
            <a:endParaRPr lang="en-US" altLang="zh-TW" sz="2200" dirty="0">
              <a:latin typeface="標楷體" pitchFamily="65" charset="-120"/>
              <a:ea typeface="標楷體" pitchFamily="65" charset="-120"/>
            </a:endParaRPr>
          </a:p>
          <a:p>
            <a:r>
              <a:rPr lang="en-US" altLang="zh-TW" sz="2200" dirty="0">
                <a:latin typeface="標楷體" pitchFamily="65" charset="-120"/>
                <a:ea typeface="標楷體" pitchFamily="65" charset="-120"/>
              </a:rPr>
              <a:t>5.</a:t>
            </a:r>
            <a:r>
              <a:rPr lang="zh-TW" altLang="en-US" sz="2200" dirty="0">
                <a:latin typeface="標楷體" pitchFamily="65" charset="-120"/>
                <a:ea typeface="標楷體" pitchFamily="65" charset="-120"/>
              </a:rPr>
              <a:t>臺灣的隱形冠軍：根據世界經濟論壇出版的全球競爭力報告（</a:t>
            </a:r>
            <a:r>
              <a:rPr lang="en-US" altLang="zh-TW" sz="2200" dirty="0">
                <a:latin typeface="標楷體" pitchFamily="65" charset="-120"/>
                <a:ea typeface="標楷體" pitchFamily="65" charset="-120"/>
              </a:rPr>
              <a:t>2018 </a:t>
            </a:r>
            <a:r>
              <a:rPr lang="zh-TW" altLang="en-US" sz="2200" dirty="0">
                <a:latin typeface="標楷體" pitchFamily="65" charset="-120"/>
                <a:ea typeface="標楷體" pitchFamily="65" charset="-120"/>
              </a:rPr>
              <a:t>年），</a:t>
            </a:r>
            <a:r>
              <a:rPr lang="zh-TW" altLang="en-US" sz="2200" dirty="0">
                <a:solidFill>
                  <a:srgbClr val="FF00FF"/>
                </a:solidFill>
                <a:latin typeface="標楷體" pitchFamily="65" charset="-120"/>
                <a:ea typeface="標楷體" pitchFamily="65" charset="-120"/>
              </a:rPr>
              <a:t>臺灣競爭力在全球排名第 </a:t>
            </a:r>
            <a:r>
              <a:rPr lang="en-US" altLang="zh-TW" sz="2200" dirty="0">
                <a:solidFill>
                  <a:srgbClr val="FF00FF"/>
                </a:solidFill>
                <a:latin typeface="標楷體" pitchFamily="65" charset="-120"/>
                <a:ea typeface="標楷體" pitchFamily="65" charset="-120"/>
              </a:rPr>
              <a:t>15</a:t>
            </a:r>
            <a:r>
              <a:rPr lang="zh-TW" altLang="en-US" sz="2200" dirty="0">
                <a:latin typeface="標楷體" pitchFamily="65" charset="-120"/>
                <a:ea typeface="標楷體" pitchFamily="65" charset="-120"/>
              </a:rPr>
              <a:t>，產業群聚排名世界第 </a:t>
            </a:r>
            <a:r>
              <a:rPr lang="en-US" altLang="zh-TW" sz="2200" dirty="0">
                <a:latin typeface="標楷體" pitchFamily="65" charset="-120"/>
                <a:ea typeface="標楷體" pitchFamily="65" charset="-120"/>
              </a:rPr>
              <a:t>2</a:t>
            </a:r>
            <a:r>
              <a:rPr lang="zh-TW" altLang="en-US" sz="2200" dirty="0">
                <a:latin typeface="標楷體" pitchFamily="65" charset="-120"/>
                <a:ea typeface="標楷體" pitchFamily="65" charset="-120"/>
              </a:rPr>
              <a:t>，顯示臺灣在世界經濟占一席之地。</a:t>
            </a:r>
            <a:endParaRPr lang="en-US" altLang="zh-TW" sz="2200" dirty="0">
              <a:latin typeface="標楷體" pitchFamily="65" charset="-120"/>
              <a:ea typeface="標楷體" pitchFamily="65" charset="-120"/>
            </a:endParaRPr>
          </a:p>
        </p:txBody>
      </p:sp>
      <p:graphicFrame>
        <p:nvGraphicFramePr>
          <p:cNvPr id="8" name="Group 47"/>
          <p:cNvGraphicFramePr>
            <a:graphicFrameLocks noGrp="1"/>
          </p:cNvGraphicFramePr>
          <p:nvPr>
            <p:extLst>
              <p:ext uri="{D42A27DB-BD31-4B8C-83A1-F6EECF244321}">
                <p14:modId xmlns:p14="http://schemas.microsoft.com/office/powerpoint/2010/main" val="3662376014"/>
              </p:ext>
            </p:extLst>
          </p:nvPr>
        </p:nvGraphicFramePr>
        <p:xfrm>
          <a:off x="291371" y="1857128"/>
          <a:ext cx="8518847" cy="4789257"/>
        </p:xfrm>
        <a:graphic>
          <a:graphicData uri="http://schemas.openxmlformats.org/drawingml/2006/table">
            <a:tbl>
              <a:tblPr/>
              <a:tblGrid>
                <a:gridCol w="1768062">
                  <a:extLst>
                    <a:ext uri="{9D8B030D-6E8A-4147-A177-3AD203B41FA5}">
                      <a16:colId xmlns:a16="http://schemas.microsoft.com/office/drawing/2014/main" val="20000"/>
                    </a:ext>
                  </a:extLst>
                </a:gridCol>
                <a:gridCol w="6750785">
                  <a:extLst>
                    <a:ext uri="{9D8B030D-6E8A-4147-A177-3AD203B41FA5}">
                      <a16:colId xmlns:a16="http://schemas.microsoft.com/office/drawing/2014/main" val="20001"/>
                    </a:ext>
                  </a:extLst>
                </a:gridCol>
              </a:tblGrid>
              <a:tr h="61694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200" b="0" i="0" u="none" strike="noStrike" cap="none" dirty="0">
                          <a:solidFill>
                            <a:schemeClr val="tx1"/>
                          </a:solidFill>
                          <a:latin typeface="標楷體" pitchFamily="65" charset="-120"/>
                          <a:ea typeface="標楷體" pitchFamily="65" charset="-120"/>
                          <a:cs typeface="Arial"/>
                          <a:sym typeface="Arial"/>
                        </a:rPr>
                        <a:t>蘭花</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zh-TW" altLang="en-US" sz="2200" b="0" i="0" u="none" strike="noStrike" cap="none" dirty="0">
                          <a:solidFill>
                            <a:schemeClr val="tx1"/>
                          </a:solidFill>
                          <a:latin typeface="標楷體" pitchFamily="65" charset="-120"/>
                          <a:ea typeface="標楷體" pitchFamily="65" charset="-120"/>
                          <a:cs typeface="Arial"/>
                          <a:sym typeface="Arial"/>
                        </a:rPr>
                        <a:t>全球最大蘭花輸出國，掌握五成蝴蝶蘭種源，四成核心生產技術</a:t>
                      </a:r>
                      <a:endParaRPr lang="en-US" altLang="zh-TW" sz="22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7394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200" b="0" i="0" u="none" strike="noStrike" cap="none" dirty="0">
                          <a:solidFill>
                            <a:schemeClr val="tx1"/>
                          </a:solidFill>
                          <a:latin typeface="標楷體" pitchFamily="65" charset="-120"/>
                          <a:ea typeface="標楷體" pitchFamily="65" charset="-120"/>
                          <a:cs typeface="Arial"/>
                          <a:sym typeface="Arial"/>
                        </a:rPr>
                        <a:t>水上摩拖車</a:t>
                      </a:r>
                      <a:br>
                        <a:rPr lang="en-US" altLang="zh-TW" sz="2200" b="0" i="0" u="none" strike="noStrike" cap="none" dirty="0">
                          <a:solidFill>
                            <a:schemeClr val="tx1"/>
                          </a:solidFill>
                          <a:latin typeface="標楷體" pitchFamily="65" charset="-120"/>
                          <a:ea typeface="標楷體" pitchFamily="65" charset="-120"/>
                          <a:cs typeface="Arial"/>
                          <a:sym typeface="Arial"/>
                        </a:rPr>
                      </a:br>
                      <a:r>
                        <a:rPr lang="zh-TW" altLang="en-US" sz="2200" b="0" i="0" u="none" strike="noStrike" cap="none" dirty="0">
                          <a:solidFill>
                            <a:schemeClr val="tx1"/>
                          </a:solidFill>
                          <a:latin typeface="標楷體" pitchFamily="65" charset="-120"/>
                          <a:ea typeface="標楷體" pitchFamily="65" charset="-120"/>
                          <a:cs typeface="Arial"/>
                          <a:sym typeface="Arial"/>
                        </a:rPr>
                        <a:t>螺旋槳</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2200" b="0" i="0" u="none" strike="noStrike" cap="none" dirty="0">
                          <a:solidFill>
                            <a:schemeClr val="tx1"/>
                          </a:solidFill>
                          <a:latin typeface="標楷體" pitchFamily="65" charset="-120"/>
                          <a:ea typeface="標楷體" pitchFamily="65" charset="-120"/>
                          <a:cs typeface="Arial"/>
                          <a:sym typeface="Arial"/>
                        </a:rPr>
                        <a:t>臺灣有全球最大的水上摩拖車螺旋槳製造廠</a:t>
                      </a:r>
                      <a:endParaRPr lang="en-US" altLang="zh-TW" sz="22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9702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200" b="0" i="0" u="none" strike="noStrike" cap="none" dirty="0">
                          <a:solidFill>
                            <a:schemeClr val="tx1"/>
                          </a:solidFill>
                          <a:latin typeface="標楷體" pitchFamily="65" charset="-120"/>
                          <a:ea typeface="標楷體" pitchFamily="65" charset="-120"/>
                          <a:cs typeface="Arial"/>
                          <a:sym typeface="Arial"/>
                        </a:rPr>
                        <a:t>螺絲</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algn="l"/>
                      <a:r>
                        <a:rPr lang="zh-TW" altLang="en-US" sz="2200" b="0" i="0" u="none" strike="noStrike" cap="none" dirty="0">
                          <a:solidFill>
                            <a:schemeClr val="tx1"/>
                          </a:solidFill>
                          <a:latin typeface="標楷體" pitchFamily="65" charset="-120"/>
                          <a:ea typeface="標楷體" pitchFamily="65" charset="-120"/>
                          <a:cs typeface="Arial"/>
                          <a:sym typeface="Arial"/>
                        </a:rPr>
                        <a:t>臺灣螺絲出口八成出自高雄岡山，占全球六分之一，美國每三顆螺絲中即有一顆為 </a:t>
                      </a:r>
                      <a:r>
                        <a:rPr lang="en-US" altLang="zh-TW" sz="2200" b="0" i="0" u="none" strike="noStrike" cap="none" dirty="0">
                          <a:solidFill>
                            <a:schemeClr val="tx1"/>
                          </a:solidFill>
                          <a:latin typeface="標楷體" pitchFamily="65" charset="-120"/>
                          <a:ea typeface="標楷體" pitchFamily="65" charset="-120"/>
                          <a:cs typeface="Arial"/>
                          <a:sym typeface="Arial"/>
                        </a:rPr>
                        <a:t>MIT</a:t>
                      </a:r>
                      <a:r>
                        <a:rPr lang="zh-TW" altLang="en-US" sz="2200" b="0" i="0" u="none" strike="noStrike" cap="none" dirty="0">
                          <a:solidFill>
                            <a:schemeClr val="tx1"/>
                          </a:solidFill>
                          <a:latin typeface="標楷體" pitchFamily="65" charset="-120"/>
                          <a:ea typeface="標楷體" pitchFamily="65" charset="-120"/>
                          <a:cs typeface="Arial"/>
                          <a:sym typeface="Arial"/>
                        </a:rPr>
                        <a:t>（臺灣製造）</a:t>
                      </a:r>
                      <a:endParaRPr lang="en-US" altLang="zh-TW" sz="22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524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200" b="0" i="0" u="none" strike="noStrike" cap="none" dirty="0">
                          <a:solidFill>
                            <a:schemeClr val="tx1"/>
                          </a:solidFill>
                          <a:latin typeface="標楷體" pitchFamily="65" charset="-120"/>
                          <a:ea typeface="標楷體" pitchFamily="65" charset="-120"/>
                          <a:cs typeface="Arial"/>
                          <a:sym typeface="Arial"/>
                        </a:rPr>
                        <a:t>遊艇</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algn="l"/>
                      <a:r>
                        <a:rPr lang="zh-TW" altLang="en-US" sz="2200" b="0" i="0" u="none" strike="noStrike" cap="none" dirty="0">
                          <a:solidFill>
                            <a:schemeClr val="tx1"/>
                          </a:solidFill>
                          <a:latin typeface="標楷體" pitchFamily="65" charset="-120"/>
                          <a:ea typeface="標楷體" pitchFamily="65" charset="-120"/>
                          <a:cs typeface="Arial"/>
                          <a:sym typeface="Arial"/>
                        </a:rPr>
                        <a:t>亞洲第一、世界第六大遊艇生產國，許多名人或富豪的私人遊艇都是臺灣生產，其中又有九成是</a:t>
                      </a:r>
                      <a:r>
                        <a:rPr lang="zh-TW" altLang="en-US" sz="2200" b="0" i="0" u="sng" strike="noStrike" cap="none" dirty="0">
                          <a:solidFill>
                            <a:srgbClr val="FF0000"/>
                          </a:solidFill>
                          <a:latin typeface="標楷體" pitchFamily="65" charset="-120"/>
                          <a:ea typeface="標楷體" pitchFamily="65" charset="-120"/>
                          <a:cs typeface="Arial"/>
                          <a:sym typeface="Arial"/>
                        </a:rPr>
                        <a:t>     </a:t>
                      </a:r>
                      <a:r>
                        <a:rPr lang="zh-TW" altLang="en-US" sz="2200" b="0" i="0" u="none" strike="noStrike" cap="none" dirty="0">
                          <a:solidFill>
                            <a:schemeClr val="tx1"/>
                          </a:solidFill>
                          <a:latin typeface="標楷體" pitchFamily="65" charset="-120"/>
                          <a:ea typeface="標楷體" pitchFamily="65" charset="-120"/>
                          <a:cs typeface="Arial"/>
                          <a:sym typeface="Arial"/>
                        </a:rPr>
                        <a:t>製造</a:t>
                      </a:r>
                      <a:endParaRPr lang="en-US" altLang="zh-TW" sz="2200" b="0" i="0" u="none" strike="noStrike" cap="none" dirty="0">
                        <a:solidFill>
                          <a:schemeClr val="tx1"/>
                        </a:solidFill>
                        <a:latin typeface="標楷體" pitchFamily="65" charset="-120"/>
                        <a:ea typeface="標楷體" pitchFamily="65" charset="-120"/>
                        <a:cs typeface="Arial"/>
                        <a:sym typeface="Arial"/>
                      </a:endParaRP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1653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lang="zh-TW" altLang="en-US" sz="2200" b="0" i="0" u="none" strike="noStrike" cap="none" dirty="0">
                          <a:solidFill>
                            <a:schemeClr val="tx1"/>
                          </a:solidFill>
                          <a:latin typeface="標楷體" pitchFamily="65" charset="-120"/>
                          <a:ea typeface="標楷體" pitchFamily="65" charset="-120"/>
                          <a:cs typeface="Arial"/>
                          <a:sym typeface="Arial"/>
                        </a:rPr>
                        <a:t>紡織業</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solidFill>
                      <a:schemeClr val="accent2"/>
                    </a:solidFill>
                  </a:tcPr>
                </a:tc>
                <a:tc>
                  <a:txBody>
                    <a:bodyPr/>
                    <a:lstStyle/>
                    <a:p>
                      <a:pPr algn="l"/>
                      <a:r>
                        <a:rPr lang="zh-TW" altLang="en-US" sz="2200" b="0" i="0" u="none" strike="noStrike" cap="none" dirty="0">
                          <a:solidFill>
                            <a:schemeClr val="tx1"/>
                          </a:solidFill>
                          <a:latin typeface="標楷體" pitchFamily="65" charset="-120"/>
                          <a:ea typeface="標楷體" pitchFamily="65" charset="-120"/>
                          <a:cs typeface="Arial"/>
                          <a:sym typeface="Arial"/>
                        </a:rPr>
                        <a:t>每年平均出口 </a:t>
                      </a:r>
                      <a:r>
                        <a:rPr lang="en-US" altLang="zh-TW" sz="2200" b="0" i="0" u="none" strike="noStrike" cap="none" dirty="0">
                          <a:solidFill>
                            <a:schemeClr val="tx1"/>
                          </a:solidFill>
                          <a:latin typeface="標楷體" pitchFamily="65" charset="-120"/>
                          <a:ea typeface="標楷體" pitchFamily="65" charset="-120"/>
                          <a:cs typeface="Arial"/>
                          <a:sym typeface="Arial"/>
                        </a:rPr>
                        <a:t>110 </a:t>
                      </a:r>
                      <a:r>
                        <a:rPr lang="zh-TW" altLang="en-US" sz="2200" b="0" i="0" u="none" strike="noStrike" cap="none" dirty="0">
                          <a:solidFill>
                            <a:schemeClr val="tx1"/>
                          </a:solidFill>
                          <a:latin typeface="標楷體" pitchFamily="65" charset="-120"/>
                          <a:ea typeface="標楷體" pitchFamily="65" charset="-120"/>
                          <a:cs typeface="Arial"/>
                          <a:sym typeface="Arial"/>
                        </a:rPr>
                        <a:t>億美元、全球第五名，全球前五大品牌 </a:t>
                      </a:r>
                      <a:r>
                        <a:rPr lang="en-US" altLang="zh-TW" sz="2200" b="0" i="0" u="none" strike="noStrike" cap="none" dirty="0">
                          <a:solidFill>
                            <a:schemeClr val="tx1"/>
                          </a:solidFill>
                          <a:latin typeface="標楷體" pitchFamily="65" charset="-120"/>
                          <a:ea typeface="標楷體" pitchFamily="65" charset="-120"/>
                          <a:cs typeface="Arial"/>
                          <a:sym typeface="Arial"/>
                        </a:rPr>
                        <a:t>80 </a:t>
                      </a:r>
                      <a:r>
                        <a:rPr lang="zh-TW" altLang="en-US" sz="2200" b="0" i="0" u="none" strike="noStrike" cap="none" dirty="0">
                          <a:solidFill>
                            <a:schemeClr val="tx1"/>
                          </a:solidFill>
                          <a:latin typeface="標楷體" pitchFamily="65" charset="-120"/>
                          <a:ea typeface="標楷體" pitchFamily="65" charset="-120"/>
                          <a:cs typeface="Arial"/>
                          <a:sym typeface="Arial"/>
                        </a:rPr>
                        <a:t>％跟臺灣有關。</a:t>
                      </a:r>
                      <a:r>
                        <a:rPr lang="zh-TW" altLang="en-US" sz="2200" b="0" i="0" u="none" strike="noStrike" cap="none" dirty="0">
                          <a:solidFill>
                            <a:srgbClr val="FF00FF"/>
                          </a:solidFill>
                          <a:latin typeface="標楷體" pitchFamily="65" charset="-120"/>
                          <a:ea typeface="標楷體" pitchFamily="65" charset="-120"/>
                          <a:cs typeface="Arial"/>
                          <a:sym typeface="Arial"/>
                        </a:rPr>
                        <a:t>機能性布料</a:t>
                      </a:r>
                      <a:r>
                        <a:rPr lang="zh-TW" altLang="en-US" sz="2200" b="0" i="0" u="none" strike="noStrike" cap="none" dirty="0">
                          <a:solidFill>
                            <a:schemeClr val="tx1"/>
                          </a:solidFill>
                          <a:latin typeface="標楷體" pitchFamily="65" charset="-120"/>
                          <a:ea typeface="標楷體" pitchFamily="65" charset="-120"/>
                          <a:cs typeface="Arial"/>
                          <a:sym typeface="Arial"/>
                        </a:rPr>
                        <a:t>全球市占率達 </a:t>
                      </a:r>
                      <a:r>
                        <a:rPr lang="en-US" altLang="zh-TW" sz="2200" b="0" i="0" u="none" strike="noStrike" cap="none" dirty="0">
                          <a:solidFill>
                            <a:schemeClr val="tx1"/>
                          </a:solidFill>
                          <a:latin typeface="標楷體" pitchFamily="65" charset="-120"/>
                          <a:ea typeface="標楷體" pitchFamily="65" charset="-120"/>
                          <a:cs typeface="Arial"/>
                          <a:sym typeface="Arial"/>
                        </a:rPr>
                        <a:t>70 </a:t>
                      </a:r>
                      <a:r>
                        <a:rPr lang="zh-TW" altLang="en-US" sz="2200" b="0" i="0" u="none" strike="noStrike" cap="none" dirty="0">
                          <a:solidFill>
                            <a:schemeClr val="tx1"/>
                          </a:solidFill>
                          <a:latin typeface="標楷體" pitchFamily="65" charset="-120"/>
                          <a:ea typeface="標楷體" pitchFamily="65" charset="-120"/>
                          <a:cs typeface="Arial"/>
                          <a:sym typeface="Arial"/>
                        </a:rPr>
                        <a:t>％，美國每 </a:t>
                      </a:r>
                      <a:r>
                        <a:rPr lang="en-US" altLang="zh-TW" sz="2200" b="0" i="0" u="none" strike="noStrike" cap="none" dirty="0">
                          <a:solidFill>
                            <a:schemeClr val="tx1"/>
                          </a:solidFill>
                          <a:latin typeface="標楷體" pitchFamily="65" charset="-120"/>
                          <a:ea typeface="標楷體" pitchFamily="65" charset="-120"/>
                          <a:cs typeface="Arial"/>
                          <a:sym typeface="Arial"/>
                        </a:rPr>
                        <a:t>10 </a:t>
                      </a:r>
                      <a:r>
                        <a:rPr lang="zh-TW" altLang="en-US" sz="2200" b="0" i="0" u="none" strike="noStrike" cap="none" dirty="0">
                          <a:solidFill>
                            <a:schemeClr val="tx1"/>
                          </a:solidFill>
                          <a:latin typeface="標楷體" pitchFamily="65" charset="-120"/>
                          <a:ea typeface="標楷體" pitchFamily="65" charset="-120"/>
                          <a:cs typeface="Arial"/>
                          <a:sym typeface="Arial"/>
                        </a:rPr>
                        <a:t>件瑜伽服有 </a:t>
                      </a:r>
                      <a:r>
                        <a:rPr lang="en-US" altLang="zh-TW" sz="2200" b="0" i="0" u="none" strike="noStrike" cap="none" dirty="0">
                          <a:solidFill>
                            <a:schemeClr val="tx1"/>
                          </a:solidFill>
                          <a:latin typeface="標楷體" pitchFamily="65" charset="-120"/>
                          <a:ea typeface="標楷體" pitchFamily="65" charset="-120"/>
                          <a:cs typeface="Arial"/>
                          <a:sym typeface="Arial"/>
                        </a:rPr>
                        <a:t>8 </a:t>
                      </a:r>
                      <a:r>
                        <a:rPr lang="zh-TW" altLang="en-US" sz="2200" b="0" i="0" u="none" strike="noStrike" cap="none" dirty="0">
                          <a:solidFill>
                            <a:schemeClr val="tx1"/>
                          </a:solidFill>
                          <a:latin typeface="標楷體" pitchFamily="65" charset="-120"/>
                          <a:ea typeface="標楷體" pitchFamily="65" charset="-120"/>
                          <a:cs typeface="Arial"/>
                          <a:sym typeface="Arial"/>
                        </a:rPr>
                        <a:t>件使用臺灣布料；全球消防衣布料過半是 </a:t>
                      </a:r>
                      <a:r>
                        <a:rPr lang="en-US" altLang="zh-TW" sz="2200" b="0" i="0" u="none" strike="noStrike" cap="none" dirty="0">
                          <a:solidFill>
                            <a:schemeClr val="tx1"/>
                          </a:solidFill>
                          <a:latin typeface="標楷體" pitchFamily="65" charset="-120"/>
                          <a:ea typeface="標楷體" pitchFamily="65" charset="-120"/>
                          <a:cs typeface="Arial"/>
                          <a:sym typeface="Arial"/>
                        </a:rPr>
                        <a:t>MIT</a:t>
                      </a:r>
                      <a:r>
                        <a:rPr lang="zh-TW" altLang="en-US" sz="2200" b="0" i="0" u="none" strike="noStrike" cap="none" dirty="0">
                          <a:solidFill>
                            <a:schemeClr val="tx1"/>
                          </a:solidFill>
                          <a:latin typeface="標楷體" pitchFamily="65" charset="-120"/>
                          <a:ea typeface="標楷體" pitchFamily="65" charset="-120"/>
                          <a:cs typeface="Arial"/>
                          <a:sym typeface="Arial"/>
                        </a:rPr>
                        <a:t>；</a:t>
                      </a:r>
                      <a:r>
                        <a:rPr lang="en-US" altLang="zh-TW" sz="2200" b="0" i="0" u="none" strike="noStrike" cap="none" dirty="0">
                          <a:solidFill>
                            <a:schemeClr val="tx1"/>
                          </a:solidFill>
                          <a:latin typeface="標楷體" pitchFamily="65" charset="-120"/>
                          <a:ea typeface="標楷體" pitchFamily="65" charset="-120"/>
                          <a:cs typeface="Arial"/>
                          <a:sym typeface="Arial"/>
                        </a:rPr>
                        <a:t>2018 </a:t>
                      </a:r>
                      <a:r>
                        <a:rPr lang="zh-TW" altLang="en-US" sz="2200" b="0" i="0" u="none" strike="noStrike" cap="none" dirty="0">
                          <a:solidFill>
                            <a:schemeClr val="tx1"/>
                          </a:solidFill>
                          <a:latin typeface="標楷體" pitchFamily="65" charset="-120"/>
                          <a:ea typeface="標楷體" pitchFamily="65" charset="-120"/>
                          <a:cs typeface="Arial"/>
                          <a:sym typeface="Arial"/>
                        </a:rPr>
                        <a:t>年世足賽巴西、德國、瑞典、比利時、英國、日本、埃及國家隊球衣皆是 </a:t>
                      </a:r>
                      <a:r>
                        <a:rPr lang="en-US" altLang="zh-TW" sz="2200" b="0" i="0" u="none" strike="noStrike" cap="none" dirty="0">
                          <a:solidFill>
                            <a:schemeClr val="tx1"/>
                          </a:solidFill>
                          <a:latin typeface="標楷體" pitchFamily="65" charset="-120"/>
                          <a:ea typeface="標楷體" pitchFamily="65" charset="-120"/>
                          <a:cs typeface="Arial"/>
                          <a:sym typeface="Arial"/>
                        </a:rPr>
                        <a:t>MIT</a:t>
                      </a:r>
                    </a:p>
                  </a:txBody>
                  <a:tcPr marL="68576" marR="68576" marT="0" marB="0" anchor="ctr" horzOverflow="overflow">
                    <a:lnL w="12700" cap="flat" cmpd="sng" algn="ctr">
                      <a:solidFill>
                        <a:schemeClr val="accent2">
                          <a:lumMod val="50000"/>
                        </a:schemeClr>
                      </a:solidFill>
                      <a:prstDash val="solid"/>
                      <a:round/>
                      <a:headEnd type="none" w="med" len="med"/>
                      <a:tailEnd type="none" w="med" len="med"/>
                    </a:lnL>
                    <a:lnR w="12700" cap="flat" cmpd="sng" algn="ctr">
                      <a:solidFill>
                        <a:schemeClr val="accent2">
                          <a:lumMod val="50000"/>
                        </a:schemeClr>
                      </a:solidFill>
                      <a:prstDash val="solid"/>
                      <a:round/>
                      <a:headEnd type="none" w="med" len="med"/>
                      <a:tailEnd type="none" w="med" len="med"/>
                    </a:lnR>
                    <a:lnT w="12700" cap="flat" cmpd="sng" algn="ctr">
                      <a:solidFill>
                        <a:schemeClr val="accent2">
                          <a:lumMod val="50000"/>
                        </a:schemeClr>
                      </a:solidFill>
                      <a:prstDash val="solid"/>
                      <a:round/>
                      <a:headEnd type="none" w="med" len="med"/>
                      <a:tailEnd type="none" w="med" len="med"/>
                    </a:lnT>
                    <a:lnB w="12700" cap="flat" cmpd="sng" algn="ctr">
                      <a:solidFill>
                        <a:schemeClr val="accent2">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 name="矩形 8"/>
          <p:cNvSpPr>
            <a:spLocks noChangeArrowheads="1"/>
          </p:cNvSpPr>
          <p:nvPr/>
        </p:nvSpPr>
        <p:spPr bwMode="auto">
          <a:xfrm>
            <a:off x="7420163" y="4218470"/>
            <a:ext cx="74892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TW" altLang="en-US" sz="2200" kern="1200" dirty="0">
                <a:solidFill>
                  <a:srgbClr val="FF0000"/>
                </a:solidFill>
                <a:latin typeface="標楷體" pitchFamily="65" charset="-120"/>
                <a:ea typeface="標楷體" pitchFamily="65" charset="-120"/>
                <a:cs typeface="Times New Roman" pitchFamily="18" charset="0"/>
              </a:rPr>
              <a:t>高雄</a:t>
            </a:r>
          </a:p>
        </p:txBody>
      </p:sp>
      <p:sp>
        <p:nvSpPr>
          <p:cNvPr id="10" name="矩形 9"/>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a:solidFill>
                  <a:srgbClr val="FF0000"/>
                </a:solidFill>
              </a:rPr>
              <a:t>p.181</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50</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49819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563888" y="2348880"/>
            <a:ext cx="5002833" cy="1362075"/>
          </a:xfrm>
        </p:spPr>
        <p:txBody>
          <a:bodyPr/>
          <a:lstStyle/>
          <a:p>
            <a:r>
              <a:rPr lang="en-US" altLang="zh-TW" dirty="0">
                <a:solidFill>
                  <a:srgbClr val="FF0000"/>
                </a:solidFill>
              </a:rPr>
              <a:t>END</a:t>
            </a:r>
            <a:br>
              <a:rPr lang="zh-TW" altLang="en-US" dirty="0"/>
            </a:br>
            <a:endParaRPr lang="zh-TW" altLang="en-US" dirty="0"/>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51</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18075510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Rectangle 8"/>
          <p:cNvSpPr>
            <a:spLocks noChangeArrowheads="1"/>
          </p:cNvSpPr>
          <p:nvPr/>
        </p:nvSpPr>
        <p:spPr bwMode="auto">
          <a:xfrm>
            <a:off x="1258888" y="2420938"/>
            <a:ext cx="712787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TW" altLang="en-US" sz="3600" dirty="0">
                <a:solidFill>
                  <a:srgbClr val="FF0000"/>
                </a:solidFill>
              </a:rPr>
              <a:t>以下</a:t>
            </a:r>
            <a:r>
              <a:rPr lang="zh-TW" altLang="en-US" sz="3600" dirty="0">
                <a:solidFill>
                  <a:srgbClr val="339933"/>
                </a:solidFill>
              </a:rPr>
              <a:t>試題演練</a:t>
            </a:r>
            <a:r>
              <a:rPr lang="zh-TW" altLang="en-US" sz="3600" dirty="0">
                <a:solidFill>
                  <a:srgbClr val="FF0000"/>
                </a:solidFill>
              </a:rPr>
              <a:t>僅提供部分試題，</a:t>
            </a:r>
          </a:p>
          <a:p>
            <a:pPr algn="just"/>
            <a:r>
              <a:rPr lang="zh-TW" altLang="en-US" sz="3600" dirty="0">
                <a:solidFill>
                  <a:srgbClr val="FF0000"/>
                </a:solidFill>
              </a:rPr>
              <a:t>詳細檔案請見教學資源</a:t>
            </a:r>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52</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1934866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a:ln>
            <a:solidFill>
              <a:srgbClr val="FF0000"/>
            </a:solidFill>
          </a:ln>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268413"/>
            <a:ext cx="7957765"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800" dirty="0">
                <a:solidFill>
                  <a:schemeClr val="tx1"/>
                </a:solidFill>
                <a:latin typeface="Arial" charset="0"/>
                <a:ea typeface="標楷體" pitchFamily="65" charset="-120"/>
              </a:rPr>
              <a:t>太平洋東岸潮溼的海風吹向洛磯山脈時，在迎風坡降下地形雨；在背風坡含水量較低的空氣因下沉而增溫，形成高溫且乾燥的欽諾克風（</a:t>
            </a:r>
            <a:r>
              <a:rPr kumimoji="1" lang="en-US" altLang="zh-TW" sz="2800" dirty="0">
                <a:solidFill>
                  <a:schemeClr val="tx1"/>
                </a:solidFill>
                <a:latin typeface="標楷體" panose="03000509000000000000" pitchFamily="65" charset="-120"/>
                <a:ea typeface="標楷體" panose="03000509000000000000" pitchFamily="65" charset="-120"/>
              </a:rPr>
              <a:t>Chinook wind</a:t>
            </a:r>
            <a:r>
              <a:rPr kumimoji="1" lang="zh-TW" altLang="en-US" sz="2800" dirty="0">
                <a:solidFill>
                  <a:schemeClr val="tx1"/>
                </a:solidFill>
                <a:latin typeface="Arial" charset="0"/>
                <a:ea typeface="標楷體" pitchFamily="65" charset="-120"/>
              </a:rPr>
              <a:t>）。臺灣夏季當颱風中心經過東北部時，何處最可能出現類似欽諾克風的現象？</a:t>
            </a:r>
            <a:br>
              <a:rPr kumimoji="1" lang="en-US" altLang="zh-TW" sz="2800" dirty="0">
                <a:solidFill>
                  <a:schemeClr val="tx1"/>
                </a:solidFill>
                <a:latin typeface="Arial" charset="0"/>
                <a:ea typeface="標楷體" pitchFamily="65" charset="-120"/>
              </a:rPr>
            </a:br>
            <a:r>
              <a:rPr kumimoji="1" lang="en-US" altLang="zh-TW" sz="2800" kern="1200" dirty="0">
                <a:solidFill>
                  <a:schemeClr val="tx1"/>
                </a:solidFill>
                <a:latin typeface="標楷體" pitchFamily="65" charset="-120"/>
                <a:ea typeface="標楷體" pitchFamily="65" charset="-120"/>
                <a:cs typeface="+mn-cs"/>
              </a:rPr>
              <a:t>(A)</a:t>
            </a:r>
            <a:r>
              <a:rPr kumimoji="1" lang="zh-TW" altLang="en-US" sz="2800" kern="1200" dirty="0">
                <a:solidFill>
                  <a:schemeClr val="tx1"/>
                </a:solidFill>
                <a:latin typeface="標楷體" pitchFamily="65" charset="-120"/>
                <a:ea typeface="標楷體" pitchFamily="65" charset="-120"/>
                <a:cs typeface="+mn-cs"/>
              </a:rPr>
              <a:t>屏東　               </a:t>
            </a:r>
            <a:r>
              <a:rPr kumimoji="1" lang="en-US" altLang="zh-TW" sz="2800" kern="1200" dirty="0">
                <a:solidFill>
                  <a:schemeClr val="tx1"/>
                </a:solidFill>
                <a:latin typeface="標楷體" pitchFamily="65" charset="-120"/>
                <a:ea typeface="標楷體" pitchFamily="65" charset="-120"/>
                <a:cs typeface="+mn-cs"/>
              </a:rPr>
              <a:t>(C)</a:t>
            </a:r>
            <a:r>
              <a:rPr kumimoji="1" lang="zh-TW" altLang="en-US" sz="2800" kern="1200" dirty="0">
                <a:solidFill>
                  <a:schemeClr val="tx1"/>
                </a:solidFill>
                <a:latin typeface="標楷體" pitchFamily="65" charset="-120"/>
                <a:ea typeface="標楷體" pitchFamily="65" charset="-120"/>
                <a:cs typeface="+mn-cs"/>
              </a:rPr>
              <a:t>新竹   　</a:t>
            </a:r>
            <a:r>
              <a:rPr kumimoji="1" lang="en-US" altLang="zh-TW" sz="2800" kern="1200" dirty="0">
                <a:solidFill>
                  <a:schemeClr val="tx1"/>
                </a:solidFill>
                <a:latin typeface="標楷體" pitchFamily="65" charset="-120"/>
                <a:ea typeface="標楷體" pitchFamily="65" charset="-120"/>
                <a:cs typeface="+mn-cs"/>
              </a:rPr>
              <a:t>(D)</a:t>
            </a:r>
            <a:r>
              <a:rPr kumimoji="1" lang="zh-TW" altLang="en-US" sz="2800" kern="1200" dirty="0">
                <a:solidFill>
                  <a:schemeClr val="tx1"/>
                </a:solidFill>
                <a:latin typeface="標楷體" pitchFamily="65" charset="-120"/>
                <a:ea typeface="標楷體" pitchFamily="65" charset="-120"/>
                <a:cs typeface="+mn-cs"/>
              </a:rPr>
              <a:t>宜蘭</a:t>
            </a:r>
            <a:endParaRPr kumimoji="1" lang="en-US" altLang="zh-TW" sz="2800" kern="1200" dirty="0">
              <a:solidFill>
                <a:schemeClr val="tx1"/>
              </a:solidFill>
              <a:latin typeface="標楷體" pitchFamily="65" charset="-120"/>
              <a:ea typeface="標楷體" pitchFamily="65" charset="-120"/>
              <a:cs typeface="+mn-cs"/>
            </a:endParaRPr>
          </a:p>
          <a:p>
            <a:pPr algn="r"/>
            <a:r>
              <a:rPr kumimoji="1" lang="en-US" altLang="zh-TW" sz="2800" kern="1200" dirty="0">
                <a:solidFill>
                  <a:schemeClr val="tx1"/>
                </a:solidFill>
                <a:latin typeface="標楷體" pitchFamily="65" charset="-120"/>
                <a:ea typeface="標楷體" pitchFamily="65" charset="-120"/>
                <a:cs typeface="+mn-cs"/>
              </a:rPr>
              <a:t>                                 〔104.</a:t>
            </a:r>
            <a:r>
              <a:rPr kumimoji="1" lang="zh-TW" altLang="en-US" sz="2800" kern="1200" dirty="0">
                <a:solidFill>
                  <a:schemeClr val="tx1"/>
                </a:solidFill>
                <a:latin typeface="標楷體" pitchFamily="65" charset="-120"/>
                <a:ea typeface="標楷體" pitchFamily="65" charset="-120"/>
                <a:cs typeface="+mn-cs"/>
              </a:rPr>
              <a:t>學測</a:t>
            </a:r>
            <a:r>
              <a:rPr kumimoji="1" lang="en-US" altLang="zh-TW" sz="2800" kern="1200" dirty="0">
                <a:solidFill>
                  <a:schemeClr val="tx1"/>
                </a:solidFill>
                <a:latin typeface="標楷體" pitchFamily="65" charset="-120"/>
                <a:ea typeface="標楷體" pitchFamily="65" charset="-120"/>
                <a:cs typeface="+mn-cs"/>
              </a:rPr>
              <a:t>〕</a:t>
            </a:r>
            <a:r>
              <a:rPr kumimoji="1" lang="zh-TW" altLang="en-US" sz="2800" kern="1200" dirty="0">
                <a:solidFill>
                  <a:schemeClr val="tx1"/>
                </a:solidFill>
                <a:latin typeface="標楷體" pitchFamily="65" charset="-120"/>
                <a:ea typeface="標楷體" pitchFamily="65" charset="-120"/>
                <a:cs typeface="+mn-cs"/>
              </a:rPr>
              <a:t>      </a:t>
            </a:r>
          </a:p>
        </p:txBody>
      </p:sp>
      <p:sp>
        <p:nvSpPr>
          <p:cNvPr id="7" name="Text Box 4"/>
          <p:cNvSpPr txBox="1">
            <a:spLocks noChangeArrowheads="1"/>
          </p:cNvSpPr>
          <p:nvPr/>
        </p:nvSpPr>
        <p:spPr bwMode="auto">
          <a:xfrm>
            <a:off x="2555776" y="3420584"/>
            <a:ext cx="146544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800" dirty="0">
                <a:latin typeface="標楷體" pitchFamily="65" charset="-120"/>
              </a:rPr>
              <a:t>(B)</a:t>
            </a:r>
            <a:r>
              <a:rPr lang="zh-TW" altLang="en-US" sz="2800" dirty="0">
                <a:latin typeface="標楷體" pitchFamily="65" charset="-120"/>
              </a:rPr>
              <a:t>臺東</a:t>
            </a:r>
          </a:p>
        </p:txBody>
      </p:sp>
      <p:sp>
        <p:nvSpPr>
          <p:cNvPr id="8" name="Rectangle 8"/>
          <p:cNvSpPr>
            <a:spLocks noChangeArrowheads="1"/>
          </p:cNvSpPr>
          <p:nvPr/>
        </p:nvSpPr>
        <p:spPr bwMode="auto">
          <a:xfrm>
            <a:off x="107504" y="4429343"/>
            <a:ext cx="8734871"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800" kern="1200" dirty="0">
                <a:solidFill>
                  <a:srgbClr val="FF0000"/>
                </a:solidFill>
                <a:latin typeface="Arial" charset="0"/>
                <a:ea typeface="標楷體" pitchFamily="65" charset="-120"/>
                <a:cs typeface="+mn-cs"/>
              </a:rPr>
              <a:t>美西的欽諾克風出現在背風坡，為高溫而乾燥的焚風。臺灣夏季颱風為逆時針旋轉之氣旋，當颱風中心經過東北部時，西部地區為迎風坡，東部地區則因背風而常出現焚風，故</a:t>
            </a:r>
            <a:r>
              <a:rPr kumimoji="1" lang="en-US" altLang="zh-TW" sz="2800" kern="1200" dirty="0">
                <a:solidFill>
                  <a:srgbClr val="FF0000"/>
                </a:solidFill>
                <a:latin typeface="標楷體" panose="03000509000000000000" pitchFamily="65" charset="-120"/>
                <a:ea typeface="標楷體" panose="03000509000000000000" pitchFamily="65" charset="-120"/>
                <a:cs typeface="+mn-cs"/>
              </a:rPr>
              <a:t>(B)</a:t>
            </a:r>
            <a:r>
              <a:rPr kumimoji="1" lang="zh-TW" altLang="en-US" sz="2800" kern="1200" dirty="0">
                <a:solidFill>
                  <a:srgbClr val="FF0000"/>
                </a:solidFill>
                <a:latin typeface="標楷體" panose="03000509000000000000" pitchFamily="65" charset="-120"/>
                <a:ea typeface="標楷體" panose="03000509000000000000" pitchFamily="65" charset="-120"/>
                <a:cs typeface="+mn-cs"/>
              </a:rPr>
              <a:t>臺東</a:t>
            </a:r>
            <a:r>
              <a:rPr kumimoji="1" lang="zh-TW" altLang="en-US" sz="2800" kern="1200" dirty="0">
                <a:solidFill>
                  <a:srgbClr val="FF0000"/>
                </a:solidFill>
                <a:latin typeface="Arial" charset="0"/>
                <a:ea typeface="標楷體" pitchFamily="65" charset="-120"/>
                <a:cs typeface="+mn-cs"/>
              </a:rPr>
              <a:t>最可能出現類似欽諾克風的現象。</a:t>
            </a:r>
          </a:p>
        </p:txBody>
      </p:sp>
      <p:sp>
        <p:nvSpPr>
          <p:cNvPr id="10"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800" dirty="0">
                <a:solidFill>
                  <a:schemeClr val="bg1"/>
                </a:solidFill>
                <a:latin typeface="Times New Roman" pitchFamily="18" charset="0"/>
              </a:rPr>
              <a:t>搭配 </a:t>
            </a:r>
            <a:r>
              <a:rPr lang="en-US" altLang="zh-TW" sz="2800" dirty="0">
                <a:solidFill>
                  <a:schemeClr val="bg1"/>
                </a:solidFill>
                <a:latin typeface="Times New Roman" pitchFamily="18" charset="0"/>
              </a:rPr>
              <a:t>P.180</a:t>
            </a:r>
            <a:r>
              <a:rPr lang="zh-TW" altLang="en-US" sz="2800" dirty="0">
                <a:solidFill>
                  <a:schemeClr val="bg1"/>
                </a:solidFill>
                <a:latin typeface="Times New Roman" pitchFamily="18" charset="0"/>
              </a:rPr>
              <a:t>基礎題第</a:t>
            </a:r>
            <a:r>
              <a:rPr lang="en-US" altLang="zh-TW" sz="2800" dirty="0">
                <a:solidFill>
                  <a:schemeClr val="bg1"/>
                </a:solidFill>
                <a:latin typeface="Times New Roman" pitchFamily="18" charset="0"/>
              </a:rPr>
              <a:t>1. </a:t>
            </a:r>
            <a:r>
              <a:rPr lang="zh-TW" altLang="en-US" sz="2800" dirty="0">
                <a:solidFill>
                  <a:schemeClr val="bg1"/>
                </a:solidFill>
                <a:latin typeface="Times New Roman" pitchFamily="18" charset="0"/>
              </a:rPr>
              <a:t>題</a:t>
            </a:r>
            <a:endParaRPr lang="zh-TW" altLang="en-US" sz="2800" b="1" dirty="0">
              <a:solidFill>
                <a:schemeClr val="bg1"/>
              </a:solidFill>
              <a:latin typeface="Times New Roman" pitchFamily="18"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8344" y="333797"/>
            <a:ext cx="1133475" cy="285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五角星形 3"/>
          <p:cNvSpPr/>
          <p:nvPr/>
        </p:nvSpPr>
        <p:spPr>
          <a:xfrm>
            <a:off x="323527" y="1371464"/>
            <a:ext cx="251147" cy="216024"/>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53</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40494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7">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7">
                                            <p:txEl>
                                              <p:pRg st="0" end="0"/>
                                            </p:txEl>
                                          </p:spTgt>
                                        </p:tgtEl>
                                        <p:attrNameLst>
                                          <p:attrName>style.fontStyle</p:attrName>
                                        </p:attrNameLst>
                                      </p:cBhvr>
                                      <p:to>
                                        <p:strVal val="normal"/>
                                      </p:to>
                                    </p:set>
                                    <p:set>
                                      <p:cBhvr override="childStyle">
                                        <p:cTn id="9" dur="indefinite"/>
                                        <p:tgtEl>
                                          <p:spTgt spid="7">
                                            <p:txEl>
                                              <p:pRg st="0" end="0"/>
                                            </p:txEl>
                                          </p:spTgt>
                                        </p:tgtEl>
                                        <p:attrNameLst>
                                          <p:attrName>style.fontWeight</p:attrName>
                                        </p:attrNameLst>
                                      </p:cBhvr>
                                      <p:to>
                                        <p:strVal val="bold"/>
                                      </p:to>
                                    </p:set>
                                    <p:set>
                                      <p:cBhvr override="childStyle">
                                        <p:cTn id="10" dur="indefinite"/>
                                        <p:tgtEl>
                                          <p:spTgt spid="7">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124744"/>
            <a:ext cx="795776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kern="1200" dirty="0">
                <a:solidFill>
                  <a:schemeClr val="tx1"/>
                </a:solidFill>
                <a:latin typeface="標楷體" pitchFamily="65" charset="-120"/>
                <a:ea typeface="標楷體" pitchFamily="65" charset="-120"/>
                <a:cs typeface="+mn-cs"/>
              </a:rPr>
              <a:t>科學園區為臺灣經貿發展帶來相當貢獻，且帶動工業技術水準之提升，科學園區早已是我國工業發展成功的代表。請回答</a:t>
            </a:r>
            <a:r>
              <a:rPr kumimoji="1" lang="en-US" altLang="zh-TW" sz="2400" kern="1200" dirty="0">
                <a:solidFill>
                  <a:schemeClr val="tx1"/>
                </a:solidFill>
                <a:latin typeface="標楷體" pitchFamily="65" charset="-120"/>
                <a:ea typeface="標楷體" pitchFamily="65" charset="-120"/>
                <a:cs typeface="+mn-cs"/>
              </a:rPr>
              <a:t>6.∼8.</a:t>
            </a:r>
            <a:r>
              <a:rPr kumimoji="1" lang="zh-TW" altLang="en-US" sz="2400" kern="1200" dirty="0">
                <a:solidFill>
                  <a:schemeClr val="tx1"/>
                </a:solidFill>
                <a:latin typeface="標楷體" pitchFamily="65" charset="-120"/>
                <a:ea typeface="標楷體" pitchFamily="65" charset="-120"/>
                <a:cs typeface="+mn-cs"/>
              </a:rPr>
              <a:t>題：</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6.</a:t>
            </a:r>
            <a:r>
              <a:rPr kumimoji="1" lang="zh-TW" altLang="en-US" sz="2400" kern="1200" dirty="0">
                <a:solidFill>
                  <a:schemeClr val="tx1"/>
                </a:solidFill>
                <a:latin typeface="標楷體" pitchFamily="65" charset="-120"/>
                <a:ea typeface="標楷體" pitchFamily="65" charset="-120"/>
                <a:cs typeface="+mn-cs"/>
              </a:rPr>
              <a:t>新竹科學工業園區在早期是基於何種工業區位而設立？</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(A)</a:t>
            </a:r>
            <a:r>
              <a:rPr kumimoji="1" lang="zh-TW" altLang="en-US" sz="2400" kern="1200" dirty="0">
                <a:solidFill>
                  <a:schemeClr val="tx1"/>
                </a:solidFill>
                <a:latin typeface="標楷體" pitchFamily="65" charset="-120"/>
                <a:ea typeface="標楷體" pitchFamily="65" charset="-120"/>
                <a:cs typeface="+mn-cs"/>
              </a:rPr>
              <a:t>市場導向             </a:t>
            </a:r>
            <a:r>
              <a:rPr kumimoji="1" lang="en-US" altLang="zh-TW" sz="2400" kern="1200" dirty="0">
                <a:solidFill>
                  <a:schemeClr val="tx1"/>
                </a:solidFill>
                <a:latin typeface="標楷體" pitchFamily="65" charset="-120"/>
                <a:ea typeface="標楷體" pitchFamily="65" charset="-120"/>
                <a:cs typeface="+mn-cs"/>
              </a:rPr>
              <a:t>(B)</a:t>
            </a:r>
            <a:r>
              <a:rPr kumimoji="1" lang="zh-TW" altLang="en-US" sz="2400" kern="1200" dirty="0">
                <a:solidFill>
                  <a:schemeClr val="tx1"/>
                </a:solidFill>
                <a:latin typeface="標楷體" pitchFamily="65" charset="-120"/>
                <a:ea typeface="標楷體" pitchFamily="65" charset="-120"/>
                <a:cs typeface="+mn-cs"/>
              </a:rPr>
              <a:t>資源導向</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(C)</a:t>
            </a:r>
            <a:r>
              <a:rPr kumimoji="1" lang="zh-TW" altLang="en-US" sz="2400" kern="1200" dirty="0">
                <a:solidFill>
                  <a:schemeClr val="tx1"/>
                </a:solidFill>
                <a:latin typeface="標楷體" pitchFamily="65" charset="-120"/>
                <a:ea typeface="標楷體" pitchFamily="65" charset="-120"/>
                <a:cs typeface="+mn-cs"/>
              </a:rPr>
              <a:t>原料導向</a:t>
            </a:r>
            <a:endParaRPr kumimoji="1" lang="en-US" altLang="zh-TW" sz="2400" kern="1200" dirty="0">
              <a:solidFill>
                <a:schemeClr val="tx1"/>
              </a:solidFill>
              <a:latin typeface="標楷體" pitchFamily="65" charset="-120"/>
              <a:ea typeface="標楷體" pitchFamily="65" charset="-120"/>
              <a:cs typeface="+mn-cs"/>
            </a:endParaRPr>
          </a:p>
        </p:txBody>
      </p:sp>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P.180</a:t>
            </a:r>
            <a:r>
              <a:rPr lang="zh-TW" altLang="en-US" sz="2000" dirty="0">
                <a:solidFill>
                  <a:schemeClr val="bg1"/>
                </a:solidFill>
                <a:latin typeface="Times New Roman" pitchFamily="18" charset="0"/>
              </a:rPr>
              <a:t>基礎題第 </a:t>
            </a:r>
            <a:r>
              <a:rPr lang="en-US" altLang="zh-TW" sz="2000" dirty="0">
                <a:solidFill>
                  <a:schemeClr val="bg1"/>
                </a:solidFill>
                <a:latin typeface="Times New Roman" pitchFamily="18" charset="0"/>
              </a:rPr>
              <a:t>6.~8.</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0" name="Text Box 4"/>
          <p:cNvSpPr txBox="1">
            <a:spLocks noChangeArrowheads="1"/>
          </p:cNvSpPr>
          <p:nvPr/>
        </p:nvSpPr>
        <p:spPr bwMode="auto">
          <a:xfrm>
            <a:off x="4231032" y="2967335"/>
            <a:ext cx="320821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(D)</a:t>
            </a:r>
            <a:r>
              <a:rPr lang="zh-TW" altLang="en-US" sz="2400" dirty="0"/>
              <a:t>政策導向</a:t>
            </a:r>
            <a:endParaRPr lang="zh-TW" altLang="en-US" sz="2400" dirty="0">
              <a:latin typeface="標楷體" pitchFamily="65" charset="-120"/>
            </a:endParaRPr>
          </a:p>
        </p:txBody>
      </p:sp>
      <p:sp>
        <p:nvSpPr>
          <p:cNvPr id="12" name="Rectangle 8"/>
          <p:cNvSpPr>
            <a:spLocks noChangeArrowheads="1"/>
          </p:cNvSpPr>
          <p:nvPr/>
        </p:nvSpPr>
        <p:spPr bwMode="auto">
          <a:xfrm>
            <a:off x="574675" y="4252855"/>
            <a:ext cx="795776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400" dirty="0">
                <a:solidFill>
                  <a:srgbClr val="FF0000"/>
                </a:solidFill>
                <a:latin typeface="標楷體" pitchFamily="65" charset="-120"/>
                <a:ea typeface="標楷體" pitchFamily="65" charset="-120"/>
              </a:rPr>
              <a:t>1980 </a:t>
            </a:r>
            <a:r>
              <a:rPr kumimoji="1" lang="zh-TW" altLang="en-US" sz="2400" dirty="0">
                <a:solidFill>
                  <a:srgbClr val="FF0000"/>
                </a:solidFill>
                <a:latin typeface="標楷體" pitchFamily="65" charset="-120"/>
                <a:ea typeface="標楷體" pitchFamily="65" charset="-120"/>
              </a:rPr>
              <a:t>年代因政府以各種獎勵措施鼓勵業者發展資本、技術密集（導向）的高科技產業，並選擇設立於研究人才眾多的新竹地區，因此竹科成立之初的工業區位為</a:t>
            </a:r>
            <a:r>
              <a:rPr kumimoji="1" lang="en-US" altLang="zh-TW" sz="2400" dirty="0">
                <a:solidFill>
                  <a:srgbClr val="FF0000"/>
                </a:solidFill>
                <a:latin typeface="標楷體" pitchFamily="65" charset="-120"/>
                <a:ea typeface="標楷體" pitchFamily="65" charset="-120"/>
              </a:rPr>
              <a:t>(D)</a:t>
            </a:r>
            <a:r>
              <a:rPr kumimoji="1" lang="zh-TW" altLang="en-US" sz="2400" dirty="0">
                <a:solidFill>
                  <a:srgbClr val="FF0000"/>
                </a:solidFill>
                <a:latin typeface="標楷體" pitchFamily="65" charset="-120"/>
                <a:ea typeface="標楷體" pitchFamily="65" charset="-120"/>
              </a:rPr>
              <a:t>政策導向。</a:t>
            </a:r>
            <a:endParaRPr kumimoji="1" lang="zh-TW" altLang="en-US" sz="2400" kern="1200" dirty="0">
              <a:solidFill>
                <a:srgbClr val="FF0000"/>
              </a:solidFill>
              <a:latin typeface="Arial" charset="0"/>
              <a:ea typeface="標楷體" pitchFamily="65" charset="-120"/>
              <a:cs typeface="+mn-cs"/>
            </a:endParaRPr>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54</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5507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0">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0">
                                            <p:txEl>
                                              <p:pRg st="0" end="0"/>
                                            </p:txEl>
                                          </p:spTgt>
                                        </p:tgtEl>
                                        <p:attrNameLst>
                                          <p:attrName>style.fontStyle</p:attrName>
                                        </p:attrNameLst>
                                      </p:cBhvr>
                                      <p:to>
                                        <p:strVal val="normal"/>
                                      </p:to>
                                    </p:set>
                                    <p:set>
                                      <p:cBhvr override="childStyle">
                                        <p:cTn id="9" dur="indefinite"/>
                                        <p:tgtEl>
                                          <p:spTgt spid="10">
                                            <p:txEl>
                                              <p:pRg st="0" end="0"/>
                                            </p:txEl>
                                          </p:spTgt>
                                        </p:tgtEl>
                                        <p:attrNameLst>
                                          <p:attrName>style.fontWeight</p:attrName>
                                        </p:attrNameLst>
                                      </p:cBhvr>
                                      <p:to>
                                        <p:strVal val="bold"/>
                                      </p:to>
                                    </p:set>
                                    <p:set>
                                      <p:cBhvr override="childStyle">
                                        <p:cTn id="10" dur="indefinite"/>
                                        <p:tgtEl>
                                          <p:spTgt spid="10">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124744"/>
            <a:ext cx="795776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kern="1200" dirty="0">
                <a:solidFill>
                  <a:schemeClr val="tx1"/>
                </a:solidFill>
                <a:latin typeface="標楷體" pitchFamily="65" charset="-120"/>
                <a:ea typeface="標楷體" pitchFamily="65" charset="-120"/>
                <a:cs typeface="+mn-cs"/>
              </a:rPr>
              <a:t>科學園區為臺灣經貿發展帶來相當貢獻，且帶動工業技術水準之提升，科學園區早已是我國工業發展成功的代表。請回答</a:t>
            </a:r>
            <a:r>
              <a:rPr kumimoji="1" lang="en-US" altLang="zh-TW" sz="2400" kern="1200" dirty="0">
                <a:solidFill>
                  <a:schemeClr val="tx1"/>
                </a:solidFill>
                <a:latin typeface="標楷體" pitchFamily="65" charset="-120"/>
                <a:ea typeface="標楷體" pitchFamily="65" charset="-120"/>
                <a:cs typeface="+mn-cs"/>
              </a:rPr>
              <a:t>6.∼8.</a:t>
            </a:r>
            <a:r>
              <a:rPr kumimoji="1" lang="zh-TW" altLang="en-US" sz="2400" kern="1200" dirty="0">
                <a:solidFill>
                  <a:schemeClr val="tx1"/>
                </a:solidFill>
                <a:latin typeface="標楷體" pitchFamily="65" charset="-120"/>
                <a:ea typeface="標楷體" pitchFamily="65" charset="-120"/>
                <a:cs typeface="+mn-cs"/>
              </a:rPr>
              <a:t>題：</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7.</a:t>
            </a:r>
            <a:r>
              <a:rPr kumimoji="1" lang="zh-TW" altLang="en-US" sz="2400" kern="1200" dirty="0">
                <a:solidFill>
                  <a:schemeClr val="tx1"/>
                </a:solidFill>
                <a:latin typeface="標楷體" pitchFamily="65" charset="-120"/>
                <a:ea typeface="標楷體" pitchFamily="65" charset="-120"/>
                <a:cs typeface="+mn-cs"/>
              </a:rPr>
              <a:t>科學園區有些半導體產業近年轉到中國設廠，主要基於下列哪些區位因素？</a:t>
            </a:r>
            <a:r>
              <a:rPr kumimoji="1" lang="en-US" altLang="zh-TW" sz="2400" kern="1200" dirty="0">
                <a:solidFill>
                  <a:schemeClr val="tx1"/>
                </a:solidFill>
                <a:latin typeface="標楷體" pitchFamily="65" charset="-120"/>
                <a:ea typeface="標楷體" pitchFamily="65" charset="-120"/>
                <a:cs typeface="+mn-cs"/>
              </a:rPr>
              <a:t>(</a:t>
            </a:r>
            <a:r>
              <a:rPr kumimoji="1" lang="zh-TW" altLang="en-US" sz="2400" kern="1200" dirty="0">
                <a:solidFill>
                  <a:schemeClr val="tx1"/>
                </a:solidFill>
                <a:latin typeface="標楷體" pitchFamily="65" charset="-120"/>
                <a:ea typeface="標楷體" pitchFamily="65" charset="-120"/>
                <a:cs typeface="+mn-cs"/>
              </a:rPr>
              <a:t>甲</a:t>
            </a:r>
            <a:r>
              <a:rPr kumimoji="1" lang="en-US" altLang="zh-TW" sz="2400" kern="1200" dirty="0">
                <a:solidFill>
                  <a:schemeClr val="tx1"/>
                </a:solidFill>
                <a:latin typeface="標楷體" pitchFamily="65" charset="-120"/>
                <a:ea typeface="標楷體" pitchFamily="65" charset="-120"/>
                <a:cs typeface="+mn-cs"/>
              </a:rPr>
              <a:t>)</a:t>
            </a:r>
            <a:r>
              <a:rPr kumimoji="1" lang="zh-TW" altLang="en-US" sz="2400" kern="1200" dirty="0">
                <a:solidFill>
                  <a:schemeClr val="tx1"/>
                </a:solidFill>
                <a:latin typeface="標楷體" pitchFamily="65" charset="-120"/>
                <a:ea typeface="標楷體" pitchFamily="65" charset="-120"/>
                <a:cs typeface="+mn-cs"/>
              </a:rPr>
              <a:t>生產成本</a:t>
            </a:r>
            <a:r>
              <a:rPr kumimoji="1" lang="en-US" altLang="zh-TW" sz="2400" kern="1200" dirty="0">
                <a:solidFill>
                  <a:schemeClr val="tx1"/>
                </a:solidFill>
                <a:latin typeface="標楷體" pitchFamily="65" charset="-120"/>
                <a:ea typeface="標楷體" pitchFamily="65" charset="-120"/>
              </a:rPr>
              <a:t>(</a:t>
            </a:r>
            <a:r>
              <a:rPr kumimoji="1" lang="zh-TW" altLang="en-US" sz="2400" kern="1200" dirty="0">
                <a:solidFill>
                  <a:schemeClr val="tx1"/>
                </a:solidFill>
                <a:latin typeface="標楷體" pitchFamily="65" charset="-120"/>
                <a:ea typeface="標楷體" pitchFamily="65" charset="-120"/>
              </a:rPr>
              <a:t>乙</a:t>
            </a:r>
            <a:r>
              <a:rPr kumimoji="1" lang="en-US" altLang="zh-TW" sz="2400" kern="1200" dirty="0">
                <a:solidFill>
                  <a:schemeClr val="tx1"/>
                </a:solidFill>
                <a:latin typeface="標楷體" pitchFamily="65" charset="-120"/>
                <a:ea typeface="標楷體" pitchFamily="65" charset="-120"/>
              </a:rPr>
              <a:t>)</a:t>
            </a:r>
            <a:r>
              <a:rPr kumimoji="1" lang="zh-TW" altLang="en-US" sz="2400" kern="1200" dirty="0">
                <a:solidFill>
                  <a:schemeClr val="tx1"/>
                </a:solidFill>
                <a:latin typeface="標楷體" pitchFamily="65" charset="-120"/>
                <a:ea typeface="標楷體" pitchFamily="65" charset="-120"/>
                <a:cs typeface="+mn-cs"/>
              </a:rPr>
              <a:t>資金</a:t>
            </a:r>
            <a:r>
              <a:rPr kumimoji="1" lang="en-US" altLang="zh-TW" sz="2400" kern="1200" dirty="0">
                <a:solidFill>
                  <a:schemeClr val="tx1"/>
                </a:solidFill>
                <a:latin typeface="標楷體" pitchFamily="65" charset="-120"/>
                <a:ea typeface="標楷體" pitchFamily="65" charset="-120"/>
              </a:rPr>
              <a:t>(</a:t>
            </a:r>
            <a:r>
              <a:rPr kumimoji="1" lang="zh-TW" altLang="en-US" sz="2400" kern="1200" dirty="0">
                <a:solidFill>
                  <a:schemeClr val="tx1"/>
                </a:solidFill>
                <a:latin typeface="標楷體" pitchFamily="65" charset="-120"/>
                <a:ea typeface="標楷體" pitchFamily="65" charset="-120"/>
              </a:rPr>
              <a:t>丙</a:t>
            </a:r>
            <a:r>
              <a:rPr kumimoji="1" lang="en-US" altLang="zh-TW" sz="2400" kern="1200" dirty="0">
                <a:solidFill>
                  <a:schemeClr val="tx1"/>
                </a:solidFill>
                <a:latin typeface="標楷體" pitchFamily="65" charset="-120"/>
                <a:ea typeface="標楷體" pitchFamily="65" charset="-120"/>
              </a:rPr>
              <a:t>)</a:t>
            </a:r>
            <a:r>
              <a:rPr kumimoji="1" lang="zh-TW" altLang="en-US" sz="2400" kern="1200" dirty="0">
                <a:solidFill>
                  <a:schemeClr val="tx1"/>
                </a:solidFill>
                <a:latin typeface="標楷體" pitchFamily="65" charset="-120"/>
                <a:ea typeface="標楷體" pitchFamily="65" charset="-120"/>
                <a:cs typeface="+mn-cs"/>
              </a:rPr>
              <a:t>市場</a:t>
            </a:r>
            <a:r>
              <a:rPr kumimoji="1" lang="en-US" altLang="zh-TW" sz="2400" kern="1200" dirty="0">
                <a:solidFill>
                  <a:schemeClr val="tx1"/>
                </a:solidFill>
                <a:latin typeface="標楷體" pitchFamily="65" charset="-120"/>
                <a:ea typeface="標楷體" pitchFamily="65" charset="-120"/>
              </a:rPr>
              <a:t>(</a:t>
            </a:r>
            <a:r>
              <a:rPr kumimoji="1" lang="zh-TW" altLang="en-US" sz="2400" kern="1200" dirty="0">
                <a:solidFill>
                  <a:schemeClr val="tx1"/>
                </a:solidFill>
                <a:latin typeface="標楷體" pitchFamily="65" charset="-120"/>
                <a:ea typeface="標楷體" pitchFamily="65" charset="-120"/>
              </a:rPr>
              <a:t>丁</a:t>
            </a:r>
            <a:r>
              <a:rPr kumimoji="1" lang="en-US" altLang="zh-TW" sz="2400" kern="1200" dirty="0">
                <a:solidFill>
                  <a:schemeClr val="tx1"/>
                </a:solidFill>
                <a:latin typeface="標楷體" pitchFamily="65" charset="-120"/>
                <a:ea typeface="標楷體" pitchFamily="65" charset="-120"/>
              </a:rPr>
              <a:t>)</a:t>
            </a:r>
            <a:r>
              <a:rPr kumimoji="1" lang="zh-TW" altLang="en-US" sz="2400" kern="1200" dirty="0">
                <a:solidFill>
                  <a:schemeClr val="tx1"/>
                </a:solidFill>
                <a:latin typeface="標楷體" pitchFamily="65" charset="-120"/>
                <a:ea typeface="標楷體" pitchFamily="65" charset="-120"/>
                <a:cs typeface="+mn-cs"/>
              </a:rPr>
              <a:t>技術</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(A)</a:t>
            </a:r>
            <a:r>
              <a:rPr kumimoji="1" lang="zh-TW" altLang="en-US" sz="2400" kern="1200" dirty="0">
                <a:solidFill>
                  <a:schemeClr val="tx1"/>
                </a:solidFill>
                <a:latin typeface="標楷體" pitchFamily="65" charset="-120"/>
                <a:ea typeface="標楷體" pitchFamily="65" charset="-120"/>
                <a:cs typeface="+mn-cs"/>
              </a:rPr>
              <a:t>甲乙         </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(C)</a:t>
            </a:r>
            <a:r>
              <a:rPr kumimoji="1" lang="zh-TW" altLang="en-US" sz="2400" kern="1200" dirty="0">
                <a:solidFill>
                  <a:schemeClr val="tx1"/>
                </a:solidFill>
                <a:latin typeface="標楷體" pitchFamily="65" charset="-120"/>
                <a:ea typeface="標楷體" pitchFamily="65" charset="-120"/>
                <a:cs typeface="+mn-cs"/>
              </a:rPr>
              <a:t>乙丁              </a:t>
            </a:r>
            <a:r>
              <a:rPr kumimoji="1" lang="en-US" altLang="zh-TW" sz="2400" kern="1200" dirty="0">
                <a:solidFill>
                  <a:schemeClr val="tx1"/>
                </a:solidFill>
                <a:latin typeface="標楷體" pitchFamily="65" charset="-120"/>
                <a:ea typeface="標楷體" pitchFamily="65" charset="-120"/>
                <a:cs typeface="+mn-cs"/>
              </a:rPr>
              <a:t>(D)</a:t>
            </a:r>
            <a:r>
              <a:rPr kumimoji="1" lang="zh-TW" altLang="en-US" sz="2400" kern="1200" dirty="0">
                <a:solidFill>
                  <a:schemeClr val="tx1"/>
                </a:solidFill>
                <a:latin typeface="標楷體" pitchFamily="65" charset="-120"/>
                <a:ea typeface="標楷體" pitchFamily="65" charset="-120"/>
                <a:cs typeface="+mn-cs"/>
              </a:rPr>
              <a:t>丙丁</a:t>
            </a:r>
            <a:endParaRPr kumimoji="1" lang="en-US" altLang="zh-TW" sz="2400" kern="1200" dirty="0">
              <a:solidFill>
                <a:schemeClr val="tx1"/>
              </a:solidFill>
              <a:latin typeface="標楷體" pitchFamily="65" charset="-120"/>
              <a:ea typeface="標楷體" pitchFamily="65" charset="-120"/>
              <a:cs typeface="+mn-cs"/>
            </a:endParaRPr>
          </a:p>
        </p:txBody>
      </p:sp>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P.180</a:t>
            </a:r>
            <a:r>
              <a:rPr lang="zh-TW" altLang="en-US" sz="2000" dirty="0">
                <a:solidFill>
                  <a:schemeClr val="bg1"/>
                </a:solidFill>
                <a:latin typeface="Times New Roman" pitchFamily="18" charset="0"/>
              </a:rPr>
              <a:t>基礎題第</a:t>
            </a:r>
            <a:r>
              <a:rPr lang="en-US" altLang="zh-TW" sz="2000" dirty="0">
                <a:solidFill>
                  <a:schemeClr val="bg1"/>
                </a:solidFill>
                <a:latin typeface="Times New Roman" pitchFamily="18" charset="0"/>
              </a:rPr>
              <a:t>6.~8.</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0" name="Text Box 4"/>
          <p:cNvSpPr txBox="1">
            <a:spLocks noChangeArrowheads="1"/>
          </p:cNvSpPr>
          <p:nvPr/>
        </p:nvSpPr>
        <p:spPr bwMode="auto">
          <a:xfrm>
            <a:off x="3779913" y="3331114"/>
            <a:ext cx="15841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(B)</a:t>
            </a:r>
            <a:r>
              <a:rPr lang="zh-TW" altLang="en-US" sz="2400" dirty="0"/>
              <a:t>甲丙</a:t>
            </a:r>
            <a:endParaRPr lang="zh-TW" altLang="en-US" sz="2400" dirty="0">
              <a:latin typeface="標楷體" pitchFamily="65" charset="-120"/>
            </a:endParaRPr>
          </a:p>
        </p:txBody>
      </p:sp>
      <p:sp>
        <p:nvSpPr>
          <p:cNvPr id="12" name="Rectangle 8"/>
          <p:cNvSpPr>
            <a:spLocks noChangeArrowheads="1"/>
          </p:cNvSpPr>
          <p:nvPr/>
        </p:nvSpPr>
        <p:spPr bwMode="auto">
          <a:xfrm>
            <a:off x="323528" y="4521674"/>
            <a:ext cx="851884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400" dirty="0">
                <a:solidFill>
                  <a:srgbClr val="FF0000"/>
                </a:solidFill>
                <a:latin typeface="標楷體" pitchFamily="65" charset="-120"/>
                <a:ea typeface="標楷體" pitchFamily="65" charset="-120"/>
              </a:rPr>
              <a:t>(B)</a:t>
            </a:r>
            <a:r>
              <a:rPr kumimoji="1" lang="zh-TW" altLang="en-US" sz="2400" dirty="0">
                <a:solidFill>
                  <a:srgbClr val="FF0000"/>
                </a:solidFill>
                <a:latin typeface="標楷體" pitchFamily="65" charset="-120"/>
                <a:ea typeface="標楷體" pitchFamily="65" charset="-120"/>
              </a:rPr>
              <a:t>科學園區有些半導體產業較低階的技術移至中國設廠，是看上中國的</a:t>
            </a:r>
            <a:r>
              <a:rPr kumimoji="1" lang="en-US" altLang="zh-TW" sz="2400" dirty="0">
                <a:solidFill>
                  <a:srgbClr val="FF0000"/>
                </a:solidFill>
                <a:latin typeface="標楷體" pitchFamily="65" charset="-120"/>
                <a:ea typeface="標楷體" pitchFamily="65" charset="-120"/>
              </a:rPr>
              <a:t>(</a:t>
            </a:r>
            <a:r>
              <a:rPr kumimoji="1" lang="zh-TW" altLang="en-US" sz="2400" dirty="0">
                <a:solidFill>
                  <a:srgbClr val="FF0000"/>
                </a:solidFill>
                <a:latin typeface="標楷體" pitchFamily="65" charset="-120"/>
                <a:ea typeface="標楷體" pitchFamily="65" charset="-120"/>
              </a:rPr>
              <a:t>甲</a:t>
            </a:r>
            <a:r>
              <a:rPr kumimoji="1" lang="en-US" altLang="zh-TW" sz="2400" dirty="0">
                <a:solidFill>
                  <a:srgbClr val="FF0000"/>
                </a:solidFill>
                <a:latin typeface="標楷體" pitchFamily="65" charset="-120"/>
                <a:ea typeface="標楷體" pitchFamily="65" charset="-120"/>
              </a:rPr>
              <a:t>)</a:t>
            </a:r>
            <a:r>
              <a:rPr kumimoji="1" lang="zh-TW" altLang="en-US" sz="2400" dirty="0">
                <a:solidFill>
                  <a:srgbClr val="FF0000"/>
                </a:solidFill>
                <a:latin typeface="標楷體" pitchFamily="65" charset="-120"/>
                <a:ea typeface="標楷體" pitchFamily="65" charset="-120"/>
              </a:rPr>
              <a:t>工資低廉及人口眾多所能提供的廣大</a:t>
            </a:r>
            <a:r>
              <a:rPr kumimoji="1" lang="en-US" altLang="zh-TW" sz="2400" dirty="0">
                <a:solidFill>
                  <a:srgbClr val="FF0000"/>
                </a:solidFill>
                <a:latin typeface="標楷體" pitchFamily="65" charset="-120"/>
                <a:ea typeface="標楷體" pitchFamily="65" charset="-120"/>
              </a:rPr>
              <a:t>(</a:t>
            </a:r>
            <a:r>
              <a:rPr kumimoji="1" lang="zh-TW" altLang="en-US" sz="2400" dirty="0">
                <a:solidFill>
                  <a:srgbClr val="FF0000"/>
                </a:solidFill>
                <a:latin typeface="標楷體" pitchFamily="65" charset="-120"/>
                <a:ea typeface="標楷體" pitchFamily="65" charset="-120"/>
              </a:rPr>
              <a:t>丙</a:t>
            </a:r>
            <a:r>
              <a:rPr kumimoji="1" lang="en-US" altLang="zh-TW" sz="2400" dirty="0">
                <a:solidFill>
                  <a:srgbClr val="FF0000"/>
                </a:solidFill>
                <a:latin typeface="標楷體" pitchFamily="65" charset="-120"/>
                <a:ea typeface="標楷體" pitchFamily="65" charset="-120"/>
              </a:rPr>
              <a:t>)</a:t>
            </a:r>
            <a:r>
              <a:rPr kumimoji="1" lang="zh-TW" altLang="en-US" sz="2400" dirty="0">
                <a:solidFill>
                  <a:srgbClr val="FF0000"/>
                </a:solidFill>
                <a:latin typeface="標楷體" pitchFamily="65" charset="-120"/>
                <a:ea typeface="標楷體" pitchFamily="65" charset="-120"/>
              </a:rPr>
              <a:t>市場。</a:t>
            </a:r>
            <a:endParaRPr kumimoji="1" lang="zh-TW" altLang="en-US" sz="2400" kern="1200" dirty="0">
              <a:solidFill>
                <a:srgbClr val="FF0000"/>
              </a:solidFill>
              <a:latin typeface="Arial" charset="0"/>
              <a:ea typeface="標楷體" pitchFamily="65" charset="-120"/>
              <a:cs typeface="+mn-cs"/>
            </a:endParaRPr>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55</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785146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0">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0">
                                            <p:txEl>
                                              <p:pRg st="0" end="0"/>
                                            </p:txEl>
                                          </p:spTgt>
                                        </p:tgtEl>
                                        <p:attrNameLst>
                                          <p:attrName>style.fontStyle</p:attrName>
                                        </p:attrNameLst>
                                      </p:cBhvr>
                                      <p:to>
                                        <p:strVal val="normal"/>
                                      </p:to>
                                    </p:set>
                                    <p:set>
                                      <p:cBhvr override="childStyle">
                                        <p:cTn id="9" dur="indefinite"/>
                                        <p:tgtEl>
                                          <p:spTgt spid="10">
                                            <p:txEl>
                                              <p:pRg st="0" end="0"/>
                                            </p:txEl>
                                          </p:spTgt>
                                        </p:tgtEl>
                                        <p:attrNameLst>
                                          <p:attrName>style.fontWeight</p:attrName>
                                        </p:attrNameLst>
                                      </p:cBhvr>
                                      <p:to>
                                        <p:strVal val="bold"/>
                                      </p:to>
                                    </p:set>
                                    <p:set>
                                      <p:cBhvr override="childStyle">
                                        <p:cTn id="10" dur="indefinite"/>
                                        <p:tgtEl>
                                          <p:spTgt spid="10">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124744"/>
            <a:ext cx="795776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kern="1200" dirty="0">
                <a:solidFill>
                  <a:schemeClr val="tx1"/>
                </a:solidFill>
                <a:latin typeface="標楷體" pitchFamily="65" charset="-120"/>
                <a:ea typeface="標楷體" pitchFamily="65" charset="-120"/>
                <a:cs typeface="+mn-cs"/>
              </a:rPr>
              <a:t>科學園區為臺灣經貿發展帶來相當貢獻，且帶動工業技術水準之提升，科學園區早已是我國工業發展成功的代表。請回答</a:t>
            </a:r>
            <a:r>
              <a:rPr kumimoji="1" lang="en-US" altLang="zh-TW" sz="2400" kern="1200" dirty="0">
                <a:solidFill>
                  <a:schemeClr val="tx1"/>
                </a:solidFill>
                <a:latin typeface="標楷體" pitchFamily="65" charset="-120"/>
                <a:ea typeface="標楷體" pitchFamily="65" charset="-120"/>
                <a:cs typeface="+mn-cs"/>
              </a:rPr>
              <a:t>6.∼8.</a:t>
            </a:r>
            <a:r>
              <a:rPr kumimoji="1" lang="zh-TW" altLang="en-US" sz="2400" kern="1200" dirty="0">
                <a:solidFill>
                  <a:schemeClr val="tx1"/>
                </a:solidFill>
                <a:latin typeface="標楷體" pitchFamily="65" charset="-120"/>
                <a:ea typeface="標楷體" pitchFamily="65" charset="-120"/>
                <a:cs typeface="+mn-cs"/>
              </a:rPr>
              <a:t>題：</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8.</a:t>
            </a:r>
            <a:r>
              <a:rPr kumimoji="1" lang="zh-TW" altLang="en-US" sz="2400" kern="1200" dirty="0">
                <a:solidFill>
                  <a:schemeClr val="tx1"/>
                </a:solidFill>
                <a:latin typeface="標楷體" pitchFamily="65" charset="-120"/>
                <a:ea typeface="標楷體" pitchFamily="65" charset="-120"/>
                <a:cs typeface="+mn-cs"/>
              </a:rPr>
              <a:t>臺灣科學園區在全球高科技產業分工的最主要優勢為</a:t>
            </a:r>
            <a:endParaRPr kumimoji="1" lang="en-US" altLang="zh-TW" sz="2400" kern="1200" dirty="0">
              <a:solidFill>
                <a:schemeClr val="tx1"/>
              </a:solidFill>
              <a:latin typeface="標楷體" pitchFamily="65" charset="-120"/>
              <a:ea typeface="標楷體" pitchFamily="65" charset="-120"/>
              <a:cs typeface="+mn-cs"/>
            </a:endParaRPr>
          </a:p>
          <a:p>
            <a:r>
              <a:rPr kumimoji="1" lang="en-US" altLang="zh-TW" sz="2400" kern="1200" dirty="0">
                <a:solidFill>
                  <a:schemeClr val="tx1"/>
                </a:solidFill>
                <a:latin typeface="標楷體" pitchFamily="65" charset="-120"/>
                <a:ea typeface="標楷體" pitchFamily="65" charset="-120"/>
                <a:cs typeface="+mn-cs"/>
              </a:rPr>
              <a:t>(A)</a:t>
            </a:r>
            <a:r>
              <a:rPr kumimoji="1" lang="zh-TW" altLang="en-US" sz="2400" kern="1200" dirty="0">
                <a:solidFill>
                  <a:schemeClr val="tx1"/>
                </a:solidFill>
                <a:latin typeface="標楷體" pitchFamily="65" charset="-120"/>
                <a:ea typeface="標楷體" pitchFamily="65" charset="-120"/>
                <a:cs typeface="+mn-cs"/>
              </a:rPr>
              <a:t>市場             </a:t>
            </a:r>
            <a:r>
              <a:rPr kumimoji="1" lang="en-US" altLang="zh-TW" sz="2400" kern="1200" dirty="0">
                <a:solidFill>
                  <a:schemeClr val="tx1"/>
                </a:solidFill>
                <a:latin typeface="標楷體" pitchFamily="65" charset="-120"/>
                <a:ea typeface="標楷體" pitchFamily="65" charset="-120"/>
                <a:cs typeface="+mn-cs"/>
              </a:rPr>
              <a:t>(B)</a:t>
            </a:r>
            <a:r>
              <a:rPr kumimoji="1" lang="zh-TW" altLang="en-US" sz="2400" kern="1200" dirty="0">
                <a:solidFill>
                  <a:schemeClr val="tx1"/>
                </a:solidFill>
                <a:latin typeface="標楷體" pitchFamily="65" charset="-120"/>
                <a:ea typeface="標楷體" pitchFamily="65" charset="-120"/>
                <a:cs typeface="+mn-cs"/>
              </a:rPr>
              <a:t>政治              </a:t>
            </a:r>
            <a:endParaRPr kumimoji="1" lang="en-US" altLang="zh-TW" sz="2400" kern="1200" dirty="0">
              <a:solidFill>
                <a:schemeClr val="tx1"/>
              </a:solidFill>
              <a:latin typeface="標楷體" pitchFamily="65" charset="-120"/>
              <a:ea typeface="標楷體" pitchFamily="65" charset="-120"/>
              <a:cs typeface="+mn-cs"/>
            </a:endParaRPr>
          </a:p>
          <a:p>
            <a:r>
              <a:rPr kumimoji="1" lang="zh-TW" altLang="en-US" sz="2400" kern="1200" dirty="0">
                <a:solidFill>
                  <a:schemeClr val="tx1"/>
                </a:solidFill>
                <a:latin typeface="標楷體" pitchFamily="65" charset="-120"/>
                <a:ea typeface="標楷體" pitchFamily="65" charset="-120"/>
                <a:cs typeface="+mn-cs"/>
              </a:rPr>
              <a:t>                    </a:t>
            </a:r>
            <a:r>
              <a:rPr kumimoji="1" lang="en-US" altLang="zh-TW" sz="2400" kern="1200" dirty="0">
                <a:solidFill>
                  <a:schemeClr val="tx1"/>
                </a:solidFill>
                <a:latin typeface="標楷體" pitchFamily="65" charset="-120"/>
                <a:ea typeface="標楷體" pitchFamily="65" charset="-120"/>
                <a:cs typeface="+mn-cs"/>
              </a:rPr>
              <a:t>(D)</a:t>
            </a:r>
            <a:r>
              <a:rPr kumimoji="1" lang="zh-TW" altLang="en-US" sz="2400" kern="1200" dirty="0">
                <a:solidFill>
                  <a:schemeClr val="tx1"/>
                </a:solidFill>
                <a:latin typeface="標楷體" pitchFamily="65" charset="-120"/>
                <a:ea typeface="標楷體" pitchFamily="65" charset="-120"/>
                <a:cs typeface="+mn-cs"/>
              </a:rPr>
              <a:t>資金</a:t>
            </a:r>
            <a:endParaRPr kumimoji="1" lang="en-US" altLang="zh-TW" sz="2400" kern="1200" dirty="0">
              <a:solidFill>
                <a:schemeClr val="tx1"/>
              </a:solidFill>
              <a:latin typeface="標楷體" pitchFamily="65" charset="-120"/>
              <a:ea typeface="標楷體" pitchFamily="65" charset="-120"/>
              <a:cs typeface="+mn-cs"/>
            </a:endParaRPr>
          </a:p>
        </p:txBody>
      </p:sp>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P.180</a:t>
            </a:r>
            <a:r>
              <a:rPr lang="zh-TW" altLang="en-US" sz="2000" dirty="0">
                <a:solidFill>
                  <a:schemeClr val="bg1"/>
                </a:solidFill>
                <a:latin typeface="Times New Roman" pitchFamily="18" charset="0"/>
              </a:rPr>
              <a:t>基礎題第</a:t>
            </a:r>
            <a:r>
              <a:rPr lang="en-US" altLang="zh-TW" sz="2000" dirty="0">
                <a:solidFill>
                  <a:schemeClr val="bg1"/>
                </a:solidFill>
                <a:latin typeface="Times New Roman" pitchFamily="18" charset="0"/>
              </a:rPr>
              <a:t>6.~8.</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0" name="Text Box 4"/>
          <p:cNvSpPr txBox="1">
            <a:spLocks noChangeArrowheads="1"/>
          </p:cNvSpPr>
          <p:nvPr/>
        </p:nvSpPr>
        <p:spPr bwMode="auto">
          <a:xfrm>
            <a:off x="574675" y="2952926"/>
            <a:ext cx="15841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(C)</a:t>
            </a:r>
            <a:r>
              <a:rPr lang="zh-TW" altLang="en-US" sz="2400" dirty="0"/>
              <a:t>技術</a:t>
            </a:r>
            <a:endParaRPr lang="zh-TW" altLang="en-US" sz="2400" dirty="0">
              <a:latin typeface="標楷體" pitchFamily="65" charset="-120"/>
            </a:endParaRPr>
          </a:p>
        </p:txBody>
      </p:sp>
      <p:sp>
        <p:nvSpPr>
          <p:cNvPr id="12" name="Rectangle 8"/>
          <p:cNvSpPr>
            <a:spLocks noChangeArrowheads="1"/>
          </p:cNvSpPr>
          <p:nvPr/>
        </p:nvSpPr>
        <p:spPr bwMode="auto">
          <a:xfrm>
            <a:off x="107504" y="4331315"/>
            <a:ext cx="88569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dirty="0">
                <a:solidFill>
                  <a:srgbClr val="FF0000"/>
                </a:solidFill>
                <a:latin typeface="標楷體" pitchFamily="65" charset="-120"/>
                <a:ea typeface="標楷體" pitchFamily="65" charset="-120"/>
              </a:rPr>
              <a:t>因為臺灣技術勞工專業素質優良，所以科學園區在全球高科技產業分工中以技術代工為主，因此最主要優勢為</a:t>
            </a:r>
            <a:r>
              <a:rPr kumimoji="1" lang="en-US" altLang="zh-TW" sz="2400" dirty="0">
                <a:solidFill>
                  <a:srgbClr val="FF0000"/>
                </a:solidFill>
                <a:latin typeface="標楷體" pitchFamily="65" charset="-120"/>
                <a:ea typeface="標楷體" pitchFamily="65" charset="-120"/>
              </a:rPr>
              <a:t>(C)</a:t>
            </a:r>
            <a:r>
              <a:rPr kumimoji="1" lang="zh-TW" altLang="en-US" sz="2400" dirty="0">
                <a:solidFill>
                  <a:srgbClr val="FF0000"/>
                </a:solidFill>
                <a:latin typeface="標楷體" pitchFamily="65" charset="-120"/>
                <a:ea typeface="標楷體" pitchFamily="65" charset="-120"/>
              </a:rPr>
              <a:t>勞工技術水準。</a:t>
            </a:r>
            <a:endParaRPr kumimoji="1" lang="zh-TW" altLang="en-US" sz="2400" kern="1200" dirty="0">
              <a:solidFill>
                <a:srgbClr val="FF0000"/>
              </a:solidFill>
              <a:latin typeface="Arial" charset="0"/>
              <a:ea typeface="標楷體" pitchFamily="65" charset="-120"/>
              <a:cs typeface="+mn-cs"/>
            </a:endParaRPr>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56</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1763250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0">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0">
                                            <p:txEl>
                                              <p:pRg st="0" end="0"/>
                                            </p:txEl>
                                          </p:spTgt>
                                        </p:tgtEl>
                                        <p:attrNameLst>
                                          <p:attrName>style.fontStyle</p:attrName>
                                        </p:attrNameLst>
                                      </p:cBhvr>
                                      <p:to>
                                        <p:strVal val="normal"/>
                                      </p:to>
                                    </p:set>
                                    <p:set>
                                      <p:cBhvr override="childStyle">
                                        <p:cTn id="9" dur="indefinite"/>
                                        <p:tgtEl>
                                          <p:spTgt spid="10">
                                            <p:txEl>
                                              <p:pRg st="0" end="0"/>
                                            </p:txEl>
                                          </p:spTgt>
                                        </p:tgtEl>
                                        <p:attrNameLst>
                                          <p:attrName>style.fontWeight</p:attrName>
                                        </p:attrNameLst>
                                      </p:cBhvr>
                                      <p:to>
                                        <p:strVal val="bold"/>
                                      </p:to>
                                    </p:set>
                                    <p:set>
                                      <p:cBhvr override="childStyle">
                                        <p:cTn id="10" dur="indefinite"/>
                                        <p:tgtEl>
                                          <p:spTgt spid="10">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124744"/>
            <a:ext cx="7957765"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kern="1200" dirty="0">
                <a:solidFill>
                  <a:schemeClr val="tx1"/>
                </a:solidFill>
                <a:latin typeface="標楷體" pitchFamily="65" charset="-120"/>
                <a:ea typeface="標楷體" pitchFamily="65" charset="-120"/>
              </a:rPr>
              <a:t>臺灣傳統民宅的建材，不同的族群配合環境特性，就地取材而有竹管屋、土埆厝、石板屋、茅草屋等形式。右列照片是某族群的傳統民宅，該種形式的民宅最可能出現在下列何處？                               </a:t>
            </a:r>
            <a:r>
              <a:rPr kumimoji="1" lang="en-US" altLang="zh-TW" sz="2400" kern="1200" dirty="0">
                <a:solidFill>
                  <a:schemeClr val="tx1"/>
                </a:solidFill>
                <a:latin typeface="標楷體" pitchFamily="65" charset="-120"/>
                <a:ea typeface="標楷體" pitchFamily="65" charset="-120"/>
              </a:rPr>
              <a:t>〔107.</a:t>
            </a:r>
            <a:r>
              <a:rPr kumimoji="1" lang="zh-TW" altLang="en-US" sz="2400" kern="1200" dirty="0">
                <a:solidFill>
                  <a:schemeClr val="tx1"/>
                </a:solidFill>
                <a:latin typeface="標楷體" pitchFamily="65" charset="-120"/>
                <a:ea typeface="標楷體" pitchFamily="65" charset="-120"/>
              </a:rPr>
              <a:t>學測</a:t>
            </a:r>
            <a:r>
              <a:rPr kumimoji="1" lang="en-US" altLang="zh-TW" sz="2400" kern="1200" dirty="0">
                <a:solidFill>
                  <a:schemeClr val="tx1"/>
                </a:solidFill>
                <a:latin typeface="標楷體" pitchFamily="65" charset="-120"/>
                <a:ea typeface="標楷體" pitchFamily="65" charset="-120"/>
              </a:rPr>
              <a:t>〕</a:t>
            </a:r>
            <a:endParaRPr kumimoji="1" lang="zh-TW" altLang="en-US"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r>
              <a:rPr kumimoji="1" lang="en-US" altLang="zh-TW" sz="2400" kern="1200" dirty="0">
                <a:solidFill>
                  <a:schemeClr val="tx1"/>
                </a:solidFill>
                <a:latin typeface="標楷體" pitchFamily="65" charset="-120"/>
                <a:ea typeface="標楷體" pitchFamily="65" charset="-120"/>
              </a:rPr>
              <a:t>(A)</a:t>
            </a:r>
            <a:r>
              <a:rPr kumimoji="1" lang="zh-TW" altLang="en-US" sz="2400" kern="1200" dirty="0">
                <a:solidFill>
                  <a:schemeClr val="tx1"/>
                </a:solidFill>
                <a:latin typeface="標楷體" pitchFamily="65" charset="-120"/>
                <a:ea typeface="標楷體" pitchFamily="65" charset="-120"/>
              </a:rPr>
              <a:t>澎湖群島　       </a:t>
            </a:r>
            <a:r>
              <a:rPr kumimoji="1" lang="en-US" altLang="zh-TW" sz="2400" kern="1200" dirty="0">
                <a:solidFill>
                  <a:schemeClr val="tx1"/>
                </a:solidFill>
                <a:latin typeface="標楷體" pitchFamily="65" charset="-120"/>
                <a:ea typeface="標楷體" pitchFamily="65" charset="-120"/>
              </a:rPr>
              <a:t>(B)</a:t>
            </a:r>
            <a:r>
              <a:rPr kumimoji="1" lang="zh-TW" altLang="en-US" sz="2400" kern="1200" dirty="0">
                <a:solidFill>
                  <a:schemeClr val="tx1"/>
                </a:solidFill>
                <a:latin typeface="標楷體" pitchFamily="65" charset="-120"/>
                <a:ea typeface="標楷體" pitchFamily="65" charset="-120"/>
              </a:rPr>
              <a:t>埔里盆地　</a:t>
            </a:r>
            <a:endParaRPr kumimoji="1" lang="en-US" altLang="zh-TW" sz="2400" kern="1200" dirty="0">
              <a:solidFill>
                <a:schemeClr val="tx1"/>
              </a:solidFill>
              <a:latin typeface="標楷體" pitchFamily="65" charset="-120"/>
              <a:ea typeface="標楷體" pitchFamily="65" charset="-120"/>
            </a:endParaRPr>
          </a:p>
          <a:p>
            <a:r>
              <a:rPr kumimoji="1" lang="en-US" altLang="zh-TW" sz="2400" kern="1200" dirty="0">
                <a:solidFill>
                  <a:schemeClr val="tx1"/>
                </a:solidFill>
                <a:latin typeface="標楷體" pitchFamily="65" charset="-120"/>
                <a:ea typeface="標楷體" pitchFamily="65" charset="-120"/>
              </a:rPr>
              <a:t>(C)</a:t>
            </a:r>
            <a:r>
              <a:rPr kumimoji="1" lang="zh-TW" altLang="en-US" sz="2400" kern="1200" dirty="0">
                <a:solidFill>
                  <a:schemeClr val="tx1"/>
                </a:solidFill>
                <a:latin typeface="標楷體" pitchFamily="65" charset="-120"/>
                <a:ea typeface="標楷體" pitchFamily="65" charset="-120"/>
              </a:rPr>
              <a:t>花東縱谷北部　</a:t>
            </a:r>
          </a:p>
          <a:p>
            <a:endParaRPr kumimoji="1" lang="en-US" altLang="zh-TW" sz="2400" kern="1200" dirty="0">
              <a:solidFill>
                <a:schemeClr val="tx1"/>
              </a:solidFill>
              <a:latin typeface="標楷體" pitchFamily="65" charset="-120"/>
              <a:ea typeface="標楷體" pitchFamily="65" charset="-120"/>
            </a:endParaRPr>
          </a:p>
        </p:txBody>
      </p:sp>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P.181</a:t>
            </a:r>
            <a:r>
              <a:rPr lang="zh-TW" altLang="en-US" sz="2000" dirty="0">
                <a:solidFill>
                  <a:schemeClr val="bg1"/>
                </a:solidFill>
                <a:latin typeface="Times New Roman" pitchFamily="18" charset="0"/>
              </a:rPr>
              <a:t>進階題第 </a:t>
            </a:r>
            <a:r>
              <a:rPr lang="en-US" altLang="zh-TW" sz="2000" dirty="0">
                <a:solidFill>
                  <a:schemeClr val="bg1"/>
                </a:solidFill>
                <a:latin typeface="Times New Roman" pitchFamily="18" charset="0"/>
              </a:rPr>
              <a:t>1.</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4" name="Text Box 4"/>
          <p:cNvSpPr txBox="1">
            <a:spLocks noChangeArrowheads="1"/>
          </p:cNvSpPr>
          <p:nvPr/>
        </p:nvSpPr>
        <p:spPr bwMode="auto">
          <a:xfrm>
            <a:off x="3635896" y="5136201"/>
            <a:ext cx="25419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(D)</a:t>
            </a:r>
            <a:r>
              <a:rPr lang="zh-TW" altLang="en-US" sz="2400" kern="1200" dirty="0">
                <a:latin typeface="標楷體" pitchFamily="65" charset="-120"/>
              </a:rPr>
              <a:t>中央山脈南段</a:t>
            </a:r>
            <a:endParaRPr lang="zh-TW" altLang="en-US" sz="2400" dirty="0">
              <a:latin typeface="標楷體" pitchFamily="65" charset="-120"/>
            </a:endParaRPr>
          </a:p>
        </p:txBody>
      </p:sp>
      <p:sp>
        <p:nvSpPr>
          <p:cNvPr id="15" name="Rectangle 8"/>
          <p:cNvSpPr>
            <a:spLocks noChangeArrowheads="1"/>
          </p:cNvSpPr>
          <p:nvPr/>
        </p:nvSpPr>
        <p:spPr bwMode="auto">
          <a:xfrm>
            <a:off x="827584" y="5465155"/>
            <a:ext cx="684076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rgbClr val="FF0000"/>
                </a:solidFill>
                <a:latin typeface="Arial" charset="0"/>
                <a:ea typeface="標楷體" pitchFamily="65" charset="-120"/>
                <a:cs typeface="+mn-cs"/>
              </a:rPr>
              <a:t>此照片為原住民就地取材所建的傳統民宅</a:t>
            </a:r>
            <a:r>
              <a:rPr kumimoji="1" lang="en-US" altLang="zh-TW" sz="2000" kern="1200" dirty="0">
                <a:solidFill>
                  <a:srgbClr val="FF0000"/>
                </a:solidFill>
                <a:latin typeface="Arial" charset="0"/>
                <a:ea typeface="標楷體" pitchFamily="65" charset="-120"/>
                <a:cs typeface="+mn-cs"/>
              </a:rPr>
              <a:t>—</a:t>
            </a:r>
            <a:r>
              <a:rPr kumimoji="1" lang="zh-TW" altLang="en-US" sz="2000" kern="1200" dirty="0">
                <a:solidFill>
                  <a:srgbClr val="FF0000"/>
                </a:solidFill>
                <a:latin typeface="Arial" charset="0"/>
                <a:ea typeface="標楷體" pitchFamily="65" charset="-120"/>
                <a:cs typeface="+mn-cs"/>
              </a:rPr>
              <a:t>石板屋。臺灣各原住民族群中「臺灣南部的魯凱、排灣及中部的布農族」均善於運用板岩作為建材，建造住屋的牆體或屋頂，此三族群主要分布於</a:t>
            </a:r>
            <a:r>
              <a:rPr kumimoji="1" lang="en-US" altLang="zh-TW" sz="2000" dirty="0">
                <a:solidFill>
                  <a:srgbClr val="FF0000"/>
                </a:solidFill>
                <a:latin typeface="標楷體" pitchFamily="65" charset="-120"/>
                <a:ea typeface="標楷體" pitchFamily="65" charset="-120"/>
              </a:rPr>
              <a:t>(D)</a:t>
            </a:r>
            <a:r>
              <a:rPr kumimoji="1" lang="zh-TW" altLang="en-US" sz="2000" kern="1200" dirty="0">
                <a:solidFill>
                  <a:srgbClr val="FF0000"/>
                </a:solidFill>
                <a:latin typeface="Arial" charset="0"/>
                <a:ea typeface="標楷體" pitchFamily="65" charset="-120"/>
                <a:cs typeface="+mn-cs"/>
              </a:rPr>
              <a:t>中央山脈南段。</a:t>
            </a:r>
          </a:p>
        </p:txBody>
      </p:sp>
      <p:sp>
        <p:nvSpPr>
          <p:cNvPr id="10" name="五角星形 9"/>
          <p:cNvSpPr/>
          <p:nvPr/>
        </p:nvSpPr>
        <p:spPr>
          <a:xfrm>
            <a:off x="323528" y="1268760"/>
            <a:ext cx="251147" cy="216024"/>
          </a:xfrm>
          <a:prstGeom prst="star5">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 name="圖片 2"/>
          <p:cNvPicPr>
            <a:picLocks noChangeAspect="1"/>
          </p:cNvPicPr>
          <p:nvPr/>
        </p:nvPicPr>
        <p:blipFill>
          <a:blip r:embed="rId3"/>
          <a:stretch>
            <a:fillRect/>
          </a:stretch>
        </p:blipFill>
        <p:spPr>
          <a:xfrm>
            <a:off x="3246313" y="2708920"/>
            <a:ext cx="2219325" cy="1924050"/>
          </a:xfrm>
          <a:prstGeom prst="rect">
            <a:avLst/>
          </a:prstGeom>
        </p:spPr>
      </p:pic>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57</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854215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4">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4">
                                            <p:txEl>
                                              <p:pRg st="0" end="0"/>
                                            </p:txEl>
                                          </p:spTgt>
                                        </p:tgtEl>
                                        <p:attrNameLst>
                                          <p:attrName>style.fontStyle</p:attrName>
                                        </p:attrNameLst>
                                      </p:cBhvr>
                                      <p:to>
                                        <p:strVal val="normal"/>
                                      </p:to>
                                    </p:set>
                                    <p:set>
                                      <p:cBhvr override="childStyle">
                                        <p:cTn id="9" dur="indefinite"/>
                                        <p:tgtEl>
                                          <p:spTgt spid="14">
                                            <p:txEl>
                                              <p:pRg st="0" end="0"/>
                                            </p:txEl>
                                          </p:spTgt>
                                        </p:tgtEl>
                                        <p:attrNameLst>
                                          <p:attrName>style.fontWeight</p:attrName>
                                        </p:attrNameLst>
                                      </p:cBhvr>
                                      <p:to>
                                        <p:strVal val="bold"/>
                                      </p:to>
                                    </p:set>
                                    <p:set>
                                      <p:cBhvr override="childStyle">
                                        <p:cTn id="10" dur="indefinite"/>
                                        <p:tgtEl>
                                          <p:spTgt spid="14">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124744"/>
            <a:ext cx="795776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400" kern="1200" dirty="0">
                <a:solidFill>
                  <a:schemeClr val="tx1"/>
                </a:solidFill>
                <a:latin typeface="標楷體" pitchFamily="65" charset="-120"/>
                <a:ea typeface="標楷體" pitchFamily="65" charset="-120"/>
              </a:rPr>
              <a:t>臺灣某處海岸受到風力、波浪、潮汐和海流等營力的長期作用下，再加上河川輸沙銳減與地層下陷的影響，導致海岸地形有明顯的變遷。該處海岸在</a:t>
            </a:r>
            <a:r>
              <a:rPr kumimoji="1" lang="en-US" altLang="zh-TW" sz="2400" kern="1200" dirty="0">
                <a:solidFill>
                  <a:schemeClr val="tx1"/>
                </a:solidFill>
                <a:latin typeface="標楷體" pitchFamily="65" charset="-120"/>
                <a:ea typeface="標楷體" pitchFamily="65" charset="-120"/>
              </a:rPr>
              <a:t>10</a:t>
            </a:r>
            <a:r>
              <a:rPr kumimoji="1" lang="zh-TW" altLang="en-US" sz="2400" kern="1200" dirty="0">
                <a:solidFill>
                  <a:schemeClr val="tx1"/>
                </a:solidFill>
                <a:latin typeface="標楷體" pitchFamily="65" charset="-120"/>
                <a:ea typeface="標楷體" pitchFamily="65" charset="-120"/>
              </a:rPr>
              <a:t>年內最可能發生下列哪種變遷現象？　</a:t>
            </a:r>
            <a:endParaRPr kumimoji="1" lang="en-US" altLang="zh-TW" sz="2400" kern="1200" dirty="0">
              <a:solidFill>
                <a:schemeClr val="tx1"/>
              </a:solidFill>
              <a:latin typeface="標楷體" pitchFamily="65" charset="-120"/>
              <a:ea typeface="標楷體" pitchFamily="65" charset="-120"/>
            </a:endParaRPr>
          </a:p>
          <a:p>
            <a:r>
              <a:rPr kumimoji="1" lang="en-US" altLang="zh-TW" sz="2400" kern="1200" dirty="0">
                <a:solidFill>
                  <a:schemeClr val="tx1"/>
                </a:solidFill>
                <a:latin typeface="標楷體" pitchFamily="65" charset="-120"/>
                <a:ea typeface="標楷體" pitchFamily="65" charset="-120"/>
              </a:rPr>
              <a:t>(A)</a:t>
            </a:r>
            <a:r>
              <a:rPr kumimoji="1" lang="zh-TW" altLang="en-US" sz="2400" kern="1200" dirty="0">
                <a:solidFill>
                  <a:schemeClr val="tx1"/>
                </a:solidFill>
                <a:latin typeface="標楷體" pitchFamily="65" charset="-120"/>
                <a:ea typeface="標楷體" pitchFamily="65" charset="-120"/>
              </a:rPr>
              <a:t>海階緩慢上升　　</a:t>
            </a:r>
            <a:endParaRPr kumimoji="1" lang="en-US" altLang="zh-TW" sz="2400" kern="1200" dirty="0">
              <a:solidFill>
                <a:schemeClr val="tx1"/>
              </a:solidFill>
              <a:latin typeface="標楷體" pitchFamily="65" charset="-120"/>
              <a:ea typeface="標楷體" pitchFamily="65" charset="-120"/>
            </a:endParaRPr>
          </a:p>
          <a:p>
            <a:r>
              <a:rPr kumimoji="1" lang="en-US" altLang="zh-TW" sz="2400" kern="1200" dirty="0">
                <a:solidFill>
                  <a:schemeClr val="tx1"/>
                </a:solidFill>
                <a:latin typeface="標楷體" pitchFamily="65" charset="-120"/>
                <a:ea typeface="標楷體" pitchFamily="65" charset="-120"/>
              </a:rPr>
              <a:t>(B)</a:t>
            </a:r>
            <a:r>
              <a:rPr kumimoji="1" lang="zh-TW" altLang="en-US" sz="2400" kern="1200" dirty="0">
                <a:solidFill>
                  <a:schemeClr val="tx1"/>
                </a:solidFill>
                <a:latin typeface="標楷體" pitchFamily="65" charset="-120"/>
                <a:ea typeface="標楷體" pitchFamily="65" charset="-120"/>
              </a:rPr>
              <a:t>珊瑚礁海岸退縮　</a:t>
            </a:r>
            <a:endParaRPr kumimoji="1" lang="en-US" altLang="zh-TW" sz="2400" kern="1200" dirty="0">
              <a:solidFill>
                <a:schemeClr val="tx1"/>
              </a:solidFill>
              <a:latin typeface="標楷體" pitchFamily="65" charset="-120"/>
              <a:ea typeface="標楷體" pitchFamily="65" charset="-120"/>
            </a:endParaRPr>
          </a:p>
          <a:p>
            <a:endParaRPr kumimoji="1" lang="en-US" altLang="zh-TW" sz="2400" kern="1200" dirty="0">
              <a:solidFill>
                <a:schemeClr val="tx1"/>
              </a:solidFill>
              <a:latin typeface="標楷體" pitchFamily="65" charset="-120"/>
              <a:ea typeface="標楷體" pitchFamily="65" charset="-120"/>
            </a:endParaRPr>
          </a:p>
          <a:p>
            <a:r>
              <a:rPr kumimoji="1" lang="en-US" altLang="zh-TW" sz="2400" kern="1200" dirty="0">
                <a:solidFill>
                  <a:schemeClr val="tx1"/>
                </a:solidFill>
                <a:latin typeface="標楷體" pitchFamily="65" charset="-120"/>
                <a:ea typeface="標楷體" pitchFamily="65" charset="-120"/>
              </a:rPr>
              <a:t>(D)</a:t>
            </a:r>
            <a:r>
              <a:rPr kumimoji="1" lang="zh-TW" altLang="en-US" sz="2400" kern="1200" dirty="0">
                <a:solidFill>
                  <a:schemeClr val="tx1"/>
                </a:solidFill>
                <a:latin typeface="標楷體" pitchFamily="65" charset="-120"/>
                <a:ea typeface="標楷體" pitchFamily="65" charset="-120"/>
              </a:rPr>
              <a:t>海蝕平臺逐年縮小</a:t>
            </a:r>
            <a:endParaRPr kumimoji="1" lang="en-US" altLang="zh-TW" sz="2400" kern="1200" dirty="0">
              <a:solidFill>
                <a:schemeClr val="tx1"/>
              </a:solidFill>
              <a:latin typeface="標楷體" pitchFamily="65" charset="-120"/>
              <a:ea typeface="標楷體" pitchFamily="65" charset="-120"/>
            </a:endParaRPr>
          </a:p>
        </p:txBody>
      </p:sp>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P.182</a:t>
            </a:r>
            <a:r>
              <a:rPr lang="zh-TW" altLang="en-US" sz="2000" dirty="0">
                <a:solidFill>
                  <a:schemeClr val="bg1"/>
                </a:solidFill>
                <a:latin typeface="Times New Roman" pitchFamily="18" charset="0"/>
              </a:rPr>
              <a:t>進階題第 </a:t>
            </a:r>
            <a:r>
              <a:rPr lang="en-US" altLang="zh-TW" sz="2000" dirty="0">
                <a:solidFill>
                  <a:schemeClr val="bg1"/>
                </a:solidFill>
                <a:latin typeface="Times New Roman" pitchFamily="18" charset="0"/>
              </a:rPr>
              <a:t>6.</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5" name="Rectangle 8"/>
          <p:cNvSpPr>
            <a:spLocks noChangeArrowheads="1"/>
          </p:cNvSpPr>
          <p:nvPr/>
        </p:nvSpPr>
        <p:spPr bwMode="auto">
          <a:xfrm>
            <a:off x="755576" y="4365104"/>
            <a:ext cx="504056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rgbClr val="FF0000"/>
                </a:solidFill>
                <a:latin typeface="標楷體" panose="03000509000000000000" pitchFamily="65" charset="-120"/>
                <a:ea typeface="標楷體" panose="03000509000000000000" pitchFamily="65" charset="-120"/>
                <a:cs typeface="+mn-cs"/>
              </a:rPr>
              <a:t>題目提及河川輸沙銳減、地層下陷，最可能為西南部海岸，屬於沙岸，當沙源減少以及地層下陷時，皆會造成沙灘變小，故選</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(C)</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(A)(B)(D)</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皆為岩岸，輸沙減少較不會影響。</a:t>
            </a:r>
          </a:p>
        </p:txBody>
      </p:sp>
      <p:sp>
        <p:nvSpPr>
          <p:cNvPr id="10" name="Text Box 4"/>
          <p:cNvSpPr txBox="1">
            <a:spLocks noChangeArrowheads="1"/>
          </p:cNvSpPr>
          <p:nvPr/>
        </p:nvSpPr>
        <p:spPr bwMode="auto">
          <a:xfrm>
            <a:off x="574675" y="3327375"/>
            <a:ext cx="313322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(C)</a:t>
            </a:r>
            <a:r>
              <a:rPr lang="zh-TW" altLang="en-US" sz="2400" dirty="0">
                <a:latin typeface="標楷體" pitchFamily="65" charset="-120"/>
              </a:rPr>
              <a:t>沙灘面積逐漸縮小</a:t>
            </a:r>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58</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44644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0">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0">
                                            <p:txEl>
                                              <p:pRg st="0" end="0"/>
                                            </p:txEl>
                                          </p:spTgt>
                                        </p:tgtEl>
                                        <p:attrNameLst>
                                          <p:attrName>style.fontStyle</p:attrName>
                                        </p:attrNameLst>
                                      </p:cBhvr>
                                      <p:to>
                                        <p:strVal val="normal"/>
                                      </p:to>
                                    </p:set>
                                    <p:set>
                                      <p:cBhvr override="childStyle">
                                        <p:cTn id="9" dur="indefinite"/>
                                        <p:tgtEl>
                                          <p:spTgt spid="10">
                                            <p:txEl>
                                              <p:pRg st="0" end="0"/>
                                            </p:txEl>
                                          </p:spTgt>
                                        </p:tgtEl>
                                        <p:attrNameLst>
                                          <p:attrName>style.fontWeight</p:attrName>
                                        </p:attrNameLst>
                                      </p:cBhvr>
                                      <p:to>
                                        <p:strVal val="bold"/>
                                      </p:to>
                                    </p:set>
                                    <p:set>
                                      <p:cBhvr override="childStyle">
                                        <p:cTn id="10" dur="indefinite"/>
                                        <p:tgtEl>
                                          <p:spTgt spid="10">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124744"/>
            <a:ext cx="7885757"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chemeClr val="tx1"/>
                </a:solidFill>
                <a:latin typeface="標楷體" pitchFamily="65" charset="-120"/>
                <a:ea typeface="標楷體" pitchFamily="65" charset="-120"/>
              </a:rPr>
              <a:t>◎ 資料一：臺灣本島 </a:t>
            </a:r>
            <a:r>
              <a:rPr kumimoji="1" lang="en-US" altLang="zh-TW" sz="2000" kern="1200" dirty="0">
                <a:solidFill>
                  <a:schemeClr val="tx1"/>
                </a:solidFill>
                <a:latin typeface="標楷體" pitchFamily="65" charset="-120"/>
                <a:ea typeface="標楷體" pitchFamily="65" charset="-120"/>
              </a:rPr>
              <a:t>TM2 </a:t>
            </a:r>
            <a:r>
              <a:rPr kumimoji="1" lang="zh-TW" altLang="en-US" sz="2000" kern="1200" dirty="0">
                <a:solidFill>
                  <a:schemeClr val="tx1"/>
                </a:solidFill>
                <a:latin typeface="標楷體" pitchFamily="65" charset="-120"/>
                <a:ea typeface="標楷體" pitchFamily="65" charset="-120"/>
              </a:rPr>
              <a:t>投影坐標系統以 </a:t>
            </a:r>
            <a:r>
              <a:rPr kumimoji="1" lang="en-US" altLang="zh-TW" sz="2000" kern="1200" dirty="0">
                <a:solidFill>
                  <a:schemeClr val="tx1"/>
                </a:solidFill>
                <a:latin typeface="標楷體" pitchFamily="65" charset="-120"/>
                <a:ea typeface="標楷體" pitchFamily="65" charset="-120"/>
              </a:rPr>
              <a:t>121°E </a:t>
            </a:r>
            <a:r>
              <a:rPr kumimoji="1" lang="zh-TW" altLang="en-US" sz="2000" kern="1200" dirty="0">
                <a:solidFill>
                  <a:schemeClr val="tx1"/>
                </a:solidFill>
                <a:latin typeface="標楷體" pitchFamily="65" charset="-120"/>
                <a:ea typeface="標楷體" pitchFamily="65" charset="-120"/>
              </a:rPr>
              <a:t>為中央經線，其橫坐標值為 </a:t>
            </a:r>
            <a:r>
              <a:rPr kumimoji="1" lang="en-US" altLang="zh-TW" sz="2000" kern="1200" dirty="0">
                <a:solidFill>
                  <a:schemeClr val="tx1"/>
                </a:solidFill>
                <a:latin typeface="標楷體" pitchFamily="65" charset="-120"/>
                <a:ea typeface="標楷體" pitchFamily="65" charset="-120"/>
              </a:rPr>
              <a:t>250,000 </a:t>
            </a:r>
            <a:r>
              <a:rPr kumimoji="1" lang="zh-TW" altLang="en-US" sz="2000" kern="1200" dirty="0">
                <a:solidFill>
                  <a:schemeClr val="tx1"/>
                </a:solidFill>
                <a:latin typeface="標楷體" pitchFamily="65" charset="-120"/>
                <a:ea typeface="標楷體" pitchFamily="65" charset="-120"/>
              </a:rPr>
              <a:t>公尺，下列四組 </a:t>
            </a:r>
            <a:r>
              <a:rPr kumimoji="1" lang="en-US" altLang="zh-TW" sz="2000" kern="1200" dirty="0">
                <a:solidFill>
                  <a:schemeClr val="tx1"/>
                </a:solidFill>
                <a:latin typeface="標楷體" pitchFamily="65" charset="-120"/>
                <a:ea typeface="標楷體" pitchFamily="65" charset="-120"/>
              </a:rPr>
              <a:t>TM2 </a:t>
            </a:r>
            <a:r>
              <a:rPr kumimoji="1" lang="zh-TW" altLang="en-US" sz="2000" kern="1200" dirty="0">
                <a:solidFill>
                  <a:schemeClr val="tx1"/>
                </a:solidFill>
                <a:latin typeface="標楷體" pitchFamily="65" charset="-120"/>
                <a:ea typeface="標楷體" pitchFamily="65" charset="-120"/>
              </a:rPr>
              <a:t>坐標位在陽明山國家公園、雪霸國家公園、台江國家公園和太魯閣國家公園等四座國家公園（未按順序排列）。請問：</a:t>
            </a:r>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r>
              <a:rPr kumimoji="1" lang="zh-TW" altLang="en-US" sz="2000" kern="1200" dirty="0">
                <a:solidFill>
                  <a:schemeClr val="tx1"/>
                </a:solidFill>
                <a:latin typeface="標楷體" pitchFamily="65" charset="-120"/>
                <a:ea typeface="標楷體" pitchFamily="65" charset="-120"/>
              </a:rPr>
              <a:t>　 資料二：下圖子丑寅卯為臺灣四座國家公園管理處之標誌。請問：</a:t>
            </a:r>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r>
              <a:rPr kumimoji="1" lang="en-US" altLang="zh-TW" sz="2000" kern="1200" dirty="0">
                <a:solidFill>
                  <a:schemeClr val="tx1"/>
                </a:solidFill>
                <a:latin typeface="標楷體" pitchFamily="65" charset="-120"/>
                <a:ea typeface="標楷體" pitchFamily="65" charset="-120"/>
              </a:rPr>
              <a:t>1.</a:t>
            </a:r>
            <a:r>
              <a:rPr kumimoji="1" lang="zh-TW" altLang="en-US" sz="2000" kern="1200" dirty="0">
                <a:solidFill>
                  <a:schemeClr val="tx1"/>
                </a:solidFill>
                <a:latin typeface="標楷體" pitchFamily="65" charset="-120"/>
                <a:ea typeface="標楷體" pitchFamily="65" charset="-120"/>
              </a:rPr>
              <a:t>圖</a:t>
            </a:r>
            <a:r>
              <a:rPr kumimoji="1" lang="en-US" altLang="zh-TW" sz="2000" kern="1200" dirty="0">
                <a:solidFill>
                  <a:schemeClr val="tx1"/>
                </a:solidFill>
                <a:latin typeface="標楷體" pitchFamily="65" charset="-120"/>
                <a:ea typeface="標楷體" pitchFamily="65" charset="-120"/>
              </a:rPr>
              <a:t>(</a:t>
            </a:r>
            <a:r>
              <a:rPr kumimoji="1" lang="zh-TW" altLang="en-US" sz="2000" kern="1200" dirty="0">
                <a:solidFill>
                  <a:schemeClr val="tx1"/>
                </a:solidFill>
                <a:latin typeface="標楷體" pitchFamily="65" charset="-120"/>
                <a:ea typeface="標楷體" pitchFamily="65" charset="-120"/>
              </a:rPr>
              <a:t>一</a:t>
            </a:r>
            <a:r>
              <a:rPr kumimoji="1" lang="en-US" altLang="zh-TW" sz="2000" kern="1200" dirty="0">
                <a:solidFill>
                  <a:schemeClr val="tx1"/>
                </a:solidFill>
                <a:latin typeface="標楷體" pitchFamily="65" charset="-120"/>
                <a:ea typeface="標楷體" pitchFamily="65" charset="-120"/>
              </a:rPr>
              <a:t>)</a:t>
            </a:r>
            <a:r>
              <a:rPr kumimoji="1" lang="zh-TW" altLang="en-US" sz="2000" kern="1200" dirty="0">
                <a:solidFill>
                  <a:schemeClr val="tx1"/>
                </a:solidFill>
                <a:latin typeface="標楷體" pitchFamily="65" charset="-120"/>
                <a:ea typeface="標楷體" pitchFamily="65" charset="-120"/>
              </a:rPr>
              <a:t>有「臺灣袖珍版亞馬遜河」之稱，</a:t>
            </a:r>
            <a:endParaRPr kumimoji="1" lang="en-US" altLang="zh-TW" sz="2000" kern="1200" dirty="0">
              <a:solidFill>
                <a:schemeClr val="tx1"/>
              </a:solidFill>
              <a:latin typeface="標楷體" pitchFamily="65" charset="-120"/>
              <a:ea typeface="標楷體" pitchFamily="65" charset="-120"/>
            </a:endParaRPr>
          </a:p>
          <a:p>
            <a:r>
              <a:rPr kumimoji="1" lang="zh-TW" altLang="en-US" sz="2000" kern="1200" dirty="0">
                <a:solidFill>
                  <a:schemeClr val="tx1"/>
                </a:solidFill>
                <a:latin typeface="標楷體" pitchFamily="65" charset="-120"/>
                <a:ea typeface="標楷體" pitchFamily="65" charset="-120"/>
              </a:rPr>
              <a:t>請問其分別位於資料一以及資料二中的何處？</a:t>
            </a:r>
            <a:endParaRPr kumimoji="1" lang="en-US" altLang="zh-TW" sz="2000" kern="1200" dirty="0">
              <a:solidFill>
                <a:schemeClr val="tx1"/>
              </a:solidFill>
              <a:latin typeface="標楷體" pitchFamily="65" charset="-120"/>
              <a:ea typeface="標楷體" pitchFamily="65" charset="-120"/>
            </a:endParaRPr>
          </a:p>
          <a:p>
            <a:r>
              <a:rPr kumimoji="1" lang="zh-TW" altLang="en-US" sz="2000" kern="1200" dirty="0">
                <a:solidFill>
                  <a:schemeClr val="tx1"/>
                </a:solidFill>
                <a:latin typeface="標楷體" pitchFamily="65" charset="-120"/>
                <a:ea typeface="標楷體" pitchFamily="65" charset="-120"/>
              </a:rPr>
              <a:t>（請寫代號）</a:t>
            </a:r>
            <a:endParaRPr kumimoji="1" lang="en-US" altLang="zh-TW" sz="2000" kern="1200" dirty="0">
              <a:solidFill>
                <a:schemeClr val="tx1"/>
              </a:solidFill>
              <a:latin typeface="標楷體" pitchFamily="65" charset="-120"/>
              <a:ea typeface="標楷體" pitchFamily="65" charset="-120"/>
            </a:endParaRPr>
          </a:p>
          <a:p>
            <a:r>
              <a:rPr kumimoji="1" lang="zh-TW" altLang="en-US" sz="2000" kern="1200" dirty="0">
                <a:solidFill>
                  <a:schemeClr val="tx1"/>
                </a:solidFill>
                <a:latin typeface="標楷體" pitchFamily="65" charset="-120"/>
                <a:ea typeface="標楷體" pitchFamily="65" charset="-120"/>
              </a:rPr>
              <a:t>答：</a:t>
            </a:r>
            <a:endParaRPr kumimoji="1" lang="en-US" altLang="zh-TW" sz="2000" kern="1200" dirty="0">
              <a:solidFill>
                <a:schemeClr val="tx1"/>
              </a:solidFill>
              <a:latin typeface="標楷體" pitchFamily="65" charset="-120"/>
              <a:ea typeface="標楷體" pitchFamily="65" charset="-120"/>
            </a:endParaRPr>
          </a:p>
        </p:txBody>
      </p:sp>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P.182</a:t>
            </a:r>
            <a:r>
              <a:rPr lang="zh-TW" altLang="en-US" sz="2000" dirty="0">
                <a:solidFill>
                  <a:schemeClr val="bg1"/>
                </a:solidFill>
                <a:latin typeface="Times New Roman" pitchFamily="18" charset="0"/>
              </a:rPr>
              <a:t>進階題第 </a:t>
            </a:r>
            <a:r>
              <a:rPr lang="en-US" altLang="zh-TW" sz="2000" dirty="0">
                <a:solidFill>
                  <a:schemeClr val="bg1"/>
                </a:solidFill>
                <a:latin typeface="Times New Roman" pitchFamily="18" charset="0"/>
              </a:rPr>
              <a:t>1.</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2" name="Rectangle 8"/>
          <p:cNvSpPr>
            <a:spLocks noChangeArrowheads="1"/>
          </p:cNvSpPr>
          <p:nvPr/>
        </p:nvSpPr>
        <p:spPr bwMode="auto">
          <a:xfrm>
            <a:off x="1979712" y="5065846"/>
            <a:ext cx="3816423" cy="1708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1500" kern="1200" dirty="0">
                <a:solidFill>
                  <a:srgbClr val="FF0000"/>
                </a:solidFill>
                <a:latin typeface="標楷體" panose="03000509000000000000" pitchFamily="65" charset="-120"/>
                <a:ea typeface="標楷體" panose="03000509000000000000" pitchFamily="65" charset="-120"/>
                <a:cs typeface="+mn-cs"/>
              </a:rPr>
              <a:t>從 </a:t>
            </a:r>
            <a:r>
              <a:rPr kumimoji="1" lang="en-US" altLang="zh-TW" sz="1500" kern="1200" dirty="0">
                <a:solidFill>
                  <a:srgbClr val="FF0000"/>
                </a:solidFill>
                <a:latin typeface="標楷體" panose="03000509000000000000" pitchFamily="65" charset="-120"/>
                <a:ea typeface="標楷體" panose="03000509000000000000" pitchFamily="65" charset="-120"/>
                <a:cs typeface="+mn-cs"/>
              </a:rPr>
              <a:t>TM2 </a:t>
            </a:r>
            <a:r>
              <a:rPr kumimoji="1" lang="zh-TW" altLang="en-US" sz="1500" kern="1200" dirty="0">
                <a:solidFill>
                  <a:srgbClr val="FF0000"/>
                </a:solidFill>
                <a:latin typeface="標楷體" panose="03000509000000000000" pitchFamily="65" charset="-120"/>
                <a:ea typeface="標楷體" panose="03000509000000000000" pitchFamily="65" charset="-120"/>
                <a:cs typeface="+mn-cs"/>
              </a:rPr>
              <a:t>坐標中判斷，丙的 </a:t>
            </a:r>
            <a:r>
              <a:rPr kumimoji="1" lang="en-US" altLang="zh-TW" sz="1500" kern="1200" dirty="0">
                <a:solidFill>
                  <a:srgbClr val="FF0000"/>
                </a:solidFill>
                <a:latin typeface="標楷體" panose="03000509000000000000" pitchFamily="65" charset="-120"/>
                <a:ea typeface="標楷體" panose="03000509000000000000" pitchFamily="65" charset="-120"/>
                <a:cs typeface="+mn-cs"/>
              </a:rPr>
              <a:t>X </a:t>
            </a:r>
            <a:r>
              <a:rPr kumimoji="1" lang="zh-TW" altLang="en-US" sz="1500" kern="1200" dirty="0">
                <a:solidFill>
                  <a:srgbClr val="FF0000"/>
                </a:solidFill>
                <a:latin typeface="標楷體" panose="03000509000000000000" pitchFamily="65" charset="-120"/>
                <a:ea typeface="標楷體" panose="03000509000000000000" pitchFamily="65" charset="-120"/>
                <a:cs typeface="+mn-cs"/>
              </a:rPr>
              <a:t>坐標數值最小，位置最西，為台江國家公園，圖</a:t>
            </a:r>
            <a:r>
              <a:rPr kumimoji="1" lang="en-US" altLang="zh-TW" sz="1500" kern="1200" dirty="0">
                <a:solidFill>
                  <a:srgbClr val="FF0000"/>
                </a:solidFill>
                <a:latin typeface="標楷體" panose="03000509000000000000" pitchFamily="65" charset="-120"/>
                <a:ea typeface="標楷體" panose="03000509000000000000" pitchFamily="65" charset="-120"/>
                <a:cs typeface="+mn-cs"/>
              </a:rPr>
              <a:t>(</a:t>
            </a:r>
            <a:r>
              <a:rPr kumimoji="1" lang="zh-TW" altLang="en-US" sz="1500" kern="1200" dirty="0">
                <a:solidFill>
                  <a:srgbClr val="FF0000"/>
                </a:solidFill>
                <a:latin typeface="標楷體" panose="03000509000000000000" pitchFamily="65" charset="-120"/>
                <a:ea typeface="標楷體" panose="03000509000000000000" pitchFamily="65" charset="-120"/>
                <a:cs typeface="+mn-cs"/>
              </a:rPr>
              <a:t>一</a:t>
            </a:r>
            <a:r>
              <a:rPr kumimoji="1" lang="en-US" altLang="zh-TW" sz="1500" kern="1200" dirty="0">
                <a:solidFill>
                  <a:srgbClr val="FF0000"/>
                </a:solidFill>
                <a:latin typeface="標楷體" panose="03000509000000000000" pitchFamily="65" charset="-120"/>
                <a:ea typeface="標楷體" panose="03000509000000000000" pitchFamily="65" charset="-120"/>
                <a:cs typeface="+mn-cs"/>
              </a:rPr>
              <a:t>)</a:t>
            </a:r>
            <a:r>
              <a:rPr kumimoji="1" lang="zh-TW" altLang="en-US" sz="1500" kern="1200" dirty="0">
                <a:solidFill>
                  <a:srgbClr val="FF0000"/>
                </a:solidFill>
                <a:latin typeface="標楷體" panose="03000509000000000000" pitchFamily="65" charset="-120"/>
                <a:ea typeface="標楷體" panose="03000509000000000000" pitchFamily="65" charset="-120"/>
                <a:cs typeface="+mn-cs"/>
              </a:rPr>
              <a:t>為台江國家公園的四草隧道，故選丙。資料一的甲：太魯閣國家公園；乙：陽明山國家公園；丁：雪霸國家公園。資料二的子：陽明山國家公園；丑：太魯閣國家公園；寅：台江國家公園；卯：雪霸國家公園。</a:t>
            </a:r>
          </a:p>
        </p:txBody>
      </p:sp>
      <p:sp>
        <p:nvSpPr>
          <p:cNvPr id="13" name="矩形 12"/>
          <p:cNvSpPr>
            <a:spLocks noChangeArrowheads="1"/>
          </p:cNvSpPr>
          <p:nvPr/>
        </p:nvSpPr>
        <p:spPr bwMode="auto">
          <a:xfrm>
            <a:off x="1043608" y="5389185"/>
            <a:ext cx="25278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丙；寅。</a:t>
            </a:r>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8275" y="2421260"/>
            <a:ext cx="6267450" cy="64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8040" y="3356992"/>
            <a:ext cx="5467919" cy="11403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4128" y="4552326"/>
            <a:ext cx="2870795" cy="21965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59</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83798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124744"/>
            <a:ext cx="7885757" cy="5324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chemeClr val="tx1"/>
                </a:solidFill>
                <a:latin typeface="標楷體" pitchFamily="65" charset="-120"/>
                <a:ea typeface="標楷體" pitchFamily="65" charset="-120"/>
              </a:rPr>
              <a:t>◎ 資料一：臺灣本島 </a:t>
            </a:r>
            <a:r>
              <a:rPr kumimoji="1" lang="en-US" altLang="zh-TW" sz="2000" kern="1200" dirty="0">
                <a:solidFill>
                  <a:schemeClr val="tx1"/>
                </a:solidFill>
                <a:latin typeface="標楷體" pitchFamily="65" charset="-120"/>
                <a:ea typeface="標楷體" pitchFamily="65" charset="-120"/>
              </a:rPr>
              <a:t>TM2 </a:t>
            </a:r>
            <a:r>
              <a:rPr kumimoji="1" lang="zh-TW" altLang="en-US" sz="2000" kern="1200" dirty="0">
                <a:solidFill>
                  <a:schemeClr val="tx1"/>
                </a:solidFill>
                <a:latin typeface="標楷體" pitchFamily="65" charset="-120"/>
                <a:ea typeface="標楷體" pitchFamily="65" charset="-120"/>
              </a:rPr>
              <a:t>投影坐標系統以 </a:t>
            </a:r>
            <a:r>
              <a:rPr kumimoji="1" lang="en-US" altLang="zh-TW" sz="2000" kern="1200" dirty="0">
                <a:solidFill>
                  <a:schemeClr val="tx1"/>
                </a:solidFill>
                <a:latin typeface="標楷體" pitchFamily="65" charset="-120"/>
                <a:ea typeface="標楷體" pitchFamily="65" charset="-120"/>
              </a:rPr>
              <a:t>121°E </a:t>
            </a:r>
            <a:r>
              <a:rPr kumimoji="1" lang="zh-TW" altLang="en-US" sz="2000" kern="1200" dirty="0">
                <a:solidFill>
                  <a:schemeClr val="tx1"/>
                </a:solidFill>
                <a:latin typeface="標楷體" pitchFamily="65" charset="-120"/>
                <a:ea typeface="標楷體" pitchFamily="65" charset="-120"/>
              </a:rPr>
              <a:t>為中央經線，其橫坐標值為 </a:t>
            </a:r>
            <a:r>
              <a:rPr kumimoji="1" lang="en-US" altLang="zh-TW" sz="2000" kern="1200" dirty="0">
                <a:solidFill>
                  <a:schemeClr val="tx1"/>
                </a:solidFill>
                <a:latin typeface="標楷體" pitchFamily="65" charset="-120"/>
                <a:ea typeface="標楷體" pitchFamily="65" charset="-120"/>
              </a:rPr>
              <a:t>250,000 </a:t>
            </a:r>
            <a:r>
              <a:rPr kumimoji="1" lang="zh-TW" altLang="en-US" sz="2000" kern="1200" dirty="0">
                <a:solidFill>
                  <a:schemeClr val="tx1"/>
                </a:solidFill>
                <a:latin typeface="標楷體" pitchFamily="65" charset="-120"/>
                <a:ea typeface="標楷體" pitchFamily="65" charset="-120"/>
              </a:rPr>
              <a:t>公尺，下列四組 </a:t>
            </a:r>
            <a:r>
              <a:rPr kumimoji="1" lang="en-US" altLang="zh-TW" sz="2000" kern="1200" dirty="0">
                <a:solidFill>
                  <a:schemeClr val="tx1"/>
                </a:solidFill>
                <a:latin typeface="標楷體" pitchFamily="65" charset="-120"/>
                <a:ea typeface="標楷體" pitchFamily="65" charset="-120"/>
              </a:rPr>
              <a:t>TM2 </a:t>
            </a:r>
            <a:r>
              <a:rPr kumimoji="1" lang="zh-TW" altLang="en-US" sz="2000" kern="1200" dirty="0">
                <a:solidFill>
                  <a:schemeClr val="tx1"/>
                </a:solidFill>
                <a:latin typeface="標楷體" pitchFamily="65" charset="-120"/>
                <a:ea typeface="標楷體" pitchFamily="65" charset="-120"/>
              </a:rPr>
              <a:t>坐標位在陽明山國家公園、雪霸國家公園、台江國家公園和太魯閣國家公園等四座國家公園（未按順序排列）。請問：</a:t>
            </a:r>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r>
              <a:rPr kumimoji="1" lang="zh-TW" altLang="en-US" sz="2000" kern="1200" dirty="0">
                <a:solidFill>
                  <a:schemeClr val="tx1"/>
                </a:solidFill>
                <a:latin typeface="標楷體" pitchFamily="65" charset="-120"/>
                <a:ea typeface="標楷體" pitchFamily="65" charset="-120"/>
              </a:rPr>
              <a:t>　 資料二：下圖子丑寅卯為臺灣四座國家公園管理處之標誌。請問：</a:t>
            </a:r>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r>
              <a:rPr kumimoji="1" lang="en-US" altLang="zh-TW" sz="2000" kern="1200" dirty="0">
                <a:solidFill>
                  <a:schemeClr val="tx1"/>
                </a:solidFill>
                <a:latin typeface="標楷體" pitchFamily="65" charset="-120"/>
                <a:ea typeface="標楷體" pitchFamily="65" charset="-120"/>
              </a:rPr>
              <a:t>2.</a:t>
            </a:r>
            <a:r>
              <a:rPr kumimoji="1" lang="zh-TW" altLang="en-US" sz="2000" kern="1200" dirty="0">
                <a:solidFill>
                  <a:schemeClr val="tx1"/>
                </a:solidFill>
                <a:latin typeface="標楷體" pitchFamily="65" charset="-120"/>
                <a:ea typeface="標楷體" pitchFamily="65" charset="-120"/>
              </a:rPr>
              <a:t>右圖為新臺幣 </a:t>
            </a:r>
            <a:r>
              <a:rPr kumimoji="1" lang="en-US" altLang="zh-TW" sz="2000" kern="1200" dirty="0">
                <a:solidFill>
                  <a:schemeClr val="tx1"/>
                </a:solidFill>
                <a:latin typeface="標楷體" pitchFamily="65" charset="-120"/>
                <a:ea typeface="標楷體" pitchFamily="65" charset="-120"/>
              </a:rPr>
              <a:t>2000 </a:t>
            </a:r>
            <a:r>
              <a:rPr kumimoji="1" lang="zh-TW" altLang="en-US" sz="2000" kern="1200" dirty="0">
                <a:solidFill>
                  <a:schemeClr val="tx1"/>
                </a:solidFill>
                <a:latin typeface="標楷體" pitchFamily="65" charset="-120"/>
                <a:ea typeface="標楷體" pitchFamily="65" charset="-120"/>
              </a:rPr>
              <a:t>元紙鈔，請</a:t>
            </a:r>
            <a:br>
              <a:rPr kumimoji="1" lang="en-US" altLang="zh-TW" sz="2000" kern="1200" dirty="0">
                <a:solidFill>
                  <a:schemeClr val="tx1"/>
                </a:solidFill>
                <a:latin typeface="標楷體" pitchFamily="65" charset="-120"/>
                <a:ea typeface="標楷體" pitchFamily="65" charset="-120"/>
              </a:rPr>
            </a:br>
            <a:r>
              <a:rPr kumimoji="1" lang="zh-TW" altLang="en-US" sz="2000" kern="1200" dirty="0">
                <a:solidFill>
                  <a:schemeClr val="tx1"/>
                </a:solidFill>
                <a:latin typeface="標楷體" pitchFamily="65" charset="-120"/>
                <a:ea typeface="標楷體" pitchFamily="65" charset="-120"/>
              </a:rPr>
              <a:t>問紙鈔上的臺灣特有種生物，與資</a:t>
            </a:r>
            <a:br>
              <a:rPr kumimoji="1" lang="en-US" altLang="zh-TW" sz="2000" kern="1200" dirty="0">
                <a:solidFill>
                  <a:schemeClr val="tx1"/>
                </a:solidFill>
                <a:latin typeface="標楷體" pitchFamily="65" charset="-120"/>
                <a:ea typeface="標楷體" pitchFamily="65" charset="-120"/>
              </a:rPr>
            </a:br>
            <a:r>
              <a:rPr kumimoji="1" lang="zh-TW" altLang="en-US" sz="2000" kern="1200" dirty="0">
                <a:solidFill>
                  <a:schemeClr val="tx1"/>
                </a:solidFill>
                <a:latin typeface="標楷體" pitchFamily="65" charset="-120"/>
                <a:ea typeface="標楷體" pitchFamily="65" charset="-120"/>
              </a:rPr>
              <a:t>料二中的卯標誌相同，其最可能出</a:t>
            </a:r>
            <a:br>
              <a:rPr kumimoji="1" lang="en-US" altLang="zh-TW" sz="2000" kern="1200" dirty="0">
                <a:solidFill>
                  <a:schemeClr val="tx1"/>
                </a:solidFill>
                <a:latin typeface="標楷體" pitchFamily="65" charset="-120"/>
                <a:ea typeface="標楷體" pitchFamily="65" charset="-120"/>
              </a:rPr>
            </a:br>
            <a:r>
              <a:rPr kumimoji="1" lang="zh-TW" altLang="en-US" sz="2000" kern="1200" dirty="0">
                <a:solidFill>
                  <a:schemeClr val="tx1"/>
                </a:solidFill>
                <a:latin typeface="標楷體" pitchFamily="65" charset="-120"/>
                <a:ea typeface="標楷體" pitchFamily="65" charset="-120"/>
              </a:rPr>
              <a:t>現在資料一中的哪一坐標處？（請</a:t>
            </a:r>
            <a:br>
              <a:rPr kumimoji="1" lang="en-US" altLang="zh-TW" sz="2000" kern="1200" dirty="0">
                <a:solidFill>
                  <a:schemeClr val="tx1"/>
                </a:solidFill>
                <a:latin typeface="標楷體" pitchFamily="65" charset="-120"/>
                <a:ea typeface="標楷體" pitchFamily="65" charset="-120"/>
              </a:rPr>
            </a:br>
            <a:r>
              <a:rPr kumimoji="1" lang="zh-TW" altLang="en-US" sz="2000" kern="1200" dirty="0">
                <a:solidFill>
                  <a:schemeClr val="tx1"/>
                </a:solidFill>
                <a:latin typeface="標楷體" pitchFamily="65" charset="-120"/>
                <a:ea typeface="標楷體" pitchFamily="65" charset="-120"/>
              </a:rPr>
              <a:t>寫代號與國家公園名稱）</a:t>
            </a:r>
          </a:p>
          <a:p>
            <a:r>
              <a:rPr kumimoji="1" lang="zh-TW" altLang="en-US" sz="2000" kern="1200" dirty="0">
                <a:solidFill>
                  <a:schemeClr val="tx1"/>
                </a:solidFill>
                <a:latin typeface="標楷體" pitchFamily="65" charset="-120"/>
                <a:ea typeface="標楷體" pitchFamily="65" charset="-120"/>
              </a:rPr>
              <a:t>答：</a:t>
            </a:r>
          </a:p>
        </p:txBody>
      </p:sp>
      <p:pic>
        <p:nvPicPr>
          <p:cNvPr id="9" name="Picture 5" descr="a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8014">
            <a:off x="7900618" y="3818939"/>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P.183</a:t>
            </a:r>
            <a:r>
              <a:rPr lang="zh-TW" altLang="en-US" sz="2000" dirty="0">
                <a:solidFill>
                  <a:schemeClr val="bg1"/>
                </a:solidFill>
                <a:latin typeface="Times New Roman" pitchFamily="18" charset="0"/>
              </a:rPr>
              <a:t>進階題第 </a:t>
            </a:r>
            <a:r>
              <a:rPr lang="en-US" altLang="zh-TW" sz="2000" dirty="0">
                <a:solidFill>
                  <a:schemeClr val="bg1"/>
                </a:solidFill>
                <a:latin typeface="Times New Roman" pitchFamily="18" charset="0"/>
              </a:rPr>
              <a:t>2.~3.</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sp>
        <p:nvSpPr>
          <p:cNvPr id="13" name="矩形 12"/>
          <p:cNvSpPr>
            <a:spLocks noChangeArrowheads="1"/>
          </p:cNvSpPr>
          <p:nvPr/>
        </p:nvSpPr>
        <p:spPr bwMode="auto">
          <a:xfrm>
            <a:off x="1042119" y="6021288"/>
            <a:ext cx="25278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丁、雪霸國家公園。</a:t>
            </a:r>
          </a:p>
        </p:txBody>
      </p:sp>
      <p:pic>
        <p:nvPicPr>
          <p:cNvPr id="174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8275" y="2421260"/>
            <a:ext cx="6267450" cy="64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8040" y="3356992"/>
            <a:ext cx="5467919" cy="11403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圖片 13"/>
          <p:cNvPicPr>
            <a:picLocks noChangeAspect="1"/>
          </p:cNvPicPr>
          <p:nvPr/>
        </p:nvPicPr>
        <p:blipFill>
          <a:blip r:embed="rId6"/>
          <a:stretch>
            <a:fillRect/>
          </a:stretch>
        </p:blipFill>
        <p:spPr>
          <a:xfrm>
            <a:off x="4572000" y="4550985"/>
            <a:ext cx="3781425" cy="1676400"/>
          </a:xfrm>
          <a:prstGeom prst="rect">
            <a:avLst/>
          </a:prstGeom>
        </p:spPr>
      </p:pic>
      <p:sp>
        <p:nvSpPr>
          <p:cNvPr id="15" name="Rectangle 8"/>
          <p:cNvSpPr>
            <a:spLocks noChangeArrowheads="1"/>
          </p:cNvSpPr>
          <p:nvPr/>
        </p:nvSpPr>
        <p:spPr bwMode="auto">
          <a:xfrm>
            <a:off x="611560" y="6381328"/>
            <a:ext cx="62646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1800" kern="1200" dirty="0">
                <a:solidFill>
                  <a:srgbClr val="FF0000"/>
                </a:solidFill>
                <a:latin typeface="Arial" charset="0"/>
                <a:ea typeface="標楷體" pitchFamily="65" charset="-120"/>
                <a:cs typeface="+mn-cs"/>
              </a:rPr>
              <a:t>圖上為櫻花鉤吻鮭，棲息於雪霸國家公園七家灣溪，故選丁。</a:t>
            </a:r>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60</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719357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標題 1"/>
          <p:cNvSpPr>
            <a:spLocks noGrp="1"/>
          </p:cNvSpPr>
          <p:nvPr>
            <p:ph type="title"/>
          </p:nvPr>
        </p:nvSpPr>
        <p:spPr>
          <a:xfrm>
            <a:off x="683568" y="332655"/>
            <a:ext cx="4320480" cy="720081"/>
          </a:xfrm>
        </p:spPr>
        <p:txBody>
          <a:bodyPr/>
          <a:lstStyle/>
          <a:p>
            <a:r>
              <a:rPr lang="zh-TW" altLang="en-US" dirty="0">
                <a:solidFill>
                  <a:schemeClr val="bg1"/>
                </a:solidFill>
              </a:rPr>
              <a:t>試題演練</a:t>
            </a:r>
          </a:p>
        </p:txBody>
      </p:sp>
      <p:sp>
        <p:nvSpPr>
          <p:cNvPr id="6" name="矩形 5"/>
          <p:cNvSpPr>
            <a:spLocks noChangeArrowheads="1"/>
          </p:cNvSpPr>
          <p:nvPr/>
        </p:nvSpPr>
        <p:spPr bwMode="auto">
          <a:xfrm>
            <a:off x="574675" y="1124744"/>
            <a:ext cx="7885757"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chemeClr val="tx1"/>
                </a:solidFill>
                <a:latin typeface="標楷體" pitchFamily="65" charset="-120"/>
                <a:ea typeface="標楷體" pitchFamily="65" charset="-120"/>
              </a:rPr>
              <a:t>◎ 資料一：臺灣本島 </a:t>
            </a:r>
            <a:r>
              <a:rPr kumimoji="1" lang="en-US" altLang="zh-TW" sz="2000" kern="1200" dirty="0">
                <a:solidFill>
                  <a:schemeClr val="tx1"/>
                </a:solidFill>
                <a:latin typeface="標楷體" pitchFamily="65" charset="-120"/>
                <a:ea typeface="標楷體" pitchFamily="65" charset="-120"/>
              </a:rPr>
              <a:t>TM2 </a:t>
            </a:r>
            <a:r>
              <a:rPr kumimoji="1" lang="zh-TW" altLang="en-US" sz="2000" kern="1200" dirty="0">
                <a:solidFill>
                  <a:schemeClr val="tx1"/>
                </a:solidFill>
                <a:latin typeface="標楷體" pitchFamily="65" charset="-120"/>
                <a:ea typeface="標楷體" pitchFamily="65" charset="-120"/>
              </a:rPr>
              <a:t>投影坐標系統以 </a:t>
            </a:r>
            <a:r>
              <a:rPr kumimoji="1" lang="en-US" altLang="zh-TW" sz="2000" kern="1200" dirty="0">
                <a:solidFill>
                  <a:schemeClr val="tx1"/>
                </a:solidFill>
                <a:latin typeface="標楷體" pitchFamily="65" charset="-120"/>
                <a:ea typeface="標楷體" pitchFamily="65" charset="-120"/>
              </a:rPr>
              <a:t>121°E </a:t>
            </a:r>
            <a:r>
              <a:rPr kumimoji="1" lang="zh-TW" altLang="en-US" sz="2000" kern="1200" dirty="0">
                <a:solidFill>
                  <a:schemeClr val="tx1"/>
                </a:solidFill>
                <a:latin typeface="標楷體" pitchFamily="65" charset="-120"/>
                <a:ea typeface="標楷體" pitchFamily="65" charset="-120"/>
              </a:rPr>
              <a:t>為中央經線，其橫坐標值為 </a:t>
            </a:r>
            <a:r>
              <a:rPr kumimoji="1" lang="en-US" altLang="zh-TW" sz="2000" kern="1200" dirty="0">
                <a:solidFill>
                  <a:schemeClr val="tx1"/>
                </a:solidFill>
                <a:latin typeface="標楷體" pitchFamily="65" charset="-120"/>
                <a:ea typeface="標楷體" pitchFamily="65" charset="-120"/>
              </a:rPr>
              <a:t>250,000 </a:t>
            </a:r>
            <a:r>
              <a:rPr kumimoji="1" lang="zh-TW" altLang="en-US" sz="2000" kern="1200" dirty="0">
                <a:solidFill>
                  <a:schemeClr val="tx1"/>
                </a:solidFill>
                <a:latin typeface="標楷體" pitchFamily="65" charset="-120"/>
                <a:ea typeface="標楷體" pitchFamily="65" charset="-120"/>
              </a:rPr>
              <a:t>公尺，下列四組 </a:t>
            </a:r>
            <a:r>
              <a:rPr kumimoji="1" lang="en-US" altLang="zh-TW" sz="2000" kern="1200" dirty="0">
                <a:solidFill>
                  <a:schemeClr val="tx1"/>
                </a:solidFill>
                <a:latin typeface="標楷體" pitchFamily="65" charset="-120"/>
                <a:ea typeface="標楷體" pitchFamily="65" charset="-120"/>
              </a:rPr>
              <a:t>TM2 </a:t>
            </a:r>
            <a:r>
              <a:rPr kumimoji="1" lang="zh-TW" altLang="en-US" sz="2000" kern="1200" dirty="0">
                <a:solidFill>
                  <a:schemeClr val="tx1"/>
                </a:solidFill>
                <a:latin typeface="標楷體" pitchFamily="65" charset="-120"/>
                <a:ea typeface="標楷體" pitchFamily="65" charset="-120"/>
              </a:rPr>
              <a:t>坐標位在陽明山國家公園、雪霸國家公園、台江國家公園和太魯閣國家公園等四座國家公園（未按順序排列）。請問：</a:t>
            </a:r>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r>
              <a:rPr kumimoji="1" lang="zh-TW" altLang="en-US" sz="2000" kern="1200" dirty="0">
                <a:solidFill>
                  <a:schemeClr val="tx1"/>
                </a:solidFill>
                <a:latin typeface="標楷體" pitchFamily="65" charset="-120"/>
                <a:ea typeface="標楷體" pitchFamily="65" charset="-120"/>
              </a:rPr>
              <a:t>　 資料二：下圖子丑寅卯為臺灣四座國家公園管理處之標誌。請問：</a:t>
            </a:r>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endParaRPr kumimoji="1" lang="en-US" altLang="zh-TW" sz="2000" kern="1200" dirty="0">
              <a:solidFill>
                <a:schemeClr val="tx1"/>
              </a:solidFill>
              <a:latin typeface="標楷體" pitchFamily="65" charset="-120"/>
              <a:ea typeface="標楷體" pitchFamily="65" charset="-120"/>
            </a:endParaRPr>
          </a:p>
          <a:p>
            <a:r>
              <a:rPr kumimoji="1" lang="en-US" altLang="zh-TW" sz="2000" kern="1200" dirty="0">
                <a:solidFill>
                  <a:schemeClr val="tx1"/>
                </a:solidFill>
                <a:latin typeface="標楷體" pitchFamily="65" charset="-120"/>
                <a:ea typeface="標楷體" pitchFamily="65" charset="-120"/>
              </a:rPr>
              <a:t>3.</a:t>
            </a:r>
            <a:r>
              <a:rPr kumimoji="1" lang="zh-TW" altLang="en-US" sz="2000" kern="1200" dirty="0">
                <a:solidFill>
                  <a:schemeClr val="tx1"/>
                </a:solidFill>
                <a:latin typeface="標楷體" pitchFamily="65" charset="-120"/>
                <a:ea typeface="標楷體" pitchFamily="65" charset="-120"/>
              </a:rPr>
              <a:t>承上題，臺灣面積雖小，卻孕育出豐富多樣的物種，圖中的特有種與下列哪一項因素關係最密切？（請勾選）</a:t>
            </a:r>
          </a:p>
          <a:p>
            <a:r>
              <a:rPr kumimoji="1" lang="zh-TW" altLang="en-US" sz="2000" kern="1200" dirty="0">
                <a:solidFill>
                  <a:schemeClr val="tx1"/>
                </a:solidFill>
                <a:latin typeface="標楷體" pitchFamily="65" charset="-120"/>
                <a:ea typeface="標楷體" pitchFamily="65" charset="-120"/>
              </a:rPr>
              <a:t>□臺灣位於副熱帶地區，氣候溫暖溼潤</a:t>
            </a:r>
          </a:p>
          <a:p>
            <a:r>
              <a:rPr kumimoji="1" lang="zh-TW" altLang="en-US" sz="2000" kern="1200" dirty="0">
                <a:solidFill>
                  <a:schemeClr val="tx1"/>
                </a:solidFill>
                <a:latin typeface="標楷體" pitchFamily="65" charset="-120"/>
                <a:ea typeface="標楷體" pitchFamily="65" charset="-120"/>
              </a:rPr>
              <a:t>□臺灣位於東亞島弧的中樞位置</a:t>
            </a:r>
          </a:p>
          <a:p>
            <a:r>
              <a:rPr kumimoji="1" lang="zh-TW" altLang="en-US" sz="2000" kern="1200" dirty="0">
                <a:solidFill>
                  <a:schemeClr val="tx1"/>
                </a:solidFill>
                <a:latin typeface="標楷體" pitchFamily="65" charset="-120"/>
                <a:ea typeface="標楷體" pitchFamily="65" charset="-120"/>
              </a:rPr>
              <a:t>□臺灣為大陸邊緣的冰河孓遺島嶼</a:t>
            </a:r>
            <a:endParaRPr kumimoji="1" lang="en-US" altLang="zh-TW" sz="2000" kern="1200" dirty="0">
              <a:solidFill>
                <a:schemeClr val="tx1"/>
              </a:solidFill>
              <a:latin typeface="標楷體" pitchFamily="65" charset="-120"/>
              <a:ea typeface="標楷體" pitchFamily="65" charset="-120"/>
            </a:endParaRPr>
          </a:p>
        </p:txBody>
      </p:sp>
      <p:pic>
        <p:nvPicPr>
          <p:cNvPr id="9" name="Picture 5" descr="a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408014">
            <a:off x="7900618" y="3818939"/>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標題 1"/>
          <p:cNvSpPr>
            <a:spLocks/>
          </p:cNvSpPr>
          <p:nvPr/>
        </p:nvSpPr>
        <p:spPr bwMode="auto">
          <a:xfrm>
            <a:off x="2628106" y="476672"/>
            <a:ext cx="38877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zh-TW" altLang="en-US" sz="2000" dirty="0">
                <a:solidFill>
                  <a:schemeClr val="bg1"/>
                </a:solidFill>
                <a:latin typeface="Times New Roman" pitchFamily="18" charset="0"/>
              </a:rPr>
              <a:t>搭配 </a:t>
            </a:r>
            <a:r>
              <a:rPr lang="en-US" altLang="zh-TW" sz="2000" dirty="0">
                <a:solidFill>
                  <a:schemeClr val="bg1"/>
                </a:solidFill>
                <a:latin typeface="Times New Roman" pitchFamily="18" charset="0"/>
              </a:rPr>
              <a:t>P.183</a:t>
            </a:r>
            <a:r>
              <a:rPr lang="zh-TW" altLang="en-US" sz="2000" dirty="0">
                <a:solidFill>
                  <a:schemeClr val="bg1"/>
                </a:solidFill>
                <a:latin typeface="Times New Roman" pitchFamily="18" charset="0"/>
              </a:rPr>
              <a:t>進階題第 </a:t>
            </a:r>
            <a:r>
              <a:rPr lang="en-US" altLang="zh-TW" sz="2000" dirty="0">
                <a:solidFill>
                  <a:schemeClr val="bg1"/>
                </a:solidFill>
                <a:latin typeface="Times New Roman" pitchFamily="18" charset="0"/>
              </a:rPr>
              <a:t>2.~3.</a:t>
            </a:r>
            <a:r>
              <a:rPr lang="zh-TW" altLang="en-US" sz="2000" dirty="0">
                <a:solidFill>
                  <a:schemeClr val="bg1"/>
                </a:solidFill>
                <a:latin typeface="Times New Roman" pitchFamily="18" charset="0"/>
              </a:rPr>
              <a:t>題</a:t>
            </a:r>
            <a:endParaRPr lang="zh-TW" altLang="en-US" sz="2000" b="1" dirty="0">
              <a:solidFill>
                <a:schemeClr val="bg1"/>
              </a:solidFill>
              <a:latin typeface="Times New Roman" pitchFamily="18" charset="0"/>
            </a:endParaRPr>
          </a:p>
        </p:txBody>
      </p:sp>
      <p:pic>
        <p:nvPicPr>
          <p:cNvPr id="174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8275" y="2421260"/>
            <a:ext cx="6267450" cy="64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8040" y="3356992"/>
            <a:ext cx="5467919" cy="11403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矩形 15"/>
          <p:cNvSpPr>
            <a:spLocks noChangeArrowheads="1"/>
          </p:cNvSpPr>
          <p:nvPr/>
        </p:nvSpPr>
        <p:spPr bwMode="auto">
          <a:xfrm>
            <a:off x="611560" y="5645665"/>
            <a:ext cx="2962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a:t>
            </a:r>
          </a:p>
        </p:txBody>
      </p:sp>
      <p:sp>
        <p:nvSpPr>
          <p:cNvPr id="17" name="Rectangle 8"/>
          <p:cNvSpPr>
            <a:spLocks noChangeArrowheads="1"/>
          </p:cNvSpPr>
          <p:nvPr/>
        </p:nvSpPr>
        <p:spPr bwMode="auto">
          <a:xfrm>
            <a:off x="5436095" y="4830057"/>
            <a:ext cx="3674343" cy="2031325"/>
          </a:xfrm>
          <a:prstGeom prst="rect">
            <a:avLst/>
          </a:prstGeom>
          <a:solidFill>
            <a:schemeClr val="bg1"/>
          </a:solidFill>
          <a:ln>
            <a:noFill/>
          </a:ln>
        </p:spPr>
        <p:txBody>
          <a:bodyPr wrap="square">
            <a:spAutoFit/>
          </a:bodyPr>
          <a:lstStyle/>
          <a:p>
            <a:r>
              <a:rPr kumimoji="1" lang="en-US" altLang="zh-TW" sz="1800" kern="1200" dirty="0">
                <a:solidFill>
                  <a:srgbClr val="FF0000"/>
                </a:solidFill>
                <a:latin typeface="標楷體" panose="03000509000000000000" pitchFamily="65" charset="-120"/>
                <a:ea typeface="標楷體" panose="03000509000000000000" pitchFamily="65" charset="-120"/>
                <a:cs typeface="+mn-cs"/>
              </a:rPr>
              <a:t>18,000 </a:t>
            </a:r>
            <a:r>
              <a:rPr kumimoji="1" lang="zh-TW" altLang="en-US" sz="1800" kern="1200" dirty="0">
                <a:solidFill>
                  <a:srgbClr val="FF0000"/>
                </a:solidFill>
                <a:latin typeface="標楷體" panose="03000509000000000000" pitchFamily="65" charset="-120"/>
                <a:ea typeface="標楷體" panose="03000509000000000000" pitchFamily="65" charset="-120"/>
                <a:cs typeface="+mn-cs"/>
              </a:rPr>
              <a:t>年前冰河期結束，氣溫上升，臺灣海峽重現，被隔絕在島上的冰河期孓遺生物，遷往氣溫較低的中高海拔地區，繁衍出櫻花鉤吻鮭，而生物為適應島嶼封閉的環境而不斷演化，使得臺灣境內高達 </a:t>
            </a:r>
            <a:r>
              <a:rPr kumimoji="1" lang="en-US" altLang="zh-TW" sz="1800" kern="1200" dirty="0">
                <a:solidFill>
                  <a:srgbClr val="FF0000"/>
                </a:solidFill>
                <a:latin typeface="標楷體" panose="03000509000000000000" pitchFamily="65" charset="-120"/>
                <a:ea typeface="標楷體" panose="03000509000000000000" pitchFamily="65" charset="-120"/>
                <a:cs typeface="+mn-cs"/>
              </a:rPr>
              <a:t>1╱4 </a:t>
            </a:r>
            <a:r>
              <a:rPr kumimoji="1" lang="zh-TW" altLang="en-US" sz="1800" kern="1200" dirty="0">
                <a:solidFill>
                  <a:srgbClr val="FF0000"/>
                </a:solidFill>
                <a:latin typeface="標楷體" panose="03000509000000000000" pitchFamily="65" charset="-120"/>
                <a:ea typeface="標楷體" panose="03000509000000000000" pitchFamily="65" charset="-120"/>
                <a:cs typeface="+mn-cs"/>
              </a:rPr>
              <a:t>～ </a:t>
            </a:r>
            <a:r>
              <a:rPr kumimoji="1" lang="en-US" altLang="zh-TW" sz="1800" kern="1200" dirty="0">
                <a:solidFill>
                  <a:srgbClr val="FF0000"/>
                </a:solidFill>
                <a:latin typeface="標楷體" panose="03000509000000000000" pitchFamily="65" charset="-120"/>
                <a:ea typeface="標楷體" panose="03000509000000000000" pitchFamily="65" charset="-120"/>
                <a:cs typeface="+mn-cs"/>
              </a:rPr>
              <a:t>1╱3 </a:t>
            </a:r>
            <a:r>
              <a:rPr kumimoji="1" lang="zh-TW" altLang="en-US" sz="1800" kern="1200" dirty="0">
                <a:solidFill>
                  <a:srgbClr val="FF0000"/>
                </a:solidFill>
                <a:latin typeface="標楷體" panose="03000509000000000000" pitchFamily="65" charset="-120"/>
                <a:ea typeface="標楷體" panose="03000509000000000000" pitchFamily="65" charset="-120"/>
                <a:cs typeface="+mn-cs"/>
              </a:rPr>
              <a:t>的物種都是特有種。</a:t>
            </a:r>
          </a:p>
        </p:txBody>
      </p:sp>
      <p:sp>
        <p:nvSpPr>
          <p:cNvPr id="3" name="投影片編號版面配置區 2"/>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61</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75701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ox(i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62</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1871596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2400" dirty="0">
                <a:solidFill>
                  <a:schemeClr val="tx1"/>
                </a:solidFill>
                <a:latin typeface="標楷體" pitchFamily="65" charset="-120"/>
                <a:ea typeface="標楷體" pitchFamily="65" charset="-120"/>
              </a:rPr>
              <a:t>    每年 </a:t>
            </a:r>
            <a:r>
              <a:rPr kumimoji="1" lang="en-US" altLang="zh-TW" sz="2400" dirty="0">
                <a:solidFill>
                  <a:schemeClr val="tx1"/>
                </a:solidFill>
                <a:latin typeface="標楷體" pitchFamily="65" charset="-120"/>
                <a:ea typeface="標楷體" pitchFamily="65" charset="-120"/>
              </a:rPr>
              <a:t>10</a:t>
            </a:r>
            <a:r>
              <a:rPr kumimoji="1" lang="zh-TW" altLang="en-US" sz="2400" dirty="0">
                <a:solidFill>
                  <a:schemeClr val="tx1"/>
                </a:solidFill>
                <a:latin typeface="標楷體" pitchFamily="65" charset="-120"/>
                <a:ea typeface="標楷體" pitchFamily="65" charset="-120"/>
              </a:rPr>
              <a:t> 月舉辦的「臺灣自行車登山王」，被譽為世界十大困難賽事。因為從起點花蓮七星潭強力攀升到終點合歡山武嶺，跨越超過</a:t>
            </a:r>
            <a:r>
              <a:rPr kumimoji="1" lang="en-US" altLang="zh-TW" sz="2400" dirty="0">
                <a:solidFill>
                  <a:schemeClr val="tx1"/>
                </a:solidFill>
                <a:latin typeface="標楷體" pitchFamily="65" charset="-120"/>
                <a:ea typeface="標楷體" pitchFamily="65" charset="-120"/>
              </a:rPr>
              <a:t>3,000 </a:t>
            </a:r>
            <a:r>
              <a:rPr kumimoji="1" lang="zh-TW" altLang="en-US" sz="2400" dirty="0">
                <a:solidFill>
                  <a:schemeClr val="tx1"/>
                </a:solidFill>
                <a:latin typeface="標楷體" pitchFamily="65" charset="-120"/>
                <a:ea typeface="標楷體" pitchFamily="65" charset="-120"/>
              </a:rPr>
              <a:t>公尺高度（下圖），從熱帶驟變到寒帶的氣候、平坦到嚴峻的地形，在在考驗選手的意志力及體力，是世界自行車好手心中「一生至少要來挑戰一次的經典路線」。請問：</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148988"/>
            <a:ext cx="5143500" cy="54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1650" y="3140968"/>
            <a:ext cx="5600700" cy="318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err="1">
                <a:solidFill>
                  <a:srgbClr val="FF0000"/>
                </a:solidFill>
              </a:rPr>
              <a:t>p.167</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63</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9130553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en-US" altLang="zh-TW" sz="2400" dirty="0">
                <a:solidFill>
                  <a:schemeClr val="tx1"/>
                </a:solidFill>
                <a:latin typeface="標楷體" pitchFamily="65" charset="-120"/>
                <a:ea typeface="標楷體" pitchFamily="65" charset="-120"/>
              </a:rPr>
              <a:t>1.</a:t>
            </a:r>
            <a:r>
              <a:rPr kumimoji="1" lang="zh-TW" altLang="en-US" sz="2400" dirty="0">
                <a:solidFill>
                  <a:schemeClr val="tx1"/>
                </a:solidFill>
                <a:latin typeface="標楷體" pitchFamily="65" charset="-120"/>
                <a:ea typeface="標楷體" pitchFamily="65" charset="-120"/>
              </a:rPr>
              <a:t>下列為某自行車愛好者記錄的騎乘筆記，請協助配對各景點照片。</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3594" y="186459"/>
            <a:ext cx="5143500" cy="54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2142" y="1485203"/>
            <a:ext cx="4738092" cy="52403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直線接點 5"/>
          <p:cNvCxnSpPr/>
          <p:nvPr/>
        </p:nvCxnSpPr>
        <p:spPr>
          <a:xfrm>
            <a:off x="4259833" y="1988840"/>
            <a:ext cx="139228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4258568" y="3068960"/>
            <a:ext cx="1393552" cy="208823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4258568" y="4077072"/>
            <a:ext cx="139355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4258568" y="5152206"/>
            <a:ext cx="1344017" cy="100811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直線接點 20"/>
          <p:cNvCxnSpPr/>
          <p:nvPr/>
        </p:nvCxnSpPr>
        <p:spPr>
          <a:xfrm flipH="1">
            <a:off x="4211960" y="2996952"/>
            <a:ext cx="1440160" cy="316835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矩形 12"/>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err="1">
                <a:solidFill>
                  <a:srgbClr val="FF0000"/>
                </a:solidFill>
              </a:rPr>
              <a:t>p.167</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64</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4019821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65</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6348719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2400" dirty="0">
                <a:solidFill>
                  <a:schemeClr val="tx1"/>
                </a:solidFill>
                <a:latin typeface="標楷體" pitchFamily="65" charset="-120"/>
                <a:ea typeface="標楷體" pitchFamily="65" charset="-120"/>
              </a:rPr>
              <a:t>    臺灣螺絲產業發展歷史悠久，無論是在迪士尼城堡、杜拜的哈里發塔，或是代表德國汽車工藝的雙 </a:t>
            </a:r>
            <a:r>
              <a:rPr kumimoji="1" lang="en-US" altLang="zh-TW" sz="2400" dirty="0">
                <a:solidFill>
                  <a:schemeClr val="tx1"/>
                </a:solidFill>
                <a:latin typeface="標楷體" pitchFamily="65" charset="-120"/>
                <a:ea typeface="標楷體" pitchFamily="65" charset="-120"/>
              </a:rPr>
              <a:t>B </a:t>
            </a:r>
            <a:r>
              <a:rPr kumimoji="1" lang="zh-TW" altLang="en-US" sz="2400" dirty="0">
                <a:solidFill>
                  <a:schemeClr val="tx1"/>
                </a:solidFill>
                <a:latin typeface="標楷體" pitchFamily="65" charset="-120"/>
                <a:ea typeface="標楷體" pitchFamily="65" charset="-120"/>
              </a:rPr>
              <a:t>跑車，都能看見 </a:t>
            </a:r>
            <a:r>
              <a:rPr kumimoji="1" lang="en-US" altLang="zh-TW" sz="2400" dirty="0">
                <a:solidFill>
                  <a:schemeClr val="tx1"/>
                </a:solidFill>
                <a:latin typeface="標楷體" pitchFamily="65" charset="-120"/>
                <a:ea typeface="標楷體" pitchFamily="65" charset="-120"/>
              </a:rPr>
              <a:t>made in Taiwan</a:t>
            </a:r>
            <a:r>
              <a:rPr kumimoji="1" lang="zh-TW" altLang="en-US" sz="2400" dirty="0">
                <a:solidFill>
                  <a:schemeClr val="tx1"/>
                </a:solidFill>
                <a:latin typeface="標楷體" pitchFamily="65" charset="-120"/>
                <a:ea typeface="標楷體" pitchFamily="65" charset="-120"/>
              </a:rPr>
              <a:t>（</a:t>
            </a:r>
            <a:r>
              <a:rPr kumimoji="1" lang="en-US" altLang="zh-TW" sz="2400" dirty="0">
                <a:solidFill>
                  <a:schemeClr val="tx1"/>
                </a:solidFill>
                <a:latin typeface="標楷體" pitchFamily="65" charset="-120"/>
                <a:ea typeface="標楷體" pitchFamily="65" charset="-120"/>
              </a:rPr>
              <a:t>MIT</a:t>
            </a:r>
            <a:r>
              <a:rPr kumimoji="1" lang="zh-TW" altLang="en-US" sz="2400" dirty="0">
                <a:solidFill>
                  <a:schemeClr val="tx1"/>
                </a:solidFill>
                <a:latin typeface="標楷體" pitchFamily="65" charset="-120"/>
                <a:ea typeface="標楷體" pitchFamily="65" charset="-120"/>
              </a:rPr>
              <a:t>）的螺絲。而螺絲產業的發展如同臺灣工業化歷程的縮影：在幾平方公里內聚集上百家螺絲工廠的岡山螺絲窟，展現出臺灣產業群聚的特性，並因此站上世界舞臺，而在近代全球化日益競爭下，轉而朝高附加價值發展努力。螺絲雖小，卻讓臺灣與世界經濟緊密相連。請問：</a:t>
            </a:r>
            <a:endParaRPr kumimoji="1" lang="en-US" altLang="zh-TW" sz="2400" dirty="0">
              <a:solidFill>
                <a:schemeClr val="tx1"/>
              </a:solidFill>
              <a:latin typeface="標楷體" pitchFamily="65" charset="-120"/>
              <a:ea typeface="標楷體" pitchFamily="65" charset="-120"/>
            </a:endParaRPr>
          </a:p>
          <a:p>
            <a:r>
              <a:rPr kumimoji="1" lang="en-US" altLang="zh-TW" sz="2400" dirty="0">
                <a:solidFill>
                  <a:schemeClr val="tx1"/>
                </a:solidFill>
                <a:latin typeface="標楷體" pitchFamily="65" charset="-120"/>
                <a:ea typeface="標楷體" pitchFamily="65" charset="-120"/>
              </a:rPr>
              <a:t>2.</a:t>
            </a:r>
            <a:r>
              <a:rPr kumimoji="1" lang="zh-TW" altLang="en-US" sz="2400" dirty="0">
                <a:solidFill>
                  <a:schemeClr val="tx1"/>
                </a:solidFill>
                <a:latin typeface="標楷體" pitchFamily="65" charset="-120"/>
                <a:ea typeface="標楷體" pitchFamily="65" charset="-120"/>
              </a:rPr>
              <a:t>下列臺灣哪一地區因有著全球最密集的螺絲產業聚落而有「螺絲窟」之稱？</a:t>
            </a:r>
            <a:endParaRPr kumimoji="1" lang="en-US" altLang="zh-TW" sz="2400" dirty="0">
              <a:solidFill>
                <a:schemeClr val="tx1"/>
              </a:solidFill>
              <a:latin typeface="標楷體" pitchFamily="65" charset="-120"/>
              <a:ea typeface="標楷體" pitchFamily="65" charset="-120"/>
            </a:endParaRPr>
          </a:p>
          <a:p>
            <a:r>
              <a:rPr kumimoji="1" lang="en-US" altLang="zh-TW" sz="2400" dirty="0">
                <a:solidFill>
                  <a:schemeClr val="tx1"/>
                </a:solidFill>
                <a:latin typeface="標楷體" pitchFamily="65" charset="-120"/>
                <a:ea typeface="標楷體" pitchFamily="65" charset="-120"/>
              </a:rPr>
              <a:t>(A)</a:t>
            </a:r>
            <a:r>
              <a:rPr kumimoji="1" lang="zh-TW" altLang="en-US" sz="2400" dirty="0">
                <a:solidFill>
                  <a:schemeClr val="tx1"/>
                </a:solidFill>
                <a:latin typeface="標楷體" pitchFamily="65" charset="-120"/>
                <a:ea typeface="標楷體" pitchFamily="65" charset="-120"/>
              </a:rPr>
              <a:t>臺中大雅 </a:t>
            </a:r>
            <a:endParaRPr kumimoji="1" lang="en-US" altLang="zh-TW" sz="2400" dirty="0">
              <a:solidFill>
                <a:schemeClr val="tx1"/>
              </a:solidFill>
              <a:latin typeface="標楷體" pitchFamily="65" charset="-120"/>
              <a:ea typeface="標楷體" pitchFamily="65" charset="-120"/>
            </a:endParaRPr>
          </a:p>
          <a:p>
            <a:r>
              <a:rPr kumimoji="1" lang="en-US" altLang="zh-TW" sz="2400" dirty="0">
                <a:solidFill>
                  <a:schemeClr val="tx1"/>
                </a:solidFill>
                <a:latin typeface="標楷體" pitchFamily="65" charset="-120"/>
                <a:ea typeface="標楷體" pitchFamily="65" charset="-120"/>
              </a:rPr>
              <a:t>(C)</a:t>
            </a:r>
            <a:r>
              <a:rPr kumimoji="1" lang="zh-TW" altLang="en-US" sz="2400" dirty="0">
                <a:solidFill>
                  <a:schemeClr val="tx1"/>
                </a:solidFill>
                <a:latin typeface="標楷體" pitchFamily="65" charset="-120"/>
                <a:ea typeface="標楷體" pitchFamily="65" charset="-120"/>
              </a:rPr>
              <a:t>彰化鹿港        </a:t>
            </a:r>
            <a:r>
              <a:rPr kumimoji="1" lang="en-US" altLang="zh-TW" sz="2400" dirty="0">
                <a:solidFill>
                  <a:schemeClr val="tx1"/>
                </a:solidFill>
                <a:latin typeface="標楷體" pitchFamily="65" charset="-120"/>
                <a:ea typeface="標楷體" pitchFamily="65" charset="-120"/>
              </a:rPr>
              <a:t>(D)</a:t>
            </a:r>
            <a:r>
              <a:rPr kumimoji="1" lang="zh-TW" altLang="en-US" sz="2400" dirty="0">
                <a:solidFill>
                  <a:schemeClr val="tx1"/>
                </a:solidFill>
                <a:latin typeface="標楷體" pitchFamily="65" charset="-120"/>
                <a:ea typeface="標楷體" pitchFamily="65" charset="-120"/>
              </a:rPr>
              <a:t>桃園中壢</a:t>
            </a: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5363" y="263481"/>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 Box 4"/>
          <p:cNvSpPr txBox="1">
            <a:spLocks noChangeArrowheads="1"/>
          </p:cNvSpPr>
          <p:nvPr/>
        </p:nvSpPr>
        <p:spPr bwMode="auto">
          <a:xfrm>
            <a:off x="3238507" y="4335487"/>
            <a:ext cx="20361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(B)</a:t>
            </a:r>
            <a:r>
              <a:rPr lang="zh-TW" altLang="en-US" sz="2400" dirty="0">
                <a:latin typeface="標楷體" pitchFamily="65" charset="-120"/>
              </a:rPr>
              <a:t>高雄岡山</a:t>
            </a:r>
          </a:p>
        </p:txBody>
      </p:sp>
      <p:pic>
        <p:nvPicPr>
          <p:cNvPr id="8" name="Picture 5" descr="a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408014">
            <a:off x="7638000" y="4988708"/>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err="1">
                <a:solidFill>
                  <a:srgbClr val="FF0000"/>
                </a:solidFill>
              </a:rPr>
              <a:t>p.176</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66</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222686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1">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1">
                                            <p:txEl>
                                              <p:pRg st="0" end="0"/>
                                            </p:txEl>
                                          </p:spTgt>
                                        </p:tgtEl>
                                        <p:attrNameLst>
                                          <p:attrName>style.fontStyle</p:attrName>
                                        </p:attrNameLst>
                                      </p:cBhvr>
                                      <p:to>
                                        <p:strVal val="normal"/>
                                      </p:to>
                                    </p:set>
                                    <p:set>
                                      <p:cBhvr override="childStyle">
                                        <p:cTn id="9" dur="indefinite"/>
                                        <p:tgtEl>
                                          <p:spTgt spid="11">
                                            <p:txEl>
                                              <p:pRg st="0" end="0"/>
                                            </p:txEl>
                                          </p:spTgt>
                                        </p:tgtEl>
                                        <p:attrNameLst>
                                          <p:attrName>style.fontWeight</p:attrName>
                                        </p:attrNameLst>
                                      </p:cBhvr>
                                      <p:to>
                                        <p:strVal val="bold"/>
                                      </p:to>
                                    </p:set>
                                    <p:set>
                                      <p:cBhvr override="childStyle">
                                        <p:cTn id="10" dur="indefinite"/>
                                        <p:tgtEl>
                                          <p:spTgt spid="11">
                                            <p:txEl>
                                              <p:pRg st="0" end="0"/>
                                            </p:txEl>
                                          </p:spTgt>
                                        </p:tgtEl>
                                        <p:attrNameLst>
                                          <p:attrName>style.textDecorationUnderline</p:attrName>
                                        </p:attrNameLst>
                                      </p:cBhvr>
                                      <p:to>
                                        <p:strVal val="fals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2400" dirty="0">
                <a:solidFill>
                  <a:schemeClr val="tx1"/>
                </a:solidFill>
                <a:latin typeface="標楷體" pitchFamily="65" charset="-120"/>
                <a:ea typeface="標楷體" pitchFamily="65" charset="-120"/>
              </a:rPr>
              <a:t>    臺灣螺絲產業發展歷史悠久，無論是在迪士尼城堡、杜拜的哈里發塔，或是代表德國汽車工藝的雙 </a:t>
            </a:r>
            <a:r>
              <a:rPr kumimoji="1" lang="en-US" altLang="zh-TW" sz="2400" dirty="0">
                <a:solidFill>
                  <a:schemeClr val="tx1"/>
                </a:solidFill>
                <a:latin typeface="標楷體" pitchFamily="65" charset="-120"/>
                <a:ea typeface="標楷體" pitchFamily="65" charset="-120"/>
              </a:rPr>
              <a:t>B </a:t>
            </a:r>
            <a:r>
              <a:rPr kumimoji="1" lang="zh-TW" altLang="en-US" sz="2400" dirty="0">
                <a:solidFill>
                  <a:schemeClr val="tx1"/>
                </a:solidFill>
                <a:latin typeface="標楷體" pitchFamily="65" charset="-120"/>
                <a:ea typeface="標楷體" pitchFamily="65" charset="-120"/>
              </a:rPr>
              <a:t>跑車，都能看見 </a:t>
            </a:r>
            <a:r>
              <a:rPr kumimoji="1" lang="en-US" altLang="zh-TW" sz="2400" dirty="0">
                <a:solidFill>
                  <a:schemeClr val="tx1"/>
                </a:solidFill>
                <a:latin typeface="標楷體" pitchFamily="65" charset="-120"/>
                <a:ea typeface="標楷體" pitchFamily="65" charset="-120"/>
              </a:rPr>
              <a:t>made in Taiwan</a:t>
            </a:r>
            <a:r>
              <a:rPr kumimoji="1" lang="zh-TW" altLang="en-US" sz="2400" dirty="0">
                <a:solidFill>
                  <a:schemeClr val="tx1"/>
                </a:solidFill>
                <a:latin typeface="標楷體" pitchFamily="65" charset="-120"/>
                <a:ea typeface="標楷體" pitchFamily="65" charset="-120"/>
              </a:rPr>
              <a:t>（</a:t>
            </a:r>
            <a:r>
              <a:rPr kumimoji="1" lang="en-US" altLang="zh-TW" sz="2400" dirty="0">
                <a:solidFill>
                  <a:schemeClr val="tx1"/>
                </a:solidFill>
                <a:latin typeface="標楷體" pitchFamily="65" charset="-120"/>
                <a:ea typeface="標楷體" pitchFamily="65" charset="-120"/>
              </a:rPr>
              <a:t>MIT</a:t>
            </a:r>
            <a:r>
              <a:rPr kumimoji="1" lang="zh-TW" altLang="en-US" sz="2400" dirty="0">
                <a:solidFill>
                  <a:schemeClr val="tx1"/>
                </a:solidFill>
                <a:latin typeface="標楷體" pitchFamily="65" charset="-120"/>
                <a:ea typeface="標楷體" pitchFamily="65" charset="-120"/>
              </a:rPr>
              <a:t>）的螺絲。而螺絲產業的發展如同臺灣工業化歷程的縮影：在幾平方公里內聚集上百家螺絲工廠的岡山螺絲窟，展現出臺灣產業群聚的特性，並因此站上世界舞臺，而在近代全球化日益競爭下，轉而朝高附加價值發展努力。螺絲雖小，卻讓臺灣與世界經濟緊密相連。請問：</a:t>
            </a:r>
            <a:endParaRPr kumimoji="1" lang="en-US" altLang="zh-TW" sz="2400" dirty="0">
              <a:solidFill>
                <a:schemeClr val="tx1"/>
              </a:solidFill>
              <a:latin typeface="標楷體" pitchFamily="65" charset="-120"/>
              <a:ea typeface="標楷體" pitchFamily="65" charset="-120"/>
            </a:endParaRPr>
          </a:p>
          <a:p>
            <a:r>
              <a:rPr kumimoji="1" lang="en-US" altLang="zh-TW" sz="2400" dirty="0">
                <a:solidFill>
                  <a:schemeClr val="tx1"/>
                </a:solidFill>
                <a:latin typeface="標楷體" pitchFamily="65" charset="-120"/>
                <a:ea typeface="標楷體" pitchFamily="65" charset="-120"/>
              </a:rPr>
              <a:t>3.</a:t>
            </a:r>
            <a:r>
              <a:rPr kumimoji="1" lang="zh-TW" altLang="en-US" sz="2400" dirty="0">
                <a:solidFill>
                  <a:schemeClr val="tx1"/>
                </a:solidFill>
                <a:latin typeface="標楷體" pitchFamily="65" charset="-120"/>
                <a:ea typeface="標楷體" pitchFamily="65" charset="-120"/>
              </a:rPr>
              <a:t>根據上述，臺灣螺絲窟的產業競爭優勢主要來自於？</a:t>
            </a:r>
            <a:endParaRPr kumimoji="1" lang="en-US" altLang="zh-TW" sz="2400" dirty="0">
              <a:solidFill>
                <a:schemeClr val="tx1"/>
              </a:solidFill>
              <a:latin typeface="標楷體" pitchFamily="65" charset="-120"/>
              <a:ea typeface="標楷體" pitchFamily="65" charset="-120"/>
            </a:endParaRPr>
          </a:p>
          <a:p>
            <a:r>
              <a:rPr kumimoji="1" lang="en-US" altLang="zh-TW" sz="2400" dirty="0">
                <a:solidFill>
                  <a:schemeClr val="tx1"/>
                </a:solidFill>
                <a:latin typeface="標楷體" pitchFamily="65" charset="-120"/>
                <a:ea typeface="標楷體" pitchFamily="65" charset="-120"/>
              </a:rPr>
              <a:t>(A)</a:t>
            </a:r>
            <a:r>
              <a:rPr kumimoji="1" lang="zh-TW" altLang="en-US" sz="2400" dirty="0">
                <a:solidFill>
                  <a:schemeClr val="tx1"/>
                </a:solidFill>
                <a:latin typeface="標楷體" pitchFamily="65" charset="-120"/>
                <a:ea typeface="標楷體" pitchFamily="65" charset="-120"/>
              </a:rPr>
              <a:t>規模經濟          </a:t>
            </a:r>
            <a:r>
              <a:rPr kumimoji="1" lang="en-US" altLang="zh-TW" sz="2400" dirty="0">
                <a:solidFill>
                  <a:schemeClr val="tx1"/>
                </a:solidFill>
                <a:latin typeface="標楷體" pitchFamily="65" charset="-120"/>
                <a:ea typeface="標楷體" pitchFamily="65" charset="-120"/>
              </a:rPr>
              <a:t>(B)</a:t>
            </a:r>
            <a:r>
              <a:rPr kumimoji="1" lang="zh-TW" altLang="en-US" sz="2400" dirty="0">
                <a:solidFill>
                  <a:schemeClr val="tx1"/>
                </a:solidFill>
                <a:latin typeface="標楷體" pitchFamily="65" charset="-120"/>
                <a:ea typeface="標楷體" pitchFamily="65" charset="-120"/>
              </a:rPr>
              <a:t>工業連鎖</a:t>
            </a:r>
            <a:endParaRPr kumimoji="1" lang="en-US" altLang="zh-TW" sz="2400" dirty="0">
              <a:solidFill>
                <a:schemeClr val="tx1"/>
              </a:solidFill>
              <a:latin typeface="標楷體" pitchFamily="65" charset="-120"/>
              <a:ea typeface="標楷體" pitchFamily="65" charset="-120"/>
            </a:endParaRPr>
          </a:p>
          <a:p>
            <a:r>
              <a:rPr kumimoji="1" lang="zh-TW" altLang="en-US" sz="2400" dirty="0">
                <a:solidFill>
                  <a:schemeClr val="tx1"/>
                </a:solidFill>
                <a:latin typeface="標楷體" pitchFamily="65" charset="-120"/>
                <a:ea typeface="標楷體" pitchFamily="65" charset="-120"/>
              </a:rPr>
              <a:t>                     </a:t>
            </a:r>
            <a:r>
              <a:rPr kumimoji="1" lang="en-US" altLang="zh-TW" sz="2400" dirty="0">
                <a:solidFill>
                  <a:schemeClr val="tx1"/>
                </a:solidFill>
                <a:latin typeface="標楷體" pitchFamily="65" charset="-120"/>
                <a:ea typeface="標楷體" pitchFamily="65" charset="-120"/>
              </a:rPr>
              <a:t>(D)</a:t>
            </a:r>
            <a:r>
              <a:rPr kumimoji="1" lang="zh-TW" altLang="en-US" sz="2400" dirty="0">
                <a:solidFill>
                  <a:schemeClr val="tx1"/>
                </a:solidFill>
                <a:latin typeface="標楷體" pitchFamily="65" charset="-120"/>
                <a:ea typeface="標楷體" pitchFamily="65" charset="-120"/>
              </a:rPr>
              <a:t>工業慣性</a:t>
            </a: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0648"/>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 Box 4"/>
          <p:cNvSpPr txBox="1">
            <a:spLocks noChangeArrowheads="1"/>
          </p:cNvSpPr>
          <p:nvPr/>
        </p:nvSpPr>
        <p:spPr bwMode="auto">
          <a:xfrm>
            <a:off x="340946" y="4376274"/>
            <a:ext cx="20361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400" dirty="0">
                <a:latin typeface="標楷體" pitchFamily="65" charset="-120"/>
              </a:rPr>
              <a:t>(C)</a:t>
            </a:r>
            <a:r>
              <a:rPr lang="zh-TW" altLang="en-US" sz="2400" dirty="0">
                <a:latin typeface="標楷體" pitchFamily="65" charset="-120"/>
              </a:rPr>
              <a:t>產業群聚</a:t>
            </a:r>
          </a:p>
        </p:txBody>
      </p:sp>
      <p:pic>
        <p:nvPicPr>
          <p:cNvPr id="8" name="Picture 5" descr="a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408014">
            <a:off x="7638000" y="4988708"/>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67</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046183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1">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1">
                                            <p:txEl>
                                              <p:pRg st="0" end="0"/>
                                            </p:txEl>
                                          </p:spTgt>
                                        </p:tgtEl>
                                        <p:attrNameLst>
                                          <p:attrName>style.fontStyle</p:attrName>
                                        </p:attrNameLst>
                                      </p:cBhvr>
                                      <p:to>
                                        <p:strVal val="normal"/>
                                      </p:to>
                                    </p:set>
                                    <p:set>
                                      <p:cBhvr override="childStyle">
                                        <p:cTn id="9" dur="indefinite"/>
                                        <p:tgtEl>
                                          <p:spTgt spid="11">
                                            <p:txEl>
                                              <p:pRg st="0" end="0"/>
                                            </p:txEl>
                                          </p:spTgt>
                                        </p:tgtEl>
                                        <p:attrNameLst>
                                          <p:attrName>style.fontWeight</p:attrName>
                                        </p:attrNameLst>
                                      </p:cBhvr>
                                      <p:to>
                                        <p:strVal val="bold"/>
                                      </p:to>
                                    </p:set>
                                    <p:set>
                                      <p:cBhvr override="childStyle">
                                        <p:cTn id="10" dur="indefinite"/>
                                        <p:tgtEl>
                                          <p:spTgt spid="11">
                                            <p:txEl>
                                              <p:pRg st="0" end="0"/>
                                            </p:txEl>
                                          </p:spTgt>
                                        </p:tgtEl>
                                        <p:attrNameLst>
                                          <p:attrName>style.textDecorationUnderline</p:attrName>
                                        </p:attrNameLst>
                                      </p:cBhvr>
                                      <p:to>
                                        <p:strVal val="fals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2000" dirty="0">
                <a:solidFill>
                  <a:schemeClr val="tx1"/>
                </a:solidFill>
                <a:latin typeface="標楷體" pitchFamily="65" charset="-120"/>
                <a:ea typeface="標楷體" pitchFamily="65" charset="-120"/>
              </a:rPr>
              <a:t>一、螺絲產業在臺灣的發展歷程</a:t>
            </a:r>
          </a:p>
          <a:p>
            <a:r>
              <a:rPr kumimoji="1" lang="zh-TW" altLang="en-US" sz="2000" dirty="0">
                <a:solidFill>
                  <a:schemeClr val="tx1"/>
                </a:solidFill>
                <a:latin typeface="標楷體" pitchFamily="65" charset="-120"/>
                <a:ea typeface="標楷體" pitchFamily="65" charset="-120"/>
              </a:rPr>
              <a:t>　　臺灣螺絲產業早期為手工少量製造，僅供給國內需求，直至越戰期間，被美軍指定為螺絲、螺帽採購中心，又適逢美、日等螺絲生產大國面臨生產成本提高而產業外移，臺灣螺絲於焉開始發展標準化、規模化生產的契機。民國 </a:t>
            </a:r>
            <a:r>
              <a:rPr kumimoji="1" lang="en-US" altLang="zh-TW" sz="2000" dirty="0">
                <a:solidFill>
                  <a:schemeClr val="tx1"/>
                </a:solidFill>
                <a:latin typeface="標楷體" pitchFamily="65" charset="-120"/>
                <a:ea typeface="標楷體" pitchFamily="65" charset="-120"/>
              </a:rPr>
              <a:t>60 </a:t>
            </a:r>
            <a:r>
              <a:rPr kumimoji="1" lang="zh-TW" altLang="en-US" sz="2000" dirty="0">
                <a:solidFill>
                  <a:schemeClr val="tx1"/>
                </a:solidFill>
                <a:latin typeface="標楷體" pitchFamily="65" charset="-120"/>
                <a:ea typeface="標楷體" pitchFamily="65" charset="-120"/>
              </a:rPr>
              <a:t>年代，臺灣業者自行研發出螺絲、螺帽的成型機，再加上政府重大經濟政策的資金挹注，螺絲產業飛快成長，</a:t>
            </a:r>
            <a:r>
              <a:rPr kumimoji="1" lang="en-US" altLang="zh-TW" sz="2000" dirty="0">
                <a:solidFill>
                  <a:schemeClr val="tx1"/>
                </a:solidFill>
                <a:latin typeface="標楷體" pitchFamily="65" charset="-120"/>
                <a:ea typeface="標楷體" pitchFamily="65" charset="-120"/>
              </a:rPr>
              <a:t>1984 </a:t>
            </a:r>
            <a:r>
              <a:rPr kumimoji="1" lang="zh-TW" altLang="en-US" sz="2000" dirty="0">
                <a:solidFill>
                  <a:schemeClr val="tx1"/>
                </a:solidFill>
                <a:latin typeface="標楷體" pitchFamily="65" charset="-120"/>
                <a:ea typeface="標楷體" pitchFamily="65" charset="-120"/>
              </a:rPr>
              <a:t>年外銷量躍上「世界第一」，然而，其後隨著匯率變動、臺灣工資上漲、國際市場競爭等因素，迫使螺絲產業必須升級以因應挑戰。</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　　一個產業的開業工廠家數多寡，通常反映出市場的需求及產業的發展，市場有所需求或者產業核心技術已普及，都會使得工廠家數如雨後春筍般成立。請問：</a:t>
            </a:r>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4.</a:t>
            </a:r>
            <a:r>
              <a:rPr kumimoji="1" lang="zh-TW" altLang="en-US" sz="2000" dirty="0">
                <a:solidFill>
                  <a:schemeClr val="tx1"/>
                </a:solidFill>
                <a:latin typeface="標楷體" pitchFamily="65" charset="-120"/>
                <a:ea typeface="標楷體" pitchFamily="65" charset="-120"/>
              </a:rPr>
              <a:t>根據上述，臺灣螺絲產業早期為手工少量製造，隨後才逐漸發展標準化、規模化生產。從地緣關係判斷，</a:t>
            </a:r>
            <a:r>
              <a:rPr kumimoji="1" lang="en-US" altLang="zh-TW" sz="2000" dirty="0">
                <a:solidFill>
                  <a:schemeClr val="tx1"/>
                </a:solidFill>
                <a:latin typeface="標楷體" pitchFamily="65" charset="-120"/>
                <a:ea typeface="標楷體" pitchFamily="65" charset="-120"/>
              </a:rPr>
              <a:t>1950 ∼ 1960 </a:t>
            </a:r>
            <a:r>
              <a:rPr kumimoji="1" lang="zh-TW" altLang="en-US" sz="2000" dirty="0">
                <a:solidFill>
                  <a:schemeClr val="tx1"/>
                </a:solidFill>
                <a:latin typeface="標楷體" pitchFamily="65" charset="-120"/>
                <a:ea typeface="標楷體" pitchFamily="65" charset="-120"/>
              </a:rPr>
              <a:t>年代臺灣螺絲帽產業在技術與機械皆最仰賴下列哪個國家？</a:t>
            </a:r>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(A)</a:t>
            </a:r>
            <a:r>
              <a:rPr kumimoji="1" lang="zh-TW" altLang="en-US" sz="2000" dirty="0">
                <a:solidFill>
                  <a:schemeClr val="tx1"/>
                </a:solidFill>
                <a:latin typeface="標楷體" pitchFamily="65" charset="-120"/>
                <a:ea typeface="標楷體" pitchFamily="65" charset="-120"/>
              </a:rPr>
              <a:t>美國                       </a:t>
            </a:r>
            <a:r>
              <a:rPr kumimoji="1" lang="en-US" altLang="zh-TW" sz="2000" dirty="0">
                <a:solidFill>
                  <a:schemeClr val="tx1"/>
                </a:solidFill>
                <a:latin typeface="標楷體" pitchFamily="65" charset="-120"/>
                <a:ea typeface="標楷體" pitchFamily="65" charset="-120"/>
              </a:rPr>
              <a:t>(C)</a:t>
            </a:r>
            <a:r>
              <a:rPr kumimoji="1" lang="zh-TW" altLang="en-US" sz="2000" dirty="0">
                <a:solidFill>
                  <a:schemeClr val="tx1"/>
                </a:solidFill>
                <a:latin typeface="標楷體" pitchFamily="65" charset="-120"/>
                <a:ea typeface="標楷體" pitchFamily="65" charset="-120"/>
              </a:rPr>
              <a:t>越南      </a:t>
            </a:r>
            <a:r>
              <a:rPr kumimoji="1" lang="en-US" altLang="zh-TW" sz="2000" dirty="0">
                <a:solidFill>
                  <a:schemeClr val="tx1"/>
                </a:solidFill>
                <a:latin typeface="標楷體" pitchFamily="65" charset="-120"/>
                <a:ea typeface="標楷體" pitchFamily="65" charset="-120"/>
              </a:rPr>
              <a:t>(D)</a:t>
            </a:r>
            <a:r>
              <a:rPr kumimoji="1" lang="zh-TW" altLang="en-US" sz="2000" dirty="0">
                <a:solidFill>
                  <a:schemeClr val="tx1"/>
                </a:solidFill>
                <a:latin typeface="標楷體" pitchFamily="65" charset="-120"/>
                <a:ea typeface="標楷體" pitchFamily="65" charset="-120"/>
              </a:rPr>
              <a:t>中國</a:t>
            </a: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0648"/>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 Box 4"/>
          <p:cNvSpPr txBox="1">
            <a:spLocks noChangeArrowheads="1"/>
          </p:cNvSpPr>
          <p:nvPr/>
        </p:nvSpPr>
        <p:spPr bwMode="auto">
          <a:xfrm>
            <a:off x="2319821" y="5333146"/>
            <a:ext cx="11000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000" dirty="0">
                <a:latin typeface="標楷體" pitchFamily="65" charset="-120"/>
              </a:rPr>
              <a:t>(B)</a:t>
            </a:r>
            <a:r>
              <a:rPr lang="zh-TW" altLang="en-US" sz="2000" dirty="0">
                <a:latin typeface="標楷體" pitchFamily="65" charset="-120"/>
              </a:rPr>
              <a:t>日本</a:t>
            </a:r>
          </a:p>
        </p:txBody>
      </p:sp>
      <p:sp>
        <p:nvSpPr>
          <p:cNvPr id="8" name="Rectangle 8"/>
          <p:cNvSpPr>
            <a:spLocks noChangeArrowheads="1"/>
          </p:cNvSpPr>
          <p:nvPr/>
        </p:nvSpPr>
        <p:spPr bwMode="auto">
          <a:xfrm>
            <a:off x="755576" y="5745450"/>
            <a:ext cx="61198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en-US" altLang="zh-TW" sz="2000" kern="1200" dirty="0">
                <a:solidFill>
                  <a:srgbClr val="FF0000"/>
                </a:solidFill>
                <a:latin typeface="標楷體" panose="03000509000000000000" pitchFamily="65" charset="-120"/>
                <a:ea typeface="標楷體" panose="03000509000000000000" pitchFamily="65" charset="-120"/>
                <a:cs typeface="+mn-cs"/>
              </a:rPr>
              <a:t>1950 </a:t>
            </a:r>
            <a:r>
              <a:rPr kumimoji="1" lang="zh-TW" altLang="en-US" sz="2000" kern="1200" dirty="0">
                <a:solidFill>
                  <a:srgbClr val="FF0000"/>
                </a:solidFill>
                <a:latin typeface="標楷體" panose="03000509000000000000" pitchFamily="65" charset="-120"/>
                <a:ea typeface="標楷體" panose="03000509000000000000" pitchFamily="65" charset="-120"/>
                <a:cs typeface="+mn-cs"/>
              </a:rPr>
              <a:t>～ </a:t>
            </a:r>
            <a:r>
              <a:rPr kumimoji="1" lang="en-US" altLang="zh-TW" sz="2000" kern="1200" dirty="0">
                <a:solidFill>
                  <a:srgbClr val="FF0000"/>
                </a:solidFill>
                <a:latin typeface="標楷體" panose="03000509000000000000" pitchFamily="65" charset="-120"/>
                <a:ea typeface="標楷體" panose="03000509000000000000" pitchFamily="65" charset="-120"/>
                <a:cs typeface="+mn-cs"/>
              </a:rPr>
              <a:t>1960 </a:t>
            </a:r>
            <a:r>
              <a:rPr kumimoji="1" lang="zh-TW" altLang="en-US" sz="2000" kern="1200" dirty="0">
                <a:solidFill>
                  <a:srgbClr val="FF0000"/>
                </a:solidFill>
                <a:latin typeface="Arial" charset="0"/>
                <a:ea typeface="標楷體" pitchFamily="65" charset="-120"/>
                <a:cs typeface="+mn-cs"/>
              </a:rPr>
              <a:t>年代，螺絲帽產業在技術與機械皆仰賴從日本進口，奠定之後產業發展基礎。</a:t>
            </a:r>
          </a:p>
        </p:txBody>
      </p:sp>
      <p:pic>
        <p:nvPicPr>
          <p:cNvPr id="9" name="Picture 5" descr="a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408014">
            <a:off x="7638000" y="5298671"/>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68</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271272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1">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1">
                                            <p:txEl>
                                              <p:pRg st="0" end="0"/>
                                            </p:txEl>
                                          </p:spTgt>
                                        </p:tgtEl>
                                        <p:attrNameLst>
                                          <p:attrName>style.fontStyle</p:attrName>
                                        </p:attrNameLst>
                                      </p:cBhvr>
                                      <p:to>
                                        <p:strVal val="normal"/>
                                      </p:to>
                                    </p:set>
                                    <p:set>
                                      <p:cBhvr override="childStyle">
                                        <p:cTn id="9" dur="indefinite"/>
                                        <p:tgtEl>
                                          <p:spTgt spid="11">
                                            <p:txEl>
                                              <p:pRg st="0" end="0"/>
                                            </p:txEl>
                                          </p:spTgt>
                                        </p:tgtEl>
                                        <p:attrNameLst>
                                          <p:attrName>style.fontWeight</p:attrName>
                                        </p:attrNameLst>
                                      </p:cBhvr>
                                      <p:to>
                                        <p:strVal val="bold"/>
                                      </p:to>
                                    </p:set>
                                    <p:set>
                                      <p:cBhvr override="childStyle">
                                        <p:cTn id="10" dur="indefinite"/>
                                        <p:tgtEl>
                                          <p:spTgt spid="11">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2000" dirty="0">
                <a:solidFill>
                  <a:schemeClr val="tx1"/>
                </a:solidFill>
                <a:latin typeface="標楷體" pitchFamily="65" charset="-120"/>
                <a:ea typeface="標楷體" pitchFamily="65" charset="-120"/>
              </a:rPr>
              <a:t>一、螺絲產業在臺灣的發展歷程</a:t>
            </a:r>
          </a:p>
          <a:p>
            <a:r>
              <a:rPr kumimoji="1" lang="zh-TW" altLang="en-US" sz="2000" dirty="0">
                <a:solidFill>
                  <a:schemeClr val="tx1"/>
                </a:solidFill>
                <a:latin typeface="標楷體" pitchFamily="65" charset="-120"/>
                <a:ea typeface="標楷體" pitchFamily="65" charset="-120"/>
              </a:rPr>
              <a:t>　　臺灣螺絲產業早期為手工少量製造，僅供給國內需求，直至越戰期間，被美軍指定為螺絲、螺帽採購中心，又適逢美、日等螺絲生產大國面臨生產成本提高而產業外移，臺灣螺絲於焉開始發展標準化、規模化生產的契機。民國 </a:t>
            </a:r>
            <a:r>
              <a:rPr kumimoji="1" lang="en-US" altLang="zh-TW" sz="2000" dirty="0">
                <a:solidFill>
                  <a:schemeClr val="tx1"/>
                </a:solidFill>
                <a:latin typeface="標楷體" pitchFamily="65" charset="-120"/>
                <a:ea typeface="標楷體" pitchFamily="65" charset="-120"/>
              </a:rPr>
              <a:t>60 </a:t>
            </a:r>
            <a:r>
              <a:rPr kumimoji="1" lang="zh-TW" altLang="en-US" sz="2000" dirty="0">
                <a:solidFill>
                  <a:schemeClr val="tx1"/>
                </a:solidFill>
                <a:latin typeface="標楷體" pitchFamily="65" charset="-120"/>
                <a:ea typeface="標楷體" pitchFamily="65" charset="-120"/>
              </a:rPr>
              <a:t>年代，臺灣業者自行研發出螺絲、螺帽的成型機，再加上政府重大經濟政策的資金挹注，螺絲產業飛快成長，</a:t>
            </a:r>
            <a:r>
              <a:rPr kumimoji="1" lang="en-US" altLang="zh-TW" sz="2000" dirty="0">
                <a:solidFill>
                  <a:schemeClr val="tx1"/>
                </a:solidFill>
                <a:latin typeface="標楷體" pitchFamily="65" charset="-120"/>
                <a:ea typeface="標楷體" pitchFamily="65" charset="-120"/>
              </a:rPr>
              <a:t>1984 </a:t>
            </a:r>
            <a:r>
              <a:rPr kumimoji="1" lang="zh-TW" altLang="en-US" sz="2000" dirty="0">
                <a:solidFill>
                  <a:schemeClr val="tx1"/>
                </a:solidFill>
                <a:latin typeface="標楷體" pitchFamily="65" charset="-120"/>
                <a:ea typeface="標楷體" pitchFamily="65" charset="-120"/>
              </a:rPr>
              <a:t>年外銷量躍上「世界第一」，然而，其後隨著匯率變動、臺灣工資上漲、國際市</a:t>
            </a:r>
          </a:p>
          <a:p>
            <a:r>
              <a:rPr kumimoji="1" lang="zh-TW" altLang="en-US" sz="2000" dirty="0">
                <a:solidFill>
                  <a:schemeClr val="tx1"/>
                </a:solidFill>
                <a:latin typeface="標楷體" pitchFamily="65" charset="-120"/>
                <a:ea typeface="標楷體" pitchFamily="65" charset="-120"/>
              </a:rPr>
              <a:t>場競爭等因素，迫使螺絲產業必須升級以因應挑戰。一個產業的開業工廠家數多寡，通常反映出市場的需求及產業的發展，市場有所需求或者產業核心技術已普及，都會使得工廠家數如雨後春筍般成立。請問：</a:t>
            </a:r>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5.</a:t>
            </a:r>
            <a:r>
              <a:rPr kumimoji="1" lang="zh-TW" altLang="en-US" sz="2000" dirty="0">
                <a:solidFill>
                  <a:schemeClr val="tx1"/>
                </a:solidFill>
                <a:latin typeface="標楷體" pitchFamily="65" charset="-120"/>
                <a:ea typeface="標楷體" pitchFamily="65" charset="-120"/>
              </a:rPr>
              <a:t> </a:t>
            </a:r>
            <a:r>
              <a:rPr kumimoji="1" lang="en-US" altLang="zh-TW" sz="2000" dirty="0">
                <a:solidFill>
                  <a:schemeClr val="tx1"/>
                </a:solidFill>
                <a:latin typeface="標楷體" pitchFamily="65" charset="-120"/>
                <a:ea typeface="標楷體" pitchFamily="65" charset="-120"/>
              </a:rPr>
              <a:t>1974 </a:t>
            </a:r>
            <a:r>
              <a:rPr kumimoji="1" lang="zh-TW" altLang="en-US" sz="2000" dirty="0">
                <a:solidFill>
                  <a:schemeClr val="tx1"/>
                </a:solidFill>
                <a:latin typeface="標楷體" pitchFamily="65" charset="-120"/>
                <a:ea typeface="標楷體" pitchFamily="65" charset="-120"/>
              </a:rPr>
              <a:t>年，政府為了改善基礎設施及產業升級進行的一系列國家級基礎建設工程，因而推動了何項經濟政策，使得螺絲產業所需的原料不再需要透過進口，改由高雄的中鋼公司提供？</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答：</a:t>
            </a: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0648"/>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8"/>
          <p:cNvSpPr>
            <a:spLocks noChangeArrowheads="1"/>
          </p:cNvSpPr>
          <p:nvPr/>
        </p:nvSpPr>
        <p:spPr bwMode="auto">
          <a:xfrm>
            <a:off x="1043608" y="5013176"/>
            <a:ext cx="13681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rgbClr val="FF0000"/>
                </a:solidFill>
                <a:latin typeface="Arial" charset="0"/>
                <a:ea typeface="標楷體" pitchFamily="65" charset="-120"/>
                <a:cs typeface="+mn-cs"/>
              </a:rPr>
              <a:t>十大建設。</a:t>
            </a:r>
          </a:p>
        </p:txBody>
      </p:sp>
      <p:sp>
        <p:nvSpPr>
          <p:cNvPr id="9" name="Rectangle 8"/>
          <p:cNvSpPr>
            <a:spLocks noChangeArrowheads="1"/>
          </p:cNvSpPr>
          <p:nvPr/>
        </p:nvSpPr>
        <p:spPr bwMode="auto">
          <a:xfrm>
            <a:off x="1030355" y="5413286"/>
            <a:ext cx="526983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dirty="0">
                <a:solidFill>
                  <a:srgbClr val="FF0000"/>
                </a:solidFill>
                <a:latin typeface="標楷體" pitchFamily="65" charset="-120"/>
                <a:ea typeface="標楷體" pitchFamily="65" charset="-120"/>
              </a:rPr>
              <a:t>從政策的年代、發展目的以及中鋼公司判斷，</a:t>
            </a:r>
          </a:p>
          <a:p>
            <a:r>
              <a:rPr kumimoji="1" lang="zh-TW" altLang="en-US" sz="2000" dirty="0">
                <a:solidFill>
                  <a:srgbClr val="FF0000"/>
                </a:solidFill>
                <a:latin typeface="標楷體" pitchFamily="65" charset="-120"/>
                <a:ea typeface="標楷體" pitchFamily="65" charset="-120"/>
              </a:rPr>
              <a:t>其為十大建設政策。</a:t>
            </a:r>
            <a:endParaRPr kumimoji="1" lang="zh-TW" altLang="en-US" sz="2000" kern="1200" dirty="0">
              <a:solidFill>
                <a:srgbClr val="FF0000"/>
              </a:solidFill>
              <a:latin typeface="Arial" charset="0"/>
              <a:ea typeface="標楷體" pitchFamily="65" charset="-120"/>
              <a:cs typeface="+mn-cs"/>
            </a:endParaRPr>
          </a:p>
        </p:txBody>
      </p:sp>
      <p:pic>
        <p:nvPicPr>
          <p:cNvPr id="11" name="Picture 5" descr="a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408014">
            <a:off x="7638000" y="4988708"/>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69</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1691338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2000" dirty="0">
                <a:solidFill>
                  <a:schemeClr val="tx1"/>
                </a:solidFill>
                <a:latin typeface="標楷體" pitchFamily="65" charset="-120"/>
                <a:ea typeface="標楷體" pitchFamily="65" charset="-120"/>
              </a:rPr>
              <a:t>一、螺絲產業在臺灣的發展歷程</a:t>
            </a:r>
          </a:p>
          <a:p>
            <a:r>
              <a:rPr kumimoji="1" lang="zh-TW" altLang="en-US" sz="2000" dirty="0">
                <a:solidFill>
                  <a:schemeClr val="tx1"/>
                </a:solidFill>
                <a:latin typeface="標楷體" pitchFamily="65" charset="-120"/>
                <a:ea typeface="標楷體" pitchFamily="65" charset="-120"/>
              </a:rPr>
              <a:t>　　臺灣螺絲產業早期為手工少量製造，僅供給國內需求，直至越戰期間，被美軍指定為螺絲、螺帽採購中心，又適逢美、日等螺絲生產大國面臨生產成本提高而產業外移，臺灣螺絲於焉開始發展標準化、規模化生產的契機。民國 </a:t>
            </a:r>
            <a:r>
              <a:rPr kumimoji="1" lang="en-US" altLang="zh-TW" sz="2000" dirty="0">
                <a:solidFill>
                  <a:schemeClr val="tx1"/>
                </a:solidFill>
                <a:latin typeface="標楷體" pitchFamily="65" charset="-120"/>
                <a:ea typeface="標楷體" pitchFamily="65" charset="-120"/>
              </a:rPr>
              <a:t>60 </a:t>
            </a:r>
            <a:r>
              <a:rPr kumimoji="1" lang="zh-TW" altLang="en-US" sz="2000" dirty="0">
                <a:solidFill>
                  <a:schemeClr val="tx1"/>
                </a:solidFill>
                <a:latin typeface="標楷體" pitchFamily="65" charset="-120"/>
                <a:ea typeface="標楷體" pitchFamily="65" charset="-120"/>
              </a:rPr>
              <a:t>年代，臺灣業者自行研發出螺絲、螺帽的成型機，再加上政府重大經濟政策的資金挹注，螺絲產業飛快成長，</a:t>
            </a:r>
            <a:r>
              <a:rPr kumimoji="1" lang="en-US" altLang="zh-TW" sz="2000" dirty="0">
                <a:solidFill>
                  <a:schemeClr val="tx1"/>
                </a:solidFill>
                <a:latin typeface="標楷體" pitchFamily="65" charset="-120"/>
                <a:ea typeface="標楷體" pitchFamily="65" charset="-120"/>
              </a:rPr>
              <a:t>1984 </a:t>
            </a:r>
            <a:r>
              <a:rPr kumimoji="1" lang="zh-TW" altLang="en-US" sz="2000" dirty="0">
                <a:solidFill>
                  <a:schemeClr val="tx1"/>
                </a:solidFill>
                <a:latin typeface="標楷體" pitchFamily="65" charset="-120"/>
                <a:ea typeface="標楷體" pitchFamily="65" charset="-120"/>
              </a:rPr>
              <a:t>年外銷量躍上「世界第一」，然而，其後隨著匯率變動、臺灣工資上漲、國際市</a:t>
            </a:r>
          </a:p>
          <a:p>
            <a:r>
              <a:rPr kumimoji="1" lang="zh-TW" altLang="en-US" sz="2000" dirty="0">
                <a:solidFill>
                  <a:schemeClr val="tx1"/>
                </a:solidFill>
                <a:latin typeface="標楷體" pitchFamily="65" charset="-120"/>
                <a:ea typeface="標楷體" pitchFamily="65" charset="-120"/>
              </a:rPr>
              <a:t>場競爭等因素，迫使螺絲產業必須升級以因應挑戰。一個產業的開業工廠家數多寡，通常反映出市場的需求及產業的發展，市場有所需求或者產業核心技術已普及，都會使得工廠家數如雨後春筍般成立。請問：</a:t>
            </a:r>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6.</a:t>
            </a:r>
            <a:r>
              <a:rPr kumimoji="1" lang="zh-TW" altLang="en-US" sz="2000" dirty="0">
                <a:solidFill>
                  <a:schemeClr val="tx1"/>
                </a:solidFill>
                <a:latin typeface="標楷體" pitchFamily="65" charset="-120"/>
                <a:ea typeface="標楷體" pitchFamily="65" charset="-120"/>
              </a:rPr>
              <a:t>承上題，從成本分析角度判斷，該政策最主要有助於螺絲產業降低哪一項成本？（請勾選）</a:t>
            </a:r>
          </a:p>
          <a:p>
            <a:r>
              <a:rPr kumimoji="1" lang="zh-TW" altLang="en-US" sz="2000" dirty="0">
                <a:solidFill>
                  <a:schemeClr val="tx1"/>
                </a:solidFill>
                <a:latin typeface="標楷體" pitchFamily="65" charset="-120"/>
                <a:ea typeface="標楷體" pitchFamily="65" charset="-120"/>
              </a:rPr>
              <a:t>□集貨成本　□分配成本　□加工製造成本。</a:t>
            </a: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0648"/>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8"/>
          <p:cNvSpPr>
            <a:spLocks noChangeArrowheads="1"/>
          </p:cNvSpPr>
          <p:nvPr/>
        </p:nvSpPr>
        <p:spPr bwMode="auto">
          <a:xfrm>
            <a:off x="395536" y="4725144"/>
            <a:ext cx="3600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rgbClr val="FF0000"/>
                </a:solidFill>
                <a:latin typeface="Arial" charset="0"/>
                <a:ea typeface="標楷體" pitchFamily="65" charset="-120"/>
                <a:cs typeface="+mn-cs"/>
              </a:rPr>
              <a:t>√</a:t>
            </a:r>
          </a:p>
        </p:txBody>
      </p:sp>
      <p:sp>
        <p:nvSpPr>
          <p:cNvPr id="9" name="Rectangle 8"/>
          <p:cNvSpPr>
            <a:spLocks noChangeArrowheads="1"/>
          </p:cNvSpPr>
          <p:nvPr/>
        </p:nvSpPr>
        <p:spPr bwMode="auto">
          <a:xfrm>
            <a:off x="1030355" y="5301208"/>
            <a:ext cx="613393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dirty="0">
                <a:solidFill>
                  <a:srgbClr val="FF0000"/>
                </a:solidFill>
                <a:latin typeface="標楷體" pitchFamily="65" charset="-120"/>
                <a:ea typeface="標楷體" pitchFamily="65" charset="-120"/>
              </a:rPr>
              <a:t>中鋼所生產之相關鋼鐵產品滿足了螺絲產業生產之原物料需求，有助於將低原料從日本進口的集貨成本。</a:t>
            </a:r>
            <a:endParaRPr kumimoji="1" lang="zh-TW" altLang="en-US" sz="2000" kern="1200" dirty="0">
              <a:solidFill>
                <a:srgbClr val="FF0000"/>
              </a:solidFill>
              <a:latin typeface="Arial" charset="0"/>
              <a:ea typeface="標楷體" pitchFamily="65" charset="-120"/>
              <a:cs typeface="+mn-cs"/>
            </a:endParaRPr>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70</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30954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2000" dirty="0">
                <a:solidFill>
                  <a:schemeClr val="tx1"/>
                </a:solidFill>
                <a:latin typeface="標楷體" pitchFamily="65" charset="-120"/>
                <a:ea typeface="標楷體" pitchFamily="65" charset="-120"/>
              </a:rPr>
              <a:t>一、螺絲產業在臺灣的發展歷程</a:t>
            </a:r>
          </a:p>
          <a:p>
            <a:r>
              <a:rPr kumimoji="1" lang="en-US" altLang="zh-TW" sz="2000" dirty="0">
                <a:solidFill>
                  <a:schemeClr val="tx1"/>
                </a:solidFill>
                <a:latin typeface="標楷體" pitchFamily="65" charset="-120"/>
                <a:ea typeface="標楷體" pitchFamily="65" charset="-120"/>
              </a:rPr>
              <a:t>7.</a:t>
            </a:r>
            <a:r>
              <a:rPr kumimoji="1" lang="zh-TW" altLang="en-US" sz="2000" dirty="0">
                <a:solidFill>
                  <a:schemeClr val="tx1"/>
                </a:solidFill>
                <a:latin typeface="標楷體" pitchFamily="65" charset="-120"/>
                <a:ea typeface="標楷體" pitchFamily="65" charset="-120"/>
              </a:rPr>
              <a:t>依據下圖的統計資料，民國 </a:t>
            </a:r>
            <a:r>
              <a:rPr kumimoji="1" lang="en-US" altLang="zh-TW" sz="2000" dirty="0">
                <a:solidFill>
                  <a:schemeClr val="tx1"/>
                </a:solidFill>
                <a:latin typeface="標楷體" pitchFamily="65" charset="-120"/>
                <a:ea typeface="標楷體" pitchFamily="65" charset="-120"/>
              </a:rPr>
              <a:t>80 </a:t>
            </a:r>
            <a:r>
              <a:rPr kumimoji="1" lang="zh-TW" altLang="en-US" sz="2000" dirty="0">
                <a:solidFill>
                  <a:schemeClr val="tx1"/>
                </a:solidFill>
                <a:latin typeface="標楷體" pitchFamily="65" charset="-120"/>
                <a:ea typeface="標楷體" pitchFamily="65" charset="-120"/>
              </a:rPr>
              <a:t>年後，螺絲、螺帽工廠家數明顯銳減，請問是因臺灣傳統產業面臨了何種問題？（請勾選）</a:t>
            </a:r>
            <a:r>
              <a:rPr kumimoji="1" lang="en-US" altLang="zh-TW" sz="2000" dirty="0">
                <a:solidFill>
                  <a:schemeClr val="tx1"/>
                </a:solidFill>
                <a:latin typeface="標楷體" pitchFamily="65" charset="-120"/>
                <a:ea typeface="標楷體" pitchFamily="65" charset="-120"/>
              </a:rPr>
              <a:t>(</a:t>
            </a:r>
            <a:r>
              <a:rPr kumimoji="1" lang="zh-TW" altLang="en-US" sz="2000" dirty="0">
                <a:solidFill>
                  <a:schemeClr val="tx1"/>
                </a:solidFill>
                <a:latin typeface="標楷體" pitchFamily="65" charset="-120"/>
                <a:ea typeface="標楷體" pitchFamily="65" charset="-120"/>
              </a:rPr>
              <a:t>多選題</a:t>
            </a:r>
            <a:r>
              <a:rPr kumimoji="1" lang="en-US" altLang="zh-TW" sz="2000" dirty="0">
                <a:solidFill>
                  <a:schemeClr val="tx1"/>
                </a:solidFill>
                <a:latin typeface="標楷體" pitchFamily="65" charset="-120"/>
                <a:ea typeface="標楷體" pitchFamily="65" charset="-120"/>
              </a:rPr>
              <a:t>)</a:t>
            </a:r>
          </a:p>
          <a:p>
            <a:endParaRPr kumimoji="1" lang="en-US" altLang="zh-TW" sz="2000" dirty="0">
              <a:solidFill>
                <a:schemeClr val="tx1"/>
              </a:solidFill>
              <a:latin typeface="標楷體" pitchFamily="65" charset="-120"/>
              <a:ea typeface="標楷體" pitchFamily="65" charset="-120"/>
            </a:endParaRPr>
          </a:p>
          <a:p>
            <a:endParaRPr kumimoji="1" lang="en-US" altLang="zh-TW" sz="2000" dirty="0">
              <a:solidFill>
                <a:schemeClr val="tx1"/>
              </a:solidFill>
              <a:latin typeface="標楷體" pitchFamily="65" charset="-120"/>
              <a:ea typeface="標楷體" pitchFamily="65" charset="-120"/>
            </a:endParaRPr>
          </a:p>
          <a:p>
            <a:endParaRPr kumimoji="1" lang="en-US" altLang="zh-TW" sz="2000" dirty="0">
              <a:solidFill>
                <a:schemeClr val="tx1"/>
              </a:solidFill>
              <a:latin typeface="標楷體" pitchFamily="65" charset="-120"/>
              <a:ea typeface="標楷體" pitchFamily="65" charset="-120"/>
            </a:endParaRPr>
          </a:p>
          <a:p>
            <a:endParaRPr kumimoji="1" lang="en-US" altLang="zh-TW" sz="2000" dirty="0">
              <a:solidFill>
                <a:schemeClr val="tx1"/>
              </a:solidFill>
              <a:latin typeface="標楷體" pitchFamily="65" charset="-120"/>
              <a:ea typeface="標楷體" pitchFamily="65" charset="-120"/>
            </a:endParaRPr>
          </a:p>
          <a:p>
            <a:endParaRPr kumimoji="1" lang="en-US" altLang="zh-TW" sz="2000" dirty="0">
              <a:solidFill>
                <a:schemeClr val="tx1"/>
              </a:solidFill>
              <a:latin typeface="標楷體" pitchFamily="65" charset="-120"/>
              <a:ea typeface="標楷體" pitchFamily="65" charset="-120"/>
            </a:endParaRPr>
          </a:p>
          <a:p>
            <a:endParaRPr kumimoji="1" lang="en-US" altLang="zh-TW" sz="2000" dirty="0">
              <a:solidFill>
                <a:schemeClr val="tx1"/>
              </a:solidFill>
              <a:latin typeface="標楷體" pitchFamily="65" charset="-120"/>
              <a:ea typeface="標楷體" pitchFamily="65" charset="-120"/>
            </a:endParaRPr>
          </a:p>
          <a:p>
            <a:endParaRPr kumimoji="1" lang="en-US" altLang="zh-TW" sz="2000" dirty="0">
              <a:solidFill>
                <a:schemeClr val="tx1"/>
              </a:solidFill>
              <a:latin typeface="標楷體" pitchFamily="65" charset="-120"/>
              <a:ea typeface="標楷體" pitchFamily="65" charset="-120"/>
            </a:endParaRPr>
          </a:p>
          <a:p>
            <a:endParaRPr kumimoji="1" lang="en-US" altLang="zh-TW" sz="2000" dirty="0">
              <a:solidFill>
                <a:schemeClr val="tx1"/>
              </a:solidFill>
              <a:latin typeface="標楷體" pitchFamily="65" charset="-120"/>
              <a:ea typeface="標楷體" pitchFamily="65" charset="-120"/>
            </a:endParaRPr>
          </a:p>
          <a:p>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□工資不斷上漲　□民眾環保意識提高　□工業用地取得不易　</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□亞洲金融風暴  □新臺幣升值</a:t>
            </a:r>
            <a:endParaRPr kumimoji="1" lang="en-US" altLang="zh-TW" sz="2000" dirty="0">
              <a:solidFill>
                <a:schemeClr val="tx1"/>
              </a:solidFill>
              <a:latin typeface="標楷體" pitchFamily="65" charset="-120"/>
              <a:ea typeface="標楷體" pitchFamily="65" charset="-120"/>
            </a:endParaRPr>
          </a:p>
          <a:p>
            <a:endParaRPr kumimoji="1" lang="zh-TW" altLang="en-US" sz="2000" dirty="0">
              <a:solidFill>
                <a:schemeClr val="tx1"/>
              </a:solidFill>
              <a:latin typeface="標楷體" pitchFamily="65" charset="-120"/>
              <a:ea typeface="標楷體" pitchFamily="65" charset="-120"/>
            </a:endParaRP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8850" y="218713"/>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8"/>
          <p:cNvSpPr>
            <a:spLocks noChangeArrowheads="1"/>
          </p:cNvSpPr>
          <p:nvPr/>
        </p:nvSpPr>
        <p:spPr bwMode="auto">
          <a:xfrm>
            <a:off x="364597" y="4774944"/>
            <a:ext cx="3600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rgbClr val="FF0000"/>
                </a:solidFill>
                <a:latin typeface="Arial" charset="0"/>
                <a:ea typeface="標楷體" pitchFamily="65" charset="-120"/>
                <a:cs typeface="+mn-cs"/>
              </a:rPr>
              <a:t>√</a:t>
            </a:r>
          </a:p>
        </p:txBody>
      </p:sp>
      <p:sp>
        <p:nvSpPr>
          <p:cNvPr id="9" name="Rectangle 8"/>
          <p:cNvSpPr>
            <a:spLocks noChangeArrowheads="1"/>
          </p:cNvSpPr>
          <p:nvPr/>
        </p:nvSpPr>
        <p:spPr bwMode="auto">
          <a:xfrm>
            <a:off x="1030355" y="5413286"/>
            <a:ext cx="6782005"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dirty="0">
                <a:solidFill>
                  <a:srgbClr val="FF0000"/>
                </a:solidFill>
                <a:latin typeface="標楷體" pitchFamily="65" charset="-120"/>
                <a:ea typeface="標楷體" pitchFamily="65" charset="-120"/>
              </a:rPr>
              <a:t>受 </a:t>
            </a:r>
            <a:r>
              <a:rPr kumimoji="1" lang="en-US" altLang="zh-TW" sz="2000" dirty="0">
                <a:solidFill>
                  <a:srgbClr val="FF0000"/>
                </a:solidFill>
                <a:latin typeface="標楷體" pitchFamily="65" charset="-120"/>
                <a:ea typeface="標楷體" pitchFamily="65" charset="-120"/>
              </a:rPr>
              <a:t>1980 </a:t>
            </a:r>
            <a:r>
              <a:rPr kumimoji="1" lang="zh-TW" altLang="en-US" sz="2000" dirty="0">
                <a:solidFill>
                  <a:srgbClr val="FF0000"/>
                </a:solidFill>
                <a:latin typeface="標楷體" pitchFamily="65" charset="-120"/>
                <a:ea typeface="標楷體" pitchFamily="65" charset="-120"/>
              </a:rPr>
              <a:t>年代新臺幣大幅升值的影響，對製造業的生產以及出口於 </a:t>
            </a:r>
            <a:r>
              <a:rPr kumimoji="1" lang="en-US" altLang="zh-TW" sz="2000" dirty="0">
                <a:solidFill>
                  <a:srgbClr val="FF0000"/>
                </a:solidFill>
                <a:latin typeface="標楷體" pitchFamily="65" charset="-120"/>
                <a:ea typeface="標楷體" pitchFamily="65" charset="-120"/>
              </a:rPr>
              <a:t>1990 </a:t>
            </a:r>
            <a:r>
              <a:rPr kumimoji="1" lang="zh-TW" altLang="en-US" sz="2000" dirty="0">
                <a:solidFill>
                  <a:srgbClr val="FF0000"/>
                </a:solidFill>
                <a:latin typeface="標楷體" pitchFamily="65" charset="-120"/>
                <a:ea typeface="標楷體" pitchFamily="65" charset="-120"/>
              </a:rPr>
              <a:t>年後漸漸發酵，加上面臨國內的工資上漲及環保成本提高，導致國內的傳統產業外移到中國與東南亞，藉以降低生產與經營成本，且語言及文化相近。</a:t>
            </a:r>
            <a:endParaRPr kumimoji="1" lang="zh-TW" altLang="en-US" sz="2000" kern="1200" dirty="0">
              <a:solidFill>
                <a:srgbClr val="FF0000"/>
              </a:solidFill>
              <a:latin typeface="Arial" charset="0"/>
              <a:ea typeface="標楷體" pitchFamily="65" charset="-120"/>
              <a:cs typeface="+mn-cs"/>
            </a:endParaRPr>
          </a:p>
        </p:txBody>
      </p:sp>
      <p:sp>
        <p:nvSpPr>
          <p:cNvPr id="11" name="Rectangle 8"/>
          <p:cNvSpPr>
            <a:spLocks noChangeArrowheads="1"/>
          </p:cNvSpPr>
          <p:nvPr/>
        </p:nvSpPr>
        <p:spPr bwMode="auto">
          <a:xfrm>
            <a:off x="2411760" y="4772752"/>
            <a:ext cx="3600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rgbClr val="FF0000"/>
                </a:solidFill>
                <a:latin typeface="Arial" charset="0"/>
                <a:ea typeface="標楷體" pitchFamily="65" charset="-120"/>
                <a:cs typeface="+mn-cs"/>
              </a:rPr>
              <a:t>√</a:t>
            </a:r>
          </a:p>
        </p:txBody>
      </p:sp>
      <p:sp>
        <p:nvSpPr>
          <p:cNvPr id="12" name="Rectangle 8"/>
          <p:cNvSpPr>
            <a:spLocks noChangeArrowheads="1"/>
          </p:cNvSpPr>
          <p:nvPr/>
        </p:nvSpPr>
        <p:spPr bwMode="auto">
          <a:xfrm>
            <a:off x="4932040" y="4742514"/>
            <a:ext cx="3600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rgbClr val="FF0000"/>
                </a:solidFill>
                <a:latin typeface="Arial" charset="0"/>
                <a:ea typeface="標楷體" pitchFamily="65" charset="-120"/>
                <a:cs typeface="+mn-cs"/>
              </a:rPr>
              <a:t>√</a:t>
            </a:r>
          </a:p>
        </p:txBody>
      </p:sp>
      <p:sp>
        <p:nvSpPr>
          <p:cNvPr id="13" name="Rectangle 8"/>
          <p:cNvSpPr>
            <a:spLocks noChangeArrowheads="1"/>
          </p:cNvSpPr>
          <p:nvPr/>
        </p:nvSpPr>
        <p:spPr bwMode="auto">
          <a:xfrm>
            <a:off x="395536" y="5045114"/>
            <a:ext cx="3600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rgbClr val="FF0000"/>
                </a:solidFill>
                <a:latin typeface="Arial" charset="0"/>
                <a:ea typeface="標楷體" pitchFamily="65" charset="-120"/>
                <a:cs typeface="+mn-cs"/>
              </a:rPr>
              <a:t>√</a:t>
            </a:r>
          </a:p>
        </p:txBody>
      </p:sp>
      <p:sp>
        <p:nvSpPr>
          <p:cNvPr id="14" name="Rectangle 8"/>
          <p:cNvSpPr>
            <a:spLocks noChangeArrowheads="1"/>
          </p:cNvSpPr>
          <p:nvPr/>
        </p:nvSpPr>
        <p:spPr bwMode="auto">
          <a:xfrm>
            <a:off x="2429178" y="5045114"/>
            <a:ext cx="3600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2000" kern="1200" dirty="0">
                <a:solidFill>
                  <a:srgbClr val="FF0000"/>
                </a:solidFill>
                <a:latin typeface="Arial" charset="0"/>
                <a:ea typeface="標楷體" pitchFamily="65" charset="-120"/>
                <a:cs typeface="+mn-cs"/>
              </a:rPr>
              <a:t>√</a:t>
            </a:r>
          </a:p>
        </p:txBody>
      </p:sp>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2197" y="2204864"/>
            <a:ext cx="5622992" cy="23099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矩形 14"/>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err="1">
                <a:solidFill>
                  <a:srgbClr val="FF0000"/>
                </a:solidFill>
              </a:rPr>
              <a:t>p.177</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71</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79497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linds(horizontal)">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P spid="13" grpId="0"/>
      <p:bldP spid="1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1800" dirty="0">
                <a:solidFill>
                  <a:schemeClr val="tx1"/>
                </a:solidFill>
                <a:latin typeface="標楷體" pitchFamily="65" charset="-120"/>
                <a:ea typeface="標楷體" pitchFamily="65" charset="-120"/>
              </a:rPr>
              <a:t>二、螺絲產業迎向世界的利基</a:t>
            </a:r>
          </a:p>
          <a:p>
            <a:r>
              <a:rPr kumimoji="1" lang="zh-TW" altLang="en-US" sz="1800" dirty="0">
                <a:solidFill>
                  <a:schemeClr val="tx1"/>
                </a:solidFill>
                <a:latin typeface="標楷體" pitchFamily="65" charset="-120"/>
                <a:ea typeface="標楷體" pitchFamily="65" charset="-120"/>
              </a:rPr>
              <a:t>    臺灣以中小企業為主，在大廠規模經濟下，處境較為不利，但因臺灣地理空間狹小，特定產業的區位分布呈現高度聚集，形成技術擴散及上下游產業的連鎖，創造出能因應客戶需求即時生產，具高彈性競爭優勢。參考下列資料，請問：</a:t>
            </a: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r>
              <a:rPr kumimoji="1" lang="en-US" altLang="zh-TW" sz="1800" dirty="0">
                <a:solidFill>
                  <a:schemeClr val="tx1"/>
                </a:solidFill>
                <a:latin typeface="標楷體" pitchFamily="65" charset="-120"/>
                <a:ea typeface="標楷體" pitchFamily="65" charset="-120"/>
              </a:rPr>
              <a:t>8.</a:t>
            </a:r>
            <a:r>
              <a:rPr kumimoji="1" lang="zh-TW" altLang="en-US" sz="1800" dirty="0">
                <a:solidFill>
                  <a:schemeClr val="tx1"/>
                </a:solidFill>
                <a:latin typeface="標楷體" pitchFamily="65" charset="-120"/>
                <a:ea typeface="標楷體" pitchFamily="65" charset="-120"/>
              </a:rPr>
              <a:t>資料二中，</a:t>
            </a:r>
            <a:r>
              <a:rPr kumimoji="1" lang="en-US" altLang="zh-TW" sz="1800" dirty="0">
                <a:solidFill>
                  <a:schemeClr val="tx1"/>
                </a:solidFill>
                <a:latin typeface="標楷體" pitchFamily="65" charset="-120"/>
                <a:ea typeface="標楷體" pitchFamily="65" charset="-120"/>
              </a:rPr>
              <a:t>B</a:t>
            </a:r>
            <a:r>
              <a:rPr kumimoji="1" lang="zh-TW" altLang="en-US" sz="1800" dirty="0">
                <a:solidFill>
                  <a:schemeClr val="tx1"/>
                </a:solidFill>
                <a:latin typeface="標楷體" pitchFamily="65" charset="-120"/>
                <a:ea typeface="標楷體" pitchFamily="65" charset="-120"/>
              </a:rPr>
              <a:t>中所言的外包生產，指的是某工廠接獲訂單後，透過其他協力工廠轉發訂單來進行專業分工。該外包制度和一貫化生產的大企業相比，有何優點？</a:t>
            </a:r>
            <a:endParaRPr kumimoji="1" lang="en-US" altLang="zh-TW" sz="1800" dirty="0">
              <a:solidFill>
                <a:schemeClr val="tx1"/>
              </a:solidFill>
              <a:latin typeface="標楷體" pitchFamily="65" charset="-120"/>
              <a:ea typeface="標楷體" pitchFamily="65" charset="-120"/>
            </a:endParaRPr>
          </a:p>
          <a:p>
            <a:r>
              <a:rPr kumimoji="1" lang="zh-TW" altLang="en-US" sz="1800" dirty="0">
                <a:solidFill>
                  <a:schemeClr val="tx1"/>
                </a:solidFill>
                <a:latin typeface="標楷體" pitchFamily="65" charset="-120"/>
                <a:ea typeface="標楷體" pitchFamily="65" charset="-120"/>
              </a:rPr>
              <a:t>答：</a:t>
            </a: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0648"/>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Rectangle 8"/>
          <p:cNvSpPr>
            <a:spLocks noChangeArrowheads="1"/>
          </p:cNvSpPr>
          <p:nvPr/>
        </p:nvSpPr>
        <p:spPr bwMode="auto">
          <a:xfrm>
            <a:off x="899592" y="5457998"/>
            <a:ext cx="698477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1800" dirty="0">
                <a:solidFill>
                  <a:srgbClr val="FF0000"/>
                </a:solidFill>
                <a:latin typeface="標楷體" pitchFamily="65" charset="-120"/>
                <a:ea typeface="標楷體" pitchFamily="65" charset="-120"/>
              </a:rPr>
              <a:t>外包制度的專業分工能減少生產設備的投入，降低成本，且因企業規模不大，加上長期合作的信任與親友關係，較能快速調整生產形式，創造出能因應客戶需求的即時生產，維持高彈性競爭優勢。</a:t>
            </a:r>
            <a:endParaRPr kumimoji="1" lang="zh-TW" altLang="en-US" sz="1800" kern="1200" dirty="0">
              <a:solidFill>
                <a:srgbClr val="FF0000"/>
              </a:solidFill>
              <a:latin typeface="Arial" charset="0"/>
              <a:ea typeface="標楷體" pitchFamily="65" charset="-120"/>
              <a:cs typeface="+mn-cs"/>
            </a:endParaRPr>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2238253"/>
            <a:ext cx="4968552" cy="27528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72</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744965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1800" dirty="0">
                <a:solidFill>
                  <a:schemeClr val="tx1"/>
                </a:solidFill>
                <a:latin typeface="標楷體" pitchFamily="65" charset="-120"/>
                <a:ea typeface="標楷體" pitchFamily="65" charset="-120"/>
              </a:rPr>
              <a:t>二、螺絲產業迎向世界的利基</a:t>
            </a:r>
          </a:p>
          <a:p>
            <a:r>
              <a:rPr kumimoji="1" lang="zh-TW" altLang="en-US" sz="1800" dirty="0">
                <a:solidFill>
                  <a:schemeClr val="tx1"/>
                </a:solidFill>
                <a:latin typeface="標楷體" pitchFamily="65" charset="-120"/>
                <a:ea typeface="標楷體" pitchFamily="65" charset="-120"/>
              </a:rPr>
              <a:t>    臺灣以中小企業為主，在大廠規模經濟下，處境較為不利，但因臺灣地理空間狹小，特定產業的區位分布呈現高度聚集，形成技術擴散及上下游產業的連鎖，創造出能因應客戶需求即時生產，具高彈性競爭優勢。參考下列資料，請問：</a:t>
            </a: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endParaRPr kumimoji="1" lang="en-US" altLang="zh-TW" sz="1800" dirty="0">
              <a:solidFill>
                <a:schemeClr val="tx1"/>
              </a:solidFill>
              <a:latin typeface="標楷體" pitchFamily="65" charset="-120"/>
              <a:ea typeface="標楷體" pitchFamily="65" charset="-120"/>
            </a:endParaRPr>
          </a:p>
          <a:p>
            <a:r>
              <a:rPr kumimoji="1" lang="en-US" altLang="zh-TW" sz="1800" dirty="0">
                <a:solidFill>
                  <a:schemeClr val="tx1"/>
                </a:solidFill>
                <a:latin typeface="標楷體" pitchFamily="65" charset="-120"/>
                <a:ea typeface="標楷體" pitchFamily="65" charset="-120"/>
              </a:rPr>
              <a:t>9.</a:t>
            </a:r>
            <a:r>
              <a:rPr kumimoji="1" lang="zh-TW" altLang="en-US" sz="1800" dirty="0">
                <a:solidFill>
                  <a:schemeClr val="tx1"/>
                </a:solidFill>
                <a:latin typeface="標楷體" pitchFamily="65" charset="-120"/>
                <a:ea typeface="標楷體" pitchFamily="65" charset="-120"/>
              </a:rPr>
              <a:t>根據題幹以及資料二中</a:t>
            </a:r>
            <a:r>
              <a:rPr kumimoji="1" lang="en-US" altLang="zh-TW" sz="1800" dirty="0">
                <a:solidFill>
                  <a:schemeClr val="tx1"/>
                </a:solidFill>
                <a:latin typeface="標楷體" pitchFamily="65" charset="-120"/>
                <a:ea typeface="標楷體" pitchFamily="65" charset="-120"/>
              </a:rPr>
              <a:t>C</a:t>
            </a:r>
            <a:r>
              <a:rPr kumimoji="1" lang="zh-TW" altLang="en-US" sz="1800" dirty="0">
                <a:solidFill>
                  <a:schemeClr val="tx1"/>
                </a:solidFill>
                <a:latin typeface="標楷體" pitchFamily="65" charset="-120"/>
                <a:ea typeface="標楷體" pitchFamily="65" charset="-120"/>
              </a:rPr>
              <a:t>、</a:t>
            </a:r>
            <a:r>
              <a:rPr kumimoji="1" lang="en-US" altLang="zh-TW" sz="1800" dirty="0">
                <a:solidFill>
                  <a:schemeClr val="tx1"/>
                </a:solidFill>
                <a:latin typeface="標楷體" pitchFamily="65" charset="-120"/>
                <a:ea typeface="標楷體" pitchFamily="65" charset="-120"/>
              </a:rPr>
              <a:t>D</a:t>
            </a:r>
            <a:r>
              <a:rPr kumimoji="1" lang="zh-TW" altLang="en-US" sz="1800" dirty="0">
                <a:solidFill>
                  <a:schemeClr val="tx1"/>
                </a:solidFill>
                <a:latin typeface="標楷體" pitchFamily="65" charset="-120"/>
                <a:ea typeface="標楷體" pitchFamily="65" charset="-120"/>
              </a:rPr>
              <a:t>所言，螺絲產業群聚效應，除了有助於產業分工生</a:t>
            </a:r>
          </a:p>
          <a:p>
            <a:r>
              <a:rPr kumimoji="1" lang="zh-TW" altLang="en-US" sz="1800" dirty="0">
                <a:solidFill>
                  <a:schemeClr val="tx1"/>
                </a:solidFill>
                <a:latin typeface="標楷體" pitchFamily="65" charset="-120"/>
                <a:ea typeface="標楷體" pitchFamily="65" charset="-120"/>
              </a:rPr>
              <a:t>產外，其生產流程所需的層層外包，主要透過</a:t>
            </a:r>
            <a:r>
              <a:rPr kumimoji="1" lang="zh-TW" altLang="en-US" sz="1800" u="sng" dirty="0">
                <a:solidFill>
                  <a:srgbClr val="FF0000"/>
                </a:solidFill>
                <a:latin typeface="標楷體" pitchFamily="65" charset="-120"/>
                <a:ea typeface="標楷體" pitchFamily="65" charset="-120"/>
              </a:rPr>
              <a:t>                </a:t>
            </a:r>
            <a:r>
              <a:rPr kumimoji="1" lang="zh-TW" altLang="en-US" sz="1800" dirty="0">
                <a:solidFill>
                  <a:schemeClr val="tx1"/>
                </a:solidFill>
                <a:latin typeface="標楷體" pitchFamily="65" charset="-120"/>
                <a:ea typeface="標楷體" pitchFamily="65" charset="-120"/>
              </a:rPr>
              <a:t>（社會互動關係╱</a:t>
            </a:r>
          </a:p>
          <a:p>
            <a:r>
              <a:rPr kumimoji="1" lang="zh-TW" altLang="en-US" sz="1800" dirty="0">
                <a:solidFill>
                  <a:schemeClr val="tx1"/>
                </a:solidFill>
                <a:latin typeface="標楷體" pitchFamily="65" charset="-120"/>
                <a:ea typeface="標楷體" pitchFamily="65" charset="-120"/>
              </a:rPr>
              <a:t>契約關係）如網絡狀的方式展開。</a:t>
            </a: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0648"/>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矩形 10"/>
          <p:cNvSpPr>
            <a:spLocks noChangeArrowheads="1"/>
          </p:cNvSpPr>
          <p:nvPr/>
        </p:nvSpPr>
        <p:spPr bwMode="auto">
          <a:xfrm>
            <a:off x="5148064" y="5167618"/>
            <a:ext cx="15841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社會互動關係</a:t>
            </a:r>
          </a:p>
        </p:txBody>
      </p:sp>
      <p:sp>
        <p:nvSpPr>
          <p:cNvPr id="12" name="Rectangle 8"/>
          <p:cNvSpPr>
            <a:spLocks noChangeArrowheads="1"/>
          </p:cNvSpPr>
          <p:nvPr/>
        </p:nvSpPr>
        <p:spPr bwMode="auto">
          <a:xfrm>
            <a:off x="611560" y="5805264"/>
            <a:ext cx="71287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zh-TW" altLang="en-US" sz="1800" dirty="0">
                <a:solidFill>
                  <a:srgbClr val="FF0000"/>
                </a:solidFill>
                <a:latin typeface="標楷體" pitchFamily="65" charset="-120"/>
                <a:ea typeface="標楷體" pitchFamily="65" charset="-120"/>
              </a:rPr>
              <a:t>從</a:t>
            </a:r>
            <a:r>
              <a:rPr kumimoji="1" lang="en-US" altLang="zh-TW" sz="1800" dirty="0">
                <a:solidFill>
                  <a:srgbClr val="FF0000"/>
                </a:solidFill>
                <a:latin typeface="標楷體" pitchFamily="65" charset="-120"/>
                <a:ea typeface="標楷體" pitchFamily="65" charset="-120"/>
              </a:rPr>
              <a:t>C</a:t>
            </a:r>
            <a:r>
              <a:rPr kumimoji="1" lang="zh-TW" altLang="en-US" sz="1800" dirty="0">
                <a:solidFill>
                  <a:srgbClr val="FF0000"/>
                </a:solidFill>
                <a:latin typeface="標楷體" pitchFamily="65" charset="-120"/>
                <a:ea typeface="標楷體" pitchFamily="65" charset="-120"/>
              </a:rPr>
              <a:t>中可得知，臺灣螺絲產業的核心廠商為「春雨」，藉由產業分工外包給與其有密切互動與彼此信任的廠商；或是</a:t>
            </a:r>
            <a:r>
              <a:rPr kumimoji="1" lang="en-US" altLang="zh-TW" sz="1800" dirty="0">
                <a:solidFill>
                  <a:srgbClr val="FF0000"/>
                </a:solidFill>
                <a:latin typeface="標楷體" pitchFamily="65" charset="-120"/>
                <a:ea typeface="標楷體" pitchFamily="65" charset="-120"/>
              </a:rPr>
              <a:t>D</a:t>
            </a:r>
            <a:r>
              <a:rPr kumimoji="1" lang="zh-TW" altLang="en-US" sz="1800" dirty="0">
                <a:solidFill>
                  <a:srgbClr val="FF0000"/>
                </a:solidFill>
                <a:latin typeface="標楷體" pitchFamily="65" charset="-120"/>
                <a:ea typeface="標楷體" pitchFamily="65" charset="-120"/>
              </a:rPr>
              <a:t>中所言，從原有螺絲工廠習得技術後，再向外擴散，這些皆與一般的契約關係較為不同。</a:t>
            </a:r>
            <a:endParaRPr kumimoji="1" lang="zh-TW" altLang="en-US" sz="1800" kern="1200" dirty="0">
              <a:solidFill>
                <a:srgbClr val="FF0000"/>
              </a:solidFill>
              <a:latin typeface="Arial" charset="0"/>
              <a:ea typeface="標楷體" pitchFamily="65" charset="-120"/>
              <a:cs typeface="+mn-cs"/>
            </a:endParaRPr>
          </a:p>
        </p:txBody>
      </p:sp>
      <p:pic>
        <p:nvPicPr>
          <p:cNvPr id="1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2204864"/>
            <a:ext cx="4968552" cy="27528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73</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513310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384"/>
            <a:ext cx="9144000" cy="6858000"/>
          </a:xfrm>
          <a:prstGeom prst="rect">
            <a:avLst/>
          </a:prstGeom>
        </p:spPr>
      </p:pic>
      <p:sp>
        <p:nvSpPr>
          <p:cNvPr id="10" name="矩形 5"/>
          <p:cNvSpPr>
            <a:spLocks noChangeArrowheads="1"/>
          </p:cNvSpPr>
          <p:nvPr/>
        </p:nvSpPr>
        <p:spPr bwMode="auto">
          <a:xfrm>
            <a:off x="340519" y="1069705"/>
            <a:ext cx="846296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1800" dirty="0">
                <a:solidFill>
                  <a:schemeClr val="tx1"/>
                </a:solidFill>
                <a:latin typeface="標楷體" pitchFamily="65" charset="-120"/>
                <a:ea typeface="標楷體" pitchFamily="65" charset="-120"/>
              </a:rPr>
              <a:t>二、螺絲產業迎向世界的利基</a:t>
            </a:r>
          </a:p>
          <a:p>
            <a:r>
              <a:rPr kumimoji="1" lang="en-US" altLang="zh-TW" sz="1800" dirty="0">
                <a:solidFill>
                  <a:schemeClr val="tx1"/>
                </a:solidFill>
                <a:latin typeface="標楷體" pitchFamily="65" charset="-120"/>
                <a:ea typeface="標楷體" pitchFamily="65" charset="-120"/>
              </a:rPr>
              <a:t>10.</a:t>
            </a:r>
            <a:r>
              <a:rPr kumimoji="1" lang="zh-TW" altLang="en-US" sz="1800" dirty="0">
                <a:solidFill>
                  <a:schemeClr val="tx1"/>
                </a:solidFill>
                <a:latin typeface="標楷體" pitchFamily="65" charset="-120"/>
                <a:ea typeface="標楷體" pitchFamily="65" charset="-120"/>
              </a:rPr>
              <a:t>右下圖為岡山螺絲螺帽業在民國 </a:t>
            </a:r>
            <a:r>
              <a:rPr kumimoji="1" lang="en-US" altLang="zh-TW" sz="1800" dirty="0">
                <a:solidFill>
                  <a:schemeClr val="tx1"/>
                </a:solidFill>
                <a:latin typeface="標楷體" pitchFamily="65" charset="-120"/>
                <a:ea typeface="標楷體" pitchFamily="65" charset="-120"/>
              </a:rPr>
              <a:t>58</a:t>
            </a:r>
            <a:r>
              <a:rPr kumimoji="1" lang="zh-TW" altLang="en-US" sz="1800" dirty="0">
                <a:solidFill>
                  <a:schemeClr val="tx1"/>
                </a:solidFill>
                <a:latin typeface="標楷體" pitchFamily="65" charset="-120"/>
                <a:ea typeface="標楷體" pitchFamily="65" charset="-120"/>
              </a:rPr>
              <a:t>、</a:t>
            </a:r>
            <a:r>
              <a:rPr kumimoji="1" lang="en-US" altLang="zh-TW" sz="1800" dirty="0">
                <a:solidFill>
                  <a:schemeClr val="tx1"/>
                </a:solidFill>
                <a:latin typeface="標楷體" pitchFamily="65" charset="-120"/>
                <a:ea typeface="標楷體" pitchFamily="65" charset="-120"/>
              </a:rPr>
              <a:t>68</a:t>
            </a:r>
            <a:r>
              <a:rPr kumimoji="1" lang="zh-TW" altLang="en-US" sz="1800" dirty="0">
                <a:solidFill>
                  <a:schemeClr val="tx1"/>
                </a:solidFill>
                <a:latin typeface="標楷體" pitchFamily="65" charset="-120"/>
                <a:ea typeface="標楷體" pitchFamily="65" charset="-120"/>
              </a:rPr>
              <a:t>、</a:t>
            </a:r>
            <a:r>
              <a:rPr kumimoji="1" lang="en-US" altLang="zh-TW" sz="1800" dirty="0">
                <a:solidFill>
                  <a:schemeClr val="tx1"/>
                </a:solidFill>
                <a:latin typeface="標楷體" pitchFamily="65" charset="-120"/>
                <a:ea typeface="標楷體" pitchFamily="65" charset="-120"/>
              </a:rPr>
              <a:t>78</a:t>
            </a:r>
            <a:r>
              <a:rPr kumimoji="1" lang="zh-TW" altLang="en-US" sz="1800" dirty="0">
                <a:solidFill>
                  <a:schemeClr val="tx1"/>
                </a:solidFill>
                <a:latin typeface="標楷體" pitchFamily="65" charset="-120"/>
                <a:ea typeface="標楷體" pitchFamily="65" charset="-120"/>
              </a:rPr>
              <a:t>、</a:t>
            </a:r>
            <a:r>
              <a:rPr kumimoji="1" lang="en-US" altLang="zh-TW" sz="1800" dirty="0">
                <a:solidFill>
                  <a:schemeClr val="tx1"/>
                </a:solidFill>
                <a:latin typeface="標楷體" pitchFamily="65" charset="-120"/>
                <a:ea typeface="標楷體" pitchFamily="65" charset="-120"/>
              </a:rPr>
              <a:t>90 </a:t>
            </a:r>
            <a:r>
              <a:rPr kumimoji="1" lang="zh-TW" altLang="en-US" sz="1800" dirty="0">
                <a:solidFill>
                  <a:schemeClr val="tx1"/>
                </a:solidFill>
                <a:latin typeface="標楷體" pitchFamily="65" charset="-120"/>
                <a:ea typeface="標楷體" pitchFamily="65" charset="-120"/>
              </a:rPr>
              <a:t>年的工廠分布，請觀察工廠在空間上的發展，說明其分布特色。</a:t>
            </a:r>
            <a:endParaRPr kumimoji="1" lang="en-US" altLang="zh-TW" sz="1800" dirty="0">
              <a:solidFill>
                <a:schemeClr val="tx1"/>
              </a:solidFill>
              <a:latin typeface="標楷體" pitchFamily="65" charset="-120"/>
              <a:ea typeface="標楷體" pitchFamily="65" charset="-120"/>
            </a:endParaRPr>
          </a:p>
          <a:p>
            <a:r>
              <a:rPr kumimoji="1" lang="zh-TW" altLang="en-US" sz="1800" dirty="0">
                <a:solidFill>
                  <a:schemeClr val="tx1"/>
                </a:solidFill>
                <a:latin typeface="標楷體" pitchFamily="65" charset="-120"/>
                <a:ea typeface="標楷體" pitchFamily="65" charset="-120"/>
              </a:rPr>
              <a:t>答：</a:t>
            </a: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0648"/>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矩形 10"/>
          <p:cNvSpPr>
            <a:spLocks noChangeArrowheads="1"/>
          </p:cNvSpPr>
          <p:nvPr/>
        </p:nvSpPr>
        <p:spPr bwMode="auto">
          <a:xfrm>
            <a:off x="899592" y="1900702"/>
            <a:ext cx="309634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螺絲工廠在民國 </a:t>
            </a:r>
            <a:r>
              <a:rPr lang="en-US" altLang="zh-TW" sz="1800" kern="1200" dirty="0">
                <a:solidFill>
                  <a:srgbClr val="FF0000"/>
                </a:solidFill>
                <a:latin typeface="標楷體" pitchFamily="65" charset="-120"/>
                <a:ea typeface="標楷體" pitchFamily="65" charset="-120"/>
                <a:cs typeface="Times New Roman" pitchFamily="18" charset="0"/>
              </a:rPr>
              <a:t>58 </a:t>
            </a:r>
            <a:r>
              <a:rPr lang="zh-TW" altLang="en-US" sz="1800" kern="1200" dirty="0">
                <a:solidFill>
                  <a:srgbClr val="FF0000"/>
                </a:solidFill>
                <a:latin typeface="標楷體" pitchFamily="65" charset="-120"/>
                <a:ea typeface="標楷體" pitchFamily="65" charset="-120"/>
                <a:cs typeface="Times New Roman" pitchFamily="18" charset="0"/>
              </a:rPr>
              <a:t>年以後明顯增加，新工廠設立沿著鐵路及省道分布，並高度</a:t>
            </a:r>
          </a:p>
          <a:p>
            <a:r>
              <a:rPr lang="zh-TW" altLang="en-US" sz="1800" kern="1200" dirty="0">
                <a:solidFill>
                  <a:srgbClr val="FF0000"/>
                </a:solidFill>
                <a:latin typeface="標楷體" pitchFamily="65" charset="-120"/>
                <a:ea typeface="標楷體" pitchFamily="65" charset="-120"/>
                <a:cs typeface="Times New Roman" pitchFamily="18" charset="0"/>
              </a:rPr>
              <a:t>集中於岡山鎮，形成產業聚落，距離近，有利於產業連鎖。</a:t>
            </a:r>
          </a:p>
        </p:txBody>
      </p:sp>
      <p:pic>
        <p:nvPicPr>
          <p:cNvPr id="2560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936" y="1705003"/>
            <a:ext cx="4464496" cy="46439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74</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95068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i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2000" dirty="0">
                <a:solidFill>
                  <a:schemeClr val="tx1"/>
                </a:solidFill>
                <a:latin typeface="標楷體" pitchFamily="65" charset="-120"/>
                <a:ea typeface="標楷體" pitchFamily="65" charset="-120"/>
              </a:rPr>
              <a:t>二、螺絲產業迎向世界的利基</a:t>
            </a:r>
          </a:p>
          <a:p>
            <a:r>
              <a:rPr kumimoji="1" lang="en-US" altLang="zh-TW" sz="2000" dirty="0">
                <a:solidFill>
                  <a:schemeClr val="tx1"/>
                </a:solidFill>
                <a:latin typeface="標楷體" pitchFamily="65" charset="-120"/>
                <a:ea typeface="標楷體" pitchFamily="65" charset="-120"/>
              </a:rPr>
              <a:t>11.《</a:t>
            </a:r>
            <a:r>
              <a:rPr kumimoji="1" lang="zh-TW" altLang="en-US" sz="2000" dirty="0">
                <a:solidFill>
                  <a:schemeClr val="tx1"/>
                </a:solidFill>
                <a:latin typeface="標楷體" pitchFamily="65" charset="-120"/>
                <a:ea typeface="標楷體" pitchFamily="65" charset="-120"/>
              </a:rPr>
              <a:t>我們的島</a:t>
            </a:r>
            <a:r>
              <a:rPr kumimoji="1" lang="en-US" altLang="zh-TW" sz="2000" dirty="0">
                <a:solidFill>
                  <a:schemeClr val="tx1"/>
                </a:solidFill>
                <a:latin typeface="標楷體" pitchFamily="65" charset="-120"/>
                <a:ea typeface="標楷體" pitchFamily="65" charset="-120"/>
              </a:rPr>
              <a:t>》</a:t>
            </a:r>
            <a:r>
              <a:rPr kumimoji="1" lang="zh-TW" altLang="en-US" sz="2000" dirty="0">
                <a:solidFill>
                  <a:schemeClr val="tx1"/>
                </a:solidFill>
                <a:latin typeface="標楷體" pitchFamily="65" charset="-120"/>
                <a:ea typeface="標楷體" pitchFamily="65" charset="-120"/>
              </a:rPr>
              <a:t>曾經以</a:t>
            </a:r>
            <a:r>
              <a:rPr kumimoji="1" lang="en-US" altLang="zh-TW" sz="2000" dirty="0">
                <a:solidFill>
                  <a:schemeClr val="tx1"/>
                </a:solidFill>
                <a:latin typeface="標楷體" pitchFamily="65" charset="-120"/>
                <a:ea typeface="標楷體" pitchFamily="65" charset="-120"/>
              </a:rPr>
              <a:t>《</a:t>
            </a:r>
            <a:r>
              <a:rPr kumimoji="1" lang="zh-TW" altLang="en-US" sz="2000" dirty="0">
                <a:solidFill>
                  <a:schemeClr val="tx1"/>
                </a:solidFill>
                <a:latin typeface="標楷體" pitchFamily="65" charset="-120"/>
                <a:ea typeface="標楷體" pitchFamily="65" charset="-120"/>
              </a:rPr>
              <a:t>螺絲窟的代價</a:t>
            </a:r>
            <a:r>
              <a:rPr kumimoji="1" lang="en-US" altLang="zh-TW" sz="2000" dirty="0">
                <a:solidFill>
                  <a:schemeClr val="tx1"/>
                </a:solidFill>
                <a:latin typeface="標楷體" pitchFamily="65" charset="-120"/>
                <a:ea typeface="標楷體" pitchFamily="65" charset="-120"/>
              </a:rPr>
              <a:t>》</a:t>
            </a:r>
            <a:r>
              <a:rPr kumimoji="1" lang="zh-TW" altLang="en-US" sz="2000" dirty="0">
                <a:solidFill>
                  <a:schemeClr val="tx1"/>
                </a:solidFill>
                <a:latin typeface="標楷體" pitchFamily="65" charset="-120"/>
                <a:ea typeface="標楷體" pitchFamily="65" charset="-120"/>
              </a:rPr>
              <a:t>為專題探討周邊水源汙染議題，其中農地上出現違建工廠，占用農地與汙染周邊水源的報導最可能以下列哪條溪流為主要探討對象？</a:t>
            </a:r>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(A)</a:t>
            </a:r>
            <a:r>
              <a:rPr kumimoji="1" lang="zh-TW" altLang="en-US" sz="2000" dirty="0">
                <a:solidFill>
                  <a:schemeClr val="tx1"/>
                </a:solidFill>
                <a:latin typeface="標楷體" pitchFamily="65" charset="-120"/>
                <a:ea typeface="標楷體" pitchFamily="65" charset="-120"/>
              </a:rPr>
              <a:t>頭前溪   </a:t>
            </a:r>
            <a:endParaRPr kumimoji="1" lang="en-US" altLang="zh-TW" sz="2000" dirty="0">
              <a:solidFill>
                <a:schemeClr val="tx1"/>
              </a:solidFill>
              <a:latin typeface="標楷體" pitchFamily="65" charset="-120"/>
              <a:ea typeface="標楷體" pitchFamily="65" charset="-120"/>
            </a:endParaRPr>
          </a:p>
          <a:p>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(C)</a:t>
            </a:r>
            <a:r>
              <a:rPr kumimoji="1" lang="zh-TW" altLang="en-US" sz="2000" dirty="0">
                <a:solidFill>
                  <a:schemeClr val="tx1"/>
                </a:solidFill>
                <a:latin typeface="標楷體" pitchFamily="65" charset="-120"/>
                <a:ea typeface="標楷體" pitchFamily="65" charset="-120"/>
              </a:rPr>
              <a:t>和平溪         </a:t>
            </a:r>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(D)</a:t>
            </a:r>
            <a:r>
              <a:rPr kumimoji="1" lang="zh-TW" altLang="en-US" sz="2000" dirty="0">
                <a:solidFill>
                  <a:schemeClr val="tx1"/>
                </a:solidFill>
                <a:latin typeface="標楷體" pitchFamily="65" charset="-120"/>
                <a:ea typeface="標楷體" pitchFamily="65" charset="-120"/>
              </a:rPr>
              <a:t>大安溪</a:t>
            </a: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0648"/>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 Box 4"/>
          <p:cNvSpPr txBox="1">
            <a:spLocks noChangeArrowheads="1"/>
          </p:cNvSpPr>
          <p:nvPr/>
        </p:nvSpPr>
        <p:spPr bwMode="auto">
          <a:xfrm>
            <a:off x="342580" y="2596842"/>
            <a:ext cx="19626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Arial" charset="0"/>
                <a:ea typeface="標楷體" pitchFamily="65" charset="-120"/>
              </a:defRPr>
            </a:lvl1pPr>
            <a:lvl2pPr marL="742950" indent="-285750" eaLnBrk="0" hangingPunct="0">
              <a:defRPr kumimoji="1">
                <a:solidFill>
                  <a:schemeClr val="tx1"/>
                </a:solidFill>
                <a:latin typeface="Arial" charset="0"/>
                <a:ea typeface="標楷體" pitchFamily="65" charset="-120"/>
              </a:defRPr>
            </a:lvl2pPr>
            <a:lvl3pPr marL="1143000" indent="-228600" eaLnBrk="0" hangingPunct="0">
              <a:defRPr kumimoji="1">
                <a:solidFill>
                  <a:schemeClr val="tx1"/>
                </a:solidFill>
                <a:latin typeface="Arial" charset="0"/>
                <a:ea typeface="標楷體" pitchFamily="65" charset="-120"/>
              </a:defRPr>
            </a:lvl3pPr>
            <a:lvl4pPr marL="1600200" indent="-228600" eaLnBrk="0" hangingPunct="0">
              <a:defRPr kumimoji="1">
                <a:solidFill>
                  <a:schemeClr val="tx1"/>
                </a:solidFill>
                <a:latin typeface="Arial" charset="0"/>
                <a:ea typeface="標楷體" pitchFamily="65" charset="-120"/>
              </a:defRPr>
            </a:lvl4pPr>
            <a:lvl5pPr marL="2057400" indent="-228600" eaLnBrk="0" hangingPunct="0">
              <a:defRPr kumimoji="1">
                <a:solidFill>
                  <a:schemeClr val="tx1"/>
                </a:solidFill>
                <a:latin typeface="Arial" charset="0"/>
                <a:ea typeface="標楷體" pitchFamily="65" charset="-120"/>
              </a:defRPr>
            </a:lvl5pPr>
            <a:lvl6pPr marL="2514600" indent="-228600" eaLnBrk="0" fontAlgn="base" hangingPunct="0">
              <a:spcBef>
                <a:spcPct val="0"/>
              </a:spcBef>
              <a:spcAft>
                <a:spcPct val="0"/>
              </a:spcAft>
              <a:defRPr kumimoji="1">
                <a:solidFill>
                  <a:schemeClr val="tx1"/>
                </a:solidFill>
                <a:latin typeface="Arial" charset="0"/>
                <a:ea typeface="標楷體" pitchFamily="65" charset="-120"/>
              </a:defRPr>
            </a:lvl6pPr>
            <a:lvl7pPr marL="2971800" indent="-228600" eaLnBrk="0" fontAlgn="base" hangingPunct="0">
              <a:spcBef>
                <a:spcPct val="0"/>
              </a:spcBef>
              <a:spcAft>
                <a:spcPct val="0"/>
              </a:spcAft>
              <a:defRPr kumimoji="1">
                <a:solidFill>
                  <a:schemeClr val="tx1"/>
                </a:solidFill>
                <a:latin typeface="Arial" charset="0"/>
                <a:ea typeface="標楷體" pitchFamily="65" charset="-120"/>
              </a:defRPr>
            </a:lvl7pPr>
            <a:lvl8pPr marL="3429000" indent="-228600" eaLnBrk="0" fontAlgn="base" hangingPunct="0">
              <a:spcBef>
                <a:spcPct val="0"/>
              </a:spcBef>
              <a:spcAft>
                <a:spcPct val="0"/>
              </a:spcAft>
              <a:defRPr kumimoji="1">
                <a:solidFill>
                  <a:schemeClr val="tx1"/>
                </a:solidFill>
                <a:latin typeface="Arial" charset="0"/>
                <a:ea typeface="標楷體" pitchFamily="65" charset="-120"/>
              </a:defRPr>
            </a:lvl8pPr>
            <a:lvl9pPr marL="3886200" indent="-228600" eaLnBrk="0" fontAlgn="base" hangingPunct="0">
              <a:spcBef>
                <a:spcPct val="0"/>
              </a:spcBef>
              <a:spcAft>
                <a:spcPct val="0"/>
              </a:spcAft>
              <a:defRPr kumimoji="1">
                <a:solidFill>
                  <a:schemeClr val="tx1"/>
                </a:solidFill>
                <a:latin typeface="Arial" charset="0"/>
                <a:ea typeface="標楷體" pitchFamily="65" charset="-120"/>
              </a:defRPr>
            </a:lvl9pPr>
          </a:lstStyle>
          <a:p>
            <a:r>
              <a:rPr lang="en-US" altLang="zh-TW" sz="2000" dirty="0">
                <a:latin typeface="標楷體" pitchFamily="65" charset="-120"/>
              </a:rPr>
              <a:t>(B)</a:t>
            </a:r>
            <a:r>
              <a:rPr lang="zh-TW" altLang="en-US" sz="2000" dirty="0">
                <a:latin typeface="標楷體" pitchFamily="65" charset="-120"/>
              </a:rPr>
              <a:t>阿公店溪</a:t>
            </a:r>
          </a:p>
        </p:txBody>
      </p:sp>
      <p:sp>
        <p:nvSpPr>
          <p:cNvPr id="15" name="Rectangle 8"/>
          <p:cNvSpPr>
            <a:spLocks noChangeArrowheads="1"/>
          </p:cNvSpPr>
          <p:nvPr/>
        </p:nvSpPr>
        <p:spPr bwMode="auto">
          <a:xfrm>
            <a:off x="755576" y="4873683"/>
            <a:ext cx="46863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zh-TW" sz="2000" dirty="0">
                <a:solidFill>
                  <a:srgbClr val="FF0000"/>
                </a:solidFill>
                <a:latin typeface="標楷體" pitchFamily="65" charset="-120"/>
                <a:ea typeface="標楷體" pitchFamily="65" charset="-120"/>
              </a:rPr>
              <a:t>(A)</a:t>
            </a:r>
            <a:r>
              <a:rPr kumimoji="1" lang="zh-TW" altLang="en-US" sz="2000" dirty="0">
                <a:solidFill>
                  <a:srgbClr val="FF0000"/>
                </a:solidFill>
                <a:latin typeface="標楷體" pitchFamily="65" charset="-120"/>
                <a:ea typeface="標楷體" pitchFamily="65" charset="-120"/>
              </a:rPr>
              <a:t>頭前溪位於新竹。</a:t>
            </a:r>
            <a:r>
              <a:rPr kumimoji="1" lang="en-US" altLang="zh-TW" sz="2000" dirty="0">
                <a:solidFill>
                  <a:srgbClr val="FF0000"/>
                </a:solidFill>
                <a:latin typeface="標楷體" pitchFamily="65" charset="-120"/>
                <a:ea typeface="標楷體" pitchFamily="65" charset="-120"/>
              </a:rPr>
              <a:t>(C)</a:t>
            </a:r>
            <a:r>
              <a:rPr kumimoji="1" lang="zh-TW" altLang="en-US" sz="2000" dirty="0">
                <a:solidFill>
                  <a:srgbClr val="FF0000"/>
                </a:solidFill>
                <a:latin typeface="標楷體" pitchFamily="65" charset="-120"/>
                <a:ea typeface="標楷體" pitchFamily="65" charset="-120"/>
              </a:rPr>
              <a:t>為花蓮縣與宜蘭縣的界溪。</a:t>
            </a:r>
            <a:r>
              <a:rPr kumimoji="1" lang="en-US" altLang="zh-TW" sz="2000" dirty="0">
                <a:solidFill>
                  <a:srgbClr val="FF0000"/>
                </a:solidFill>
                <a:latin typeface="標楷體" pitchFamily="65" charset="-120"/>
                <a:ea typeface="標楷體" pitchFamily="65" charset="-120"/>
              </a:rPr>
              <a:t>(D)</a:t>
            </a:r>
            <a:r>
              <a:rPr kumimoji="1" lang="zh-TW" altLang="en-US" sz="2000" dirty="0">
                <a:solidFill>
                  <a:srgbClr val="FF0000"/>
                </a:solidFill>
                <a:latin typeface="標楷體" pitchFamily="65" charset="-120"/>
                <a:ea typeface="標楷體" pitchFamily="65" charset="-120"/>
              </a:rPr>
              <a:t>分布於苗栗縣及臺中市。</a:t>
            </a:r>
            <a:endParaRPr kumimoji="1" lang="zh-TW" altLang="en-US" sz="2000" kern="1200" dirty="0">
              <a:solidFill>
                <a:srgbClr val="FF0000"/>
              </a:solidFill>
              <a:latin typeface="Arial" charset="0"/>
              <a:ea typeface="標楷體" pitchFamily="65" charset="-120"/>
              <a:cs typeface="+mn-cs"/>
            </a:endParaRPr>
          </a:p>
        </p:txBody>
      </p:sp>
      <p:pic>
        <p:nvPicPr>
          <p:cNvPr id="11" name="Picture 5" descr="an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408014">
            <a:off x="7638000" y="4988708"/>
            <a:ext cx="533400"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75</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1143017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1" nodeType="clickEffect">
                                  <p:stCondLst>
                                    <p:cond delay="0"/>
                                  </p:stCondLst>
                                  <p:childTnLst>
                                    <p:set>
                                      <p:cBhvr override="childStyle">
                                        <p:cTn id="6" dur="indefinite"/>
                                        <p:tgtEl>
                                          <p:spTgt spid="14">
                                            <p:txEl>
                                              <p:pRg st="0" end="0"/>
                                            </p:txEl>
                                          </p:spTgt>
                                        </p:tgtEl>
                                        <p:attrNameLst>
                                          <p:attrName>style.color</p:attrName>
                                        </p:attrNameLst>
                                      </p:cBhvr>
                                      <p:to>
                                        <p:clrVal>
                                          <a:srgbClr val="FF0000"/>
                                        </p:clrVal>
                                      </p:to>
                                    </p:set>
                                  </p:childTnLst>
                                </p:cTn>
                              </p:par>
                              <p:par>
                                <p:cTn id="7" presetID="5" presetClass="emph" presetSubtype="1" nodeType="withEffect">
                                  <p:stCondLst>
                                    <p:cond delay="0"/>
                                  </p:stCondLst>
                                  <p:childTnLst>
                                    <p:set>
                                      <p:cBhvr override="childStyle">
                                        <p:cTn id="8" dur="indefinite"/>
                                        <p:tgtEl>
                                          <p:spTgt spid="14">
                                            <p:txEl>
                                              <p:pRg st="0" end="0"/>
                                            </p:txEl>
                                          </p:spTgt>
                                        </p:tgtEl>
                                        <p:attrNameLst>
                                          <p:attrName>style.fontStyle</p:attrName>
                                        </p:attrNameLst>
                                      </p:cBhvr>
                                      <p:to>
                                        <p:strVal val="normal"/>
                                      </p:to>
                                    </p:set>
                                    <p:set>
                                      <p:cBhvr override="childStyle">
                                        <p:cTn id="9" dur="indefinite"/>
                                        <p:tgtEl>
                                          <p:spTgt spid="14">
                                            <p:txEl>
                                              <p:pRg st="0" end="0"/>
                                            </p:txEl>
                                          </p:spTgt>
                                        </p:tgtEl>
                                        <p:attrNameLst>
                                          <p:attrName>style.fontWeight</p:attrName>
                                        </p:attrNameLst>
                                      </p:cBhvr>
                                      <p:to>
                                        <p:strVal val="bold"/>
                                      </p:to>
                                    </p:set>
                                    <p:set>
                                      <p:cBhvr override="childStyle">
                                        <p:cTn id="10" dur="indefinite"/>
                                        <p:tgtEl>
                                          <p:spTgt spid="14">
                                            <p:txEl>
                                              <p:pRg st="0" end="0"/>
                                            </p:txEl>
                                          </p:spTgt>
                                        </p:tgtEl>
                                        <p:attrNameLst>
                                          <p:attrName>style.textDecorationUnderline</p:attrName>
                                        </p:attrNameLst>
                                      </p:cBhvr>
                                      <p:to>
                                        <p:strVal val="fals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linds(horizontal)">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2000" dirty="0">
                <a:solidFill>
                  <a:schemeClr val="tx1"/>
                </a:solidFill>
                <a:latin typeface="標楷體" pitchFamily="65" charset="-120"/>
                <a:ea typeface="標楷體" pitchFamily="65" charset="-120"/>
              </a:rPr>
              <a:t>三、臺灣螺絲產業在世界舞臺的挑戰</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    全球最大螺絲消費市場為美國，其次是歐盟，而臺灣無論是在美國或歐盟的螺絲市場上，都是最大的合作夥伴（下圖）。然而，居次的中國以差距不到一成的市占率緊追在後，是臺灣螺絲產業在國際上最主要的競爭對手。全球化下，各國存在著競爭關係，出口的競爭力除了反映產品的價格、品質之外，也受到國際之間政策的影響。請問：</a:t>
            </a:r>
            <a:endParaRPr kumimoji="1" lang="en-US" altLang="zh-TW" sz="2000" dirty="0">
              <a:solidFill>
                <a:schemeClr val="tx1"/>
              </a:solidFill>
              <a:latin typeface="標楷體" pitchFamily="65" charset="-120"/>
              <a:ea typeface="標楷體" pitchFamily="65" charset="-120"/>
            </a:endParaRP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246810"/>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3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5945" y="3284984"/>
            <a:ext cx="3857625" cy="2524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a:spLocks noChangeArrowheads="1"/>
          </p:cNvSpPr>
          <p:nvPr/>
        </p:nvSpPr>
        <p:spPr bwMode="auto">
          <a:xfrm>
            <a:off x="28624" y="-28647"/>
            <a:ext cx="12490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b="1">
                <a:solidFill>
                  <a:schemeClr val="tx1"/>
                </a:solidFill>
                <a:latin typeface="Times New Roman" panose="02020603050405020304" pitchFamily="18" charset="0"/>
                <a:ea typeface="新細明體" panose="02020500000000000000" pitchFamily="18" charset="-120"/>
              </a:defRPr>
            </a:lvl1pPr>
            <a:lvl2pPr marL="742950" indent="-285750">
              <a:spcBef>
                <a:spcPct val="20000"/>
              </a:spcBef>
              <a:buChar char="–"/>
              <a:defRPr kumimoji="1" sz="2800">
                <a:solidFill>
                  <a:schemeClr val="tx1"/>
                </a:solidFill>
                <a:latin typeface="Times New Roman" panose="02020603050405020304" pitchFamily="18" charset="0"/>
                <a:ea typeface="新細明體" panose="02020500000000000000" pitchFamily="18" charset="-120"/>
              </a:defRPr>
            </a:lvl2pPr>
            <a:lvl3pPr marL="1143000" indent="-228600">
              <a:spcBef>
                <a:spcPct val="20000"/>
              </a:spcBef>
              <a:buChar char="•"/>
              <a:defRPr kumimoji="1" sz="2400">
                <a:solidFill>
                  <a:schemeClr val="tx1"/>
                </a:solidFill>
                <a:latin typeface="Times New Roman" panose="02020603050405020304" pitchFamily="18" charset="0"/>
                <a:ea typeface="新細明體" panose="02020500000000000000" pitchFamily="18" charset="-120"/>
              </a:defRPr>
            </a:lvl3pPr>
            <a:lvl4pPr marL="16002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4pPr>
            <a:lvl5pPr marL="2057400" indent="-228600">
              <a:spcBef>
                <a:spcPct val="20000"/>
              </a:spcBef>
              <a:buChar char="»"/>
              <a:defRPr kumimoji="1" sz="20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buFontTx/>
              <a:buNone/>
            </a:pPr>
            <a:r>
              <a:rPr lang="en-US" altLang="zh-TW" sz="3600" dirty="0" err="1">
                <a:solidFill>
                  <a:srgbClr val="FF0000"/>
                </a:solidFill>
              </a:rPr>
              <a:t>p.179</a:t>
            </a:r>
            <a:endParaRPr lang="zh-TW" altLang="en-US" sz="3600" b="0" dirty="0"/>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76</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42237799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2000" dirty="0">
                <a:solidFill>
                  <a:schemeClr val="tx1"/>
                </a:solidFill>
                <a:latin typeface="標楷體" pitchFamily="65" charset="-120"/>
                <a:ea typeface="標楷體" pitchFamily="65" charset="-120"/>
              </a:rPr>
              <a:t>三、臺灣螺絲產業在世界舞臺的挑戰</a:t>
            </a:r>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12.2009 </a:t>
            </a:r>
            <a:r>
              <a:rPr kumimoji="1" lang="zh-TW" altLang="en-US" sz="2000" dirty="0">
                <a:solidFill>
                  <a:schemeClr val="tx1"/>
                </a:solidFill>
                <a:latin typeface="標楷體" pitchFamily="65" charset="-120"/>
                <a:ea typeface="標楷體" pitchFamily="65" charset="-120"/>
              </a:rPr>
              <a:t>年起，歐盟對中國碳鋼螺絲課徵最高達 </a:t>
            </a:r>
            <a:r>
              <a:rPr kumimoji="1" lang="en-US" altLang="zh-TW" sz="2000" dirty="0">
                <a:solidFill>
                  <a:schemeClr val="tx1"/>
                </a:solidFill>
                <a:latin typeface="標楷體" pitchFamily="65" charset="-120"/>
                <a:ea typeface="標楷體" pitchFamily="65" charset="-120"/>
              </a:rPr>
              <a:t>85 </a:t>
            </a:r>
            <a:r>
              <a:rPr kumimoji="1" lang="zh-TW" altLang="en-US" sz="2000" dirty="0">
                <a:solidFill>
                  <a:schemeClr val="tx1"/>
                </a:solidFill>
                <a:latin typeface="標楷體" pitchFamily="65" charset="-120"/>
                <a:ea typeface="標楷體" pitchFamily="65" charset="-120"/>
              </a:rPr>
              <a:t>％的反傾銷稅，中國遂向 </a:t>
            </a:r>
            <a:r>
              <a:rPr kumimoji="1" lang="en-US" altLang="zh-TW" sz="2000" dirty="0">
                <a:solidFill>
                  <a:schemeClr val="tx1"/>
                </a:solidFill>
                <a:latin typeface="標楷體" pitchFamily="65" charset="-120"/>
                <a:ea typeface="標楷體" pitchFamily="65" charset="-120"/>
              </a:rPr>
              <a:t>WTO </a:t>
            </a:r>
            <a:r>
              <a:rPr kumimoji="1" lang="zh-TW" altLang="en-US" sz="2000" dirty="0">
                <a:solidFill>
                  <a:schemeClr val="tx1"/>
                </a:solidFill>
                <a:latin typeface="標楷體" pitchFamily="65" charset="-120"/>
                <a:ea typeface="標楷體" pitchFamily="65" charset="-120"/>
              </a:rPr>
              <a:t>進行申訴，爾後雖有所調降，但直至 </a:t>
            </a:r>
            <a:r>
              <a:rPr kumimoji="1" lang="en-US" altLang="zh-TW" sz="2000" dirty="0">
                <a:solidFill>
                  <a:schemeClr val="tx1"/>
                </a:solidFill>
                <a:latin typeface="標楷體" pitchFamily="65" charset="-120"/>
                <a:ea typeface="標楷體" pitchFamily="65" charset="-120"/>
              </a:rPr>
              <a:t>2016 </a:t>
            </a:r>
            <a:r>
              <a:rPr kumimoji="1" lang="zh-TW" altLang="en-US" sz="2000" dirty="0">
                <a:solidFill>
                  <a:schemeClr val="tx1"/>
                </a:solidFill>
                <a:latin typeface="標楷體" pitchFamily="65" charset="-120"/>
                <a:ea typeface="標楷體" pitchFamily="65" charset="-120"/>
              </a:rPr>
              <a:t>年才宣告撤銷。由下圖可看出此決議對中國和臺灣螺絲各造成何種影響？並請判斷臺灣與中國在螺絲產業上的關係以完成下表。</a:t>
            </a:r>
            <a:endParaRPr kumimoji="1" lang="en-US" altLang="zh-TW" sz="2000" dirty="0">
              <a:solidFill>
                <a:schemeClr val="tx1"/>
              </a:solidFill>
              <a:latin typeface="標楷體" pitchFamily="65" charset="-120"/>
              <a:ea typeface="標楷體" pitchFamily="65" charset="-120"/>
            </a:endParaRPr>
          </a:p>
          <a:p>
            <a:endParaRPr kumimoji="1" lang="en-US" altLang="zh-TW" sz="2000" dirty="0">
              <a:solidFill>
                <a:schemeClr val="tx1"/>
              </a:solidFill>
              <a:latin typeface="標楷體" pitchFamily="65" charset="-120"/>
              <a:ea typeface="標楷體" pitchFamily="65" charset="-120"/>
            </a:endParaRP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0648"/>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圖片 5"/>
          <p:cNvPicPr>
            <a:picLocks noChangeAspect="1"/>
          </p:cNvPicPr>
          <p:nvPr/>
        </p:nvPicPr>
        <p:blipFill>
          <a:blip r:embed="rId4"/>
          <a:stretch>
            <a:fillRect/>
          </a:stretch>
        </p:blipFill>
        <p:spPr>
          <a:xfrm>
            <a:off x="1706611" y="5044659"/>
            <a:ext cx="6048375" cy="1009650"/>
          </a:xfrm>
          <a:prstGeom prst="rect">
            <a:avLst/>
          </a:prstGeom>
        </p:spPr>
      </p:pic>
      <p:sp>
        <p:nvSpPr>
          <p:cNvPr id="9" name="矩形 8"/>
          <p:cNvSpPr>
            <a:spLocks noChangeArrowheads="1"/>
          </p:cNvSpPr>
          <p:nvPr/>
        </p:nvSpPr>
        <p:spPr bwMode="auto">
          <a:xfrm>
            <a:off x="2666678" y="5409636"/>
            <a:ext cx="4320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低</a:t>
            </a:r>
          </a:p>
        </p:txBody>
      </p:sp>
      <p:sp>
        <p:nvSpPr>
          <p:cNvPr id="16" name="矩形 15"/>
          <p:cNvSpPr>
            <a:spLocks noChangeArrowheads="1"/>
          </p:cNvSpPr>
          <p:nvPr/>
        </p:nvSpPr>
        <p:spPr bwMode="auto">
          <a:xfrm>
            <a:off x="2686840" y="5661248"/>
            <a:ext cx="43204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高</a:t>
            </a:r>
          </a:p>
        </p:txBody>
      </p:sp>
      <p:sp>
        <p:nvSpPr>
          <p:cNvPr id="17" name="矩形 16"/>
          <p:cNvSpPr>
            <a:spLocks noChangeArrowheads="1"/>
          </p:cNvSpPr>
          <p:nvPr/>
        </p:nvSpPr>
        <p:spPr bwMode="auto">
          <a:xfrm>
            <a:off x="3887415" y="5402043"/>
            <a:ext cx="6845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較低</a:t>
            </a:r>
          </a:p>
        </p:txBody>
      </p:sp>
      <p:sp>
        <p:nvSpPr>
          <p:cNvPr id="18" name="矩形 17"/>
          <p:cNvSpPr>
            <a:spLocks noChangeArrowheads="1"/>
          </p:cNvSpPr>
          <p:nvPr/>
        </p:nvSpPr>
        <p:spPr bwMode="auto">
          <a:xfrm>
            <a:off x="3907577" y="5684332"/>
            <a:ext cx="6845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較高</a:t>
            </a:r>
          </a:p>
        </p:txBody>
      </p:sp>
      <p:sp>
        <p:nvSpPr>
          <p:cNvPr id="19" name="矩形 18"/>
          <p:cNvSpPr>
            <a:spLocks noChangeArrowheads="1"/>
          </p:cNvSpPr>
          <p:nvPr/>
        </p:nvSpPr>
        <p:spPr bwMode="auto">
          <a:xfrm>
            <a:off x="5234167" y="5409636"/>
            <a:ext cx="6845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驟降</a:t>
            </a:r>
          </a:p>
        </p:txBody>
      </p:sp>
      <p:sp>
        <p:nvSpPr>
          <p:cNvPr id="20" name="矩形 19"/>
          <p:cNvSpPr>
            <a:spLocks noChangeArrowheads="1"/>
          </p:cNvSpPr>
          <p:nvPr/>
        </p:nvSpPr>
        <p:spPr bwMode="auto">
          <a:xfrm>
            <a:off x="5236113" y="5673257"/>
            <a:ext cx="6845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增加</a:t>
            </a:r>
          </a:p>
        </p:txBody>
      </p:sp>
      <p:sp>
        <p:nvSpPr>
          <p:cNvPr id="21" name="矩形 20"/>
          <p:cNvSpPr>
            <a:spLocks noChangeArrowheads="1"/>
          </p:cNvSpPr>
          <p:nvPr/>
        </p:nvSpPr>
        <p:spPr bwMode="auto">
          <a:xfrm>
            <a:off x="6675648" y="5396960"/>
            <a:ext cx="6845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負面</a:t>
            </a:r>
          </a:p>
        </p:txBody>
      </p:sp>
      <p:sp>
        <p:nvSpPr>
          <p:cNvPr id="22" name="矩形 21"/>
          <p:cNvSpPr>
            <a:spLocks noChangeArrowheads="1"/>
          </p:cNvSpPr>
          <p:nvPr/>
        </p:nvSpPr>
        <p:spPr bwMode="auto">
          <a:xfrm>
            <a:off x="6668833" y="5675016"/>
            <a:ext cx="6845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1800" kern="1200" dirty="0">
                <a:solidFill>
                  <a:srgbClr val="FF0000"/>
                </a:solidFill>
                <a:latin typeface="標楷體" pitchFamily="65" charset="-120"/>
                <a:ea typeface="標楷體" pitchFamily="65" charset="-120"/>
                <a:cs typeface="Times New Roman" pitchFamily="18" charset="0"/>
              </a:rPr>
              <a:t>正面</a:t>
            </a:r>
          </a:p>
        </p:txBody>
      </p:sp>
      <p:pic>
        <p:nvPicPr>
          <p:cNvPr id="1536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648" y="2640950"/>
            <a:ext cx="6351338" cy="24037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77</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3634391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ox(in)">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ox(in)">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ox(in)">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ox(in)">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box(in)">
                                      <p:cBhvr>
                                        <p:cTn id="32" dur="500"/>
                                        <p:tgtEl>
                                          <p:spTgt spid="20"/>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box(in)">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box(in)">
                                      <p:cBhvr>
                                        <p:cTn id="4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P spid="17" grpId="0"/>
      <p:bldP spid="18" grpId="0"/>
      <p:bldP spid="19" grpId="0"/>
      <p:bldP spid="20" grpId="0"/>
      <p:bldP spid="21" grpId="0"/>
      <p:bldP spid="2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文字版面配置區 2"/>
          <p:cNvSpPr>
            <a:spLocks noGrp="1"/>
          </p:cNvSpPr>
          <p:nvPr>
            <p:ph type="body" idx="1"/>
          </p:nvPr>
        </p:nvSpPr>
        <p:spPr/>
        <p:txBody>
          <a:bodyPr/>
          <a:lstStyle/>
          <a:p>
            <a:endParaRPr lang="zh-TW" altLang="en-US"/>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矩形 5"/>
          <p:cNvSpPr>
            <a:spLocks noChangeArrowheads="1"/>
          </p:cNvSpPr>
          <p:nvPr/>
        </p:nvSpPr>
        <p:spPr bwMode="auto">
          <a:xfrm>
            <a:off x="340519" y="1069705"/>
            <a:ext cx="8462962"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zh-TW" altLang="en-US" sz="2000" dirty="0">
                <a:solidFill>
                  <a:schemeClr val="tx1"/>
                </a:solidFill>
                <a:latin typeface="標楷體" pitchFamily="65" charset="-120"/>
                <a:ea typeface="標楷體" pitchFamily="65" charset="-120"/>
              </a:rPr>
              <a:t>三、臺灣螺絲產業在世界舞臺的挑戰</a:t>
            </a:r>
            <a:endParaRPr kumimoji="1" lang="en-US" altLang="zh-TW" sz="2000" dirty="0">
              <a:solidFill>
                <a:schemeClr val="tx1"/>
              </a:solidFill>
              <a:latin typeface="標楷體" pitchFamily="65" charset="-120"/>
              <a:ea typeface="標楷體" pitchFamily="65" charset="-120"/>
            </a:endParaRPr>
          </a:p>
          <a:p>
            <a:r>
              <a:rPr kumimoji="1" lang="en-US" altLang="zh-TW" sz="2000" dirty="0">
                <a:solidFill>
                  <a:schemeClr val="tx1"/>
                </a:solidFill>
                <a:latin typeface="標楷體" pitchFamily="65" charset="-120"/>
                <a:ea typeface="標楷體" pitchFamily="65" charset="-120"/>
              </a:rPr>
              <a:t>13.2018 </a:t>
            </a:r>
            <a:r>
              <a:rPr kumimoji="1" lang="zh-TW" altLang="en-US" sz="2000" dirty="0">
                <a:solidFill>
                  <a:schemeClr val="tx1"/>
                </a:solidFill>
                <a:latin typeface="標楷體" pitchFamily="65" charset="-120"/>
                <a:ea typeface="標楷體" pitchFamily="65" charset="-120"/>
              </a:rPr>
              <a:t>年美中貿易戰，美國宣告將對中國進口產品課徵關稅。若臺灣與中國螺絲產業的關係沒有改變，請問臺灣螺絲產業在此事件中又將受到何種影響？</a:t>
            </a:r>
            <a:endParaRPr kumimoji="1" lang="en-US" altLang="zh-TW" sz="2000" dirty="0">
              <a:solidFill>
                <a:schemeClr val="tx1"/>
              </a:solidFill>
              <a:latin typeface="標楷體" pitchFamily="65" charset="-120"/>
              <a:ea typeface="標楷體" pitchFamily="65" charset="-120"/>
            </a:endParaRPr>
          </a:p>
          <a:p>
            <a:r>
              <a:rPr kumimoji="1" lang="zh-TW" altLang="en-US" sz="2000" dirty="0">
                <a:solidFill>
                  <a:schemeClr val="tx1"/>
                </a:solidFill>
                <a:latin typeface="標楷體" pitchFamily="65" charset="-120"/>
                <a:ea typeface="標楷體" pitchFamily="65" charset="-120"/>
              </a:rPr>
              <a:t>答：</a:t>
            </a:r>
            <a:endParaRPr kumimoji="1" lang="en-US" altLang="zh-TW" sz="2000" dirty="0">
              <a:solidFill>
                <a:schemeClr val="tx1"/>
              </a:solidFill>
              <a:latin typeface="標楷體" pitchFamily="65" charset="-120"/>
              <a:ea typeface="標楷體" pitchFamily="65" charset="-120"/>
            </a:endParaRPr>
          </a:p>
        </p:txBody>
      </p:sp>
      <p:pic>
        <p:nvPicPr>
          <p:cNvPr id="225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60648"/>
            <a:ext cx="4686300"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矩形 22"/>
          <p:cNvSpPr>
            <a:spLocks noChangeArrowheads="1"/>
          </p:cNvSpPr>
          <p:nvPr/>
        </p:nvSpPr>
        <p:spPr bwMode="auto">
          <a:xfrm>
            <a:off x="899592" y="2275109"/>
            <a:ext cx="734481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TW" altLang="en-US" sz="2000" kern="1200" dirty="0">
                <a:solidFill>
                  <a:srgbClr val="FF0000"/>
                </a:solidFill>
                <a:latin typeface="標楷體" pitchFamily="65" charset="-120"/>
                <a:ea typeface="標楷體" pitchFamily="65" charset="-120"/>
                <a:cs typeface="Times New Roman" pitchFamily="18" charset="0"/>
              </a:rPr>
              <a:t>美國是臺灣螺絲出口第一大市場，美國廠商深怕被課徵高關稅，因此出現轉單效應，使得同期臺灣螺絲產業出口金額與單價增加，成為中美貿易戰的受惠族群。</a:t>
            </a:r>
          </a:p>
        </p:txBody>
      </p:sp>
      <p:sp>
        <p:nvSpPr>
          <p:cNvPr id="5" name="投影片編號版面配置區 4"/>
          <p:cNvSpPr>
            <a:spLocks noGrp="1"/>
          </p:cNvSpPr>
          <p:nvPr>
            <p:ph type="sldNum" idx="12"/>
          </p:nvPr>
        </p:nvSpPr>
        <p:spPr/>
        <p:txBody>
          <a:bodyPr/>
          <a:lstStyle/>
          <a:p>
            <a:pPr marL="0" marR="0" lvl="0" indent="0" algn="r" rtl="0">
              <a:spcBef>
                <a:spcPts val="0"/>
              </a:spcBef>
              <a:spcAft>
                <a:spcPts val="0"/>
              </a:spcAft>
              <a:buSzPct val="25000"/>
              <a:buNone/>
            </a:pPr>
            <a:fld id="{00000000-1234-1234-1234-123412341234}" type="slidenum">
              <a:rPr lang="en-US" altLang="zh-TW" sz="1400" smtClean="0">
                <a:solidFill>
                  <a:schemeClr val="dk1"/>
                </a:solidFill>
                <a:latin typeface="Arial"/>
                <a:ea typeface="Arial"/>
                <a:cs typeface="Arial"/>
                <a:sym typeface="Arial"/>
              </a:rPr>
              <a:t>78</a:t>
            </a:fld>
            <a:endParaRPr lang="zh-TW" sz="1400">
              <a:solidFill>
                <a:schemeClr val="dk1"/>
              </a:solidFill>
              <a:latin typeface="Arial"/>
              <a:ea typeface="Arial"/>
              <a:cs typeface="Arial"/>
              <a:sym typeface="Arial"/>
            </a:endParaRPr>
          </a:p>
        </p:txBody>
      </p:sp>
    </p:spTree>
    <p:extLst>
      <p:ext uri="{BB962C8B-B14F-4D97-AF65-F5344CB8AC3E}">
        <p14:creationId xmlns:p14="http://schemas.microsoft.com/office/powerpoint/2010/main" val="2965802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ox(in)">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heme/theme1.xml><?xml version="1.0" encoding="utf-8"?>
<a:theme xmlns:a="http://schemas.openxmlformats.org/drawingml/2006/main" name="default">
  <a:themeElements>
    <a:clrScheme name="default 1">
      <a:dk1>
        <a:srgbClr val="080808"/>
      </a:dk1>
      <a:lt1>
        <a:srgbClr val="FFFFFF"/>
      </a:lt1>
      <a:dk2>
        <a:srgbClr val="0039AC"/>
      </a:dk2>
      <a:lt2>
        <a:srgbClr val="C0C0C0"/>
      </a:lt2>
      <a:accent1>
        <a:srgbClr val="FFFF99"/>
      </a:accent1>
      <a:accent2>
        <a:srgbClr val="FFCC66"/>
      </a:accent2>
      <a:accent3>
        <a:srgbClr val="FFFFFF"/>
      </a:accent3>
      <a:accent4>
        <a:srgbClr val="060606"/>
      </a:accent4>
      <a:accent5>
        <a:srgbClr val="FFFFCA"/>
      </a:accent5>
      <a:accent6>
        <a:srgbClr val="E7B95C"/>
      </a:accent6>
      <a:hlink>
        <a:srgbClr val="0066FF"/>
      </a:hlink>
      <a:folHlink>
        <a:srgbClr val="CC33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4524</TotalTime>
  <Words>10875</Words>
  <Application>Microsoft Office PowerPoint</Application>
  <PresentationFormat>如螢幕大小 (4:3)</PresentationFormat>
  <Paragraphs>864</Paragraphs>
  <Slides>78</Slides>
  <Notes>31</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78</vt:i4>
      </vt:variant>
    </vt:vector>
  </HeadingPairs>
  <TitlesOfParts>
    <vt:vector size="90" baseType="lpstr">
      <vt:lpstr>Heiti TC</vt:lpstr>
      <vt:lpstr>Heuristica</vt:lpstr>
      <vt:lpstr>Noto Sans Symbols</vt:lpstr>
      <vt:lpstr>微軟正黑體</vt:lpstr>
      <vt:lpstr>新細明體</vt:lpstr>
      <vt:lpstr>標楷體</vt:lpstr>
      <vt:lpstr>Arial</vt:lpstr>
      <vt:lpstr>Calibri</vt:lpstr>
      <vt:lpstr>Times New Roman</vt:lpstr>
      <vt:lpstr>Verdana</vt:lpstr>
      <vt:lpstr>Wingdings</vt:lpstr>
      <vt:lpstr>default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九份山上 看   岬灣海岸</vt:lpstr>
      <vt:lpstr>PowerPoint 簡報</vt:lpstr>
      <vt:lpstr>PowerPoint 簡報</vt:lpstr>
      <vt:lpstr>PowerPoint 簡報</vt:lpstr>
      <vt:lpstr>PowerPoint 簡報</vt:lpstr>
      <vt:lpstr>PowerPoint 簡報</vt:lpstr>
      <vt:lpstr> 氣候(補充1)</vt:lpstr>
      <vt:lpstr>氣候(補充2)</vt:lpstr>
      <vt:lpstr>PowerPoint 簡報</vt:lpstr>
      <vt:lpstr>PowerPoint 簡報</vt:lpstr>
      <vt:lpstr>PowerPoint 簡報</vt:lpstr>
      <vt:lpstr> 氣候(補充1)</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END </vt:lpstr>
      <vt:lpstr>PowerPoint 簡報</vt:lpstr>
      <vt:lpstr>試題演練</vt:lpstr>
      <vt:lpstr>試題演練</vt:lpstr>
      <vt:lpstr>試題演練</vt:lpstr>
      <vt:lpstr>試題演練</vt:lpstr>
      <vt:lpstr>試題演練</vt:lpstr>
      <vt:lpstr>試題演練</vt:lpstr>
      <vt:lpstr>試題演練</vt:lpstr>
      <vt:lpstr>試題演練</vt:lpstr>
      <vt:lpstr>試題演練</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梁景文</dc:creator>
  <cp:lastModifiedBy>景美女中</cp:lastModifiedBy>
  <cp:revision>286</cp:revision>
  <dcterms:modified xsi:type="dcterms:W3CDTF">2026-05-19T07:10:25Z</dcterms:modified>
</cp:coreProperties>
</file>